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handoutMasterIdLst>
    <p:handoutMasterId r:id="rId25"/>
  </p:handoutMasterIdLst>
  <p:sldIdLst>
    <p:sldId id="256" r:id="rId2"/>
    <p:sldId id="277" r:id="rId3"/>
    <p:sldId id="257" r:id="rId4"/>
    <p:sldId id="259" r:id="rId6"/>
    <p:sldId id="261" r:id="rId8"/>
    <p:sldId id="263" r:id="rId10"/>
    <p:sldId id="264" r:id="rId11"/>
    <p:sldId id="265" r:id="rId12"/>
    <p:sldId id="266" r:id="rId13"/>
    <p:sldId id="268" r:id="rId15"/>
    <p:sldId id="269" r:id="rId16"/>
    <p:sldId id="271" r:id="rId18"/>
    <p:sldId id="272" r:id="rId19"/>
    <p:sldId id="273" r:id="rId20"/>
    <p:sldId id="274" r:id="rId21"/>
    <p:sldId id="275" r:id="rId22"/>
    <p:sldId id="276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2" autoAdjust="0"/>
    <p:restoredTop sz="96163" autoAdjust="0"/>
  </p:normalViewPr>
  <p:slideViewPr>
    <p:cSldViewPr snapToGrid="0" snapToObjects="1">
      <p:cViewPr varScale="1">
        <p:scale>
          <a:sx n="108" d="100"/>
          <a:sy n="108" d="100"/>
        </p:scale>
        <p:origin x="2352" y="1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 snapToGrid="0" snapToObjects="1">
      <p:cViewPr varScale="1">
        <p:scale>
          <a:sx n="82" d="100"/>
          <a:sy n="82" d="100"/>
        </p:scale>
        <p:origin x="5886" y="102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6" Type="http://schemas.openxmlformats.org/officeDocument/2006/relationships/slide" Target="slides/slide5.xml"/><Relationship Id="rId8" Type="http://schemas.openxmlformats.org/officeDocument/2006/relationships/slide" Target="slides/slide7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handoutMaster" Target="handoutMasters/handout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עליונה 1">
            <a:extLst>
              <a:ext uri="{FF2B5EF4-FFF2-40B4-BE49-F238E27FC236}">
                <a16:creationId xmlns:a16="http://schemas.microsoft.com/office/drawing/2014/main" id="{37E86799-3E11-21CA-1159-CC015A7E970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388620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מציין מיקום של תאריך 2">
            <a:extLst>
              <a:ext uri="{FF2B5EF4-FFF2-40B4-BE49-F238E27FC236}">
                <a16:creationId xmlns:a16="http://schemas.microsoft.com/office/drawing/2014/main" id="{F8E3A415-8355-B3EC-CFBC-B933E04FD48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1588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>
              <a:defRPr sz="1200"/>
            </a:lvl1pPr>
          </a:lstStyle>
          <a:p>
            <a:fld id="{BF60D315-0899-4BE8-8C5A-DF2D690B8290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4" name="מציין מיקום של כותרת תחתונה 3">
            <a:extLst>
              <a:ext uri="{FF2B5EF4-FFF2-40B4-BE49-F238E27FC236}">
                <a16:creationId xmlns:a16="http://schemas.microsoft.com/office/drawing/2014/main" id="{20CC4308-DC5B-27B4-BD57-80F0B759685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38862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מציין מיקום של מספר שקופית 4">
            <a:extLst>
              <a:ext uri="{FF2B5EF4-FFF2-40B4-BE49-F238E27FC236}">
                <a16:creationId xmlns:a16="http://schemas.microsoft.com/office/drawing/2014/main" id="{E2549343-9BA6-D532-A770-F319775696A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1588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>
              <a:defRPr sz="1200"/>
            </a:lvl1pPr>
          </a:lstStyle>
          <a:p>
            <a:fld id="{F68659BD-E527-4300-BF8A-FBC704FAE7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522653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832398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כ-70 שניות. אל תיתנו תשובה חד-משמעית — זו בדיוק הנקודה. שאלו: לאיזה צד שייך פרויקט הגמר שלנו?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1" y="-43935"/>
            <a:ext cx="12191969" cy="6858000"/>
          </a:xfrm>
          <a:prstGeom prst="rect">
            <a:avLst/>
          </a:prstGeom>
          <a:solidFill>
            <a:srgbClr val="072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3" name="Rectangle 2"/>
          <p:cNvSpPr/>
          <p:nvPr/>
        </p:nvSpPr>
        <p:spPr>
          <a:xfrm>
            <a:off x="0" y="-40452"/>
            <a:ext cx="12191969" cy="118872"/>
          </a:xfrm>
          <a:prstGeom prst="rect">
            <a:avLst/>
          </a:prstGeom>
          <a:solidFill>
            <a:srgbClr val="C4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4" name="Rectangle 3"/>
          <p:cNvSpPr/>
          <p:nvPr/>
        </p:nvSpPr>
        <p:spPr>
          <a:xfrm>
            <a:off x="31" y="6772411"/>
            <a:ext cx="12191969" cy="118872"/>
          </a:xfrm>
          <a:prstGeom prst="rect">
            <a:avLst/>
          </a:prstGeom>
          <a:solidFill>
            <a:srgbClr val="145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pic>
        <p:nvPicPr>
          <p:cNvPr id="5" name="Picture 4" descr="hero_glo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088" y="1654541"/>
            <a:ext cx="4526280" cy="45262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795247" y="412851"/>
            <a:ext cx="835921" cy="87783"/>
          </a:xfrm>
          <a:prstGeom prst="rect">
            <a:avLst/>
          </a:prstGeom>
          <a:solidFill>
            <a:srgbClr val="C4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7" name="TextBox 6"/>
          <p:cNvSpPr txBox="1"/>
          <p:nvPr/>
        </p:nvSpPr>
        <p:spPr>
          <a:xfrm>
            <a:off x="2885243" y="863411"/>
            <a:ext cx="8803837" cy="8309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/>
            <a:r>
              <a:rPr lang="en-US" sz="5400" b="1" i="0" noProof="0" dirty="0" err="1">
                <a:solidFill>
                  <a:srgbClr val="FFFFFF"/>
                </a:solidFill>
                <a:latin typeface="Segoe UI"/>
              </a:rPr>
              <a:t>שירותי</a:t>
            </a:r>
            <a:r>
              <a:rPr lang="en-US" sz="5400" b="1" i="0" noProof="0" dirty="0">
                <a:solidFill>
                  <a:srgbClr val="FFFFFF"/>
                </a:solidFill>
                <a:latin typeface="Segoe UI"/>
              </a:rPr>
              <a:t> ‏</a:t>
            </a:r>
            <a:r>
              <a:rPr lang="en-US" sz="5400" b="1" i="0" noProof="0" dirty="0" err="1">
                <a:solidFill>
                  <a:srgbClr val="FFFFFF"/>
                </a:solidFill>
                <a:latin typeface="Segoe UI"/>
              </a:rPr>
              <a:t>רשת</a:t>
            </a:r>
            <a:r>
              <a:rPr lang="en-US" sz="5400" b="1" i="0" noProof="0" dirty="0">
                <a:solidFill>
                  <a:srgbClr val="FFFFFF"/>
                </a:solidFill>
                <a:latin typeface="Segoe UI"/>
              </a:rPr>
              <a:t> –</a:t>
            </a:r>
            <a:r>
              <a:rPr lang="he-IL" sz="5400" b="1" i="0" noProof="0" dirty="0">
                <a:solidFill>
                  <a:srgbClr val="FFFFFF"/>
                </a:solidFill>
                <a:latin typeface="Segoe UI"/>
              </a:rPr>
              <a:t> </a:t>
            </a:r>
            <a:r>
              <a:rPr lang="en-US" sz="5400" b="1" noProof="0" dirty="0">
                <a:solidFill>
                  <a:srgbClr val="FFFFFF"/>
                </a:solidFill>
                <a:latin typeface="Segoe UI"/>
              </a:rPr>
              <a:t>Web Services</a:t>
            </a:r>
            <a:r>
              <a:rPr lang="en-US" sz="5400" b="1" i="0" noProof="0" dirty="0">
                <a:solidFill>
                  <a:srgbClr val="FFFFFF"/>
                </a:solidFill>
                <a:latin typeface="Segoe UI"/>
              </a:rPr>
              <a:t>‏</a:t>
            </a:r>
          </a:p>
        </p:txBody>
      </p:sp>
      <p:sp>
        <p:nvSpPr>
          <p:cNvPr id="9" name="Rectangle 8"/>
          <p:cNvSpPr/>
          <p:nvPr/>
        </p:nvSpPr>
        <p:spPr>
          <a:xfrm>
            <a:off x="5544312" y="1985163"/>
            <a:ext cx="6144768" cy="12801"/>
          </a:xfrm>
          <a:prstGeom prst="rect">
            <a:avLst/>
          </a:prstGeom>
          <a:solidFill>
            <a:srgbClr val="1C50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12" name="Rectangle 11"/>
          <p:cNvSpPr/>
          <p:nvPr/>
        </p:nvSpPr>
        <p:spPr>
          <a:xfrm>
            <a:off x="5544312" y="3072370"/>
            <a:ext cx="6144768" cy="12801"/>
          </a:xfrm>
          <a:prstGeom prst="rect">
            <a:avLst/>
          </a:prstGeom>
          <a:solidFill>
            <a:srgbClr val="1C50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19" name="תיבת טקסט 18">
            <a:extLst>
              <a:ext uri="{FF2B5EF4-FFF2-40B4-BE49-F238E27FC236}">
                <a16:creationId xmlns:a16="http://schemas.microsoft.com/office/drawing/2014/main" id="{EF5F0013-938D-C3CB-25FA-A340363C3872}"/>
              </a:ext>
            </a:extLst>
          </p:cNvPr>
          <p:cNvSpPr txBox="1"/>
          <p:nvPr/>
        </p:nvSpPr>
        <p:spPr>
          <a:xfrm>
            <a:off x="6716164" y="2116266"/>
            <a:ext cx="497291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en-US" noProof="0" dirty="0" err="1">
                <a:solidFill>
                  <a:schemeClr val="bg1"/>
                </a:solidFill>
              </a:rPr>
              <a:t>קורס</a:t>
            </a:r>
            <a:r>
              <a:rPr lang="en-US" noProof="0" dirty="0">
                <a:solidFill>
                  <a:schemeClr val="bg1"/>
                </a:solidFill>
              </a:rPr>
              <a:t>: </a:t>
            </a:r>
            <a:r>
              <a:rPr lang="en-US" noProof="0" dirty="0" err="1">
                <a:solidFill>
                  <a:schemeClr val="bg1"/>
                </a:solidFill>
              </a:rPr>
              <a:t>סדנה</a:t>
            </a:r>
            <a:r>
              <a:rPr lang="en-US" noProof="0" dirty="0">
                <a:solidFill>
                  <a:schemeClr val="bg1"/>
                </a:solidFill>
              </a:rPr>
              <a:t> </a:t>
            </a:r>
            <a:r>
              <a:rPr lang="en-US" noProof="0" dirty="0" err="1">
                <a:solidFill>
                  <a:schemeClr val="bg1"/>
                </a:solidFill>
              </a:rPr>
              <a:t>בתכנות</a:t>
            </a:r>
            <a:r>
              <a:rPr lang="en-US" noProof="0" dirty="0">
                <a:solidFill>
                  <a:schemeClr val="bg1"/>
                </a:solidFill>
              </a:rPr>
              <a:t> </a:t>
            </a:r>
            <a:r>
              <a:rPr lang="en-US" noProof="0" dirty="0" err="1">
                <a:solidFill>
                  <a:schemeClr val="bg1"/>
                </a:solidFill>
              </a:rPr>
              <a:t>מתקדם</a:t>
            </a:r>
            <a:r>
              <a:rPr lang="en-US" noProof="0" dirty="0">
                <a:solidFill>
                  <a:schemeClr val="bg1"/>
                </a:solidFill>
              </a:rPr>
              <a:t> </a:t>
            </a:r>
            <a:r>
              <a:rPr lang="en-US" noProof="0" dirty="0" err="1">
                <a:solidFill>
                  <a:schemeClr val="bg1"/>
                </a:solidFill>
              </a:rPr>
              <a:t>בשפת</a:t>
            </a:r>
            <a:r>
              <a:rPr lang="en-US" noProof="0" dirty="0">
                <a:solidFill>
                  <a:schemeClr val="bg1"/>
                </a:solidFill>
              </a:rPr>
              <a:t> Java </a:t>
            </a:r>
          </a:p>
          <a:p>
            <a:pPr algn="r" rtl="1"/>
            <a:endParaRPr lang="en-US" noProof="0" dirty="0">
              <a:solidFill>
                <a:schemeClr val="bg1"/>
              </a:solidFill>
            </a:endParaRPr>
          </a:p>
          <a:p>
            <a:pPr algn="r" rtl="1"/>
            <a:r>
              <a:rPr lang="en-US" noProof="0" dirty="0" err="1">
                <a:solidFill>
                  <a:schemeClr val="bg1"/>
                </a:solidFill>
              </a:rPr>
              <a:t>מציג</a:t>
            </a:r>
            <a:r>
              <a:rPr lang="en-US" noProof="0" dirty="0">
                <a:solidFill>
                  <a:schemeClr val="bg1"/>
                </a:solidFill>
              </a:rPr>
              <a:t>: </a:t>
            </a:r>
            <a:r>
              <a:rPr lang="en-US" noProof="0" dirty="0" err="1">
                <a:solidFill>
                  <a:schemeClr val="bg1"/>
                </a:solidFill>
              </a:rPr>
              <a:t>אחמד</a:t>
            </a:r>
            <a:r>
              <a:rPr lang="en-US" noProof="0" dirty="0">
                <a:solidFill>
                  <a:schemeClr val="bg1"/>
                </a:solidFill>
              </a:rPr>
              <a:t> </a:t>
            </a:r>
            <a:r>
              <a:rPr lang="en-US" noProof="0" dirty="0" err="1">
                <a:solidFill>
                  <a:schemeClr val="bg1"/>
                </a:solidFill>
              </a:rPr>
              <a:t>עבד</a:t>
            </a:r>
            <a:r>
              <a:rPr lang="en-US" noProof="0" dirty="0">
                <a:solidFill>
                  <a:schemeClr val="bg1"/>
                </a:solidFill>
              </a:rPr>
              <a:t> </a:t>
            </a:r>
            <a:r>
              <a:rPr lang="en-US" noProof="0" dirty="0" err="1">
                <a:solidFill>
                  <a:schemeClr val="bg1"/>
                </a:solidFill>
              </a:rPr>
              <a:t>אל-חלים</a:t>
            </a:r>
            <a:endParaRPr lang="en-US" noProof="0" dirty="0">
              <a:solidFill>
                <a:schemeClr val="bg1"/>
              </a:solidFill>
            </a:endParaRPr>
          </a:p>
        </p:txBody>
      </p:sp>
      <p:sp>
        <p:nvSpPr>
          <p:cNvPr id="21" name="Rectangle 5">
            <a:extLst>
              <a:ext uri="{FF2B5EF4-FFF2-40B4-BE49-F238E27FC236}">
                <a16:creationId xmlns:a16="http://schemas.microsoft.com/office/drawing/2014/main" id="{0485A9AA-C912-0B4C-E433-1B19B411939B}"/>
              </a:ext>
            </a:extLst>
          </p:cNvPr>
          <p:cNvSpPr/>
          <p:nvPr/>
        </p:nvSpPr>
        <p:spPr>
          <a:xfrm>
            <a:off x="496439" y="6180821"/>
            <a:ext cx="835921" cy="87783"/>
          </a:xfrm>
          <a:prstGeom prst="rect">
            <a:avLst/>
          </a:prstGeom>
          <a:solidFill>
            <a:srgbClr val="C4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8" name="תיבת טקסט 7">
            <a:extLst>
              <a:ext uri="{FF2B5EF4-FFF2-40B4-BE49-F238E27FC236}">
                <a16:creationId xmlns:a16="http://schemas.microsoft.com/office/drawing/2014/main" id="{3556219E-68E3-E08A-ECC0-B4C9553D2568}"/>
              </a:ext>
            </a:extLst>
          </p:cNvPr>
          <p:cNvSpPr txBox="1"/>
          <p:nvPr/>
        </p:nvSpPr>
        <p:spPr>
          <a:xfrm>
            <a:off x="5544280" y="5156423"/>
            <a:ext cx="643000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he-IL" dirty="0">
                <a:solidFill>
                  <a:schemeClr val="bg1"/>
                </a:solidFill>
              </a:rPr>
              <a:t>מבוסס על:</a:t>
            </a:r>
          </a:p>
          <a:p>
            <a:endParaRPr lang="he-IL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Deitel &amp; Deitel — Java How to Program, ch. 32: REST Web Services</a:t>
            </a:r>
          </a:p>
          <a:p>
            <a:r>
              <a:rPr lang="en-US" dirty="0">
                <a:solidFill>
                  <a:schemeClr val="bg1"/>
                </a:solidFill>
              </a:rPr>
              <a:t>The Java EE Tutorial — Web Services, JAX-WS, JAX-RS</a:t>
            </a:r>
          </a:p>
          <a:p>
            <a:r>
              <a:rPr lang="en-US" dirty="0">
                <a:solidFill>
                  <a:schemeClr val="bg1"/>
                </a:solidFill>
              </a:rPr>
              <a:t>W3C SOAP 1.2 · WSDL 1.1 · R. Fielding, Architectural Styles (2000)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>
            <a:extLst>
              <a:ext uri="{FF2B5EF4-FFF2-40B4-BE49-F238E27FC236}">
                <a16:creationId xmlns:a16="http://schemas.microsoft.com/office/drawing/2014/main" id="{936C281B-7AFA-E1F8-847B-53B791ECDCC5}"/>
              </a:ext>
            </a:extLst>
          </p:cNvPr>
          <p:cNvSpPr/>
          <p:nvPr/>
        </p:nvSpPr>
        <p:spPr>
          <a:xfrm>
            <a:off x="31" y="0"/>
            <a:ext cx="12191969" cy="6858000"/>
          </a:xfrm>
          <a:prstGeom prst="rect">
            <a:avLst/>
          </a:prstGeom>
          <a:solidFill>
            <a:srgbClr val="072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7" name="TextBox 9">
            <a:extLst>
              <a:ext uri="{FF2B5EF4-FFF2-40B4-BE49-F238E27FC236}">
                <a16:creationId xmlns:a16="http://schemas.microsoft.com/office/drawing/2014/main" id="{6CD813CC-35B5-94D5-5226-DA746E81D760}"/>
              </a:ext>
            </a:extLst>
          </p:cNvPr>
          <p:cNvSpPr txBox="1"/>
          <p:nvPr/>
        </p:nvSpPr>
        <p:spPr>
          <a:xfrm>
            <a:off x="5473290" y="875871"/>
            <a:ext cx="6144768" cy="3185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20000"/>
              </a:lnSpc>
            </a:pPr>
            <a:r>
              <a:rPr lang="en-US" sz="1900" b="0" i="0" noProof="0" dirty="0" err="1">
                <a:solidFill>
                  <a:srgbClr val="9FC6D2"/>
                </a:solidFill>
                <a:latin typeface="Segoe UI"/>
              </a:rPr>
              <a:t>תוכן</a:t>
            </a:r>
            <a:r>
              <a:rPr lang="en-US" sz="1900" b="0" i="0" noProof="0" dirty="0">
                <a:solidFill>
                  <a:srgbClr val="9FC6D2"/>
                </a:solidFill>
                <a:latin typeface="Segoe UI"/>
              </a:rPr>
              <a:t> </a:t>
            </a:r>
            <a:r>
              <a:rPr lang="en-US" sz="1900" b="0" i="0" noProof="0" dirty="0" err="1">
                <a:solidFill>
                  <a:srgbClr val="9FC6D2"/>
                </a:solidFill>
                <a:latin typeface="Segoe UI"/>
              </a:rPr>
              <a:t>עניינים</a:t>
            </a:r>
            <a:r>
              <a:rPr lang="en-US" sz="1900" b="0" i="0" noProof="0" dirty="0">
                <a:solidFill>
                  <a:srgbClr val="9FC6D2"/>
                </a:solidFill>
                <a:latin typeface="Segoe UI"/>
              </a:rPr>
              <a:t>:</a:t>
            </a:r>
          </a:p>
        </p:txBody>
      </p:sp>
      <p:sp>
        <p:nvSpPr>
          <p:cNvPr id="19" name="TextBox 9">
            <a:extLst>
              <a:ext uri="{FF2B5EF4-FFF2-40B4-BE49-F238E27FC236}">
                <a16:creationId xmlns:a16="http://schemas.microsoft.com/office/drawing/2014/main" id="{1EA0A237-663F-D955-0BC7-E11A19BE37AE}"/>
              </a:ext>
            </a:extLst>
          </p:cNvPr>
          <p:cNvSpPr txBox="1"/>
          <p:nvPr/>
        </p:nvSpPr>
        <p:spPr>
          <a:xfrm>
            <a:off x="4350059" y="1376505"/>
            <a:ext cx="7281109" cy="381367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85750" indent="-285750" algn="r" rtl="1">
              <a:lnSpc>
                <a:spcPct val="120000"/>
              </a:lnSpc>
              <a:buFontTx/>
              <a:buChar char="-"/>
            </a:pPr>
            <a:r>
              <a:rPr lang="he-IL" sz="1600" noProof="0" dirty="0">
                <a:solidFill>
                  <a:schemeClr val="bg1"/>
                </a:solidFill>
                <a:latin typeface="Segoe UI"/>
              </a:rPr>
              <a:t>יסודות </a:t>
            </a:r>
            <a:r>
              <a:rPr lang="he-IL" sz="1600" noProof="0" dirty="0">
                <a:solidFill>
                  <a:schemeClr val="bg1"/>
                </a:solidFill>
                <a:latin typeface="Segoe UI"/>
              </a:rPr>
              <a:t>— מהם שירותי רשת ולמה צריך אותם</a:t>
            </a:r>
          </a:p>
          <a:p>
            <a:pPr marL="285750" indent="-285750" algn="r" rtl="1">
              <a:lnSpc>
                <a:spcPct val="120000"/>
              </a:lnSpc>
              <a:buFontTx/>
              <a:buChar char="-"/>
            </a:pPr>
            <a:r>
              <a:rPr lang="en-US" sz="1600" dirty="0">
                <a:solidFill>
                  <a:schemeClr val="bg1"/>
                </a:solidFill>
                <a:latin typeface="Segoe UI"/>
              </a:rPr>
              <a:t>‏SOAP‏ </a:t>
            </a:r>
            <a:r>
              <a:rPr lang="he-IL" sz="1600" dirty="0">
                <a:solidFill>
                  <a:schemeClr val="bg1"/>
                </a:solidFill>
                <a:latin typeface="Segoe UI"/>
              </a:rPr>
              <a:t>— מבנה ההודעה</a:t>
            </a:r>
          </a:p>
          <a:p>
            <a:pPr marL="285750" indent="-285750" algn="r" rtl="1">
              <a:lnSpc>
                <a:spcPct val="120000"/>
              </a:lnSpc>
              <a:buFontTx/>
              <a:buChar char="-"/>
            </a:pPr>
            <a:r>
              <a:rPr lang="en-US" sz="1600" dirty="0">
                <a:solidFill>
                  <a:schemeClr val="bg1"/>
                </a:solidFill>
                <a:latin typeface="Segoe UI"/>
              </a:rPr>
              <a:t>‏WSDL‏ </a:t>
            </a:r>
            <a:r>
              <a:rPr lang="he-IL" sz="1600" dirty="0">
                <a:solidFill>
                  <a:schemeClr val="bg1"/>
                </a:solidFill>
                <a:latin typeface="Segoe UI"/>
              </a:rPr>
              <a:t>— חוזה השירות</a:t>
            </a:r>
          </a:p>
          <a:p>
            <a:pPr marL="285750" indent="-285750" algn="r" rtl="1">
              <a:lnSpc>
                <a:spcPct val="120000"/>
              </a:lnSpc>
              <a:buFontTx/>
              <a:buChar char="-"/>
            </a:pPr>
            <a:r>
              <a:rPr lang="en-US" sz="1600" dirty="0">
                <a:solidFill>
                  <a:schemeClr val="bg1"/>
                </a:solidFill>
                <a:latin typeface="Segoe UI"/>
              </a:rPr>
              <a:t>JAX-WS</a:t>
            </a:r>
            <a:r>
              <a:rPr lang="he-IL" sz="1600" dirty="0">
                <a:solidFill>
                  <a:schemeClr val="bg1"/>
                </a:solidFill>
                <a:latin typeface="Segoe UI"/>
              </a:rPr>
              <a:t> — פרסום וצריכה של שירות </a:t>
            </a:r>
            <a:r>
              <a:rPr lang="en-US" sz="1600" dirty="0">
                <a:solidFill>
                  <a:schemeClr val="bg1"/>
                </a:solidFill>
                <a:latin typeface="Segoe UI"/>
              </a:rPr>
              <a:t>SOAP</a:t>
            </a:r>
            <a:endParaRPr lang="en-US" sz="1600" dirty="0">
              <a:solidFill>
                <a:schemeClr val="bg1"/>
              </a:solidFill>
              <a:latin typeface="Segoe UI"/>
            </a:endParaRPr>
          </a:p>
          <a:p>
            <a:pPr marL="285750" indent="-285750" algn="r" rtl="1">
              <a:lnSpc>
                <a:spcPct val="120000"/>
              </a:lnSpc>
              <a:buFontTx/>
              <a:buChar char="-"/>
            </a:pPr>
            <a:r>
              <a:rPr lang="en-US" sz="1600" dirty="0">
                <a:solidFill>
                  <a:schemeClr val="bg1"/>
                </a:solidFill>
                <a:latin typeface="Segoe UI"/>
              </a:rPr>
              <a:t>REST</a:t>
            </a:r>
            <a:r>
              <a:rPr lang="he-IL" sz="1600" dirty="0">
                <a:solidFill>
                  <a:schemeClr val="bg1"/>
                </a:solidFill>
                <a:latin typeface="Segoe UI"/>
              </a:rPr>
              <a:t> — הסגנון הארכיטקטוני ופעולות </a:t>
            </a:r>
            <a:r>
              <a:rPr lang="en-US" sz="1600" dirty="0">
                <a:solidFill>
                  <a:schemeClr val="bg1"/>
                </a:solidFill>
                <a:latin typeface="Segoe UI"/>
              </a:rPr>
              <a:t>CRUD</a:t>
            </a:r>
            <a:endParaRPr lang="en-US" sz="1600" dirty="0">
              <a:solidFill>
                <a:schemeClr val="bg1"/>
              </a:solidFill>
              <a:latin typeface="Segoe UI"/>
            </a:endParaRPr>
          </a:p>
          <a:p>
            <a:pPr marL="285750" indent="-285750" algn="r" rtl="1">
              <a:lnSpc>
                <a:spcPct val="120000"/>
              </a:lnSpc>
              <a:buFontTx/>
              <a:buChar char="-"/>
            </a:pPr>
            <a:r>
              <a:rPr lang="en-US" sz="1600" dirty="0">
                <a:solidFill>
                  <a:schemeClr val="bg1"/>
                </a:solidFill>
                <a:latin typeface="Segoe UI"/>
              </a:rPr>
              <a:t>JAX-RS</a:t>
            </a:r>
            <a:r>
              <a:rPr lang="he-IL" sz="1600" dirty="0">
                <a:solidFill>
                  <a:schemeClr val="bg1"/>
                </a:solidFill>
                <a:latin typeface="Segoe UI"/>
              </a:rPr>
              <a:t> — בניית שירות </a:t>
            </a:r>
            <a:r>
              <a:rPr lang="en-US" sz="1600" dirty="0">
                <a:solidFill>
                  <a:schemeClr val="bg1"/>
                </a:solidFill>
                <a:latin typeface="Segoe UI"/>
              </a:rPr>
              <a:t>RESTful</a:t>
            </a:r>
            <a:endParaRPr lang="he-IL" sz="1600" dirty="0">
              <a:solidFill>
                <a:schemeClr val="bg1"/>
              </a:solidFill>
              <a:latin typeface="Segoe UI"/>
            </a:endParaRPr>
          </a:p>
          <a:p>
            <a:pPr marL="285750" indent="-285750" algn="r" rtl="1">
              <a:lnSpc>
                <a:spcPct val="120000"/>
              </a:lnSpc>
              <a:buFontTx/>
              <a:buChar char="-"/>
            </a:pPr>
            <a:r>
              <a:rPr lang="en-US" sz="1600" dirty="0">
                <a:solidFill>
                  <a:schemeClr val="bg1"/>
                </a:solidFill>
                <a:latin typeface="Segoe UI"/>
              </a:rPr>
              <a:t>SOAP</a:t>
            </a:r>
            <a:r>
              <a:rPr lang="he-IL" sz="1600" dirty="0">
                <a:solidFill>
                  <a:schemeClr val="bg1"/>
                </a:solidFill>
                <a:latin typeface="Segoe UI"/>
              </a:rPr>
              <a:t> מול </a:t>
            </a:r>
            <a:r>
              <a:rPr lang="en-US" sz="1600" dirty="0">
                <a:solidFill>
                  <a:schemeClr val="bg1"/>
                </a:solidFill>
                <a:latin typeface="Segoe UI"/>
              </a:rPr>
              <a:t>REST</a:t>
            </a:r>
            <a:r>
              <a:rPr lang="he-IL" sz="1600" dirty="0">
                <a:solidFill>
                  <a:schemeClr val="bg1"/>
                </a:solidFill>
                <a:latin typeface="Segoe UI"/>
              </a:rPr>
              <a:t> — השוואה וניהול מצב</a:t>
            </a:r>
            <a:endParaRPr lang="he-IL" sz="1600" dirty="0">
              <a:solidFill>
                <a:schemeClr val="bg1"/>
              </a:solidFill>
              <a:latin typeface="Segoe UI"/>
            </a:endParaRPr>
          </a:p>
          <a:p>
            <a:pPr marL="285750" indent="-285750" algn="r" rtl="1">
              <a:lnSpc>
                <a:spcPct val="120000"/>
              </a:lnSpc>
              <a:buFontTx/>
              <a:buChar char="-"/>
            </a:pPr>
            <a:r>
              <a:rPr lang="he-IL" sz="1600" dirty="0">
                <a:solidFill>
                  <a:schemeClr val="bg1"/>
                </a:solidFill>
                <a:latin typeface="Segoe UI"/>
              </a:rPr>
              <a:t>מתי בוחרים במה</a:t>
            </a:r>
            <a:r>
              <a:rPr lang="he-IL" sz="1600" dirty="0">
                <a:solidFill>
                  <a:schemeClr val="bg1"/>
                </a:solidFill>
                <a:latin typeface="Segoe UI"/>
              </a:rPr>
              <a:t> — וסיכום</a:t>
            </a:r>
            <a:endParaRPr lang="he-IL" sz="1600" dirty="0">
              <a:solidFill>
                <a:schemeClr val="bg1"/>
              </a:solidFill>
              <a:latin typeface="Segoe UI"/>
            </a:endParaRPr>
          </a:p>
          <a:p>
            <a:pPr marL="285750" indent="-285750" algn="r" rtl="1">
              <a:lnSpc>
                <a:spcPct val="120000"/>
              </a:lnSpc>
              <a:buFontTx/>
              <a:buChar char="-"/>
            </a:pPr>
            <a:endParaRPr lang="he-IL" sz="1600" dirty="0">
              <a:solidFill>
                <a:schemeClr val="bg1"/>
              </a:solidFill>
              <a:latin typeface="Segoe UI"/>
            </a:endParaRPr>
          </a:p>
          <a:p>
            <a:pPr marL="285750" indent="-285750" algn="r" rtl="1">
              <a:lnSpc>
                <a:spcPct val="120000"/>
              </a:lnSpc>
              <a:buFontTx/>
              <a:buChar char="-"/>
            </a:pPr>
            <a:endParaRPr lang="he-IL" sz="1600" dirty="0">
              <a:solidFill>
                <a:schemeClr val="bg1"/>
              </a:solidFill>
              <a:latin typeface="Segoe UI"/>
            </a:endParaRPr>
          </a:p>
          <a:p>
            <a:pPr marL="285750" indent="-285750" algn="r" rtl="1">
              <a:lnSpc>
                <a:spcPct val="120000"/>
              </a:lnSpc>
              <a:buFontTx/>
              <a:buChar char="-"/>
            </a:pPr>
            <a:endParaRPr lang="he-IL" sz="1600" dirty="0">
              <a:solidFill>
                <a:schemeClr val="bg1"/>
              </a:solidFill>
              <a:latin typeface="Segoe UI"/>
            </a:endParaRPr>
          </a:p>
          <a:p>
            <a:pPr marL="285750" indent="-285750" algn="r" rtl="1">
              <a:lnSpc>
                <a:spcPct val="120000"/>
              </a:lnSpc>
              <a:buFontTx/>
              <a:buChar char="-"/>
            </a:pPr>
            <a:endParaRPr lang="en-US" sz="1600" dirty="0">
              <a:solidFill>
                <a:schemeClr val="bg1"/>
              </a:solidFill>
              <a:latin typeface="Segoe UI"/>
            </a:endParaRPr>
          </a:p>
          <a:p>
            <a:pPr marL="285750" indent="-285750" algn="r" rtl="1">
              <a:lnSpc>
                <a:spcPct val="120000"/>
              </a:lnSpc>
              <a:buFontTx/>
              <a:buChar char="-"/>
            </a:pPr>
            <a:endParaRPr lang="en-US" sz="1600" b="0" i="0" noProof="0" dirty="0">
              <a:solidFill>
                <a:schemeClr val="bg1"/>
              </a:solidFill>
              <a:latin typeface="Segoe UI"/>
            </a:endParaRPr>
          </a:p>
        </p:txBody>
      </p:sp>
      <p:sp>
        <p:nvSpPr>
          <p:cNvPr id="21" name="Rectangle 5">
            <a:extLst>
              <a:ext uri="{FF2B5EF4-FFF2-40B4-BE49-F238E27FC236}">
                <a16:creationId xmlns:a16="http://schemas.microsoft.com/office/drawing/2014/main" id="{91BE2878-E9BE-F856-18A9-82397CB8F17B}"/>
              </a:ext>
            </a:extLst>
          </p:cNvPr>
          <p:cNvSpPr/>
          <p:nvPr/>
        </p:nvSpPr>
        <p:spPr>
          <a:xfrm>
            <a:off x="10795247" y="412851"/>
            <a:ext cx="835921" cy="87783"/>
          </a:xfrm>
          <a:prstGeom prst="rect">
            <a:avLst/>
          </a:prstGeom>
          <a:solidFill>
            <a:srgbClr val="C4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23" name="Rectangle 5">
            <a:extLst>
              <a:ext uri="{FF2B5EF4-FFF2-40B4-BE49-F238E27FC236}">
                <a16:creationId xmlns:a16="http://schemas.microsoft.com/office/drawing/2014/main" id="{A942F445-54EC-9F35-31A9-282511EC3C6A}"/>
              </a:ext>
            </a:extLst>
          </p:cNvPr>
          <p:cNvSpPr/>
          <p:nvPr/>
        </p:nvSpPr>
        <p:spPr>
          <a:xfrm>
            <a:off x="889247" y="6406758"/>
            <a:ext cx="835921" cy="87783"/>
          </a:xfrm>
          <a:prstGeom prst="rect">
            <a:avLst/>
          </a:prstGeom>
          <a:solidFill>
            <a:srgbClr val="C4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943702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91440"/>
          </a:xfrm>
          <a:prstGeom prst="rect">
            <a:avLst/>
          </a:prstGeom>
          <a:solidFill>
            <a:srgbClr val="0D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5" name="TextBox 4"/>
          <p:cNvSpPr txBox="1"/>
          <p:nvPr/>
        </p:nvSpPr>
        <p:spPr>
          <a:xfrm>
            <a:off x="566928" y="548640"/>
            <a:ext cx="1106424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/>
            <a:r>
              <a:rPr lang="en-US" sz="2800" b="1" i="0" noProof="0" dirty="0" err="1">
                <a:solidFill>
                  <a:srgbClr val="0D4A5C"/>
                </a:solidFill>
                <a:latin typeface="Segoe UI"/>
              </a:rPr>
              <a:t>מהם</a:t>
            </a:r>
            <a:r>
              <a:rPr lang="en-US" sz="2800" b="1" i="0" noProof="0" dirty="0">
                <a:solidFill>
                  <a:srgbClr val="0D4A5C"/>
                </a:solidFill>
                <a:latin typeface="Segoe UI"/>
              </a:rPr>
              <a:t> </a:t>
            </a:r>
            <a:r>
              <a:rPr lang="en-US" sz="2800" b="1" i="0" noProof="0" dirty="0" err="1">
                <a:solidFill>
                  <a:srgbClr val="0D4A5C"/>
                </a:solidFill>
                <a:latin typeface="Segoe UI"/>
              </a:rPr>
              <a:t>שירותי</a:t>
            </a:r>
            <a:r>
              <a:rPr lang="en-US" sz="2800" b="1" i="0" noProof="0" dirty="0">
                <a:solidFill>
                  <a:srgbClr val="0D4A5C"/>
                </a:solidFill>
                <a:latin typeface="Segoe UI"/>
              </a:rPr>
              <a:t> ‏</a:t>
            </a:r>
            <a:r>
              <a:rPr lang="en-US" sz="2800" b="1" i="0" noProof="0" dirty="0" err="1">
                <a:solidFill>
                  <a:srgbClr val="0D4A5C"/>
                </a:solidFill>
                <a:latin typeface="Segoe UI"/>
              </a:rPr>
              <a:t>רשת</a:t>
            </a:r>
            <a:r>
              <a:rPr lang="en-US" sz="2800" b="1" i="0" noProof="0" dirty="0">
                <a:solidFill>
                  <a:srgbClr val="0D4A5C"/>
                </a:solidFill>
                <a:latin typeface="Segoe UI"/>
              </a:rPr>
              <a:t> ? ‎‏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2105" y="1007378"/>
            <a:ext cx="5201630" cy="36290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06000"/>
              </a:lnSpc>
              <a:spcAft>
                <a:spcPts val="1000"/>
              </a:spcAft>
            </a:pPr>
            <a:r>
              <a:rPr lang="he-IL" sz="1600" i="0" noProof="0" dirty="0">
                <a:latin typeface="Segoe UI"/>
              </a:rPr>
              <a:t>שירות רשת (</a:t>
            </a:r>
            <a:r>
              <a:rPr lang="en-US" sz="1600" i="0" noProof="0" dirty="0">
                <a:latin typeface="Segoe UI"/>
              </a:rPr>
              <a:t>Web Service</a:t>
            </a:r>
            <a:r>
              <a:rPr lang="he-IL" sz="1600" i="0" noProof="0" dirty="0">
                <a:latin typeface="Segoe UI"/>
              </a:rPr>
              <a:t>) הוא רכיב תוכנה השוכן על מחשב אחד, שיישום על מחשב אחר קורא לו דרך הרשת בעזרת </a:t>
            </a:r>
            <a:r>
              <a:rPr lang="en-US" sz="1600" i="0" noProof="0" dirty="0">
                <a:latin typeface="Segoe UI"/>
              </a:rPr>
              <a:t>‏HTTP‏</a:t>
            </a:r>
            <a:r>
              <a:rPr lang="he-IL" sz="1600" i="0" noProof="0" dirty="0">
                <a:latin typeface="Segoe UI"/>
              </a:rPr>
              <a:t>. הלקוח שולח בקשה, השרת מעבד אותה ומחזיר תשובה בפורמט מוסכם — </a:t>
            </a:r>
            <a:r>
              <a:rPr lang="he-IL" sz="1600" i="0" noProof="0" dirty="0">
                <a:latin typeface="Segoe UI"/>
              </a:rPr>
              <a:t>‏XML‏</a:t>
            </a:r>
            <a:r>
              <a:rPr lang="he-IL" sz="1600" i="0" noProof="0" dirty="0">
                <a:latin typeface="Segoe UI"/>
              </a:rPr>
              <a:t> או </a:t>
            </a:r>
            <a:r>
              <a:rPr lang="he-IL" sz="1600" noProof="0" dirty="0">
                <a:latin typeface="Segoe UI"/>
              </a:rPr>
              <a:t>‏JSON‏</a:t>
            </a:r>
            <a:r>
              <a:rPr lang="en-US" sz="1600" dirty="0">
                <a:latin typeface="Segoe UI"/>
              </a:rPr>
              <a:t>.</a:t>
            </a:r>
            <a:endParaRPr lang="en-US" sz="1600" i="0" noProof="0" dirty="0">
              <a:latin typeface="Segoe UI"/>
            </a:endParaRPr>
          </a:p>
          <a:p>
            <a:pPr algn="r" rtl="1">
              <a:lnSpc>
                <a:spcPct val="106000"/>
              </a:lnSpc>
              <a:spcAft>
                <a:spcPts val="1000"/>
              </a:spcAft>
            </a:pPr>
            <a:r>
              <a:rPr lang="en-US" sz="1400" b="1" i="0" noProof="0" dirty="0">
                <a:solidFill>
                  <a:srgbClr val="C4622D"/>
                </a:solidFill>
                <a:latin typeface="Segoe UI"/>
              </a:rPr>
              <a:t>■  </a:t>
            </a:r>
            <a:r>
              <a:rPr lang="en-US" sz="1400" b="1" i="0" noProof="0" dirty="0" err="1">
                <a:solidFill>
                  <a:srgbClr val="0D4A5C"/>
                </a:solidFill>
                <a:latin typeface="Segoe UI"/>
              </a:rPr>
              <a:t>תקנים</a:t>
            </a:r>
            <a:r>
              <a:rPr lang="en-US" sz="1400" b="1" i="0" noProof="0" dirty="0">
                <a:solidFill>
                  <a:srgbClr val="0D4A5C"/>
                </a:solidFill>
                <a:latin typeface="Segoe UI"/>
              </a:rPr>
              <a:t> </a:t>
            </a:r>
            <a:r>
              <a:rPr lang="en-US" sz="1400" b="1" i="0" noProof="0" dirty="0" err="1">
                <a:solidFill>
                  <a:srgbClr val="0D4A5C"/>
                </a:solidFill>
                <a:latin typeface="Segoe UI"/>
              </a:rPr>
              <a:t>פתוחים</a:t>
            </a:r>
            <a:r>
              <a:rPr lang="en-US" sz="1400" b="1" i="0" noProof="0" dirty="0">
                <a:solidFill>
                  <a:srgbClr val="0D4A5C"/>
                </a:solidFill>
                <a:latin typeface="Segoe UI"/>
              </a:rPr>
              <a:t>. </a:t>
            </a:r>
            <a:r>
              <a:rPr lang="en-US" sz="1400" b="0" i="0" noProof="0" dirty="0" err="1">
                <a:solidFill>
                  <a:srgbClr val="0F1B24"/>
                </a:solidFill>
                <a:latin typeface="Segoe UI"/>
              </a:rPr>
              <a:t>התקשורת</a:t>
            </a:r>
            <a:r>
              <a:rPr lang="en-US" sz="14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0F1B24"/>
                </a:solidFill>
                <a:latin typeface="Segoe UI"/>
              </a:rPr>
              <a:t>נשענת</a:t>
            </a:r>
            <a:r>
              <a:rPr lang="en-US" sz="14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0F1B24"/>
                </a:solidFill>
                <a:latin typeface="Segoe UI"/>
              </a:rPr>
              <a:t>על</a:t>
            </a:r>
            <a:r>
              <a:rPr lang="en-US" sz="1400" b="0" i="0" noProof="0" dirty="0">
                <a:solidFill>
                  <a:srgbClr val="0F1B24"/>
                </a:solidFill>
                <a:latin typeface="Segoe UI"/>
              </a:rPr>
              <a:t> ‏HTTP‏ </a:t>
            </a:r>
            <a:r>
              <a:rPr lang="en-US" sz="1400" b="0" i="0" noProof="0" dirty="0" err="1">
                <a:solidFill>
                  <a:srgbClr val="0F1B24"/>
                </a:solidFill>
                <a:latin typeface="Segoe UI"/>
              </a:rPr>
              <a:t>להעברה</a:t>
            </a:r>
            <a:r>
              <a:rPr lang="en-US" sz="14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0F1B24"/>
                </a:solidFill>
                <a:latin typeface="Segoe UI"/>
              </a:rPr>
              <a:t>ועל</a:t>
            </a:r>
            <a:r>
              <a:rPr lang="en-US" sz="1400" b="0" i="0" noProof="0" dirty="0">
                <a:solidFill>
                  <a:srgbClr val="0F1B24"/>
                </a:solidFill>
                <a:latin typeface="Segoe UI"/>
              </a:rPr>
              <a:t> ‏XML‏ </a:t>
            </a:r>
            <a:r>
              <a:rPr lang="en-US" sz="1400" b="0" i="0" noProof="0" dirty="0" err="1">
                <a:solidFill>
                  <a:srgbClr val="0F1B24"/>
                </a:solidFill>
                <a:latin typeface="Segoe UI"/>
              </a:rPr>
              <a:t>או</a:t>
            </a:r>
            <a:r>
              <a:rPr lang="en-US" sz="1400" b="0" i="0" noProof="0" dirty="0">
                <a:solidFill>
                  <a:srgbClr val="0F1B24"/>
                </a:solidFill>
                <a:latin typeface="Segoe UI"/>
              </a:rPr>
              <a:t> ‏JSON‏ </a:t>
            </a:r>
            <a:r>
              <a:rPr lang="en-US" sz="1400" b="0" i="0" noProof="0" dirty="0" err="1">
                <a:solidFill>
                  <a:srgbClr val="0F1B24"/>
                </a:solidFill>
                <a:latin typeface="Segoe UI"/>
              </a:rPr>
              <a:t>לייצוג</a:t>
            </a:r>
            <a:r>
              <a:rPr lang="en-US" sz="14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0F1B24"/>
                </a:solidFill>
                <a:latin typeface="Segoe UI"/>
              </a:rPr>
              <a:t>הנתונים</a:t>
            </a:r>
            <a:r>
              <a:rPr lang="en-US" sz="1400" b="0" i="0" noProof="0" dirty="0">
                <a:solidFill>
                  <a:srgbClr val="0F1B24"/>
                </a:solidFill>
                <a:latin typeface="Segoe UI"/>
              </a:rPr>
              <a:t> — </a:t>
            </a:r>
            <a:r>
              <a:rPr lang="en-US" sz="1400" b="0" i="0" noProof="0" dirty="0" err="1">
                <a:solidFill>
                  <a:srgbClr val="0F1B24"/>
                </a:solidFill>
                <a:latin typeface="Segoe UI"/>
              </a:rPr>
              <a:t>כולם</a:t>
            </a:r>
            <a:r>
              <a:rPr lang="en-US" sz="14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0F1B24"/>
                </a:solidFill>
                <a:latin typeface="Segoe UI"/>
              </a:rPr>
              <a:t>קריאים</a:t>
            </a:r>
            <a:r>
              <a:rPr lang="en-US" sz="14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0F1B24"/>
                </a:solidFill>
                <a:latin typeface="Segoe UI"/>
              </a:rPr>
              <a:t>למחשב</a:t>
            </a:r>
            <a:r>
              <a:rPr lang="en-US" sz="14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0F1B24"/>
                </a:solidFill>
                <a:latin typeface="Segoe UI"/>
              </a:rPr>
              <a:t>ולאדם</a:t>
            </a:r>
            <a:r>
              <a:rPr lang="en-US" sz="1400" b="0" i="0" noProof="0" dirty="0">
                <a:solidFill>
                  <a:srgbClr val="0F1B24"/>
                </a:solidFill>
                <a:latin typeface="Segoe UI"/>
              </a:rPr>
              <a:t>, </a:t>
            </a:r>
            <a:r>
              <a:rPr lang="en-US" sz="1400" b="0" i="0" noProof="0" dirty="0" err="1">
                <a:solidFill>
                  <a:srgbClr val="0F1B24"/>
                </a:solidFill>
                <a:latin typeface="Segoe UI"/>
              </a:rPr>
              <a:t>ובלתי</a:t>
            </a:r>
            <a:r>
              <a:rPr lang="en-US" sz="14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0F1B24"/>
                </a:solidFill>
                <a:latin typeface="Segoe UI"/>
              </a:rPr>
              <a:t>תלויים</a:t>
            </a:r>
            <a:r>
              <a:rPr lang="en-US" sz="14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0F1B24"/>
                </a:solidFill>
                <a:latin typeface="Segoe UI"/>
              </a:rPr>
              <a:t>בפלטפורמה</a:t>
            </a:r>
            <a:r>
              <a:rPr lang="en-US" sz="1400" b="0" i="0" noProof="0" dirty="0">
                <a:solidFill>
                  <a:srgbClr val="0F1B24"/>
                </a:solidFill>
                <a:latin typeface="Segoe UI"/>
              </a:rPr>
              <a:t>.</a:t>
            </a:r>
          </a:p>
          <a:p>
            <a:pPr algn="r" rtl="1">
              <a:lnSpc>
                <a:spcPct val="106000"/>
              </a:lnSpc>
              <a:spcAft>
                <a:spcPts val="1000"/>
              </a:spcAft>
            </a:pPr>
            <a:r>
              <a:rPr lang="en-US" sz="1400" b="1" i="0" noProof="0" dirty="0">
                <a:solidFill>
                  <a:srgbClr val="C4622D"/>
                </a:solidFill>
                <a:latin typeface="Segoe UI"/>
              </a:rPr>
              <a:t>■ </a:t>
            </a:r>
            <a:r>
              <a:rPr lang="en-US" sz="1400" b="1" i="0" noProof="0" dirty="0" err="1">
                <a:solidFill>
                  <a:srgbClr val="0D4A5C"/>
                </a:solidFill>
                <a:latin typeface="Segoe UI"/>
              </a:rPr>
              <a:t>שני</a:t>
            </a:r>
            <a:r>
              <a:rPr lang="en-US" sz="1400" b="1" i="0" noProof="0" dirty="0">
                <a:solidFill>
                  <a:srgbClr val="0D4A5C"/>
                </a:solidFill>
                <a:latin typeface="Segoe UI"/>
              </a:rPr>
              <a:t> </a:t>
            </a:r>
            <a:r>
              <a:rPr lang="en-US" sz="1400" b="1" i="0" noProof="0" dirty="0" err="1">
                <a:solidFill>
                  <a:srgbClr val="0D4A5C"/>
                </a:solidFill>
                <a:latin typeface="Segoe UI"/>
              </a:rPr>
              <a:t>מושגי</a:t>
            </a:r>
            <a:r>
              <a:rPr lang="en-US" sz="1400" b="1" i="0" noProof="0" dirty="0">
                <a:solidFill>
                  <a:srgbClr val="0D4A5C"/>
                </a:solidFill>
                <a:latin typeface="Segoe UI"/>
              </a:rPr>
              <a:t> </a:t>
            </a:r>
            <a:r>
              <a:rPr lang="en-US" sz="1400" b="1" i="0" noProof="0" dirty="0" err="1">
                <a:solidFill>
                  <a:srgbClr val="0D4A5C"/>
                </a:solidFill>
                <a:latin typeface="Segoe UI"/>
              </a:rPr>
              <a:t>מפתח</a:t>
            </a:r>
            <a:r>
              <a:rPr lang="en-US" sz="1400" b="1" i="0" noProof="0" dirty="0">
                <a:solidFill>
                  <a:srgbClr val="0D4A5C"/>
                </a:solidFill>
                <a:latin typeface="Segoe UI"/>
              </a:rPr>
              <a:t>. </a:t>
            </a:r>
            <a:r>
              <a:rPr lang="en-US" sz="1400" b="0" i="0" noProof="0" dirty="0">
                <a:solidFill>
                  <a:srgbClr val="0F1B24"/>
                </a:solidFill>
                <a:latin typeface="Segoe UI"/>
              </a:rPr>
              <a:t>‏publishing‏ — </a:t>
            </a:r>
            <a:r>
              <a:rPr lang="en-US" sz="1400" b="0" i="0" noProof="0" dirty="0" err="1">
                <a:solidFill>
                  <a:srgbClr val="0F1B24"/>
                </a:solidFill>
                <a:latin typeface="Segoe UI"/>
              </a:rPr>
              <a:t>הנגשת</a:t>
            </a:r>
            <a:r>
              <a:rPr lang="en-US" sz="14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0F1B24"/>
                </a:solidFill>
                <a:latin typeface="Segoe UI"/>
              </a:rPr>
              <a:t>השירות</a:t>
            </a:r>
            <a:r>
              <a:rPr lang="en-US" sz="14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0F1B24"/>
                </a:solidFill>
                <a:latin typeface="Segoe UI"/>
              </a:rPr>
              <a:t>לקבלת</a:t>
            </a:r>
            <a:r>
              <a:rPr lang="en-US" sz="14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0F1B24"/>
                </a:solidFill>
                <a:latin typeface="Segoe UI"/>
              </a:rPr>
              <a:t>בקשות</a:t>
            </a:r>
            <a:r>
              <a:rPr lang="en-US" sz="14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0F1B24"/>
                </a:solidFill>
                <a:latin typeface="Segoe UI"/>
              </a:rPr>
              <a:t>מלקוחות</a:t>
            </a:r>
            <a:r>
              <a:rPr lang="en-US" sz="1400" b="0" i="0" noProof="0" dirty="0">
                <a:solidFill>
                  <a:srgbClr val="0F1B24"/>
                </a:solidFill>
                <a:latin typeface="Segoe UI"/>
              </a:rPr>
              <a:t>. ‏consuming‏ — </a:t>
            </a:r>
            <a:r>
              <a:rPr lang="en-US" sz="1400" b="0" i="0" noProof="0" dirty="0" err="1">
                <a:solidFill>
                  <a:srgbClr val="0F1B24"/>
                </a:solidFill>
                <a:latin typeface="Segoe UI"/>
              </a:rPr>
              <a:t>שימוש</a:t>
            </a:r>
            <a:r>
              <a:rPr lang="en-US" sz="14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0F1B24"/>
                </a:solidFill>
                <a:latin typeface="Segoe UI"/>
              </a:rPr>
              <a:t>בשירות</a:t>
            </a:r>
            <a:r>
              <a:rPr lang="en-US" sz="14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0F1B24"/>
                </a:solidFill>
                <a:latin typeface="Segoe UI"/>
              </a:rPr>
              <a:t>מתוך</a:t>
            </a:r>
            <a:r>
              <a:rPr lang="en-US" sz="14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0F1B24"/>
                </a:solidFill>
                <a:latin typeface="Segoe UI"/>
              </a:rPr>
              <a:t>יישום</a:t>
            </a:r>
            <a:r>
              <a:rPr lang="en-US" sz="14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0F1B24"/>
                </a:solidFill>
                <a:latin typeface="Segoe UI"/>
              </a:rPr>
              <a:t>לקוח</a:t>
            </a:r>
            <a:r>
              <a:rPr lang="en-US" sz="1400" b="0" i="0" noProof="0" dirty="0">
                <a:solidFill>
                  <a:srgbClr val="0F1B24"/>
                </a:solidFill>
                <a:latin typeface="Segoe UI"/>
              </a:rPr>
              <a:t>.</a:t>
            </a:r>
          </a:p>
          <a:p>
            <a:pPr algn="r" rtl="1">
              <a:lnSpc>
                <a:spcPct val="106000"/>
              </a:lnSpc>
              <a:spcAft>
                <a:spcPts val="1000"/>
              </a:spcAft>
            </a:pPr>
            <a:r>
              <a:rPr lang="en-US" sz="1400" b="1" i="0" noProof="0" dirty="0">
                <a:solidFill>
                  <a:srgbClr val="C4622D"/>
                </a:solidFill>
                <a:latin typeface="Segoe UI"/>
              </a:rPr>
              <a:t>■  </a:t>
            </a:r>
            <a:r>
              <a:rPr lang="en-US" sz="1400" b="1" i="0" noProof="0" dirty="0" err="1">
                <a:solidFill>
                  <a:srgbClr val="0D4A5C"/>
                </a:solidFill>
                <a:latin typeface="Segoe UI"/>
              </a:rPr>
              <a:t>אי-תלות</a:t>
            </a:r>
            <a:r>
              <a:rPr lang="en-US" sz="1400" b="1" i="0" noProof="0" dirty="0">
                <a:solidFill>
                  <a:srgbClr val="0D4A5C"/>
                </a:solidFill>
                <a:latin typeface="Segoe UI"/>
              </a:rPr>
              <a:t> </a:t>
            </a:r>
            <a:r>
              <a:rPr lang="en-US" sz="1400" b="1" i="0" noProof="0" dirty="0" err="1">
                <a:solidFill>
                  <a:srgbClr val="0D4A5C"/>
                </a:solidFill>
                <a:latin typeface="Segoe UI"/>
              </a:rPr>
              <a:t>בשפה</a:t>
            </a:r>
            <a:r>
              <a:rPr lang="en-US" sz="1400" b="1" i="0" noProof="0" dirty="0">
                <a:solidFill>
                  <a:srgbClr val="0D4A5C"/>
                </a:solidFill>
                <a:latin typeface="Segoe UI"/>
              </a:rPr>
              <a:t>. </a:t>
            </a:r>
            <a:r>
              <a:rPr lang="en-US" sz="1400" b="0" i="0" noProof="0" dirty="0" err="1">
                <a:solidFill>
                  <a:srgbClr val="0F1B24"/>
                </a:solidFill>
                <a:latin typeface="Segoe UI"/>
              </a:rPr>
              <a:t>לקוח</a:t>
            </a:r>
            <a:r>
              <a:rPr lang="en-US" sz="14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0F1B24"/>
                </a:solidFill>
                <a:latin typeface="Segoe UI"/>
              </a:rPr>
              <a:t>שנכתב</a:t>
            </a:r>
            <a:r>
              <a:rPr lang="en-US" sz="1400" b="0" i="0" noProof="0" dirty="0">
                <a:solidFill>
                  <a:srgbClr val="0F1B24"/>
                </a:solidFill>
                <a:latin typeface="Segoe UI"/>
              </a:rPr>
              <a:t> ב-‏C#‎‏, ב-‏Python‏ </a:t>
            </a:r>
            <a:r>
              <a:rPr lang="en-US" sz="1400" b="0" i="0" noProof="0" dirty="0" err="1">
                <a:solidFill>
                  <a:srgbClr val="0F1B24"/>
                </a:solidFill>
                <a:latin typeface="Segoe UI"/>
              </a:rPr>
              <a:t>או</a:t>
            </a:r>
            <a:r>
              <a:rPr lang="en-US" sz="1400" b="0" i="0" noProof="0" dirty="0">
                <a:solidFill>
                  <a:srgbClr val="0F1B24"/>
                </a:solidFill>
                <a:latin typeface="Segoe UI"/>
              </a:rPr>
              <a:t> ב-‏JavaScript‏ </a:t>
            </a:r>
            <a:r>
              <a:rPr lang="en-US" sz="1400" b="0" i="0" noProof="0" dirty="0" err="1">
                <a:solidFill>
                  <a:srgbClr val="0F1B24"/>
                </a:solidFill>
                <a:latin typeface="Segoe UI"/>
              </a:rPr>
              <a:t>יכול</a:t>
            </a:r>
            <a:r>
              <a:rPr lang="en-US" sz="14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0F1B24"/>
                </a:solidFill>
                <a:latin typeface="Segoe UI"/>
              </a:rPr>
              <a:t>לצרוך</a:t>
            </a:r>
            <a:r>
              <a:rPr lang="en-US" sz="14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0F1B24"/>
                </a:solidFill>
                <a:latin typeface="Segoe UI"/>
              </a:rPr>
              <a:t>שירות</a:t>
            </a:r>
            <a:r>
              <a:rPr lang="en-US" sz="14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0F1B24"/>
                </a:solidFill>
                <a:latin typeface="Segoe UI"/>
              </a:rPr>
              <a:t>שנכתב</a:t>
            </a:r>
            <a:r>
              <a:rPr lang="en-US" sz="1400" b="0" i="0" noProof="0" dirty="0">
                <a:solidFill>
                  <a:srgbClr val="0F1B24"/>
                </a:solidFill>
                <a:latin typeface="Segoe UI"/>
              </a:rPr>
              <a:t> ב-‏Java‏ — </a:t>
            </a:r>
            <a:r>
              <a:rPr lang="en-US" sz="1400" b="0" i="0" noProof="0" dirty="0" err="1">
                <a:solidFill>
                  <a:srgbClr val="0F1B24"/>
                </a:solidFill>
                <a:latin typeface="Segoe UI"/>
              </a:rPr>
              <a:t>ההסכם</a:t>
            </a:r>
            <a:r>
              <a:rPr lang="en-US" sz="14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0F1B24"/>
                </a:solidFill>
                <a:latin typeface="Segoe UI"/>
              </a:rPr>
              <a:t>הוא</a:t>
            </a:r>
            <a:r>
              <a:rPr lang="en-US" sz="14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0F1B24"/>
                </a:solidFill>
                <a:latin typeface="Segoe UI"/>
              </a:rPr>
              <a:t>על</a:t>
            </a:r>
            <a:r>
              <a:rPr lang="en-US" sz="14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0F1B24"/>
                </a:solidFill>
                <a:latin typeface="Segoe UI"/>
              </a:rPr>
              <a:t>ההודעה</a:t>
            </a:r>
            <a:r>
              <a:rPr lang="en-US" sz="1400" b="0" i="0" noProof="0" dirty="0">
                <a:solidFill>
                  <a:srgbClr val="0F1B24"/>
                </a:solidFill>
                <a:latin typeface="Segoe UI"/>
              </a:rPr>
              <a:t>, </a:t>
            </a:r>
            <a:r>
              <a:rPr lang="en-US" sz="1400" b="0" i="0" noProof="0" dirty="0" err="1">
                <a:solidFill>
                  <a:srgbClr val="0F1B24"/>
                </a:solidFill>
                <a:latin typeface="Segoe UI"/>
              </a:rPr>
              <a:t>לא</a:t>
            </a:r>
            <a:r>
              <a:rPr lang="en-US" sz="14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0F1B24"/>
                </a:solidFill>
                <a:latin typeface="Segoe UI"/>
              </a:rPr>
              <a:t>על</a:t>
            </a:r>
            <a:r>
              <a:rPr lang="en-US" sz="14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0F1B24"/>
                </a:solidFill>
                <a:latin typeface="Segoe UI"/>
              </a:rPr>
              <a:t>השפה</a:t>
            </a:r>
            <a:r>
              <a:rPr lang="en-US" sz="1400" b="0" i="0" noProof="0" dirty="0">
                <a:solidFill>
                  <a:srgbClr val="0F1B24"/>
                </a:solidFill>
                <a:latin typeface="Segoe UI"/>
              </a:rPr>
              <a:t>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92040" y="5248656"/>
            <a:ext cx="6739128" cy="1024128"/>
          </a:xfrm>
          <a:prstGeom prst="roundRect">
            <a:avLst>
              <a:gd name="adj" fmla="val 5000"/>
            </a:avLst>
          </a:prstGeom>
          <a:solidFill>
            <a:srgbClr val="F1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13" name="Rectangle 12"/>
          <p:cNvSpPr/>
          <p:nvPr/>
        </p:nvSpPr>
        <p:spPr>
          <a:xfrm>
            <a:off x="11576303" y="5230368"/>
            <a:ext cx="54864" cy="1024128"/>
          </a:xfrm>
          <a:prstGeom prst="rect">
            <a:avLst/>
          </a:prstGeom>
          <a:solidFill>
            <a:srgbClr val="C4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14" name="TextBox 13"/>
          <p:cNvSpPr txBox="1"/>
          <p:nvPr/>
        </p:nvSpPr>
        <p:spPr>
          <a:xfrm>
            <a:off x="5093207" y="5349240"/>
            <a:ext cx="630021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/>
            <a:r>
              <a:rPr lang="en-US" sz="1250" b="1" i="0" noProof="0" dirty="0" err="1">
                <a:solidFill>
                  <a:srgbClr val="0D4A5C"/>
                </a:solidFill>
                <a:latin typeface="Segoe UI"/>
              </a:rPr>
              <a:t>למה</a:t>
            </a:r>
            <a:r>
              <a:rPr lang="en-US" sz="1250" b="1" i="0" noProof="0" dirty="0">
                <a:solidFill>
                  <a:srgbClr val="0D4A5C"/>
                </a:solidFill>
                <a:latin typeface="Segoe UI"/>
              </a:rPr>
              <a:t> </a:t>
            </a:r>
            <a:r>
              <a:rPr lang="en-US" sz="1250" b="1" i="0" noProof="0" dirty="0" err="1">
                <a:solidFill>
                  <a:srgbClr val="0D4A5C"/>
                </a:solidFill>
                <a:latin typeface="Segoe UI"/>
              </a:rPr>
              <a:t>בכלל</a:t>
            </a:r>
            <a:r>
              <a:rPr lang="en-US" sz="1250" b="1" i="0" noProof="0" dirty="0">
                <a:solidFill>
                  <a:srgbClr val="0D4A5C"/>
                </a:solidFill>
                <a:latin typeface="Segoe UI"/>
              </a:rPr>
              <a:t> </a:t>
            </a:r>
            <a:r>
              <a:rPr lang="en-US" sz="1250" b="1" i="0" noProof="0" dirty="0" err="1">
                <a:solidFill>
                  <a:srgbClr val="0D4A5C"/>
                </a:solidFill>
                <a:latin typeface="Segoe UI"/>
              </a:rPr>
              <a:t>לפזר</a:t>
            </a:r>
            <a:r>
              <a:rPr lang="en-US" sz="1250" b="1" i="0" noProof="0" dirty="0">
                <a:solidFill>
                  <a:srgbClr val="0D4A5C"/>
                </a:solidFill>
                <a:latin typeface="Segoe UI"/>
              </a:rPr>
              <a:t> את </a:t>
            </a:r>
            <a:r>
              <a:rPr lang="en-US" sz="1250" b="1" i="0" noProof="0" dirty="0" err="1">
                <a:solidFill>
                  <a:srgbClr val="0D4A5C"/>
                </a:solidFill>
                <a:latin typeface="Segoe UI"/>
              </a:rPr>
              <a:t>המערכת</a:t>
            </a:r>
            <a:r>
              <a:rPr lang="en-US" sz="1250" b="1" i="0" noProof="0" dirty="0">
                <a:solidFill>
                  <a:srgbClr val="0D4A5C"/>
                </a:solidFill>
                <a:latin typeface="Segoe UI"/>
              </a:rPr>
              <a:t>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93207" y="5623559"/>
            <a:ext cx="6300216" cy="5394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08000"/>
              </a:lnSpc>
            </a:pPr>
            <a:r>
              <a:rPr lang="en-US" sz="1150" b="0" i="0" noProof="0" dirty="0" err="1">
                <a:solidFill>
                  <a:srgbClr val="0F1B24"/>
                </a:solidFill>
                <a:latin typeface="Segoe UI"/>
              </a:rPr>
              <a:t>יישום</a:t>
            </a:r>
            <a:r>
              <a:rPr lang="en-US" sz="11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150" b="0" i="0" noProof="0" dirty="0" err="1">
                <a:solidFill>
                  <a:srgbClr val="0F1B24"/>
                </a:solidFill>
                <a:latin typeface="Segoe UI"/>
              </a:rPr>
              <a:t>שאין</a:t>
            </a:r>
            <a:r>
              <a:rPr lang="en-US" sz="11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150" b="0" i="0" noProof="0" dirty="0" err="1">
                <a:solidFill>
                  <a:srgbClr val="0F1B24"/>
                </a:solidFill>
                <a:latin typeface="Segoe UI"/>
              </a:rPr>
              <a:t>לו</a:t>
            </a:r>
            <a:r>
              <a:rPr lang="en-US" sz="11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150" b="0" i="0" noProof="0" dirty="0" err="1">
                <a:solidFill>
                  <a:srgbClr val="0F1B24"/>
                </a:solidFill>
                <a:latin typeface="Segoe UI"/>
              </a:rPr>
              <a:t>גישה</a:t>
            </a:r>
            <a:r>
              <a:rPr lang="en-US" sz="11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150" b="0" i="0" noProof="0" dirty="0" err="1">
                <a:solidFill>
                  <a:srgbClr val="0F1B24"/>
                </a:solidFill>
                <a:latin typeface="Segoe UI"/>
              </a:rPr>
              <a:t>ישירה</a:t>
            </a:r>
            <a:r>
              <a:rPr lang="en-US" sz="11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150" b="0" i="0" noProof="0" dirty="0" err="1">
                <a:solidFill>
                  <a:srgbClr val="0F1B24"/>
                </a:solidFill>
                <a:latin typeface="Segoe UI"/>
              </a:rPr>
              <a:t>לנתונים</a:t>
            </a:r>
            <a:r>
              <a:rPr lang="en-US" sz="11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150" b="0" i="0" noProof="0" dirty="0" err="1">
                <a:solidFill>
                  <a:srgbClr val="0F1B24"/>
                </a:solidFill>
                <a:latin typeface="Segoe UI"/>
              </a:rPr>
              <a:t>במערכת</a:t>
            </a:r>
            <a:r>
              <a:rPr lang="en-US" sz="11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150" b="0" i="0" noProof="0" dirty="0" err="1">
                <a:solidFill>
                  <a:srgbClr val="0F1B24"/>
                </a:solidFill>
                <a:latin typeface="Segoe UI"/>
              </a:rPr>
              <a:t>אחרת</a:t>
            </a:r>
            <a:r>
              <a:rPr lang="en-US" sz="11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150" b="0" i="0" noProof="0" dirty="0" err="1">
                <a:solidFill>
                  <a:srgbClr val="0F1B24"/>
                </a:solidFill>
                <a:latin typeface="Segoe UI"/>
              </a:rPr>
              <a:t>יכול</a:t>
            </a:r>
            <a:r>
              <a:rPr lang="en-US" sz="11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150" b="0" i="0" noProof="0" dirty="0" err="1">
                <a:solidFill>
                  <a:srgbClr val="0F1B24"/>
                </a:solidFill>
                <a:latin typeface="Segoe UI"/>
              </a:rPr>
              <a:t>לשלוף</a:t>
            </a:r>
            <a:r>
              <a:rPr lang="en-US" sz="11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150" b="0" i="0" noProof="0" dirty="0" err="1">
                <a:solidFill>
                  <a:srgbClr val="0F1B24"/>
                </a:solidFill>
                <a:latin typeface="Segoe UI"/>
              </a:rPr>
              <a:t>אותם</a:t>
            </a:r>
            <a:r>
              <a:rPr lang="en-US" sz="11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150" b="0" i="0" noProof="0" dirty="0" err="1">
                <a:solidFill>
                  <a:srgbClr val="0F1B24"/>
                </a:solidFill>
                <a:latin typeface="Segoe UI"/>
              </a:rPr>
              <a:t>דרך</a:t>
            </a:r>
            <a:r>
              <a:rPr lang="en-US" sz="11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150" b="0" i="0" noProof="0" dirty="0" err="1">
                <a:solidFill>
                  <a:srgbClr val="0F1B24"/>
                </a:solidFill>
                <a:latin typeface="Segoe UI"/>
              </a:rPr>
              <a:t>שירות</a:t>
            </a:r>
            <a:r>
              <a:rPr lang="en-US" sz="1150" b="0" i="0" noProof="0" dirty="0">
                <a:solidFill>
                  <a:srgbClr val="0F1B24"/>
                </a:solidFill>
                <a:latin typeface="Segoe UI"/>
              </a:rPr>
              <a:t>; </a:t>
            </a:r>
            <a:r>
              <a:rPr lang="en-US" sz="1150" b="0" i="0" noProof="0" dirty="0" err="1">
                <a:solidFill>
                  <a:srgbClr val="0F1B24"/>
                </a:solidFill>
                <a:latin typeface="Segoe UI"/>
              </a:rPr>
              <a:t>יישום</a:t>
            </a:r>
            <a:r>
              <a:rPr lang="en-US" sz="11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150" b="0" i="0" noProof="0" dirty="0" err="1">
                <a:solidFill>
                  <a:srgbClr val="0F1B24"/>
                </a:solidFill>
                <a:latin typeface="Segoe UI"/>
              </a:rPr>
              <a:t>שאין</a:t>
            </a:r>
            <a:r>
              <a:rPr lang="en-US" sz="11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150" b="0" i="0" noProof="0" dirty="0" err="1">
                <a:solidFill>
                  <a:srgbClr val="0F1B24"/>
                </a:solidFill>
                <a:latin typeface="Segoe UI"/>
              </a:rPr>
              <a:t>לו</a:t>
            </a:r>
            <a:r>
              <a:rPr lang="en-US" sz="1150" b="0" i="0" noProof="0" dirty="0">
                <a:solidFill>
                  <a:srgbClr val="0F1B24"/>
                </a:solidFill>
                <a:latin typeface="Segoe UI"/>
              </a:rPr>
              <a:t> את </a:t>
            </a:r>
            <a:r>
              <a:rPr lang="en-US" sz="1150" b="0" i="0" noProof="0" dirty="0" err="1">
                <a:solidFill>
                  <a:srgbClr val="0F1B24"/>
                </a:solidFill>
                <a:latin typeface="Segoe UI"/>
              </a:rPr>
              <a:t>כוח</a:t>
            </a:r>
            <a:r>
              <a:rPr lang="en-US" sz="11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150" b="0" i="0" noProof="0" dirty="0" err="1">
                <a:solidFill>
                  <a:srgbClr val="0F1B24"/>
                </a:solidFill>
                <a:latin typeface="Segoe UI"/>
              </a:rPr>
              <a:t>העיבוד</a:t>
            </a:r>
            <a:r>
              <a:rPr lang="en-US" sz="11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150" b="0" i="0" noProof="0" dirty="0" err="1">
                <a:solidFill>
                  <a:srgbClr val="0F1B24"/>
                </a:solidFill>
                <a:latin typeface="Segoe UI"/>
              </a:rPr>
              <a:t>הדרוש</a:t>
            </a:r>
            <a:r>
              <a:rPr lang="en-US" sz="11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150" b="0" i="0" noProof="0" dirty="0" err="1">
                <a:solidFill>
                  <a:srgbClr val="0F1B24"/>
                </a:solidFill>
                <a:latin typeface="Segoe UI"/>
              </a:rPr>
              <a:t>יכול</a:t>
            </a:r>
            <a:r>
              <a:rPr lang="en-US" sz="11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150" b="0" i="0" noProof="0" dirty="0" err="1">
                <a:solidFill>
                  <a:srgbClr val="0F1B24"/>
                </a:solidFill>
                <a:latin typeface="Segoe UI"/>
              </a:rPr>
              <a:t>להישען</a:t>
            </a:r>
            <a:r>
              <a:rPr lang="en-US" sz="11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150" b="0" i="0" noProof="0" dirty="0" err="1">
                <a:solidFill>
                  <a:srgbClr val="0F1B24"/>
                </a:solidFill>
                <a:latin typeface="Segoe UI"/>
              </a:rPr>
              <a:t>על</a:t>
            </a:r>
            <a:r>
              <a:rPr lang="en-US" sz="11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150" b="0" i="0" noProof="0" dirty="0" err="1">
                <a:solidFill>
                  <a:srgbClr val="0F1B24"/>
                </a:solidFill>
                <a:latin typeface="Segoe UI"/>
              </a:rPr>
              <a:t>משאביה</a:t>
            </a:r>
            <a:r>
              <a:rPr lang="en-US" sz="11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150" b="0" i="0" noProof="0" dirty="0" err="1">
                <a:solidFill>
                  <a:srgbClr val="0F1B24"/>
                </a:solidFill>
                <a:latin typeface="Segoe UI"/>
              </a:rPr>
              <a:t>של</a:t>
            </a:r>
            <a:r>
              <a:rPr lang="en-US" sz="11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150" b="0" i="0" noProof="0" dirty="0" err="1">
                <a:solidFill>
                  <a:srgbClr val="0F1B24"/>
                </a:solidFill>
                <a:latin typeface="Segoe UI"/>
              </a:rPr>
              <a:t>מכונה</a:t>
            </a:r>
            <a:r>
              <a:rPr lang="en-US" sz="11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150" b="0" i="0" noProof="0" dirty="0" err="1">
                <a:solidFill>
                  <a:srgbClr val="0F1B24"/>
                </a:solidFill>
                <a:latin typeface="Segoe UI"/>
              </a:rPr>
              <a:t>חזקה</a:t>
            </a:r>
            <a:r>
              <a:rPr lang="en-US" sz="11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150" b="0" i="0" noProof="0" dirty="0" err="1">
                <a:solidFill>
                  <a:srgbClr val="0F1B24"/>
                </a:solidFill>
                <a:latin typeface="Segoe UI"/>
              </a:rPr>
              <a:t>יותר</a:t>
            </a:r>
            <a:r>
              <a:rPr lang="en-US" sz="1150" b="0" i="0" noProof="0" dirty="0">
                <a:solidFill>
                  <a:srgbClr val="0F1B24"/>
                </a:solidFill>
                <a:latin typeface="Segoe UI"/>
              </a:rPr>
              <a:t>. </a:t>
            </a:r>
            <a:r>
              <a:rPr lang="en-US" sz="1150" b="0" i="0" noProof="0" dirty="0" err="1">
                <a:solidFill>
                  <a:srgbClr val="0F1B24"/>
                </a:solidFill>
                <a:latin typeface="Segoe UI"/>
              </a:rPr>
              <a:t>זהו</a:t>
            </a:r>
            <a:r>
              <a:rPr lang="en-US" sz="11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150" b="0" i="0" noProof="0" dirty="0" err="1">
                <a:solidFill>
                  <a:srgbClr val="0F1B24"/>
                </a:solidFill>
                <a:latin typeface="Segoe UI"/>
              </a:rPr>
              <a:t>היתרון</a:t>
            </a:r>
            <a:r>
              <a:rPr lang="en-US" sz="11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150" b="0" i="0" noProof="0" dirty="0" err="1">
                <a:solidFill>
                  <a:srgbClr val="0F1B24"/>
                </a:solidFill>
                <a:latin typeface="Segoe UI"/>
              </a:rPr>
              <a:t>הקלאסי</a:t>
            </a:r>
            <a:r>
              <a:rPr lang="en-US" sz="11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150" b="0" i="0" noProof="0" dirty="0" err="1">
                <a:solidFill>
                  <a:srgbClr val="0F1B24"/>
                </a:solidFill>
                <a:latin typeface="Segoe UI"/>
              </a:rPr>
              <a:t>של</a:t>
            </a:r>
            <a:r>
              <a:rPr lang="en-US" sz="11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150" b="0" i="0" noProof="0" dirty="0" err="1">
                <a:solidFill>
                  <a:srgbClr val="0F1B24"/>
                </a:solidFill>
                <a:latin typeface="Segoe UI"/>
              </a:rPr>
              <a:t>מחשוב</a:t>
            </a:r>
            <a:r>
              <a:rPr lang="en-US" sz="11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150" b="0" i="0" noProof="0" dirty="0" err="1">
                <a:solidFill>
                  <a:srgbClr val="0F1B24"/>
                </a:solidFill>
                <a:latin typeface="Segoe UI"/>
              </a:rPr>
              <a:t>מבוזר</a:t>
            </a:r>
            <a:r>
              <a:rPr lang="en-US" sz="1150" b="0" i="0" noProof="0" dirty="0">
                <a:solidFill>
                  <a:srgbClr val="0F1B24"/>
                </a:solidFill>
                <a:latin typeface="Segoe UI"/>
              </a:rPr>
              <a:t>.</a:t>
            </a:r>
          </a:p>
        </p:txBody>
      </p:sp>
      <p:sp>
        <p:nvSpPr>
          <p:cNvPr id="38" name="Rectangle 5">
            <a:extLst>
              <a:ext uri="{FF2B5EF4-FFF2-40B4-BE49-F238E27FC236}">
                <a16:creationId xmlns:a16="http://schemas.microsoft.com/office/drawing/2014/main" id="{E8E8BDF4-40AF-84F8-B2B9-93E2A08A51BA}"/>
              </a:ext>
            </a:extLst>
          </p:cNvPr>
          <p:cNvSpPr/>
          <p:nvPr/>
        </p:nvSpPr>
        <p:spPr>
          <a:xfrm>
            <a:off x="10795247" y="483126"/>
            <a:ext cx="835921" cy="87783"/>
          </a:xfrm>
          <a:prstGeom prst="rect">
            <a:avLst/>
          </a:prstGeom>
          <a:solidFill>
            <a:srgbClr val="C4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pic>
        <p:nvPicPr>
          <p:cNvPr id="8" name="תמונה 7">
            <a:extLst>
              <a:ext uri="{FF2B5EF4-FFF2-40B4-BE49-F238E27FC236}">
                <a16:creationId xmlns:a16="http://schemas.microsoft.com/office/drawing/2014/main" id="{4A630CFA-FB9C-AB64-9AFF-ED5256A070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834" y="834652"/>
            <a:ext cx="5649663" cy="3581900"/>
          </a:xfrm>
          <a:prstGeom prst="rect">
            <a:avLst/>
          </a:prstGeom>
        </p:spPr>
      </p:pic>
      <p:sp>
        <p:nvSpPr>
          <p:cNvPr id="39" name="Rectangle 7 footer39"/>
          <p:cNvSpPr/>
          <p:nvPr/>
        </p:nvSpPr>
        <p:spPr>
          <a:xfrm>
            <a:off x="566928" y="6382512"/>
            <a:ext cx="11064240" cy="10972"/>
          </a:xfrm>
          <a:prstGeom prst="rect">
            <a:avLst/>
          </a:prstGeom>
          <a:solidFill>
            <a:srgbClr val="E3EA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40" name="TextBox 8 footer40"/>
          <p:cNvSpPr txBox="1"/>
          <p:nvPr/>
        </p:nvSpPr>
        <p:spPr>
          <a:xfrm>
            <a:off x="10424160" y="6473952"/>
            <a:ext cx="1207008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/>
            <a:r>
              <a:rPr lang="en-US" sz="1050" b="0" i="0" noProof="0" dirty="0">
                <a:solidFill>
                  <a:srgbClr val="8D9EA8"/>
                </a:solidFill>
                <a:latin typeface="Segoe UI"/>
              </a:rPr>
              <a:t>‏יסודות‏</a:t>
            </a:r>
          </a:p>
        </p:txBody>
      </p:sp>
      <p:sp>
        <p:nvSpPr>
          <p:cNvPr id="41" name="TextBox 9 footer41"/>
          <p:cNvSpPr txBox="1"/>
          <p:nvPr/>
        </p:nvSpPr>
        <p:spPr>
          <a:xfrm>
            <a:off x="566928" y="6473952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rtl="0"/>
            <a:r>
              <a:rPr lang="en-US" sz="1050" b="0" i="0" noProof="0" dirty="0">
                <a:solidFill>
                  <a:srgbClr val="8D9EA8"/>
                </a:solidFill>
                <a:latin typeface="Segoe U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91440"/>
          </a:xfrm>
          <a:prstGeom prst="rect">
            <a:avLst/>
          </a:prstGeom>
          <a:solidFill>
            <a:srgbClr val="0D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5" name="TextBox 4"/>
          <p:cNvSpPr txBox="1"/>
          <p:nvPr/>
        </p:nvSpPr>
        <p:spPr>
          <a:xfrm>
            <a:off x="566928" y="548640"/>
            <a:ext cx="1106424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/>
            <a:r>
              <a:rPr lang="en-US" sz="2800" b="1" i="0" noProof="0" dirty="0">
                <a:solidFill>
                  <a:srgbClr val="0D4A5C"/>
                </a:solidFill>
                <a:latin typeface="Segoe UI"/>
              </a:rPr>
              <a:t>‏SOAP‏ </a:t>
            </a:r>
            <a:r>
              <a:rPr lang="en-US" sz="2800" b="1" i="0" noProof="0" dirty="0" err="1">
                <a:solidFill>
                  <a:srgbClr val="0D4A5C"/>
                </a:solidFill>
                <a:latin typeface="Segoe UI"/>
              </a:rPr>
              <a:t>והמבנה</a:t>
            </a:r>
            <a:r>
              <a:rPr lang="en-US" sz="2800" b="1" i="0" noProof="0" dirty="0">
                <a:solidFill>
                  <a:srgbClr val="0D4A5C"/>
                </a:solidFill>
                <a:latin typeface="Segoe UI"/>
              </a:rPr>
              <a:t> </a:t>
            </a:r>
            <a:r>
              <a:rPr lang="en-US" sz="2800" b="1" i="0" noProof="0" dirty="0" err="1">
                <a:solidFill>
                  <a:srgbClr val="0D4A5C"/>
                </a:solidFill>
                <a:latin typeface="Segoe UI"/>
              </a:rPr>
              <a:t>של</a:t>
            </a:r>
            <a:r>
              <a:rPr lang="en-US" sz="2800" b="1" i="0" noProof="0" dirty="0">
                <a:solidFill>
                  <a:srgbClr val="0D4A5C"/>
                </a:solidFill>
                <a:latin typeface="Segoe UI"/>
              </a:rPr>
              <a:t> </a:t>
            </a:r>
            <a:r>
              <a:rPr lang="en-US" sz="2800" b="1" i="0" noProof="0" dirty="0" err="1">
                <a:solidFill>
                  <a:srgbClr val="0D4A5C"/>
                </a:solidFill>
                <a:latin typeface="Segoe UI"/>
              </a:rPr>
              <a:t>ההודעה</a:t>
            </a:r>
            <a:endParaRPr lang="en-US" sz="2800" b="1" i="0" noProof="0" dirty="0">
              <a:solidFill>
                <a:srgbClr val="0D4A5C"/>
              </a:solidFill>
              <a:latin typeface="Segoe U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66928" y="1097280"/>
            <a:ext cx="11064240" cy="2231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/>
            <a:r>
              <a:rPr lang="en-US" sz="1400" b="0" i="0" noProof="0" dirty="0">
                <a:solidFill>
                  <a:srgbClr val="5A6B75"/>
                </a:solidFill>
                <a:latin typeface="Segoe UI"/>
              </a:rPr>
              <a:t>‏</a:t>
            </a:r>
            <a:r>
              <a:rPr lang="he-IL" sz="140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400" b="0" i="0" noProof="0" dirty="0">
                <a:solidFill>
                  <a:srgbClr val="5A6B75"/>
                </a:solidFill>
                <a:latin typeface="Segoe UI"/>
              </a:rPr>
              <a:t>Simple Object Access Protocol‏ — </a:t>
            </a:r>
            <a:r>
              <a:rPr lang="en-US" sz="1400" b="0" i="0" noProof="0" dirty="0" err="1">
                <a:solidFill>
                  <a:srgbClr val="5A6B75"/>
                </a:solidFill>
                <a:latin typeface="Segoe UI"/>
              </a:rPr>
              <a:t>כל</a:t>
            </a:r>
            <a:r>
              <a:rPr lang="en-US" sz="140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5A6B75"/>
                </a:solidFill>
                <a:latin typeface="Segoe UI"/>
              </a:rPr>
              <a:t>בקשה</a:t>
            </a:r>
            <a:r>
              <a:rPr lang="en-US" sz="140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5A6B75"/>
                </a:solidFill>
                <a:latin typeface="Segoe UI"/>
              </a:rPr>
              <a:t>וכל</a:t>
            </a:r>
            <a:r>
              <a:rPr lang="en-US" sz="140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5A6B75"/>
                </a:solidFill>
                <a:latin typeface="Segoe UI"/>
              </a:rPr>
              <a:t>תשובה</a:t>
            </a:r>
            <a:r>
              <a:rPr lang="en-US" sz="140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5A6B75"/>
                </a:solidFill>
                <a:latin typeface="Segoe UI"/>
              </a:rPr>
              <a:t>ארוזות</a:t>
            </a:r>
            <a:r>
              <a:rPr lang="en-US" sz="140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5A6B75"/>
                </a:solidFill>
                <a:latin typeface="Segoe UI"/>
              </a:rPr>
              <a:t>במעטפת</a:t>
            </a:r>
            <a:r>
              <a:rPr lang="en-US" sz="1400" b="0" i="0" noProof="0" dirty="0">
                <a:solidFill>
                  <a:srgbClr val="5A6B75"/>
                </a:solidFill>
                <a:latin typeface="Segoe UI"/>
              </a:rPr>
              <a:t> ‏XML‏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6382512"/>
            <a:ext cx="11064240" cy="10972"/>
          </a:xfrm>
          <a:prstGeom prst="rect">
            <a:avLst/>
          </a:prstGeom>
          <a:solidFill>
            <a:srgbClr val="E3EA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9" name="TextBox 8"/>
          <p:cNvSpPr txBox="1"/>
          <p:nvPr/>
        </p:nvSpPr>
        <p:spPr>
          <a:xfrm>
            <a:off x="10424160" y="6473952"/>
            <a:ext cx="1207008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/>
            <a:r>
              <a:rPr lang="en-US" sz="1050" b="0" i="0" noProof="0" dirty="0">
                <a:solidFill>
                  <a:srgbClr val="8D9EA8"/>
                </a:solidFill>
                <a:latin typeface="Segoe UI"/>
              </a:rPr>
              <a:t>‏SOAP‏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73952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rtl="0"/>
            <a:r>
              <a:rPr lang="en-US" sz="1050" b="0" i="0" noProof="0" dirty="0">
                <a:solidFill>
                  <a:srgbClr val="8D9EA8"/>
                </a:solidFill>
                <a:latin typeface="Segoe UI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23560" y="1700784"/>
            <a:ext cx="6007608" cy="21582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06000"/>
              </a:lnSpc>
              <a:spcAft>
                <a:spcPts val="800"/>
              </a:spcAft>
            </a:pPr>
            <a:r>
              <a:rPr lang="en-US" sz="1200" b="1" i="0" noProof="0" dirty="0">
                <a:solidFill>
                  <a:srgbClr val="C4622D"/>
                </a:solidFill>
                <a:latin typeface="Segoe UI"/>
              </a:rPr>
              <a:t>■  </a:t>
            </a:r>
            <a:r>
              <a:rPr lang="en-US" sz="1200" b="1" i="0" noProof="0" dirty="0" err="1">
                <a:solidFill>
                  <a:srgbClr val="0D4A5C"/>
                </a:solidFill>
                <a:latin typeface="Segoe UI"/>
              </a:rPr>
              <a:t>פרוטוקול</a:t>
            </a:r>
            <a:r>
              <a:rPr lang="en-US" sz="1200" b="1" i="0" noProof="0" dirty="0">
                <a:solidFill>
                  <a:srgbClr val="0D4A5C"/>
                </a:solidFill>
                <a:latin typeface="Segoe UI"/>
              </a:rPr>
              <a:t>, </a:t>
            </a:r>
            <a:r>
              <a:rPr lang="en-US" sz="1200" b="1" i="0" noProof="0" dirty="0" err="1">
                <a:solidFill>
                  <a:srgbClr val="0D4A5C"/>
                </a:solidFill>
                <a:latin typeface="Segoe UI"/>
              </a:rPr>
              <a:t>לא</a:t>
            </a:r>
            <a:r>
              <a:rPr lang="en-US" sz="1200" b="1" i="0" noProof="0" dirty="0">
                <a:solidFill>
                  <a:srgbClr val="0D4A5C"/>
                </a:solidFill>
                <a:latin typeface="Segoe UI"/>
              </a:rPr>
              <a:t> </a:t>
            </a:r>
            <a:r>
              <a:rPr lang="en-US" sz="1200" b="1" i="0" noProof="0" dirty="0" err="1">
                <a:solidFill>
                  <a:srgbClr val="0D4A5C"/>
                </a:solidFill>
                <a:latin typeface="Segoe UI"/>
              </a:rPr>
              <a:t>ספרייה</a:t>
            </a:r>
            <a:r>
              <a:rPr lang="en-US" sz="1200" b="1" i="0" noProof="0" dirty="0">
                <a:solidFill>
                  <a:srgbClr val="0D4A5C"/>
                </a:solidFill>
                <a:latin typeface="Segoe UI"/>
              </a:rPr>
              <a:t>: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תקן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 ‏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בלתי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תלוי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בפלטפורמה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,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שמשתמש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 ב-‏XML‏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כדי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לתקשר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עם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שירותים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 —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בדרך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כלל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מעל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 ‏HTTP‏.</a:t>
            </a:r>
          </a:p>
          <a:p>
            <a:pPr algn="r" rtl="1">
              <a:lnSpc>
                <a:spcPct val="106000"/>
              </a:lnSpc>
              <a:spcAft>
                <a:spcPts val="800"/>
              </a:spcAft>
            </a:pPr>
            <a:r>
              <a:rPr lang="en-US" sz="1200" b="1" i="0" noProof="0" dirty="0">
                <a:solidFill>
                  <a:srgbClr val="C4622D"/>
                </a:solidFill>
                <a:latin typeface="Segoe UI"/>
              </a:rPr>
              <a:t>■  </a:t>
            </a:r>
            <a:r>
              <a:rPr lang="en-US" sz="1200" b="1" i="0" noProof="0" dirty="0" err="1">
                <a:solidFill>
                  <a:srgbClr val="0D4A5C"/>
                </a:solidFill>
                <a:latin typeface="Segoe UI"/>
              </a:rPr>
              <a:t>כל</a:t>
            </a:r>
            <a:r>
              <a:rPr lang="en-US" sz="1200" b="1" i="0" noProof="0" dirty="0">
                <a:solidFill>
                  <a:srgbClr val="0D4A5C"/>
                </a:solidFill>
                <a:latin typeface="Segoe UI"/>
              </a:rPr>
              <a:t> </a:t>
            </a:r>
            <a:r>
              <a:rPr lang="en-US" sz="1200" b="1" i="0" noProof="0" dirty="0" err="1">
                <a:solidFill>
                  <a:srgbClr val="0D4A5C"/>
                </a:solidFill>
                <a:latin typeface="Segoe UI"/>
              </a:rPr>
              <a:t>הודעה</a:t>
            </a:r>
            <a:r>
              <a:rPr lang="en-US" sz="1200" b="1" i="0" noProof="0" dirty="0">
                <a:solidFill>
                  <a:srgbClr val="0D4A5C"/>
                </a:solidFill>
                <a:latin typeface="Segoe UI"/>
              </a:rPr>
              <a:t> </a:t>
            </a:r>
            <a:r>
              <a:rPr lang="en-US" sz="1200" b="1" i="0" noProof="0" dirty="0" err="1">
                <a:solidFill>
                  <a:srgbClr val="0D4A5C"/>
                </a:solidFill>
                <a:latin typeface="Segoe UI"/>
              </a:rPr>
              <a:t>היא</a:t>
            </a:r>
            <a:r>
              <a:rPr lang="en-US" sz="1200" b="1" i="0" noProof="0" dirty="0">
                <a:solidFill>
                  <a:srgbClr val="0D4A5C"/>
                </a:solidFill>
                <a:latin typeface="Segoe UI"/>
              </a:rPr>
              <a:t> ‏XML‏ 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—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ולכן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קריאה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למחשב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,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קריאה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לאדם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ובלתי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תלויה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במערכת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ההפעלה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או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בשפת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התכנות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.</a:t>
            </a:r>
          </a:p>
          <a:p>
            <a:pPr algn="r" rtl="1">
              <a:lnSpc>
                <a:spcPct val="106000"/>
              </a:lnSpc>
              <a:spcAft>
                <a:spcPts val="800"/>
              </a:spcAft>
            </a:pPr>
            <a:r>
              <a:rPr lang="en-US" sz="1200" b="1" i="0" noProof="0" dirty="0">
                <a:solidFill>
                  <a:srgbClr val="C4622D"/>
                </a:solidFill>
                <a:latin typeface="Segoe UI"/>
              </a:rPr>
              <a:t>■  </a:t>
            </a:r>
            <a:r>
              <a:rPr lang="en-US" sz="1200" b="1" i="0" noProof="0" dirty="0" err="1">
                <a:solidFill>
                  <a:srgbClr val="0D4A5C"/>
                </a:solidFill>
                <a:latin typeface="Segoe UI"/>
              </a:rPr>
              <a:t>חומות</a:t>
            </a:r>
            <a:r>
              <a:rPr lang="en-US" sz="1200" b="1" i="0" noProof="0" dirty="0">
                <a:solidFill>
                  <a:srgbClr val="0D4A5C"/>
                </a:solidFill>
                <a:latin typeface="Segoe UI"/>
              </a:rPr>
              <a:t> </a:t>
            </a:r>
            <a:r>
              <a:rPr lang="en-US" sz="1200" b="1" i="0" noProof="0" dirty="0" err="1">
                <a:solidFill>
                  <a:srgbClr val="0D4A5C"/>
                </a:solidFill>
                <a:latin typeface="Segoe UI"/>
              </a:rPr>
              <a:t>אש</a:t>
            </a:r>
            <a:r>
              <a:rPr lang="en-US" sz="1200" b="1" i="0" noProof="0" dirty="0">
                <a:solidFill>
                  <a:srgbClr val="0D4A5C"/>
                </a:solidFill>
                <a:latin typeface="Segoe UI"/>
              </a:rPr>
              <a:t>.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ההודעה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נוסעת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מעל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 ‏HTTP‏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ולכן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עוברת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חומות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אש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כמו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כל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תעבורת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 ‏web‏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רגילה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.</a:t>
            </a:r>
          </a:p>
          <a:p>
            <a:pPr algn="r" rtl="1">
              <a:lnSpc>
                <a:spcPct val="106000"/>
              </a:lnSpc>
              <a:spcAft>
                <a:spcPts val="800"/>
              </a:spcAft>
            </a:pPr>
            <a:r>
              <a:rPr lang="en-US" sz="1200" b="1" i="0" noProof="0" dirty="0">
                <a:solidFill>
                  <a:srgbClr val="C4622D"/>
                </a:solidFill>
                <a:latin typeface="Segoe UI"/>
              </a:rPr>
              <a:t>■  </a:t>
            </a:r>
            <a:r>
              <a:rPr lang="en-US" sz="1200" b="1" i="0" noProof="0" dirty="0" err="1">
                <a:solidFill>
                  <a:srgbClr val="0D4A5C"/>
                </a:solidFill>
                <a:latin typeface="Segoe UI"/>
              </a:rPr>
              <a:t>מה</a:t>
            </a:r>
            <a:r>
              <a:rPr lang="en-US" sz="1200" b="1" i="0" noProof="0" dirty="0">
                <a:solidFill>
                  <a:srgbClr val="0D4A5C"/>
                </a:solidFill>
                <a:latin typeface="Segoe UI"/>
              </a:rPr>
              <a:t> </a:t>
            </a:r>
            <a:r>
              <a:rPr lang="en-US" sz="1200" b="1" i="0" noProof="0" dirty="0" err="1">
                <a:solidFill>
                  <a:srgbClr val="0D4A5C"/>
                </a:solidFill>
                <a:latin typeface="Segoe UI"/>
              </a:rPr>
              <a:t>קורה</a:t>
            </a:r>
            <a:r>
              <a:rPr lang="en-US" sz="1200" b="1" i="0" noProof="0" dirty="0">
                <a:solidFill>
                  <a:srgbClr val="0D4A5C"/>
                </a:solidFill>
                <a:latin typeface="Segoe UI"/>
              </a:rPr>
              <a:t> </a:t>
            </a:r>
            <a:r>
              <a:rPr lang="en-US" sz="1200" b="1" i="0" noProof="0" dirty="0" err="1">
                <a:solidFill>
                  <a:srgbClr val="0D4A5C"/>
                </a:solidFill>
                <a:latin typeface="Segoe UI"/>
              </a:rPr>
              <a:t>בקריאה</a:t>
            </a:r>
            <a:r>
              <a:rPr lang="en-US" sz="1200" b="1" i="0" noProof="0" dirty="0">
                <a:solidFill>
                  <a:srgbClr val="0D4A5C"/>
                </a:solidFill>
                <a:latin typeface="Segoe UI"/>
              </a:rPr>
              <a:t>.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הבקשה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והפרמטרים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נארזים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במעטפת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ונשלחים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לשרת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;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השירות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מנתח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 את ה-‏XML‏,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מזהה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איזו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מתודה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להפעיל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ומחזיר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 את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התוצאה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בהודעת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 ‏SOAP‏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נוספת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23560" y="4370832"/>
            <a:ext cx="6007608" cy="1865376"/>
          </a:xfrm>
          <a:prstGeom prst="roundRect">
            <a:avLst>
              <a:gd name="adj" fmla="val 3500"/>
            </a:avLst>
          </a:prstGeom>
          <a:solidFill>
            <a:srgbClr val="0B2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13" name="Rounded Rectangle 12"/>
          <p:cNvSpPr/>
          <p:nvPr/>
        </p:nvSpPr>
        <p:spPr>
          <a:xfrm>
            <a:off x="5623560" y="4370832"/>
            <a:ext cx="6007608" cy="274320"/>
          </a:xfrm>
          <a:prstGeom prst="roundRect">
            <a:avLst>
              <a:gd name="adj" fmla="val 9000"/>
            </a:avLst>
          </a:prstGeom>
          <a:solidFill>
            <a:srgbClr val="1139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14" name="Rectangle 13"/>
          <p:cNvSpPr/>
          <p:nvPr/>
        </p:nvSpPr>
        <p:spPr>
          <a:xfrm>
            <a:off x="5623560" y="4535424"/>
            <a:ext cx="6007608" cy="109728"/>
          </a:xfrm>
          <a:prstGeom prst="rect">
            <a:avLst/>
          </a:prstGeom>
          <a:solidFill>
            <a:srgbClr val="1139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15" name="TextBox 14"/>
          <p:cNvSpPr txBox="1"/>
          <p:nvPr/>
        </p:nvSpPr>
        <p:spPr>
          <a:xfrm>
            <a:off x="5769864" y="4421124"/>
            <a:ext cx="527608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rtl="0"/>
            <a:r>
              <a:rPr lang="en-US" sz="950" b="1" i="0" noProof="0" dirty="0">
                <a:solidFill>
                  <a:srgbClr val="6FA8B8"/>
                </a:solidFill>
                <a:latin typeface="Consolas"/>
              </a:rPr>
              <a:t>SOAP Fault — </a:t>
            </a:r>
            <a:r>
              <a:rPr lang="en-US" sz="950" b="1" i="0" noProof="0" dirty="0" err="1">
                <a:solidFill>
                  <a:srgbClr val="6FA8B8"/>
                </a:solidFill>
                <a:latin typeface="Consolas"/>
              </a:rPr>
              <a:t>תשובת</a:t>
            </a:r>
            <a:r>
              <a:rPr lang="en-US" sz="950" b="1" i="0" noProof="0" dirty="0">
                <a:solidFill>
                  <a:srgbClr val="6FA8B8"/>
                </a:solidFill>
                <a:latin typeface="Consolas"/>
              </a:rPr>
              <a:t> </a:t>
            </a:r>
            <a:r>
              <a:rPr lang="en-US" sz="950" b="1" i="0" noProof="0" dirty="0" err="1">
                <a:solidFill>
                  <a:srgbClr val="6FA8B8"/>
                </a:solidFill>
                <a:latin typeface="Consolas"/>
              </a:rPr>
              <a:t>שגיאה</a:t>
            </a:r>
            <a:endParaRPr lang="en-US" sz="950" b="1" i="0" noProof="0" dirty="0">
              <a:solidFill>
                <a:srgbClr val="6FA8B8"/>
              </a:solidFill>
              <a:latin typeface="Consolas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11228832" y="4475988"/>
            <a:ext cx="256032" cy="68580"/>
          </a:xfrm>
          <a:prstGeom prst="roundRect">
            <a:avLst>
              <a:gd name="adj" fmla="val 50000"/>
            </a:avLst>
          </a:prstGeom>
          <a:solidFill>
            <a:srgbClr val="C4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17" name="TextBox 16"/>
          <p:cNvSpPr txBox="1"/>
          <p:nvPr/>
        </p:nvSpPr>
        <p:spPr>
          <a:xfrm>
            <a:off x="5769864" y="4764024"/>
            <a:ext cx="5715000" cy="1353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rtl="0">
              <a:lnSpc>
                <a:spcPts val="1296"/>
              </a:lnSpc>
            </a:pPr>
            <a:r>
              <a:rPr lang="en-US" sz="900" b="1" noProof="0" dirty="0">
                <a:solidFill>
                  <a:srgbClr val="7FC7DE"/>
                </a:solidFill>
                <a:latin typeface="Consolas"/>
              </a:rPr>
              <a:t>&lt;</a:t>
            </a:r>
            <a:r>
              <a:rPr lang="en-US" sz="900" b="1" noProof="0" dirty="0" err="1">
                <a:solidFill>
                  <a:srgbClr val="7FC7DE"/>
                </a:solidFill>
                <a:latin typeface="Consolas"/>
              </a:rPr>
              <a:t>soap:Envelope</a:t>
            </a:r>
            <a:r>
              <a:rPr lang="en-US" sz="900" b="0" noProof="0" dirty="0">
                <a:solidFill>
                  <a:srgbClr val="DCE8ED"/>
                </a:solidFill>
                <a:latin typeface="Consolas"/>
              </a:rPr>
              <a:t> </a:t>
            </a:r>
            <a:r>
              <a:rPr lang="en-US" sz="900" b="0" noProof="0" dirty="0" err="1">
                <a:solidFill>
                  <a:srgbClr val="F0A06A"/>
                </a:solidFill>
                <a:latin typeface="Consolas"/>
              </a:rPr>
              <a:t>xmlns:soap</a:t>
            </a:r>
            <a:r>
              <a:rPr lang="en-US" sz="900" b="0" noProof="0" dirty="0">
                <a:solidFill>
                  <a:srgbClr val="DCE8ED"/>
                </a:solidFill>
                <a:latin typeface="Consolas"/>
              </a:rPr>
              <a:t>=</a:t>
            </a:r>
            <a:r>
              <a:rPr lang="en-US" sz="900" b="0" noProof="0" dirty="0">
                <a:solidFill>
                  <a:srgbClr val="9FD1A0"/>
                </a:solidFill>
                <a:latin typeface="Consolas"/>
              </a:rPr>
              <a:t>"http://.../envelope/"</a:t>
            </a:r>
            <a:r>
              <a:rPr lang="en-US" sz="900" b="0" noProof="0" dirty="0">
                <a:solidFill>
                  <a:srgbClr val="8AA4B0"/>
                </a:solidFill>
                <a:latin typeface="Consolas"/>
              </a:rPr>
              <a:t>&gt;</a:t>
            </a:r>
          </a:p>
          <a:p>
            <a:pPr algn="l" rtl="0">
              <a:lnSpc>
                <a:spcPts val="1296"/>
              </a:lnSpc>
            </a:pPr>
            <a:r>
              <a:rPr lang="en-US" sz="900" b="0" noProof="0" dirty="0">
                <a:solidFill>
                  <a:srgbClr val="DCE8ED"/>
                </a:solidFill>
                <a:latin typeface="Consolas"/>
              </a:rPr>
              <a:t>  </a:t>
            </a:r>
            <a:r>
              <a:rPr lang="en-US" sz="900" b="1" noProof="0" dirty="0">
                <a:solidFill>
                  <a:srgbClr val="7FC7DE"/>
                </a:solidFill>
                <a:latin typeface="Consolas"/>
              </a:rPr>
              <a:t>&lt;</a:t>
            </a:r>
            <a:r>
              <a:rPr lang="en-US" sz="900" b="1" noProof="0" dirty="0" err="1">
                <a:solidFill>
                  <a:srgbClr val="7FC7DE"/>
                </a:solidFill>
                <a:latin typeface="Consolas"/>
              </a:rPr>
              <a:t>soap:Body</a:t>
            </a:r>
            <a:r>
              <a:rPr lang="en-US" sz="900" b="0" noProof="0" dirty="0">
                <a:solidFill>
                  <a:srgbClr val="8AA4B0"/>
                </a:solidFill>
                <a:latin typeface="Consolas"/>
              </a:rPr>
              <a:t>&gt;</a:t>
            </a:r>
          </a:p>
          <a:p>
            <a:pPr algn="l" rtl="0">
              <a:lnSpc>
                <a:spcPts val="1296"/>
              </a:lnSpc>
            </a:pPr>
            <a:r>
              <a:rPr lang="en-US" sz="900" b="0" noProof="0" dirty="0">
                <a:solidFill>
                  <a:srgbClr val="DCE8ED"/>
                </a:solidFill>
                <a:latin typeface="Consolas"/>
              </a:rPr>
              <a:t>    </a:t>
            </a:r>
            <a:r>
              <a:rPr lang="en-US" sz="900" b="1" noProof="0" dirty="0">
                <a:solidFill>
                  <a:srgbClr val="7FC7DE"/>
                </a:solidFill>
                <a:latin typeface="Consolas"/>
              </a:rPr>
              <a:t>&lt;</a:t>
            </a:r>
            <a:r>
              <a:rPr lang="en-US" sz="900" b="1" noProof="0" dirty="0" err="1">
                <a:solidFill>
                  <a:srgbClr val="7FC7DE"/>
                </a:solidFill>
                <a:latin typeface="Consolas"/>
              </a:rPr>
              <a:t>soap:Fault</a:t>
            </a:r>
            <a:r>
              <a:rPr lang="en-US" sz="900" b="0" noProof="0" dirty="0">
                <a:solidFill>
                  <a:srgbClr val="8AA4B0"/>
                </a:solidFill>
                <a:latin typeface="Consolas"/>
              </a:rPr>
              <a:t>&gt;</a:t>
            </a:r>
          </a:p>
          <a:p>
            <a:pPr algn="l" rtl="0">
              <a:lnSpc>
                <a:spcPts val="1296"/>
              </a:lnSpc>
            </a:pPr>
            <a:r>
              <a:rPr lang="en-US" sz="900" b="0" noProof="0" dirty="0">
                <a:solidFill>
                  <a:srgbClr val="DCE8ED"/>
                </a:solidFill>
                <a:latin typeface="Consolas"/>
              </a:rPr>
              <a:t>      </a:t>
            </a:r>
            <a:r>
              <a:rPr lang="en-US" sz="900" b="1" noProof="0" dirty="0">
                <a:solidFill>
                  <a:srgbClr val="7FC7DE"/>
                </a:solidFill>
                <a:latin typeface="Consolas"/>
              </a:rPr>
              <a:t>&lt;</a:t>
            </a:r>
            <a:r>
              <a:rPr lang="en-US" sz="900" b="1" noProof="0" dirty="0" err="1">
                <a:solidFill>
                  <a:srgbClr val="7FC7DE"/>
                </a:solidFill>
                <a:latin typeface="Consolas"/>
              </a:rPr>
              <a:t>faultcode</a:t>
            </a:r>
            <a:r>
              <a:rPr lang="en-US" sz="900" b="0" noProof="0" dirty="0">
                <a:solidFill>
                  <a:srgbClr val="8AA4B0"/>
                </a:solidFill>
                <a:latin typeface="Consolas"/>
              </a:rPr>
              <a:t>&gt;</a:t>
            </a:r>
            <a:r>
              <a:rPr lang="en-US" sz="900" b="0" noProof="0" dirty="0" err="1">
                <a:solidFill>
                  <a:srgbClr val="DCE8ED"/>
                </a:solidFill>
                <a:latin typeface="Consolas"/>
              </a:rPr>
              <a:t>soap:Client</a:t>
            </a:r>
            <a:r>
              <a:rPr lang="en-US" sz="900" b="1" noProof="0" dirty="0">
                <a:solidFill>
                  <a:srgbClr val="7FC7DE"/>
                </a:solidFill>
                <a:latin typeface="Consolas"/>
              </a:rPr>
              <a:t>&lt;/</a:t>
            </a:r>
            <a:r>
              <a:rPr lang="en-US" sz="900" b="1" noProof="0" dirty="0" err="1">
                <a:solidFill>
                  <a:srgbClr val="7FC7DE"/>
                </a:solidFill>
                <a:latin typeface="Consolas"/>
              </a:rPr>
              <a:t>faultcode</a:t>
            </a:r>
            <a:r>
              <a:rPr lang="en-US" sz="900" b="0" noProof="0" dirty="0">
                <a:solidFill>
                  <a:srgbClr val="8AA4B0"/>
                </a:solidFill>
                <a:latin typeface="Consolas"/>
              </a:rPr>
              <a:t>&gt;</a:t>
            </a:r>
          </a:p>
          <a:p>
            <a:pPr algn="l" rtl="0">
              <a:lnSpc>
                <a:spcPts val="1296"/>
              </a:lnSpc>
            </a:pPr>
            <a:r>
              <a:rPr lang="en-US" sz="900" b="0" noProof="0" dirty="0">
                <a:solidFill>
                  <a:srgbClr val="DCE8ED"/>
                </a:solidFill>
                <a:latin typeface="Consolas"/>
              </a:rPr>
              <a:t>      </a:t>
            </a:r>
            <a:r>
              <a:rPr lang="en-US" sz="900" b="1" noProof="0" dirty="0">
                <a:solidFill>
                  <a:srgbClr val="7FC7DE"/>
                </a:solidFill>
                <a:latin typeface="Consolas"/>
              </a:rPr>
              <a:t>&lt;</a:t>
            </a:r>
            <a:r>
              <a:rPr lang="en-US" sz="900" b="1" noProof="0" dirty="0" err="1">
                <a:solidFill>
                  <a:srgbClr val="7FC7DE"/>
                </a:solidFill>
                <a:latin typeface="Consolas"/>
              </a:rPr>
              <a:t>faultstring</a:t>
            </a:r>
            <a:r>
              <a:rPr lang="en-US" sz="900" b="0" noProof="0" dirty="0">
                <a:solidFill>
                  <a:srgbClr val="8AA4B0"/>
                </a:solidFill>
                <a:latin typeface="Consolas"/>
              </a:rPr>
              <a:t>&gt;</a:t>
            </a:r>
            <a:r>
              <a:rPr lang="en-US" sz="900" b="0" noProof="0" dirty="0">
                <a:solidFill>
                  <a:srgbClr val="DCE8ED"/>
                </a:solidFill>
                <a:latin typeface="Consolas"/>
              </a:rPr>
              <a:t>Invalid card number</a:t>
            </a:r>
            <a:r>
              <a:rPr lang="en-US" sz="900" b="1" noProof="0" dirty="0">
                <a:solidFill>
                  <a:srgbClr val="7FC7DE"/>
                </a:solidFill>
                <a:latin typeface="Consolas"/>
              </a:rPr>
              <a:t>&lt;/</a:t>
            </a:r>
            <a:r>
              <a:rPr lang="en-US" sz="900" b="1" noProof="0" dirty="0" err="1">
                <a:solidFill>
                  <a:srgbClr val="7FC7DE"/>
                </a:solidFill>
                <a:latin typeface="Consolas"/>
              </a:rPr>
              <a:t>faultstring</a:t>
            </a:r>
            <a:r>
              <a:rPr lang="en-US" sz="900" b="0" noProof="0" dirty="0">
                <a:solidFill>
                  <a:srgbClr val="8AA4B0"/>
                </a:solidFill>
                <a:latin typeface="Consolas"/>
              </a:rPr>
              <a:t>&gt;</a:t>
            </a:r>
          </a:p>
          <a:p>
            <a:pPr algn="l" rtl="0">
              <a:lnSpc>
                <a:spcPts val="1296"/>
              </a:lnSpc>
            </a:pPr>
            <a:r>
              <a:rPr lang="en-US" sz="900" b="0" noProof="0" dirty="0">
                <a:solidFill>
                  <a:srgbClr val="DCE8ED"/>
                </a:solidFill>
                <a:latin typeface="Consolas"/>
              </a:rPr>
              <a:t>    </a:t>
            </a:r>
            <a:r>
              <a:rPr lang="en-US" sz="900" b="1" noProof="0" dirty="0">
                <a:solidFill>
                  <a:srgbClr val="7FC7DE"/>
                </a:solidFill>
                <a:latin typeface="Consolas"/>
              </a:rPr>
              <a:t>&lt;/</a:t>
            </a:r>
            <a:r>
              <a:rPr lang="en-US" sz="900" b="1" noProof="0" dirty="0" err="1">
                <a:solidFill>
                  <a:srgbClr val="7FC7DE"/>
                </a:solidFill>
                <a:latin typeface="Consolas"/>
              </a:rPr>
              <a:t>soap:Fault</a:t>
            </a:r>
            <a:r>
              <a:rPr lang="en-US" sz="900" b="0" noProof="0" dirty="0">
                <a:solidFill>
                  <a:srgbClr val="8AA4B0"/>
                </a:solidFill>
                <a:latin typeface="Consolas"/>
              </a:rPr>
              <a:t>&gt;</a:t>
            </a:r>
          </a:p>
          <a:p>
            <a:pPr algn="l" rtl="0">
              <a:lnSpc>
                <a:spcPts val="1296"/>
              </a:lnSpc>
            </a:pPr>
            <a:r>
              <a:rPr lang="en-US" sz="900" b="0" noProof="0" dirty="0">
                <a:solidFill>
                  <a:srgbClr val="DCE8ED"/>
                </a:solidFill>
                <a:latin typeface="Consolas"/>
              </a:rPr>
              <a:t>  </a:t>
            </a:r>
            <a:r>
              <a:rPr lang="en-US" sz="900" b="1" noProof="0" dirty="0">
                <a:solidFill>
                  <a:srgbClr val="7FC7DE"/>
                </a:solidFill>
                <a:latin typeface="Consolas"/>
              </a:rPr>
              <a:t>&lt;/</a:t>
            </a:r>
            <a:r>
              <a:rPr lang="en-US" sz="900" b="1" noProof="0" dirty="0" err="1">
                <a:solidFill>
                  <a:srgbClr val="7FC7DE"/>
                </a:solidFill>
                <a:latin typeface="Consolas"/>
              </a:rPr>
              <a:t>soap:Body</a:t>
            </a:r>
            <a:r>
              <a:rPr lang="en-US" sz="900" b="0" noProof="0" dirty="0">
                <a:solidFill>
                  <a:srgbClr val="8AA4B0"/>
                </a:solidFill>
                <a:latin typeface="Consolas"/>
              </a:rPr>
              <a:t>&gt;</a:t>
            </a:r>
          </a:p>
          <a:p>
            <a:pPr algn="l" rtl="0">
              <a:lnSpc>
                <a:spcPts val="1296"/>
              </a:lnSpc>
            </a:pPr>
            <a:r>
              <a:rPr lang="en-US" sz="900" b="1" noProof="0" dirty="0">
                <a:solidFill>
                  <a:srgbClr val="7FC7DE"/>
                </a:solidFill>
                <a:latin typeface="Consolas"/>
              </a:rPr>
              <a:t>&lt;/</a:t>
            </a:r>
            <a:r>
              <a:rPr lang="en-US" sz="900" b="1" noProof="0" dirty="0" err="1">
                <a:solidFill>
                  <a:srgbClr val="7FC7DE"/>
                </a:solidFill>
                <a:latin typeface="Consolas"/>
              </a:rPr>
              <a:t>soap:Envelope</a:t>
            </a:r>
            <a:r>
              <a:rPr lang="en-US" sz="900" b="0" noProof="0" dirty="0">
                <a:solidFill>
                  <a:srgbClr val="8AA4B0"/>
                </a:solidFill>
                <a:latin typeface="Consolas"/>
              </a:rPr>
              <a:t>&gt;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66928" y="5358384"/>
            <a:ext cx="4800600" cy="886968"/>
          </a:xfrm>
          <a:prstGeom prst="roundRect">
            <a:avLst>
              <a:gd name="adj" fmla="val 5000"/>
            </a:avLst>
          </a:prstGeom>
          <a:solidFill>
            <a:srgbClr val="F1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31" name="Rectangle 30"/>
          <p:cNvSpPr/>
          <p:nvPr/>
        </p:nvSpPr>
        <p:spPr>
          <a:xfrm>
            <a:off x="5312664" y="5358384"/>
            <a:ext cx="54864" cy="886968"/>
          </a:xfrm>
          <a:prstGeom prst="rect">
            <a:avLst/>
          </a:prstGeom>
          <a:solidFill>
            <a:srgbClr val="C4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32" name="TextBox 31"/>
          <p:cNvSpPr txBox="1"/>
          <p:nvPr/>
        </p:nvSpPr>
        <p:spPr>
          <a:xfrm>
            <a:off x="768096" y="5477256"/>
            <a:ext cx="4398264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06000"/>
              </a:lnSpc>
            </a:pPr>
            <a:r>
              <a:rPr lang="en-US" sz="850" b="1" i="0" noProof="0" dirty="0">
                <a:solidFill>
                  <a:srgbClr val="C4622D"/>
                </a:solidFill>
                <a:latin typeface="Segoe UI"/>
              </a:rPr>
              <a:t>▪  </a:t>
            </a:r>
            <a:r>
              <a:rPr lang="en-US" sz="1000" b="0" i="0" noProof="0" dirty="0">
                <a:solidFill>
                  <a:srgbClr val="0F1B24"/>
                </a:solidFill>
                <a:latin typeface="Segoe UI"/>
              </a:rPr>
              <a:t>‏SOAP‏ </a:t>
            </a:r>
            <a:r>
              <a:rPr lang="en-US" sz="1000" b="0" i="0" noProof="0" dirty="0" err="1">
                <a:solidFill>
                  <a:srgbClr val="0F1B24"/>
                </a:solidFill>
                <a:latin typeface="Segoe UI"/>
              </a:rPr>
              <a:t>תומך במערך טיפוסים רחב: הטיפוסים הפרימיטיביים כגון </a:t>
            </a:r>
            <a:r>
              <a:rPr lang="en-US" sz="1000" b="0" i="0" noProof="0" dirty="0">
                <a:solidFill>
                  <a:srgbClr val="0F1B24"/>
                </a:solidFill>
                <a:latin typeface="Segoe UI"/>
              </a:rPr>
              <a:t>‏int‏</a:t>
            </a:r>
            <a:r>
              <a:rPr lang="en-US" sz="1000" b="0" i="0" noProof="0" dirty="0" err="1">
                <a:solidFill>
                  <a:srgbClr val="0F1B24"/>
                </a:solidFill>
                <a:latin typeface="Segoe UI"/>
              </a:rPr>
              <a:t>, וכן </a:t>
            </a:r>
            <a:r>
              <a:rPr lang="en-US" sz="1000" b="0" i="0" noProof="0" dirty="0">
                <a:solidFill>
                  <a:srgbClr val="0F1B24"/>
                </a:solidFill>
                <a:latin typeface="Segoe UI"/>
              </a:rPr>
              <a:t>‏DateTime‏</a:t>
            </a:r>
            <a:r>
              <a:rPr lang="en-US" sz="1000" b="0" i="0" noProof="0" dirty="0" err="1">
                <a:solidFill>
                  <a:srgbClr val="0F1B24"/>
                </a:solidFill>
                <a:latin typeface="Segoe UI"/>
              </a:rPr>
              <a:t>, </a:t>
            </a:r>
            <a:r>
              <a:rPr lang="en-US" sz="1000" b="0" i="0" noProof="0" dirty="0">
                <a:solidFill>
                  <a:srgbClr val="0F1B24"/>
                </a:solidFill>
                <a:latin typeface="Segoe UI"/>
              </a:rPr>
              <a:t>‏XmlNode‏</a:t>
            </a:r>
            <a:r>
              <a:rPr lang="en-US" sz="1000" b="0" i="0" noProof="0" dirty="0" err="1">
                <a:solidFill>
                  <a:srgbClr val="0F1B24"/>
                </a:solidFill>
                <a:latin typeface="Segoe UI"/>
              </a:rPr>
              <a:t> ומערכים שלהם.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8096" y="5879592"/>
            <a:ext cx="4398264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06000"/>
              </a:lnSpc>
            </a:pPr>
            <a:r>
              <a:rPr lang="en-US" sz="850" b="1" i="0" noProof="0" dirty="0">
                <a:solidFill>
                  <a:srgbClr val="C4622D"/>
                </a:solidFill>
                <a:latin typeface="Segoe UI"/>
              </a:rPr>
              <a:t>▪  </a:t>
            </a:r>
            <a:r>
              <a:rPr lang="en-US" sz="1000" b="0" i="0" noProof="0" dirty="0" err="1">
                <a:solidFill>
                  <a:srgbClr val="0F1B24"/>
                </a:solidFill>
                <a:latin typeface="Segoe UI"/>
              </a:rPr>
              <a:t>המעטפת</a:t>
            </a:r>
            <a:r>
              <a:rPr lang="en-US" sz="10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000" b="0" i="0" noProof="0" dirty="0" err="1">
                <a:solidFill>
                  <a:srgbClr val="0F1B24"/>
                </a:solidFill>
                <a:latin typeface="Segoe UI"/>
              </a:rPr>
              <a:t>היא</a:t>
            </a:r>
            <a:r>
              <a:rPr lang="en-US" sz="10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000" b="0" i="0" noProof="0" dirty="0" err="1">
                <a:solidFill>
                  <a:srgbClr val="0F1B24"/>
                </a:solidFill>
                <a:latin typeface="Segoe UI"/>
              </a:rPr>
              <a:t>המחיר</a:t>
            </a:r>
            <a:r>
              <a:rPr lang="en-US" sz="10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000" b="0" i="0" noProof="0" dirty="0" err="1">
                <a:solidFill>
                  <a:srgbClr val="0F1B24"/>
                </a:solidFill>
                <a:latin typeface="Segoe UI"/>
              </a:rPr>
              <a:t>והיתרון</a:t>
            </a:r>
            <a:r>
              <a:rPr lang="en-US" sz="1000" b="0" i="0" noProof="0" dirty="0">
                <a:solidFill>
                  <a:srgbClr val="0F1B24"/>
                </a:solidFill>
                <a:latin typeface="Segoe UI"/>
              </a:rPr>
              <a:t>: </a:t>
            </a:r>
            <a:r>
              <a:rPr lang="en-US" sz="1000" b="0" i="0" noProof="0" dirty="0" err="1">
                <a:solidFill>
                  <a:srgbClr val="0F1B24"/>
                </a:solidFill>
                <a:latin typeface="Segoe UI"/>
              </a:rPr>
              <a:t>בה</a:t>
            </a:r>
            <a:r>
              <a:rPr lang="en-US" sz="10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000" b="0" i="0" noProof="0" dirty="0" err="1">
                <a:solidFill>
                  <a:srgbClr val="0F1B24"/>
                </a:solidFill>
                <a:latin typeface="Segoe UI"/>
              </a:rPr>
              <a:t>נכנסים</a:t>
            </a:r>
            <a:r>
              <a:rPr lang="en-US" sz="10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000" b="0" i="0" noProof="0" dirty="0" err="1">
                <a:solidFill>
                  <a:srgbClr val="0F1B24"/>
                </a:solidFill>
                <a:latin typeface="Segoe UI"/>
              </a:rPr>
              <a:t>אבטחה</a:t>
            </a:r>
            <a:r>
              <a:rPr lang="en-US" sz="1000" b="0" i="0" noProof="0" dirty="0">
                <a:solidFill>
                  <a:srgbClr val="0F1B24"/>
                </a:solidFill>
                <a:latin typeface="Segoe UI"/>
              </a:rPr>
              <a:t>, </a:t>
            </a:r>
            <a:r>
              <a:rPr lang="en-US" sz="1000" b="0" i="0" noProof="0" dirty="0" err="1">
                <a:solidFill>
                  <a:srgbClr val="0F1B24"/>
                </a:solidFill>
                <a:latin typeface="Segoe UI"/>
              </a:rPr>
              <a:t>טרנזקציות</a:t>
            </a:r>
            <a:r>
              <a:rPr lang="en-US" sz="10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000" b="0" i="0" noProof="0" dirty="0" err="1">
                <a:solidFill>
                  <a:srgbClr val="0F1B24"/>
                </a:solidFill>
                <a:latin typeface="Segoe UI"/>
              </a:rPr>
              <a:t>ואמינות</a:t>
            </a:r>
            <a:r>
              <a:rPr lang="en-US" sz="10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000" b="0" i="0" noProof="0" dirty="0" err="1">
                <a:solidFill>
                  <a:srgbClr val="0F1B24"/>
                </a:solidFill>
                <a:latin typeface="Segoe UI"/>
              </a:rPr>
              <a:t>בלי</a:t>
            </a:r>
            <a:r>
              <a:rPr lang="en-US" sz="10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000" b="0" i="0" noProof="0" dirty="0" err="1">
                <a:solidFill>
                  <a:srgbClr val="0F1B24"/>
                </a:solidFill>
                <a:latin typeface="Segoe UI"/>
              </a:rPr>
              <a:t>לגעת</a:t>
            </a:r>
            <a:r>
              <a:rPr lang="en-US" sz="10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000" b="0" i="0" noProof="0" dirty="0" err="1">
                <a:solidFill>
                  <a:srgbClr val="0F1B24"/>
                </a:solidFill>
                <a:latin typeface="Segoe UI"/>
              </a:rPr>
              <a:t>בלוגיקה</a:t>
            </a:r>
            <a:r>
              <a:rPr lang="en-US" sz="1000" b="0" i="0" noProof="0" dirty="0">
                <a:solidFill>
                  <a:srgbClr val="0F1B24"/>
                </a:solidFill>
                <a:latin typeface="Segoe UI"/>
              </a:rPr>
              <a:t>.</a:t>
            </a:r>
          </a:p>
        </p:txBody>
      </p:sp>
      <p:sp>
        <p:nvSpPr>
          <p:cNvPr id="37" name="Rectangle 5">
            <a:extLst>
              <a:ext uri="{FF2B5EF4-FFF2-40B4-BE49-F238E27FC236}">
                <a16:creationId xmlns:a16="http://schemas.microsoft.com/office/drawing/2014/main" id="{431FDCFA-5076-4C51-AC62-470F1F97999D}"/>
              </a:ext>
            </a:extLst>
          </p:cNvPr>
          <p:cNvSpPr/>
          <p:nvPr/>
        </p:nvSpPr>
        <p:spPr>
          <a:xfrm>
            <a:off x="10810871" y="456604"/>
            <a:ext cx="835921" cy="87783"/>
          </a:xfrm>
          <a:prstGeom prst="rect">
            <a:avLst/>
          </a:prstGeom>
          <a:solidFill>
            <a:srgbClr val="C4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he-IL" noProof="0" dirty="0"/>
          </a:p>
        </p:txBody>
      </p:sp>
      <p:pic>
        <p:nvPicPr>
          <p:cNvPr id="34" name="תמונה 33">
            <a:extLst>
              <a:ext uri="{FF2B5EF4-FFF2-40B4-BE49-F238E27FC236}">
                <a16:creationId xmlns:a16="http://schemas.microsoft.com/office/drawing/2014/main" id="{45872A24-A993-8973-7155-538B5E9F55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" y="1119535"/>
            <a:ext cx="5166360" cy="360791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91440"/>
          </a:xfrm>
          <a:prstGeom prst="rect">
            <a:avLst/>
          </a:prstGeom>
          <a:solidFill>
            <a:srgbClr val="0D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5" name="TextBox 4"/>
          <p:cNvSpPr txBox="1"/>
          <p:nvPr/>
        </p:nvSpPr>
        <p:spPr>
          <a:xfrm>
            <a:off x="566928" y="548640"/>
            <a:ext cx="1106424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/>
            <a:r>
              <a:rPr lang="en-US" sz="2800" b="1" i="0" noProof="0" dirty="0">
                <a:solidFill>
                  <a:srgbClr val="0D4A5C"/>
                </a:solidFill>
                <a:latin typeface="Segoe UI"/>
              </a:rPr>
              <a:t>‏WSDL‏ — </a:t>
            </a:r>
            <a:r>
              <a:rPr lang="en-US" sz="2800" b="1" i="0" noProof="0" dirty="0" err="1">
                <a:solidFill>
                  <a:srgbClr val="0D4A5C"/>
                </a:solidFill>
                <a:latin typeface="Segoe UI"/>
              </a:rPr>
              <a:t>החוזה</a:t>
            </a:r>
            <a:r>
              <a:rPr lang="en-US" sz="2800" b="1" i="0" noProof="0" dirty="0">
                <a:solidFill>
                  <a:srgbClr val="0D4A5C"/>
                </a:solidFill>
                <a:latin typeface="Segoe UI"/>
              </a:rPr>
              <a:t> </a:t>
            </a:r>
            <a:r>
              <a:rPr lang="en-US" sz="2800" b="1" i="0" noProof="0" dirty="0" err="1">
                <a:solidFill>
                  <a:srgbClr val="0D4A5C"/>
                </a:solidFill>
                <a:latin typeface="Segoe UI"/>
              </a:rPr>
              <a:t>של</a:t>
            </a:r>
            <a:r>
              <a:rPr lang="en-US" sz="2800" b="1" i="0" noProof="0" dirty="0">
                <a:solidFill>
                  <a:srgbClr val="0D4A5C"/>
                </a:solidFill>
                <a:latin typeface="Segoe UI"/>
              </a:rPr>
              <a:t> </a:t>
            </a:r>
            <a:r>
              <a:rPr lang="en-US" sz="2800" b="1" i="0" noProof="0" dirty="0" err="1">
                <a:solidFill>
                  <a:srgbClr val="0D4A5C"/>
                </a:solidFill>
                <a:latin typeface="Segoe UI"/>
              </a:rPr>
              <a:t>השירות</a:t>
            </a:r>
            <a:endParaRPr lang="en-US" sz="2800" b="1" i="0" noProof="0" dirty="0">
              <a:solidFill>
                <a:srgbClr val="0D4A5C"/>
              </a:solidFill>
              <a:latin typeface="Segoe U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66928" y="1097280"/>
            <a:ext cx="110642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/>
            <a:r>
              <a:rPr lang="en-US" sz="1450" b="0" i="0" noProof="0" dirty="0">
                <a:solidFill>
                  <a:srgbClr val="5A6B75"/>
                </a:solidFill>
                <a:latin typeface="Segoe UI"/>
              </a:rPr>
              <a:t>‏Web Service Description Language‏: </a:t>
            </a:r>
            <a:r>
              <a:rPr lang="en-US" sz="1450" b="0" i="0" noProof="0" dirty="0" err="1">
                <a:solidFill>
                  <a:srgbClr val="5A6B75"/>
                </a:solidFill>
                <a:latin typeface="Segoe UI"/>
              </a:rPr>
              <a:t>מסמך</a:t>
            </a:r>
            <a:r>
              <a:rPr lang="en-US" sz="1450" b="0" i="0" noProof="0" dirty="0">
                <a:solidFill>
                  <a:srgbClr val="5A6B75"/>
                </a:solidFill>
                <a:latin typeface="Segoe UI"/>
              </a:rPr>
              <a:t> ‏XML‏ </a:t>
            </a:r>
            <a:r>
              <a:rPr lang="en-US" sz="1450" b="0" i="0" noProof="0" dirty="0" err="1">
                <a:solidFill>
                  <a:srgbClr val="5A6B75"/>
                </a:solidFill>
                <a:latin typeface="Segoe UI"/>
              </a:rPr>
              <a:t>שמתאר</a:t>
            </a:r>
            <a:r>
              <a:rPr lang="en-US" sz="145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450" b="0" i="0" noProof="0" dirty="0" err="1">
                <a:solidFill>
                  <a:srgbClr val="5A6B75"/>
                </a:solidFill>
                <a:latin typeface="Segoe UI"/>
              </a:rPr>
              <a:t>אילו</a:t>
            </a:r>
            <a:r>
              <a:rPr lang="en-US" sz="145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450" b="0" i="0" noProof="0" dirty="0" err="1">
                <a:solidFill>
                  <a:srgbClr val="5A6B75"/>
                </a:solidFill>
                <a:latin typeface="Segoe UI"/>
              </a:rPr>
              <a:t>פעולות</a:t>
            </a:r>
            <a:r>
              <a:rPr lang="en-US" sz="145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450" b="0" i="0" noProof="0" dirty="0" err="1">
                <a:solidFill>
                  <a:srgbClr val="5A6B75"/>
                </a:solidFill>
                <a:latin typeface="Segoe UI"/>
              </a:rPr>
              <a:t>קיימות</a:t>
            </a:r>
            <a:r>
              <a:rPr lang="en-US" sz="145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450" b="0" i="0" noProof="0" dirty="0" err="1">
                <a:solidFill>
                  <a:srgbClr val="5A6B75"/>
                </a:solidFill>
                <a:latin typeface="Segoe UI"/>
              </a:rPr>
              <a:t>ואיך</a:t>
            </a:r>
            <a:r>
              <a:rPr lang="en-US" sz="145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450" b="0" i="0" noProof="0" dirty="0" err="1">
                <a:solidFill>
                  <a:srgbClr val="5A6B75"/>
                </a:solidFill>
                <a:latin typeface="Segoe UI"/>
              </a:rPr>
              <a:t>קוראים</a:t>
            </a:r>
            <a:r>
              <a:rPr lang="en-US" sz="145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450" b="0" i="0" noProof="0" dirty="0" err="1">
                <a:solidFill>
                  <a:srgbClr val="5A6B75"/>
                </a:solidFill>
                <a:latin typeface="Segoe UI"/>
              </a:rPr>
              <a:t>להן</a:t>
            </a:r>
            <a:endParaRPr lang="en-US" sz="1450" b="0" i="0" noProof="0" dirty="0">
              <a:solidFill>
                <a:srgbClr val="5A6B75"/>
              </a:solidFill>
              <a:latin typeface="Segoe UI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0981678" y="493776"/>
            <a:ext cx="649490" cy="46874"/>
          </a:xfrm>
          <a:prstGeom prst="rect">
            <a:avLst/>
          </a:prstGeom>
          <a:solidFill>
            <a:srgbClr val="C4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8" name="Rectangle 7"/>
          <p:cNvSpPr/>
          <p:nvPr/>
        </p:nvSpPr>
        <p:spPr>
          <a:xfrm>
            <a:off x="566928" y="6382512"/>
            <a:ext cx="11064240" cy="10972"/>
          </a:xfrm>
          <a:prstGeom prst="rect">
            <a:avLst/>
          </a:prstGeom>
          <a:solidFill>
            <a:srgbClr val="E3EA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9" name="TextBox 8"/>
          <p:cNvSpPr txBox="1"/>
          <p:nvPr/>
        </p:nvSpPr>
        <p:spPr>
          <a:xfrm>
            <a:off x="10424160" y="6473952"/>
            <a:ext cx="1207008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/>
            <a:r>
              <a:rPr lang="en-US" sz="1050" b="0" i="0" noProof="0" dirty="0">
                <a:solidFill>
                  <a:srgbClr val="8D9EA8"/>
                </a:solidFill>
                <a:latin typeface="Segoe UI"/>
              </a:rPr>
              <a:t>‏WSDL‏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73952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rtl="0"/>
            <a:r>
              <a:rPr lang="en-US" sz="1050" b="0" i="0" noProof="0" dirty="0">
                <a:solidFill>
                  <a:srgbClr val="8D9EA8"/>
                </a:solidFill>
                <a:latin typeface="Segoe UI"/>
              </a:rPr>
              <a:t>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720" y="1700784"/>
            <a:ext cx="5870448" cy="2240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06000"/>
              </a:lnSpc>
              <a:spcAft>
                <a:spcPts val="800"/>
              </a:spcAft>
            </a:pPr>
            <a:r>
              <a:rPr lang="en-US" sz="1000" b="1" i="0" noProof="0" dirty="0">
                <a:solidFill>
                  <a:srgbClr val="C4622D"/>
                </a:solidFill>
                <a:latin typeface="Segoe UI"/>
              </a:rPr>
              <a:t>■  </a:t>
            </a:r>
            <a:r>
              <a:rPr lang="en-US" sz="1250" b="1" i="0" noProof="0" dirty="0" err="1">
                <a:solidFill>
                  <a:srgbClr val="0D4A5C"/>
                </a:solidFill>
                <a:latin typeface="Segoe UI"/>
              </a:rPr>
              <a:t>הבעיה</a:t>
            </a:r>
            <a:r>
              <a:rPr lang="en-US" sz="1250" b="1" i="0" noProof="0" dirty="0">
                <a:solidFill>
                  <a:srgbClr val="0D4A5C"/>
                </a:solidFill>
                <a:latin typeface="Segoe UI"/>
              </a:rPr>
              <a:t> </a:t>
            </a:r>
            <a:r>
              <a:rPr lang="en-US" sz="1250" b="1" i="0" noProof="0" dirty="0" err="1">
                <a:solidFill>
                  <a:srgbClr val="0D4A5C"/>
                </a:solidFill>
                <a:latin typeface="Segoe UI"/>
              </a:rPr>
              <a:t>שהוא</a:t>
            </a:r>
            <a:r>
              <a:rPr lang="en-US" sz="1250" b="1" i="0" noProof="0" dirty="0">
                <a:solidFill>
                  <a:srgbClr val="0D4A5C"/>
                </a:solidFill>
                <a:latin typeface="Segoe UI"/>
              </a:rPr>
              <a:t> </a:t>
            </a:r>
            <a:r>
              <a:rPr lang="en-US" sz="1250" b="1" i="0" noProof="0" dirty="0" err="1">
                <a:solidFill>
                  <a:srgbClr val="0D4A5C"/>
                </a:solidFill>
                <a:latin typeface="Segoe UI"/>
              </a:rPr>
              <a:t>פותר</a:t>
            </a:r>
            <a:r>
              <a:rPr lang="en-US" sz="1250" b="1" i="0" noProof="0" dirty="0">
                <a:solidFill>
                  <a:srgbClr val="0D4A5C"/>
                </a:solidFill>
                <a:latin typeface="Segoe UI"/>
              </a:rPr>
              <a:t>. </a:t>
            </a:r>
            <a:r>
              <a:rPr lang="en-US" sz="1250" b="0" i="0" noProof="0" dirty="0" err="1">
                <a:solidFill>
                  <a:srgbClr val="0F1B24"/>
                </a:solidFill>
                <a:latin typeface="Segoe UI"/>
              </a:rPr>
              <a:t>כדי</a:t>
            </a:r>
            <a:r>
              <a:rPr lang="en-US" sz="12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50" b="0" i="0" noProof="0" dirty="0" err="1">
                <a:solidFill>
                  <a:srgbClr val="0F1B24"/>
                </a:solidFill>
                <a:latin typeface="Segoe UI"/>
              </a:rPr>
              <a:t>לצרוך</a:t>
            </a:r>
            <a:r>
              <a:rPr lang="en-US" sz="12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50" b="0" i="0" noProof="0" dirty="0" err="1">
                <a:solidFill>
                  <a:srgbClr val="0F1B24"/>
                </a:solidFill>
                <a:latin typeface="Segoe UI"/>
              </a:rPr>
              <a:t>שירות</a:t>
            </a:r>
            <a:r>
              <a:rPr lang="en-US" sz="1250" b="0" i="0" noProof="0" dirty="0">
                <a:solidFill>
                  <a:srgbClr val="0F1B24"/>
                </a:solidFill>
                <a:latin typeface="Segoe UI"/>
              </a:rPr>
              <a:t>, </a:t>
            </a:r>
            <a:r>
              <a:rPr lang="en-US" sz="1250" b="0" i="0" noProof="0" dirty="0" err="1">
                <a:solidFill>
                  <a:srgbClr val="0F1B24"/>
                </a:solidFill>
                <a:latin typeface="Segoe UI"/>
              </a:rPr>
              <a:t>הלקוח</a:t>
            </a:r>
            <a:r>
              <a:rPr lang="en-US" sz="12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50" b="0" i="0" noProof="0" dirty="0" err="1">
                <a:solidFill>
                  <a:srgbClr val="0F1B24"/>
                </a:solidFill>
                <a:latin typeface="Segoe UI"/>
              </a:rPr>
              <a:t>חייב</a:t>
            </a:r>
            <a:r>
              <a:rPr lang="en-US" sz="12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50" b="0" i="0" noProof="0" dirty="0" err="1">
                <a:solidFill>
                  <a:srgbClr val="0F1B24"/>
                </a:solidFill>
                <a:latin typeface="Segoe UI"/>
              </a:rPr>
              <a:t>לדעת</a:t>
            </a:r>
            <a:r>
              <a:rPr lang="en-US" sz="12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50" b="0" i="0" noProof="0" dirty="0" err="1">
                <a:solidFill>
                  <a:srgbClr val="0F1B24"/>
                </a:solidFill>
                <a:latin typeface="Segoe UI"/>
              </a:rPr>
              <a:t>מה</a:t>
            </a:r>
            <a:r>
              <a:rPr lang="en-US" sz="12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50" b="0" i="0" noProof="0" dirty="0" err="1">
                <a:solidFill>
                  <a:srgbClr val="0F1B24"/>
                </a:solidFill>
                <a:latin typeface="Segoe UI"/>
              </a:rPr>
              <a:t>השירות</a:t>
            </a:r>
            <a:r>
              <a:rPr lang="en-US" sz="12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50" b="0" i="0" noProof="0" dirty="0" err="1">
                <a:solidFill>
                  <a:srgbClr val="0F1B24"/>
                </a:solidFill>
                <a:latin typeface="Segoe UI"/>
              </a:rPr>
              <a:t>יודע</a:t>
            </a:r>
            <a:r>
              <a:rPr lang="en-US" sz="12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50" b="0" i="0" noProof="0" dirty="0" err="1">
                <a:solidFill>
                  <a:srgbClr val="0F1B24"/>
                </a:solidFill>
                <a:latin typeface="Segoe UI"/>
              </a:rPr>
              <a:t>לעשות</a:t>
            </a:r>
            <a:r>
              <a:rPr lang="en-US" sz="12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50" b="0" i="0" noProof="0" dirty="0" err="1">
                <a:solidFill>
                  <a:srgbClr val="0F1B24"/>
                </a:solidFill>
                <a:latin typeface="Segoe UI"/>
              </a:rPr>
              <a:t>ואיך</a:t>
            </a:r>
            <a:r>
              <a:rPr lang="en-US" sz="12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50" b="0" i="0" noProof="0" dirty="0" err="1">
                <a:solidFill>
                  <a:srgbClr val="0F1B24"/>
                </a:solidFill>
                <a:latin typeface="Segoe UI"/>
              </a:rPr>
              <a:t>פונים</a:t>
            </a:r>
            <a:r>
              <a:rPr lang="en-US" sz="12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50" b="0" i="0" noProof="0" dirty="0" err="1">
                <a:solidFill>
                  <a:srgbClr val="0F1B24"/>
                </a:solidFill>
                <a:latin typeface="Segoe UI"/>
              </a:rPr>
              <a:t>אליו</a:t>
            </a:r>
            <a:r>
              <a:rPr lang="en-US" sz="1250" b="0" i="0" noProof="0" dirty="0">
                <a:solidFill>
                  <a:srgbClr val="0F1B24"/>
                </a:solidFill>
                <a:latin typeface="Segoe UI"/>
              </a:rPr>
              <a:t>. </a:t>
            </a:r>
            <a:r>
              <a:rPr lang="en-US" sz="1250" b="0" i="0" noProof="0" dirty="0" err="1">
                <a:solidFill>
                  <a:srgbClr val="0F1B24"/>
                </a:solidFill>
                <a:latin typeface="Segoe UI"/>
              </a:rPr>
              <a:t>לשם</a:t>
            </a:r>
            <a:r>
              <a:rPr lang="en-US" sz="12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50" b="0" i="0" noProof="0" dirty="0" err="1">
                <a:solidFill>
                  <a:srgbClr val="0F1B24"/>
                </a:solidFill>
                <a:latin typeface="Segoe UI"/>
              </a:rPr>
              <a:t>כך</a:t>
            </a:r>
            <a:r>
              <a:rPr lang="en-US" sz="12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50" b="0" i="0" noProof="0" dirty="0" err="1">
                <a:solidFill>
                  <a:srgbClr val="0F1B24"/>
                </a:solidFill>
                <a:latin typeface="Segoe UI"/>
              </a:rPr>
              <a:t>כל</a:t>
            </a:r>
            <a:r>
              <a:rPr lang="en-US" sz="12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50" b="0" i="0" noProof="0" dirty="0" err="1">
                <a:solidFill>
                  <a:srgbClr val="0F1B24"/>
                </a:solidFill>
                <a:latin typeface="Segoe UI"/>
              </a:rPr>
              <a:t>שירות</a:t>
            </a:r>
            <a:r>
              <a:rPr lang="en-US" sz="1250" b="0" i="0" noProof="0" dirty="0">
                <a:solidFill>
                  <a:srgbClr val="0F1B24"/>
                </a:solidFill>
                <a:latin typeface="Segoe UI"/>
              </a:rPr>
              <a:t> ‏SOAP‏ </a:t>
            </a:r>
            <a:r>
              <a:rPr lang="en-US" sz="1250" b="0" i="0" noProof="0" dirty="0" err="1">
                <a:solidFill>
                  <a:srgbClr val="0F1B24"/>
                </a:solidFill>
                <a:latin typeface="Segoe UI"/>
              </a:rPr>
              <a:t>מספק</a:t>
            </a:r>
            <a:r>
              <a:rPr lang="en-US" sz="12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50" b="0" i="0" noProof="0" dirty="0" err="1">
                <a:solidFill>
                  <a:srgbClr val="0F1B24"/>
                </a:solidFill>
                <a:latin typeface="Segoe UI"/>
              </a:rPr>
              <a:t>תיאור</a:t>
            </a:r>
            <a:r>
              <a:rPr lang="en-US" sz="12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50" b="0" i="0" noProof="0" dirty="0" err="1">
                <a:solidFill>
                  <a:srgbClr val="0F1B24"/>
                </a:solidFill>
                <a:latin typeface="Segoe UI"/>
              </a:rPr>
              <a:t>שירות</a:t>
            </a:r>
            <a:r>
              <a:rPr lang="en-US" sz="1250" b="0" i="0" noProof="0" dirty="0">
                <a:solidFill>
                  <a:srgbClr val="0F1B24"/>
                </a:solidFill>
                <a:latin typeface="Segoe UI"/>
              </a:rPr>
              <a:t>.</a:t>
            </a:r>
          </a:p>
          <a:p>
            <a:pPr algn="r" rtl="1">
              <a:lnSpc>
                <a:spcPct val="106000"/>
              </a:lnSpc>
              <a:spcAft>
                <a:spcPts val="800"/>
              </a:spcAft>
            </a:pPr>
            <a:r>
              <a:rPr lang="en-US" sz="1000" b="1" i="0" noProof="0" dirty="0">
                <a:solidFill>
                  <a:srgbClr val="C4622D"/>
                </a:solidFill>
                <a:latin typeface="Segoe UI"/>
              </a:rPr>
              <a:t>■  </a:t>
            </a:r>
            <a:r>
              <a:rPr lang="en-US" sz="1250" b="1" i="0" noProof="0" dirty="0" err="1">
                <a:solidFill>
                  <a:srgbClr val="0D4A5C"/>
                </a:solidFill>
                <a:latin typeface="Segoe UI"/>
              </a:rPr>
              <a:t>מה</a:t>
            </a:r>
            <a:r>
              <a:rPr lang="en-US" sz="1250" b="1" i="0" noProof="0" dirty="0">
                <a:solidFill>
                  <a:srgbClr val="0D4A5C"/>
                </a:solidFill>
                <a:latin typeface="Segoe UI"/>
              </a:rPr>
              <a:t> </a:t>
            </a:r>
            <a:r>
              <a:rPr lang="en-US" sz="1250" b="1" i="0" noProof="0" dirty="0" err="1">
                <a:solidFill>
                  <a:srgbClr val="0D4A5C"/>
                </a:solidFill>
                <a:latin typeface="Segoe UI"/>
              </a:rPr>
              <a:t>זה</a:t>
            </a:r>
            <a:r>
              <a:rPr lang="en-US" sz="1250" b="1" i="0" noProof="0" dirty="0">
                <a:solidFill>
                  <a:srgbClr val="0D4A5C"/>
                </a:solidFill>
                <a:latin typeface="Segoe UI"/>
              </a:rPr>
              <a:t>. </a:t>
            </a:r>
            <a:r>
              <a:rPr lang="en-US" sz="1250" b="0" i="0" noProof="0" dirty="0" err="1">
                <a:solidFill>
                  <a:srgbClr val="0F1B24"/>
                </a:solidFill>
                <a:latin typeface="Segoe UI"/>
              </a:rPr>
              <a:t>מסמך</a:t>
            </a:r>
            <a:r>
              <a:rPr lang="en-US" sz="1250" b="0" i="0" noProof="0" dirty="0">
                <a:solidFill>
                  <a:srgbClr val="0F1B24"/>
                </a:solidFill>
                <a:latin typeface="Segoe UI"/>
              </a:rPr>
              <a:t> ‏XML‏ </a:t>
            </a:r>
            <a:r>
              <a:rPr lang="en-US" sz="1250" b="0" i="0" noProof="0" dirty="0" err="1">
                <a:solidFill>
                  <a:srgbClr val="0F1B24"/>
                </a:solidFill>
                <a:latin typeface="Segoe UI"/>
              </a:rPr>
              <a:t>התואם</a:t>
            </a:r>
            <a:r>
              <a:rPr lang="en-US" sz="12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50" b="0" i="0" noProof="0" dirty="0" err="1">
                <a:solidFill>
                  <a:srgbClr val="0F1B24"/>
                </a:solidFill>
                <a:latin typeface="Segoe UI"/>
              </a:rPr>
              <a:t>לאוצר</a:t>
            </a:r>
            <a:r>
              <a:rPr lang="en-US" sz="12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50" b="0" i="0" noProof="0" dirty="0" err="1">
                <a:solidFill>
                  <a:srgbClr val="0F1B24"/>
                </a:solidFill>
                <a:latin typeface="Segoe UI"/>
              </a:rPr>
              <a:t>המילים</a:t>
            </a:r>
            <a:r>
              <a:rPr lang="en-US" sz="12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50" b="0" i="0" noProof="0" dirty="0" err="1">
                <a:solidFill>
                  <a:srgbClr val="0F1B24"/>
                </a:solidFill>
                <a:latin typeface="Segoe UI"/>
              </a:rPr>
              <a:t>של</a:t>
            </a:r>
            <a:r>
              <a:rPr lang="en-US" sz="1250" b="0" i="0" noProof="0" dirty="0">
                <a:solidFill>
                  <a:srgbClr val="0F1B24"/>
                </a:solidFill>
                <a:latin typeface="Segoe UI"/>
              </a:rPr>
              <a:t> ‏WSDL‏, </a:t>
            </a:r>
            <a:r>
              <a:rPr lang="en-US" sz="1250" b="0" i="0" noProof="0" dirty="0" err="1">
                <a:solidFill>
                  <a:srgbClr val="0F1B24"/>
                </a:solidFill>
                <a:latin typeface="Segoe UI"/>
              </a:rPr>
              <a:t>המגדיר</a:t>
            </a:r>
            <a:r>
              <a:rPr lang="en-US" sz="1250" b="0" i="0" noProof="0" dirty="0">
                <a:solidFill>
                  <a:srgbClr val="0F1B24"/>
                </a:solidFill>
                <a:latin typeface="Segoe UI"/>
              </a:rPr>
              <a:t> את </a:t>
            </a:r>
            <a:r>
              <a:rPr lang="en-US" sz="1250" b="0" i="0" noProof="0" dirty="0" err="1">
                <a:solidFill>
                  <a:srgbClr val="0F1B24"/>
                </a:solidFill>
                <a:latin typeface="Segoe UI"/>
              </a:rPr>
              <a:t>המתודות</a:t>
            </a:r>
            <a:r>
              <a:rPr lang="en-US" sz="12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50" b="0" i="0" noProof="0" dirty="0" err="1">
                <a:solidFill>
                  <a:srgbClr val="0F1B24"/>
                </a:solidFill>
                <a:latin typeface="Segoe UI"/>
              </a:rPr>
              <a:t>שהשירות</a:t>
            </a:r>
            <a:r>
              <a:rPr lang="en-US" sz="12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50" b="0" i="0" noProof="0" dirty="0" err="1">
                <a:solidFill>
                  <a:srgbClr val="0F1B24"/>
                </a:solidFill>
                <a:latin typeface="Segoe UI"/>
              </a:rPr>
              <a:t>מעמיד</a:t>
            </a:r>
            <a:r>
              <a:rPr lang="en-US" sz="12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50" b="0" i="0" noProof="0" dirty="0" err="1">
                <a:solidFill>
                  <a:srgbClr val="0F1B24"/>
                </a:solidFill>
                <a:latin typeface="Segoe UI"/>
              </a:rPr>
              <a:t>לרשות</a:t>
            </a:r>
            <a:r>
              <a:rPr lang="en-US" sz="12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50" b="0" i="0" noProof="0" dirty="0" err="1">
                <a:solidFill>
                  <a:srgbClr val="0F1B24"/>
                </a:solidFill>
                <a:latin typeface="Segoe UI"/>
              </a:rPr>
              <a:t>הלקוחות</a:t>
            </a:r>
            <a:r>
              <a:rPr lang="en-US" sz="1250" b="0" i="0" noProof="0" dirty="0">
                <a:solidFill>
                  <a:srgbClr val="0F1B24"/>
                </a:solidFill>
                <a:latin typeface="Segoe UI"/>
              </a:rPr>
              <a:t>, את </a:t>
            </a:r>
            <a:r>
              <a:rPr lang="en-US" sz="1250" b="0" i="0" noProof="0" dirty="0" err="1">
                <a:solidFill>
                  <a:srgbClr val="0F1B24"/>
                </a:solidFill>
                <a:latin typeface="Segoe UI"/>
              </a:rPr>
              <a:t>אופן</a:t>
            </a:r>
            <a:r>
              <a:rPr lang="en-US" sz="12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50" b="0" i="0" noProof="0" dirty="0" err="1">
                <a:solidFill>
                  <a:srgbClr val="0F1B24"/>
                </a:solidFill>
                <a:latin typeface="Segoe UI"/>
              </a:rPr>
              <a:t>האינטראקציה</a:t>
            </a:r>
            <a:r>
              <a:rPr lang="en-US" sz="12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50" b="0" i="0" noProof="0" dirty="0" err="1">
                <a:solidFill>
                  <a:srgbClr val="0F1B24"/>
                </a:solidFill>
                <a:latin typeface="Segoe UI"/>
              </a:rPr>
              <a:t>איתן</a:t>
            </a:r>
            <a:r>
              <a:rPr lang="en-US" sz="12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50" b="0" i="0" noProof="0" dirty="0" err="1">
                <a:solidFill>
                  <a:srgbClr val="0F1B24"/>
                </a:solidFill>
                <a:latin typeface="Segoe UI"/>
              </a:rPr>
              <a:t>ואת</a:t>
            </a:r>
            <a:r>
              <a:rPr lang="en-US" sz="12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50" b="0" i="0" noProof="0" dirty="0" err="1">
                <a:solidFill>
                  <a:srgbClr val="0F1B24"/>
                </a:solidFill>
                <a:latin typeface="Segoe UI"/>
              </a:rPr>
              <a:t>הפורמטים</a:t>
            </a:r>
            <a:r>
              <a:rPr lang="en-US" sz="12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50" b="0" i="0" noProof="0" dirty="0" err="1">
                <a:solidFill>
                  <a:srgbClr val="0F1B24"/>
                </a:solidFill>
                <a:latin typeface="Segoe UI"/>
              </a:rPr>
              <a:t>הנדרשים</a:t>
            </a:r>
            <a:r>
              <a:rPr lang="en-US" sz="12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50" b="0" i="0" noProof="0" dirty="0" err="1">
                <a:solidFill>
                  <a:srgbClr val="0F1B24"/>
                </a:solidFill>
                <a:latin typeface="Segoe UI"/>
              </a:rPr>
              <a:t>לבקשות</a:t>
            </a:r>
            <a:r>
              <a:rPr lang="en-US" sz="12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50" b="0" i="0" noProof="0" dirty="0" err="1">
                <a:solidFill>
                  <a:srgbClr val="0F1B24"/>
                </a:solidFill>
                <a:latin typeface="Segoe UI"/>
              </a:rPr>
              <a:t>ולתשובות</a:t>
            </a:r>
            <a:r>
              <a:rPr lang="en-US" sz="1250" b="0" i="0" noProof="0" dirty="0">
                <a:solidFill>
                  <a:srgbClr val="0F1B24"/>
                </a:solidFill>
                <a:latin typeface="Segoe UI"/>
              </a:rPr>
              <a:t>.</a:t>
            </a:r>
          </a:p>
          <a:p>
            <a:pPr algn="r" rtl="1">
              <a:lnSpc>
                <a:spcPct val="106000"/>
              </a:lnSpc>
              <a:spcAft>
                <a:spcPts val="800"/>
              </a:spcAft>
            </a:pPr>
            <a:r>
              <a:rPr lang="en-US" sz="1000" b="1" i="0" noProof="0" dirty="0">
                <a:solidFill>
                  <a:srgbClr val="C4622D"/>
                </a:solidFill>
                <a:latin typeface="Segoe UI"/>
              </a:rPr>
              <a:t>■  </a:t>
            </a:r>
            <a:r>
              <a:rPr lang="en-US" sz="1250" b="1" i="0" noProof="0" dirty="0" err="1">
                <a:solidFill>
                  <a:srgbClr val="0D4A5C"/>
                </a:solidFill>
                <a:latin typeface="Segoe UI"/>
              </a:rPr>
              <a:t>אינכם</a:t>
            </a:r>
            <a:r>
              <a:rPr lang="en-US" sz="1250" b="1" i="0" noProof="0" dirty="0">
                <a:solidFill>
                  <a:srgbClr val="0D4A5C"/>
                </a:solidFill>
                <a:latin typeface="Segoe UI"/>
              </a:rPr>
              <a:t> </a:t>
            </a:r>
            <a:r>
              <a:rPr lang="en-US" sz="1250" b="1" i="0" noProof="0" dirty="0" err="1">
                <a:solidFill>
                  <a:srgbClr val="0D4A5C"/>
                </a:solidFill>
                <a:latin typeface="Segoe UI"/>
              </a:rPr>
              <a:t>צריכים</a:t>
            </a:r>
            <a:r>
              <a:rPr lang="en-US" sz="1250" b="1" i="0" noProof="0" dirty="0">
                <a:solidFill>
                  <a:srgbClr val="0D4A5C"/>
                </a:solidFill>
                <a:latin typeface="Segoe UI"/>
              </a:rPr>
              <a:t> </a:t>
            </a:r>
            <a:r>
              <a:rPr lang="en-US" sz="1250" b="1" i="0" noProof="0" dirty="0" err="1">
                <a:solidFill>
                  <a:srgbClr val="0D4A5C"/>
                </a:solidFill>
                <a:latin typeface="Segoe UI"/>
              </a:rPr>
              <a:t>לקרוא</a:t>
            </a:r>
            <a:r>
              <a:rPr lang="en-US" sz="1250" b="1" i="0" noProof="0" dirty="0">
                <a:solidFill>
                  <a:srgbClr val="0D4A5C"/>
                </a:solidFill>
                <a:latin typeface="Segoe UI"/>
              </a:rPr>
              <a:t> </a:t>
            </a:r>
            <a:r>
              <a:rPr lang="en-US" sz="1250" b="1" i="0" noProof="0" dirty="0" err="1">
                <a:solidFill>
                  <a:srgbClr val="0D4A5C"/>
                </a:solidFill>
                <a:latin typeface="Segoe UI"/>
              </a:rPr>
              <a:t>אותו</a:t>
            </a:r>
            <a:r>
              <a:rPr lang="en-US" sz="1250" b="1" i="0" noProof="0" dirty="0">
                <a:solidFill>
                  <a:srgbClr val="0D4A5C"/>
                </a:solidFill>
                <a:latin typeface="Segoe UI"/>
              </a:rPr>
              <a:t>. </a:t>
            </a:r>
            <a:r>
              <a:rPr lang="en-US" sz="1250" b="0" i="0" noProof="0" dirty="0" err="1">
                <a:solidFill>
                  <a:srgbClr val="0F1B24"/>
                </a:solidFill>
                <a:latin typeface="Segoe UI"/>
              </a:rPr>
              <a:t>שרת</a:t>
            </a:r>
            <a:r>
              <a:rPr lang="en-US" sz="12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50" b="0" i="0" noProof="0" dirty="0" err="1">
                <a:solidFill>
                  <a:srgbClr val="0F1B24"/>
                </a:solidFill>
                <a:latin typeface="Segoe UI"/>
              </a:rPr>
              <a:t>היישומים</a:t>
            </a:r>
            <a:r>
              <a:rPr lang="en-US" sz="12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50" b="0" i="0" noProof="0" dirty="0" err="1">
                <a:solidFill>
                  <a:srgbClr val="0F1B24"/>
                </a:solidFill>
                <a:latin typeface="Segoe UI"/>
              </a:rPr>
              <a:t>מייצר</a:t>
            </a:r>
            <a:r>
              <a:rPr lang="en-US" sz="1250" b="0" i="0" noProof="0" dirty="0">
                <a:solidFill>
                  <a:srgbClr val="0F1B24"/>
                </a:solidFill>
                <a:latin typeface="Segoe UI"/>
              </a:rPr>
              <a:t> את ה-‏WSDL‏ </a:t>
            </a:r>
            <a:r>
              <a:rPr lang="en-US" sz="1250" b="0" i="0" noProof="0" dirty="0" err="1">
                <a:solidFill>
                  <a:srgbClr val="0F1B24"/>
                </a:solidFill>
                <a:latin typeface="Segoe UI"/>
              </a:rPr>
              <a:t>באופן</a:t>
            </a:r>
            <a:r>
              <a:rPr lang="en-US" sz="12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50" b="0" i="0" noProof="0" dirty="0" err="1">
                <a:solidFill>
                  <a:srgbClr val="0F1B24"/>
                </a:solidFill>
                <a:latin typeface="Segoe UI"/>
              </a:rPr>
              <a:t>דינמי</a:t>
            </a:r>
            <a:r>
              <a:rPr lang="en-US" sz="1250" b="0" i="0" noProof="0" dirty="0">
                <a:solidFill>
                  <a:srgbClr val="0F1B24"/>
                </a:solidFill>
                <a:latin typeface="Segoe UI"/>
              </a:rPr>
              <a:t>, </a:t>
            </a:r>
            <a:r>
              <a:rPr lang="en-US" sz="1250" b="0" i="0" noProof="0" dirty="0" err="1">
                <a:solidFill>
                  <a:srgbClr val="0F1B24"/>
                </a:solidFill>
                <a:latin typeface="Segoe UI"/>
              </a:rPr>
              <a:t>וכלי</a:t>
            </a:r>
            <a:r>
              <a:rPr lang="en-US" sz="12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50" b="0" i="0" noProof="0" dirty="0" err="1">
                <a:solidFill>
                  <a:srgbClr val="0F1B24"/>
                </a:solidFill>
                <a:latin typeface="Segoe UI"/>
              </a:rPr>
              <a:t>הלקוח</a:t>
            </a:r>
            <a:r>
              <a:rPr lang="en-US" sz="12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50" b="0" i="0" noProof="0" dirty="0" err="1">
                <a:solidFill>
                  <a:srgbClr val="0F1B24"/>
                </a:solidFill>
                <a:latin typeface="Segoe UI"/>
              </a:rPr>
              <a:t>מנתחים</a:t>
            </a:r>
            <a:r>
              <a:rPr lang="en-US" sz="12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50" b="0" i="0" noProof="0" dirty="0" err="1">
                <a:solidFill>
                  <a:srgbClr val="0F1B24"/>
                </a:solidFill>
                <a:latin typeface="Segoe UI"/>
              </a:rPr>
              <a:t>אותו</a:t>
            </a:r>
            <a:r>
              <a:rPr lang="en-US" sz="12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50" b="0" i="0" noProof="0" dirty="0" err="1">
                <a:solidFill>
                  <a:srgbClr val="0F1B24"/>
                </a:solidFill>
                <a:latin typeface="Segoe UI"/>
              </a:rPr>
              <a:t>כדי</a:t>
            </a:r>
            <a:r>
              <a:rPr lang="en-US" sz="12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50" b="0" i="0" noProof="0" dirty="0" err="1">
                <a:solidFill>
                  <a:srgbClr val="0F1B24"/>
                </a:solidFill>
                <a:latin typeface="Segoe UI"/>
              </a:rPr>
              <a:t>לייצר</a:t>
            </a:r>
            <a:r>
              <a:rPr lang="en-US" sz="12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50" b="0" i="0" noProof="0" dirty="0" err="1">
                <a:solidFill>
                  <a:srgbClr val="0F1B24"/>
                </a:solidFill>
                <a:latin typeface="Segoe UI"/>
              </a:rPr>
              <a:t>עבורכם</a:t>
            </a:r>
            <a:r>
              <a:rPr lang="en-US" sz="1250" b="0" i="0" noProof="0" dirty="0">
                <a:solidFill>
                  <a:srgbClr val="0F1B24"/>
                </a:solidFill>
                <a:latin typeface="Segoe UI"/>
              </a:rPr>
              <a:t> את </a:t>
            </a:r>
            <a:r>
              <a:rPr lang="en-US" sz="1250" b="0" i="0" noProof="0" dirty="0" err="1">
                <a:solidFill>
                  <a:srgbClr val="0F1B24"/>
                </a:solidFill>
                <a:latin typeface="Segoe UI"/>
              </a:rPr>
              <a:t>מחלקת</a:t>
            </a:r>
            <a:r>
              <a:rPr lang="en-US" sz="1250" b="0" i="0" noProof="0" dirty="0">
                <a:solidFill>
                  <a:srgbClr val="0F1B24"/>
                </a:solidFill>
                <a:latin typeface="Segoe UI"/>
              </a:rPr>
              <a:t> ה-‏proxy‏.</a:t>
            </a:r>
          </a:p>
          <a:p>
            <a:pPr algn="r" rtl="1">
              <a:lnSpc>
                <a:spcPct val="106000"/>
              </a:lnSpc>
              <a:spcAft>
                <a:spcPts val="800"/>
              </a:spcAft>
            </a:pPr>
            <a:r>
              <a:rPr lang="en-US" sz="1000" b="1" i="0" noProof="0" dirty="0">
                <a:solidFill>
                  <a:srgbClr val="C4622D"/>
                </a:solidFill>
                <a:latin typeface="Segoe UI"/>
              </a:rPr>
              <a:t>■  </a:t>
            </a:r>
            <a:r>
              <a:rPr lang="en-US" sz="1250" b="1" i="0" noProof="0" dirty="0" err="1">
                <a:solidFill>
                  <a:srgbClr val="0D4A5C"/>
                </a:solidFill>
                <a:latin typeface="Segoe UI"/>
              </a:rPr>
              <a:t>תמיד</a:t>
            </a:r>
            <a:r>
              <a:rPr lang="en-US" sz="1250" b="1" i="0" noProof="0" dirty="0">
                <a:solidFill>
                  <a:srgbClr val="0D4A5C"/>
                </a:solidFill>
                <a:latin typeface="Segoe UI"/>
              </a:rPr>
              <a:t> </a:t>
            </a:r>
            <a:r>
              <a:rPr lang="en-US" sz="1250" b="1" i="0" noProof="0" dirty="0" err="1">
                <a:solidFill>
                  <a:srgbClr val="0D4A5C"/>
                </a:solidFill>
                <a:latin typeface="Segoe UI"/>
              </a:rPr>
              <a:t>עדכני</a:t>
            </a:r>
            <a:r>
              <a:rPr lang="en-US" sz="1250" b="1" i="0" noProof="0" dirty="0">
                <a:solidFill>
                  <a:srgbClr val="0D4A5C"/>
                </a:solidFill>
                <a:latin typeface="Segoe UI"/>
              </a:rPr>
              <a:t>. </a:t>
            </a:r>
            <a:r>
              <a:rPr lang="en-US" sz="1250" b="0" i="0" noProof="0" dirty="0" err="1">
                <a:solidFill>
                  <a:srgbClr val="0F1B24"/>
                </a:solidFill>
                <a:latin typeface="Segoe UI"/>
              </a:rPr>
              <a:t>מכיוון</a:t>
            </a:r>
            <a:r>
              <a:rPr lang="en-US" sz="12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50" b="0" i="0" noProof="0" dirty="0" err="1">
                <a:solidFill>
                  <a:srgbClr val="0F1B24"/>
                </a:solidFill>
                <a:latin typeface="Segoe UI"/>
              </a:rPr>
              <a:t>שהייצור</a:t>
            </a:r>
            <a:r>
              <a:rPr lang="en-US" sz="12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50" b="0" i="0" noProof="0" dirty="0" err="1">
                <a:solidFill>
                  <a:srgbClr val="0F1B24"/>
                </a:solidFill>
                <a:latin typeface="Segoe UI"/>
              </a:rPr>
              <a:t>דינמי</a:t>
            </a:r>
            <a:r>
              <a:rPr lang="en-US" sz="1250" b="0" i="0" noProof="0" dirty="0">
                <a:solidFill>
                  <a:srgbClr val="0F1B24"/>
                </a:solidFill>
                <a:latin typeface="Segoe UI"/>
              </a:rPr>
              <a:t>, </a:t>
            </a:r>
            <a:r>
              <a:rPr lang="en-US" sz="1250" b="0" i="0" noProof="0" dirty="0" err="1">
                <a:solidFill>
                  <a:srgbClr val="0F1B24"/>
                </a:solidFill>
                <a:latin typeface="Segoe UI"/>
              </a:rPr>
              <a:t>לקוחות</a:t>
            </a:r>
            <a:r>
              <a:rPr lang="en-US" sz="12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50" b="0" i="0" noProof="0" dirty="0" err="1">
                <a:solidFill>
                  <a:srgbClr val="0F1B24"/>
                </a:solidFill>
                <a:latin typeface="Segoe UI"/>
              </a:rPr>
              <a:t>מקבלים</a:t>
            </a:r>
            <a:r>
              <a:rPr lang="en-US" sz="12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50" b="0" i="0" noProof="0" dirty="0" err="1">
                <a:solidFill>
                  <a:srgbClr val="0F1B24"/>
                </a:solidFill>
                <a:latin typeface="Segoe UI"/>
              </a:rPr>
              <a:t>תמיד</a:t>
            </a:r>
            <a:r>
              <a:rPr lang="en-US" sz="1250" b="0" i="0" noProof="0" dirty="0">
                <a:solidFill>
                  <a:srgbClr val="0F1B24"/>
                </a:solidFill>
                <a:latin typeface="Segoe UI"/>
              </a:rPr>
              <a:t> את </a:t>
            </a:r>
            <a:r>
              <a:rPr lang="en-US" sz="1250" b="0" i="0" noProof="0" dirty="0" err="1">
                <a:solidFill>
                  <a:srgbClr val="0F1B24"/>
                </a:solidFill>
                <a:latin typeface="Segoe UI"/>
              </a:rPr>
              <a:t>התיאור</a:t>
            </a:r>
            <a:r>
              <a:rPr lang="en-US" sz="12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50" b="0" i="0" noProof="0" dirty="0" err="1">
                <a:solidFill>
                  <a:srgbClr val="0F1B24"/>
                </a:solidFill>
                <a:latin typeface="Segoe UI"/>
              </a:rPr>
              <a:t>המעודכן</a:t>
            </a:r>
            <a:r>
              <a:rPr lang="en-US" sz="12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50" b="0" i="0" noProof="0" dirty="0" err="1">
                <a:solidFill>
                  <a:srgbClr val="0F1B24"/>
                </a:solidFill>
                <a:latin typeface="Segoe UI"/>
              </a:rPr>
              <a:t>ביותר</a:t>
            </a:r>
            <a:r>
              <a:rPr lang="en-US" sz="12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50" b="0" i="0" noProof="0" dirty="0" err="1">
                <a:solidFill>
                  <a:srgbClr val="0F1B24"/>
                </a:solidFill>
                <a:latin typeface="Segoe UI"/>
              </a:rPr>
              <a:t>של</a:t>
            </a:r>
            <a:r>
              <a:rPr lang="en-US" sz="12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50" b="0" i="0" noProof="0" dirty="0" err="1">
                <a:solidFill>
                  <a:srgbClr val="0F1B24"/>
                </a:solidFill>
                <a:latin typeface="Segoe UI"/>
              </a:rPr>
              <a:t>השירות</a:t>
            </a:r>
            <a:r>
              <a:rPr lang="en-US" sz="12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50" b="0" i="0" noProof="0" dirty="0" err="1">
                <a:solidFill>
                  <a:srgbClr val="0F1B24"/>
                </a:solidFill>
                <a:latin typeface="Segoe UI"/>
              </a:rPr>
              <a:t>הפרוס</a:t>
            </a:r>
            <a:r>
              <a:rPr lang="en-US" sz="1250" b="0" i="0" noProof="0" dirty="0">
                <a:solidFill>
                  <a:srgbClr val="0F1B24"/>
                </a:solidFill>
                <a:latin typeface="Segoe UI"/>
              </a:rPr>
              <a:t>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760720" y="4096512"/>
            <a:ext cx="5870448" cy="603504"/>
          </a:xfrm>
          <a:prstGeom prst="roundRect">
            <a:avLst>
              <a:gd name="adj" fmla="val 4000"/>
            </a:avLst>
          </a:prstGeom>
          <a:solidFill>
            <a:srgbClr val="0B2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13" name="TextBox 12"/>
          <p:cNvSpPr txBox="1"/>
          <p:nvPr/>
        </p:nvSpPr>
        <p:spPr>
          <a:xfrm>
            <a:off x="5925312" y="4169663"/>
            <a:ext cx="5541264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/>
            <a:r>
              <a:rPr lang="en-US" sz="1100" b="1" i="0" noProof="0" dirty="0" err="1">
                <a:solidFill>
                  <a:srgbClr val="6FA8B8"/>
                </a:solidFill>
                <a:latin typeface="Segoe UI"/>
              </a:rPr>
              <a:t>כתובת</a:t>
            </a:r>
            <a:r>
              <a:rPr lang="en-US" sz="1100" b="1" i="0" noProof="0" dirty="0">
                <a:solidFill>
                  <a:srgbClr val="6FA8B8"/>
                </a:solidFill>
                <a:latin typeface="Segoe UI"/>
              </a:rPr>
              <a:t> </a:t>
            </a:r>
            <a:r>
              <a:rPr lang="en-US" sz="1100" b="1" i="0" noProof="0" dirty="0" err="1">
                <a:solidFill>
                  <a:srgbClr val="6FA8B8"/>
                </a:solidFill>
                <a:latin typeface="Segoe UI"/>
              </a:rPr>
              <a:t>החוזה</a:t>
            </a:r>
            <a:r>
              <a:rPr lang="en-US" sz="1100" b="1" i="0" noProof="0" dirty="0">
                <a:solidFill>
                  <a:srgbClr val="6FA8B8"/>
                </a:solidFill>
                <a:latin typeface="Segoe UI"/>
              </a:rPr>
              <a:t> — </a:t>
            </a:r>
            <a:r>
              <a:rPr lang="en-US" sz="1100" b="1" i="0" noProof="0" dirty="0" err="1">
                <a:solidFill>
                  <a:srgbClr val="6FA8B8"/>
                </a:solidFill>
                <a:latin typeface="Segoe UI"/>
              </a:rPr>
              <a:t>פשוט</a:t>
            </a:r>
            <a:r>
              <a:rPr lang="en-US" sz="1100" b="1" i="0" noProof="0" dirty="0">
                <a:solidFill>
                  <a:srgbClr val="6FA8B8"/>
                </a:solidFill>
                <a:latin typeface="Segoe UI"/>
              </a:rPr>
              <a:t> </a:t>
            </a:r>
            <a:r>
              <a:rPr lang="en-US" sz="1100" b="1" i="0" noProof="0" dirty="0" err="1">
                <a:solidFill>
                  <a:srgbClr val="6FA8B8"/>
                </a:solidFill>
                <a:latin typeface="Segoe UI"/>
              </a:rPr>
              <a:t>מוסיפים</a:t>
            </a:r>
            <a:r>
              <a:rPr lang="en-US" sz="1100" b="1" i="0" noProof="0" dirty="0">
                <a:solidFill>
                  <a:srgbClr val="6FA8B8"/>
                </a:solidFill>
                <a:latin typeface="Segoe UI"/>
              </a:rPr>
              <a:t> ‏‎?WSDL‏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25312" y="4389120"/>
            <a:ext cx="554126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rtl="0"/>
            <a:r>
              <a:rPr lang="en-US" sz="1000" b="0" i="0" noProof="0" dirty="0">
                <a:solidFill>
                  <a:srgbClr val="9FD1A0"/>
                </a:solidFill>
                <a:latin typeface="Consolas"/>
              </a:rPr>
              <a:t>http://localhost:8080/WelcomeSOAP/WelcomeSOAPService?WSDL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1700784"/>
            <a:ext cx="49834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/>
            <a:r>
              <a:rPr lang="en-US" sz="1300" b="1" i="0" noProof="0" dirty="0" err="1">
                <a:solidFill>
                  <a:srgbClr val="0D4A5C"/>
                </a:solidFill>
                <a:latin typeface="Segoe UI"/>
              </a:rPr>
              <a:t>חמשת</a:t>
            </a:r>
            <a:r>
              <a:rPr lang="en-US" sz="1300" b="1" i="0" noProof="0" dirty="0">
                <a:solidFill>
                  <a:srgbClr val="0D4A5C"/>
                </a:solidFill>
                <a:latin typeface="Segoe UI"/>
              </a:rPr>
              <a:t> </a:t>
            </a:r>
            <a:r>
              <a:rPr lang="en-US" sz="1300" b="1" i="0" noProof="0" dirty="0" err="1">
                <a:solidFill>
                  <a:srgbClr val="0D4A5C"/>
                </a:solidFill>
                <a:latin typeface="Segoe UI"/>
              </a:rPr>
              <a:t>חלקי</a:t>
            </a:r>
            <a:r>
              <a:rPr lang="en-US" sz="1300" b="1" i="0" noProof="0" dirty="0">
                <a:solidFill>
                  <a:srgbClr val="0D4A5C"/>
                </a:solidFill>
                <a:latin typeface="Segoe UI"/>
              </a:rPr>
              <a:t> </a:t>
            </a:r>
            <a:r>
              <a:rPr lang="en-US" sz="1300" b="1" i="0" noProof="0" dirty="0" err="1">
                <a:solidFill>
                  <a:srgbClr val="0D4A5C"/>
                </a:solidFill>
                <a:latin typeface="Segoe UI"/>
              </a:rPr>
              <a:t>המסמך</a:t>
            </a:r>
            <a:r>
              <a:rPr lang="en-US" sz="1300" b="1" i="0" noProof="0" dirty="0">
                <a:solidFill>
                  <a:srgbClr val="0D4A5C"/>
                </a:solidFill>
                <a:latin typeface="Segoe UI"/>
              </a:rPr>
              <a:t> — </a:t>
            </a:r>
            <a:r>
              <a:rPr lang="en-US" sz="1300" b="1" i="0" noProof="0" dirty="0" err="1">
                <a:solidFill>
                  <a:srgbClr val="0D4A5C"/>
                </a:solidFill>
                <a:latin typeface="Segoe UI"/>
              </a:rPr>
              <a:t>מהנתונים</a:t>
            </a:r>
            <a:r>
              <a:rPr lang="en-US" sz="1300" b="1" i="0" noProof="0" dirty="0">
                <a:solidFill>
                  <a:srgbClr val="0D4A5C"/>
                </a:solidFill>
                <a:latin typeface="Segoe UI"/>
              </a:rPr>
              <a:t> </a:t>
            </a:r>
            <a:r>
              <a:rPr lang="en-US" sz="1300" b="1" i="0" noProof="0" dirty="0" err="1">
                <a:solidFill>
                  <a:srgbClr val="0D4A5C"/>
                </a:solidFill>
                <a:latin typeface="Segoe UI"/>
              </a:rPr>
              <a:t>אל</a:t>
            </a:r>
            <a:r>
              <a:rPr lang="en-US" sz="1300" b="1" i="0" noProof="0" dirty="0">
                <a:solidFill>
                  <a:srgbClr val="0D4A5C"/>
                </a:solidFill>
                <a:latin typeface="Segoe UI"/>
              </a:rPr>
              <a:t> </a:t>
            </a:r>
            <a:r>
              <a:rPr lang="en-US" sz="1300" b="1" i="0" noProof="0" dirty="0" err="1">
                <a:solidFill>
                  <a:srgbClr val="0D4A5C"/>
                </a:solidFill>
                <a:latin typeface="Segoe UI"/>
              </a:rPr>
              <a:t>הכתובת</a:t>
            </a:r>
            <a:endParaRPr lang="en-US" sz="1300" b="1" i="0" noProof="0" dirty="0">
              <a:solidFill>
                <a:srgbClr val="0D4A5C"/>
              </a:solidFill>
              <a:latin typeface="Segoe UI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566928" y="2048256"/>
            <a:ext cx="4983480" cy="74980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0160">
            <a:solidFill>
              <a:srgbClr val="E3EA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23" name="Rectangle 22"/>
          <p:cNvSpPr/>
          <p:nvPr/>
        </p:nvSpPr>
        <p:spPr>
          <a:xfrm>
            <a:off x="5500116" y="2139696"/>
            <a:ext cx="50292" cy="566928"/>
          </a:xfrm>
          <a:prstGeom prst="rect">
            <a:avLst/>
          </a:prstGeom>
          <a:solidFill>
            <a:srgbClr val="0D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24" name="TextBox 23"/>
          <p:cNvSpPr txBox="1"/>
          <p:nvPr/>
        </p:nvSpPr>
        <p:spPr>
          <a:xfrm>
            <a:off x="749808" y="2157984"/>
            <a:ext cx="45720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0"/>
            <a:r>
              <a:rPr lang="en-US" sz="1150" b="1" i="0" noProof="0" dirty="0">
                <a:solidFill>
                  <a:srgbClr val="0D4A5C"/>
                </a:solidFill>
                <a:latin typeface="Consolas"/>
              </a:rPr>
              <a:t>types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8" y="2395728"/>
            <a:ext cx="45720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/>
            <a:r>
              <a:rPr lang="en-US" sz="1200" b="1" i="0" noProof="0" dirty="0" err="1">
                <a:solidFill>
                  <a:srgbClr val="0D4A5C"/>
                </a:solidFill>
                <a:latin typeface="Segoe UI"/>
              </a:rPr>
              <a:t>טיפוסי</a:t>
            </a:r>
            <a:r>
              <a:rPr lang="en-US" sz="1200" b="1" i="0" noProof="0" dirty="0">
                <a:solidFill>
                  <a:srgbClr val="0D4A5C"/>
                </a:solidFill>
                <a:latin typeface="Segoe UI"/>
              </a:rPr>
              <a:t> </a:t>
            </a:r>
            <a:r>
              <a:rPr lang="en-US" sz="1200" b="1" i="0" noProof="0" dirty="0" err="1">
                <a:solidFill>
                  <a:srgbClr val="0D4A5C"/>
                </a:solidFill>
                <a:latin typeface="Segoe UI"/>
              </a:rPr>
              <a:t>הנתונים</a:t>
            </a:r>
            <a:endParaRPr lang="en-US" sz="1200" b="1" i="0" noProof="0" dirty="0">
              <a:solidFill>
                <a:srgbClr val="0D4A5C"/>
              </a:solidFill>
              <a:latin typeface="Segoe UI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749808" y="2606040"/>
            <a:ext cx="45720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/>
            <a:r>
              <a:rPr lang="en-US" sz="1000" b="0" i="0" noProof="0" dirty="0" err="1">
                <a:solidFill>
                  <a:srgbClr val="5A6B75"/>
                </a:solidFill>
                <a:latin typeface="Segoe UI"/>
              </a:rPr>
              <a:t>סכימת</a:t>
            </a:r>
            <a:r>
              <a:rPr lang="en-US" sz="1000" b="0" i="0" noProof="0" dirty="0">
                <a:solidFill>
                  <a:srgbClr val="5A6B75"/>
                </a:solidFill>
                <a:latin typeface="Segoe UI"/>
              </a:rPr>
              <a:t> ‏XSD‏ </a:t>
            </a:r>
            <a:r>
              <a:rPr lang="en-US" sz="1000" b="0" i="0" noProof="0" dirty="0" err="1">
                <a:solidFill>
                  <a:srgbClr val="5A6B75"/>
                </a:solidFill>
                <a:latin typeface="Segoe UI"/>
              </a:rPr>
              <a:t>המגדירה</a:t>
            </a:r>
            <a:r>
              <a:rPr lang="en-US" sz="1000" b="0" i="0" noProof="0" dirty="0">
                <a:solidFill>
                  <a:srgbClr val="5A6B75"/>
                </a:solidFill>
                <a:latin typeface="Segoe UI"/>
              </a:rPr>
              <a:t> את </a:t>
            </a:r>
            <a:r>
              <a:rPr lang="en-US" sz="1000" b="0" i="0" noProof="0" dirty="0" err="1">
                <a:solidFill>
                  <a:srgbClr val="5A6B75"/>
                </a:solidFill>
                <a:latin typeface="Segoe UI"/>
              </a:rPr>
              <a:t>מבנה</a:t>
            </a:r>
            <a:r>
              <a:rPr lang="en-US" sz="100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000" b="0" i="0" noProof="0" dirty="0" err="1">
                <a:solidFill>
                  <a:srgbClr val="5A6B75"/>
                </a:solidFill>
                <a:latin typeface="Segoe UI"/>
              </a:rPr>
              <a:t>כל</a:t>
            </a:r>
            <a:r>
              <a:rPr lang="en-US" sz="100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000" b="0" i="0" noProof="0" dirty="0" err="1">
                <a:solidFill>
                  <a:srgbClr val="5A6B75"/>
                </a:solidFill>
                <a:latin typeface="Segoe UI"/>
              </a:rPr>
              <a:t>פרמטר</a:t>
            </a:r>
            <a:r>
              <a:rPr lang="en-US" sz="100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000" b="0" i="0" noProof="0" dirty="0" err="1">
                <a:solidFill>
                  <a:srgbClr val="5A6B75"/>
                </a:solidFill>
                <a:latin typeface="Segoe UI"/>
              </a:rPr>
              <a:t>וכל</a:t>
            </a:r>
            <a:r>
              <a:rPr lang="en-US" sz="100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000" b="0" i="0" noProof="0" dirty="0" err="1">
                <a:solidFill>
                  <a:srgbClr val="5A6B75"/>
                </a:solidFill>
                <a:latin typeface="Segoe UI"/>
              </a:rPr>
              <a:t>ערך</a:t>
            </a:r>
            <a:r>
              <a:rPr lang="en-US" sz="100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000" b="0" i="0" noProof="0" dirty="0" err="1">
                <a:solidFill>
                  <a:srgbClr val="5A6B75"/>
                </a:solidFill>
                <a:latin typeface="Segoe UI"/>
              </a:rPr>
              <a:t>מוחזר</a:t>
            </a:r>
            <a:endParaRPr lang="en-US" sz="1000" b="0" i="0" noProof="0" dirty="0">
              <a:solidFill>
                <a:srgbClr val="5A6B75"/>
              </a:solidFill>
              <a:latin typeface="Segoe UI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566928" y="2871216"/>
            <a:ext cx="4983480" cy="749808"/>
          </a:xfrm>
          <a:prstGeom prst="roundRect">
            <a:avLst>
              <a:gd name="adj" fmla="val 4000"/>
            </a:avLst>
          </a:prstGeom>
          <a:solidFill>
            <a:srgbClr val="F1F5F7"/>
          </a:solidFill>
          <a:ln w="10160">
            <a:solidFill>
              <a:srgbClr val="E3EA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28" name="Rectangle 27"/>
          <p:cNvSpPr/>
          <p:nvPr/>
        </p:nvSpPr>
        <p:spPr>
          <a:xfrm>
            <a:off x="5500116" y="2962656"/>
            <a:ext cx="50292" cy="566928"/>
          </a:xfrm>
          <a:prstGeom prst="rect">
            <a:avLst/>
          </a:prstGeom>
          <a:solidFill>
            <a:srgbClr val="0D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29" name="TextBox 28"/>
          <p:cNvSpPr txBox="1"/>
          <p:nvPr/>
        </p:nvSpPr>
        <p:spPr>
          <a:xfrm>
            <a:off x="749808" y="2980944"/>
            <a:ext cx="45720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0"/>
            <a:r>
              <a:rPr lang="en-US" sz="1150" b="1" i="0" noProof="0" dirty="0">
                <a:solidFill>
                  <a:srgbClr val="0D4A5C"/>
                </a:solidFill>
                <a:latin typeface="Consolas"/>
              </a:rPr>
              <a:t>message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8" y="3218688"/>
            <a:ext cx="45720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/>
            <a:r>
              <a:rPr lang="en-US" sz="1200" b="1" i="0" noProof="0" dirty="0" err="1">
                <a:solidFill>
                  <a:srgbClr val="0D4A5C"/>
                </a:solidFill>
                <a:latin typeface="Segoe UI"/>
              </a:rPr>
              <a:t>ההודעות</a:t>
            </a:r>
            <a:endParaRPr lang="en-US" sz="1200" b="1" i="0" noProof="0" dirty="0">
              <a:solidFill>
                <a:srgbClr val="0D4A5C"/>
              </a:solidFill>
              <a:latin typeface="Segoe UI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749808" y="3429000"/>
            <a:ext cx="45720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/>
            <a:r>
              <a:rPr lang="en-US" sz="1000" b="0" i="0" noProof="0" dirty="0" err="1">
                <a:solidFill>
                  <a:srgbClr val="5A6B75"/>
                </a:solidFill>
                <a:latin typeface="Segoe UI"/>
              </a:rPr>
              <a:t>אילו</a:t>
            </a:r>
            <a:r>
              <a:rPr lang="en-US" sz="100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000" b="0" i="0" noProof="0" dirty="0" err="1">
                <a:solidFill>
                  <a:srgbClr val="5A6B75"/>
                </a:solidFill>
                <a:latin typeface="Segoe UI"/>
              </a:rPr>
              <a:t>נתונים</a:t>
            </a:r>
            <a:r>
              <a:rPr lang="en-US" sz="100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000" b="0" i="0" noProof="0" dirty="0" err="1">
                <a:solidFill>
                  <a:srgbClr val="5A6B75"/>
                </a:solidFill>
                <a:latin typeface="Segoe UI"/>
              </a:rPr>
              <a:t>נשלחים</a:t>
            </a:r>
            <a:r>
              <a:rPr lang="en-US" sz="100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000" b="0" i="0" noProof="0" dirty="0" err="1">
                <a:solidFill>
                  <a:srgbClr val="5A6B75"/>
                </a:solidFill>
                <a:latin typeface="Segoe UI"/>
              </a:rPr>
              <a:t>בבקשה</a:t>
            </a:r>
            <a:r>
              <a:rPr lang="en-US" sz="100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000" b="0" i="0" noProof="0" dirty="0" err="1">
                <a:solidFill>
                  <a:srgbClr val="5A6B75"/>
                </a:solidFill>
                <a:latin typeface="Segoe UI"/>
              </a:rPr>
              <a:t>ואילו</a:t>
            </a:r>
            <a:r>
              <a:rPr lang="en-US" sz="100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000" b="0" i="0" noProof="0" dirty="0" err="1">
                <a:solidFill>
                  <a:srgbClr val="5A6B75"/>
                </a:solidFill>
                <a:latin typeface="Segoe UI"/>
              </a:rPr>
              <a:t>חוזרים</a:t>
            </a:r>
            <a:r>
              <a:rPr lang="en-US" sz="100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000" b="0" i="0" noProof="0" dirty="0" err="1">
                <a:solidFill>
                  <a:srgbClr val="5A6B75"/>
                </a:solidFill>
                <a:latin typeface="Segoe UI"/>
              </a:rPr>
              <a:t>בתשובה</a:t>
            </a:r>
            <a:endParaRPr lang="en-US" sz="1000" b="0" i="0" noProof="0" dirty="0">
              <a:solidFill>
                <a:srgbClr val="5A6B75"/>
              </a:solidFill>
              <a:latin typeface="Segoe UI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566928" y="3694176"/>
            <a:ext cx="4983480" cy="74980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0160">
            <a:solidFill>
              <a:srgbClr val="E3EA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33" name="Rectangle 32"/>
          <p:cNvSpPr/>
          <p:nvPr/>
        </p:nvSpPr>
        <p:spPr>
          <a:xfrm>
            <a:off x="5500116" y="3785615"/>
            <a:ext cx="50292" cy="566928"/>
          </a:xfrm>
          <a:prstGeom prst="rect">
            <a:avLst/>
          </a:prstGeom>
          <a:solidFill>
            <a:srgbClr val="C4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34" name="TextBox 33"/>
          <p:cNvSpPr txBox="1"/>
          <p:nvPr/>
        </p:nvSpPr>
        <p:spPr>
          <a:xfrm>
            <a:off x="749808" y="3803904"/>
            <a:ext cx="45720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0"/>
            <a:r>
              <a:rPr lang="en-US" sz="1150" b="1" i="0" noProof="0" dirty="0" err="1">
                <a:solidFill>
                  <a:srgbClr val="C4622D"/>
                </a:solidFill>
                <a:latin typeface="Consolas"/>
              </a:rPr>
              <a:t>portType</a:t>
            </a:r>
            <a:endParaRPr lang="en-US" sz="1150" b="1" i="0" noProof="0" dirty="0">
              <a:solidFill>
                <a:srgbClr val="C4622D"/>
              </a:solidFill>
              <a:latin typeface="Consolas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749808" y="4041648"/>
            <a:ext cx="45720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/>
            <a:r>
              <a:rPr lang="en-US" sz="1200" b="1" i="0" noProof="0" dirty="0" err="1">
                <a:solidFill>
                  <a:srgbClr val="0D4A5C"/>
                </a:solidFill>
                <a:latin typeface="Segoe UI"/>
              </a:rPr>
              <a:t>הממשק</a:t>
            </a:r>
            <a:r>
              <a:rPr lang="en-US" sz="1200" b="1" i="0" noProof="0" dirty="0">
                <a:solidFill>
                  <a:srgbClr val="0D4A5C"/>
                </a:solidFill>
                <a:latin typeface="Segoe UI"/>
              </a:rPr>
              <a:t> </a:t>
            </a:r>
            <a:r>
              <a:rPr lang="en-US" sz="1200" b="1" i="0" noProof="0" dirty="0" err="1">
                <a:solidFill>
                  <a:srgbClr val="0D4A5C"/>
                </a:solidFill>
                <a:latin typeface="Segoe UI"/>
              </a:rPr>
              <a:t>המופשט</a:t>
            </a:r>
            <a:endParaRPr lang="en-US" sz="1200" b="1" i="0" noProof="0" dirty="0">
              <a:solidFill>
                <a:srgbClr val="0D4A5C"/>
              </a:solidFill>
              <a:latin typeface="Segoe UI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749808" y="4251960"/>
            <a:ext cx="45720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/>
            <a:r>
              <a:rPr lang="en-US" sz="1000" b="0" i="0" noProof="0" dirty="0" err="1">
                <a:solidFill>
                  <a:srgbClr val="5A6B75"/>
                </a:solidFill>
                <a:latin typeface="Segoe UI"/>
              </a:rPr>
              <a:t>אוסף</a:t>
            </a:r>
            <a:r>
              <a:rPr lang="en-US" sz="100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000" b="0" i="0" noProof="0" dirty="0" err="1">
                <a:solidFill>
                  <a:srgbClr val="5A6B75"/>
                </a:solidFill>
                <a:latin typeface="Segoe UI"/>
              </a:rPr>
              <a:t>הפעולות</a:t>
            </a:r>
            <a:r>
              <a:rPr lang="en-US" sz="100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000" b="0" i="0" noProof="0" dirty="0" err="1">
                <a:solidFill>
                  <a:srgbClr val="5A6B75"/>
                </a:solidFill>
                <a:latin typeface="Segoe UI"/>
              </a:rPr>
              <a:t>שהשירות</a:t>
            </a:r>
            <a:r>
              <a:rPr lang="en-US" sz="100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000" b="0" i="0" noProof="0" dirty="0" err="1">
                <a:solidFill>
                  <a:srgbClr val="5A6B75"/>
                </a:solidFill>
                <a:latin typeface="Segoe UI"/>
              </a:rPr>
              <a:t>מציע</a:t>
            </a:r>
            <a:r>
              <a:rPr lang="en-US" sz="1000" b="0" i="0" noProof="0" dirty="0">
                <a:solidFill>
                  <a:srgbClr val="5A6B75"/>
                </a:solidFill>
                <a:latin typeface="Segoe UI"/>
              </a:rPr>
              <a:t> — </a:t>
            </a:r>
            <a:r>
              <a:rPr lang="en-US" sz="1000" b="0" i="0" noProof="0" dirty="0" err="1">
                <a:solidFill>
                  <a:srgbClr val="5A6B75"/>
                </a:solidFill>
                <a:latin typeface="Segoe UI"/>
              </a:rPr>
              <a:t>הלב</a:t>
            </a:r>
            <a:r>
              <a:rPr lang="en-US" sz="100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000" b="0" i="0" noProof="0" dirty="0" err="1">
                <a:solidFill>
                  <a:srgbClr val="5A6B75"/>
                </a:solidFill>
                <a:latin typeface="Segoe UI"/>
              </a:rPr>
              <a:t>של</a:t>
            </a:r>
            <a:r>
              <a:rPr lang="en-US" sz="100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000" b="0" i="0" noProof="0" dirty="0" err="1">
                <a:solidFill>
                  <a:srgbClr val="5A6B75"/>
                </a:solidFill>
                <a:latin typeface="Segoe UI"/>
              </a:rPr>
              <a:t>החוזה</a:t>
            </a:r>
            <a:endParaRPr lang="en-US" sz="1000" b="0" i="0" noProof="0" dirty="0">
              <a:solidFill>
                <a:srgbClr val="5A6B75"/>
              </a:solidFill>
              <a:latin typeface="Segoe UI"/>
            </a:endParaRPr>
          </a:p>
        </p:txBody>
      </p:sp>
      <p:sp>
        <p:nvSpPr>
          <p:cNvPr id="37" name="Rounded Rectangle 36"/>
          <p:cNvSpPr/>
          <p:nvPr/>
        </p:nvSpPr>
        <p:spPr>
          <a:xfrm>
            <a:off x="566928" y="4517136"/>
            <a:ext cx="4983480" cy="749808"/>
          </a:xfrm>
          <a:prstGeom prst="roundRect">
            <a:avLst>
              <a:gd name="adj" fmla="val 4000"/>
            </a:avLst>
          </a:prstGeom>
          <a:solidFill>
            <a:srgbClr val="F1F5F7"/>
          </a:solidFill>
          <a:ln w="10160">
            <a:solidFill>
              <a:srgbClr val="E3EA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38" name="Rectangle 37"/>
          <p:cNvSpPr/>
          <p:nvPr/>
        </p:nvSpPr>
        <p:spPr>
          <a:xfrm>
            <a:off x="5500116" y="4608576"/>
            <a:ext cx="50292" cy="566928"/>
          </a:xfrm>
          <a:prstGeom prst="rect">
            <a:avLst/>
          </a:prstGeom>
          <a:solidFill>
            <a:srgbClr val="0D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39" name="TextBox 38"/>
          <p:cNvSpPr txBox="1"/>
          <p:nvPr/>
        </p:nvSpPr>
        <p:spPr>
          <a:xfrm>
            <a:off x="749808" y="4626864"/>
            <a:ext cx="45720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0"/>
            <a:r>
              <a:rPr lang="en-US" sz="1150" b="1" i="0" noProof="0" dirty="0">
                <a:solidFill>
                  <a:srgbClr val="0D4A5C"/>
                </a:solidFill>
                <a:latin typeface="Consolas"/>
              </a:rPr>
              <a:t>binding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9808" y="4864608"/>
            <a:ext cx="45720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/>
            <a:r>
              <a:rPr lang="en-US" sz="1200" b="1" i="0" noProof="0" dirty="0" err="1">
                <a:solidFill>
                  <a:srgbClr val="0D4A5C"/>
                </a:solidFill>
                <a:latin typeface="Segoe UI"/>
              </a:rPr>
              <a:t>הקישור</a:t>
            </a:r>
            <a:r>
              <a:rPr lang="en-US" sz="1200" b="1" i="0" noProof="0" dirty="0">
                <a:solidFill>
                  <a:srgbClr val="0D4A5C"/>
                </a:solidFill>
                <a:latin typeface="Segoe UI"/>
              </a:rPr>
              <a:t> </a:t>
            </a:r>
            <a:r>
              <a:rPr lang="en-US" sz="1200" b="1" i="0" noProof="0" dirty="0" err="1">
                <a:solidFill>
                  <a:srgbClr val="0D4A5C"/>
                </a:solidFill>
                <a:latin typeface="Segoe UI"/>
              </a:rPr>
              <a:t>הקונקרטי</a:t>
            </a:r>
            <a:endParaRPr lang="en-US" sz="1200" b="1" i="0" noProof="0" dirty="0">
              <a:solidFill>
                <a:srgbClr val="0D4A5C"/>
              </a:solidFill>
              <a:latin typeface="Segoe UI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749808" y="5074920"/>
            <a:ext cx="45720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/>
            <a:r>
              <a:rPr lang="en-US" sz="1000" b="0" i="0" noProof="0" dirty="0" err="1">
                <a:solidFill>
                  <a:srgbClr val="5A6B75"/>
                </a:solidFill>
                <a:latin typeface="Segoe UI"/>
              </a:rPr>
              <a:t>באיזה</a:t>
            </a:r>
            <a:r>
              <a:rPr lang="en-US" sz="100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000" b="0" i="0" noProof="0" dirty="0" err="1">
                <a:solidFill>
                  <a:srgbClr val="5A6B75"/>
                </a:solidFill>
                <a:latin typeface="Segoe UI"/>
              </a:rPr>
              <a:t>פרוטוקול</a:t>
            </a:r>
            <a:r>
              <a:rPr lang="en-US" sz="100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000" b="0" i="0" noProof="0" dirty="0" err="1">
                <a:solidFill>
                  <a:srgbClr val="5A6B75"/>
                </a:solidFill>
                <a:latin typeface="Segoe UI"/>
              </a:rPr>
              <a:t>ובאיזה</a:t>
            </a:r>
            <a:r>
              <a:rPr lang="en-US" sz="100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000" b="0" i="0" noProof="0" dirty="0" err="1">
                <a:solidFill>
                  <a:srgbClr val="5A6B75"/>
                </a:solidFill>
                <a:latin typeface="Segoe UI"/>
              </a:rPr>
              <a:t>סגנון</a:t>
            </a:r>
            <a:r>
              <a:rPr lang="en-US" sz="100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000" b="0" i="0" noProof="0" dirty="0" err="1">
                <a:solidFill>
                  <a:srgbClr val="5A6B75"/>
                </a:solidFill>
                <a:latin typeface="Segoe UI"/>
              </a:rPr>
              <a:t>ההודעות</a:t>
            </a:r>
            <a:r>
              <a:rPr lang="en-US" sz="100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000" b="0" i="0" noProof="0" dirty="0" err="1">
                <a:solidFill>
                  <a:srgbClr val="5A6B75"/>
                </a:solidFill>
                <a:latin typeface="Segoe UI"/>
              </a:rPr>
              <a:t>עוברות</a:t>
            </a:r>
            <a:endParaRPr lang="en-US" sz="1000" b="0" i="0" noProof="0" dirty="0">
              <a:solidFill>
                <a:srgbClr val="5A6B75"/>
              </a:solidFill>
              <a:latin typeface="Segoe UI"/>
            </a:endParaRPr>
          </a:p>
        </p:txBody>
      </p:sp>
      <p:sp>
        <p:nvSpPr>
          <p:cNvPr id="42" name="Rounded Rectangle 41"/>
          <p:cNvSpPr/>
          <p:nvPr/>
        </p:nvSpPr>
        <p:spPr>
          <a:xfrm>
            <a:off x="566928" y="5340096"/>
            <a:ext cx="4983480" cy="74980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0160">
            <a:solidFill>
              <a:srgbClr val="E3EA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43" name="Rectangle 42"/>
          <p:cNvSpPr/>
          <p:nvPr/>
        </p:nvSpPr>
        <p:spPr>
          <a:xfrm>
            <a:off x="5500116" y="5431536"/>
            <a:ext cx="50292" cy="566928"/>
          </a:xfrm>
          <a:prstGeom prst="rect">
            <a:avLst/>
          </a:prstGeom>
          <a:solidFill>
            <a:srgbClr val="C4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44" name="TextBox 43"/>
          <p:cNvSpPr txBox="1"/>
          <p:nvPr/>
        </p:nvSpPr>
        <p:spPr>
          <a:xfrm>
            <a:off x="749808" y="5449824"/>
            <a:ext cx="45720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0"/>
            <a:r>
              <a:rPr lang="en-US" sz="1150" b="1" i="0" noProof="0" dirty="0">
                <a:solidFill>
                  <a:srgbClr val="C4622D"/>
                </a:solidFill>
                <a:latin typeface="Consolas"/>
              </a:rPr>
              <a:t>service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49808" y="5687568"/>
            <a:ext cx="45720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/>
            <a:r>
              <a:rPr lang="en-US" sz="1200" b="1" i="0" noProof="0" dirty="0" err="1">
                <a:solidFill>
                  <a:srgbClr val="0D4A5C"/>
                </a:solidFill>
                <a:latin typeface="Segoe UI"/>
              </a:rPr>
              <a:t>נקודת</a:t>
            </a:r>
            <a:r>
              <a:rPr lang="en-US" sz="1200" b="1" i="0" noProof="0" dirty="0">
                <a:solidFill>
                  <a:srgbClr val="0D4A5C"/>
                </a:solidFill>
                <a:latin typeface="Segoe UI"/>
              </a:rPr>
              <a:t> </a:t>
            </a:r>
            <a:r>
              <a:rPr lang="en-US" sz="1200" b="1" i="0" noProof="0" dirty="0" err="1">
                <a:solidFill>
                  <a:srgbClr val="0D4A5C"/>
                </a:solidFill>
                <a:latin typeface="Segoe UI"/>
              </a:rPr>
              <a:t>הקצה</a:t>
            </a:r>
            <a:endParaRPr lang="en-US" sz="1200" b="1" i="0" noProof="0" dirty="0">
              <a:solidFill>
                <a:srgbClr val="0D4A5C"/>
              </a:solidFill>
              <a:latin typeface="Segoe UI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749808" y="5897880"/>
            <a:ext cx="45720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/>
            <a:r>
              <a:rPr lang="en-US" sz="1000" b="0" i="0" noProof="0" dirty="0" err="1">
                <a:solidFill>
                  <a:srgbClr val="5A6B75"/>
                </a:solidFill>
                <a:latin typeface="Segoe UI"/>
              </a:rPr>
              <a:t>הכתובת</a:t>
            </a:r>
            <a:r>
              <a:rPr lang="en-US" sz="100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000" b="0" i="0" noProof="0" dirty="0" err="1">
                <a:solidFill>
                  <a:srgbClr val="5A6B75"/>
                </a:solidFill>
                <a:latin typeface="Segoe UI"/>
              </a:rPr>
              <a:t>בפועל</a:t>
            </a:r>
            <a:r>
              <a:rPr lang="en-US" sz="100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000" b="0" i="0" noProof="0" dirty="0" err="1">
                <a:solidFill>
                  <a:srgbClr val="5A6B75"/>
                </a:solidFill>
                <a:latin typeface="Segoe UI"/>
              </a:rPr>
              <a:t>שאליה</a:t>
            </a:r>
            <a:r>
              <a:rPr lang="en-US" sz="100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000" b="0" i="0" noProof="0" dirty="0" err="1">
                <a:solidFill>
                  <a:srgbClr val="5A6B75"/>
                </a:solidFill>
                <a:latin typeface="Segoe UI"/>
              </a:rPr>
              <a:t>הלקוח</a:t>
            </a:r>
            <a:r>
              <a:rPr lang="en-US" sz="100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000" b="0" i="0" noProof="0" dirty="0" err="1">
                <a:solidFill>
                  <a:srgbClr val="5A6B75"/>
                </a:solidFill>
                <a:latin typeface="Segoe UI"/>
              </a:rPr>
              <a:t>שולח</a:t>
            </a:r>
            <a:r>
              <a:rPr lang="en-US" sz="1000" b="0" i="0" noProof="0" dirty="0">
                <a:solidFill>
                  <a:srgbClr val="5A6B75"/>
                </a:solidFill>
                <a:latin typeface="Segoe UI"/>
              </a:rPr>
              <a:t> את </a:t>
            </a:r>
            <a:r>
              <a:rPr lang="en-US" sz="1000" b="0" i="0" noProof="0" dirty="0" err="1">
                <a:solidFill>
                  <a:srgbClr val="5A6B75"/>
                </a:solidFill>
                <a:latin typeface="Segoe UI"/>
              </a:rPr>
              <a:t>ההודעה</a:t>
            </a:r>
            <a:endParaRPr lang="en-US" sz="1000" b="0" i="0" noProof="0" dirty="0">
              <a:solidFill>
                <a:srgbClr val="5A6B75"/>
              </a:solidFill>
              <a:latin typeface="Segoe U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432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91440"/>
          </a:xfrm>
          <a:prstGeom prst="rect">
            <a:avLst/>
          </a:prstGeom>
          <a:solidFill>
            <a:srgbClr val="0D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5" name="TextBox 4"/>
          <p:cNvSpPr txBox="1"/>
          <p:nvPr/>
        </p:nvSpPr>
        <p:spPr>
          <a:xfrm>
            <a:off x="566928" y="548640"/>
            <a:ext cx="1106424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/>
            <a:r>
              <a:rPr lang="en-US" sz="2800" b="1" i="0" noProof="0" dirty="0">
                <a:solidFill>
                  <a:srgbClr val="0D4A5C"/>
                </a:solidFill>
                <a:latin typeface="Segoe UI"/>
              </a:rPr>
              <a:t>‏JAX-WS‏ — </a:t>
            </a:r>
            <a:r>
              <a:rPr lang="en-US" sz="2800" b="1" i="0" noProof="0" dirty="0" err="1">
                <a:solidFill>
                  <a:srgbClr val="0D4A5C"/>
                </a:solidFill>
                <a:latin typeface="Segoe UI"/>
              </a:rPr>
              <a:t>צד</a:t>
            </a:r>
            <a:r>
              <a:rPr lang="en-US" sz="2800" b="1" i="0" noProof="0" dirty="0">
                <a:solidFill>
                  <a:srgbClr val="0D4A5C"/>
                </a:solidFill>
                <a:latin typeface="Segoe UI"/>
              </a:rPr>
              <a:t> </a:t>
            </a:r>
            <a:r>
              <a:rPr lang="en-US" sz="2800" b="1" i="0" noProof="0" dirty="0" err="1">
                <a:solidFill>
                  <a:srgbClr val="0D4A5C"/>
                </a:solidFill>
                <a:latin typeface="Segoe UI"/>
              </a:rPr>
              <a:t>השרת</a:t>
            </a:r>
            <a:endParaRPr lang="en-US" sz="2800" b="1" i="0" noProof="0" dirty="0">
              <a:solidFill>
                <a:srgbClr val="0D4A5C"/>
              </a:solidFill>
              <a:latin typeface="Segoe U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104887" y="1097280"/>
            <a:ext cx="4526281" cy="11156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/>
            <a:r>
              <a:rPr lang="en-US" sz="145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450" dirty="0">
                <a:latin typeface="Segoe UI"/>
              </a:rPr>
              <a:t>JAX-WS (</a:t>
            </a:r>
            <a:r>
              <a:rPr lang="en-US" sz="1450" b="0" i="0" noProof="0" dirty="0">
                <a:latin typeface="Segoe UI"/>
              </a:rPr>
              <a:t>Java API for XML Web Services)</a:t>
            </a:r>
            <a:endParaRPr lang="he-IL" sz="1450" dirty="0">
              <a:latin typeface="Segoe UI"/>
            </a:endParaRPr>
          </a:p>
          <a:p>
            <a:pPr algn="r" rtl="1"/>
            <a:r>
              <a:rPr lang="en-US" sz="1450" b="0" i="0" noProof="0" dirty="0">
                <a:latin typeface="Segoe UI"/>
              </a:rPr>
              <a:t>‎ ‏</a:t>
            </a:r>
            <a:r>
              <a:rPr lang="he-IL" sz="1450" b="0" i="0" noProof="0" dirty="0">
                <a:latin typeface="Segoe UI"/>
              </a:rPr>
              <a:t>מחלקת שירות ב-‏</a:t>
            </a:r>
            <a:r>
              <a:rPr lang="en-US" sz="1450" b="0" i="0" noProof="0" dirty="0">
                <a:latin typeface="Segoe UI"/>
              </a:rPr>
              <a:t>JAX-WS‏ </a:t>
            </a:r>
            <a:r>
              <a:rPr lang="he-IL" sz="1450" b="0" i="0" noProof="0" dirty="0">
                <a:latin typeface="Segoe UI"/>
              </a:rPr>
              <a:t>היא אובייקט ‏</a:t>
            </a:r>
            <a:r>
              <a:rPr lang="en-US" sz="1450" b="0" i="0" noProof="0" dirty="0">
                <a:latin typeface="Segoe UI"/>
              </a:rPr>
              <a:t>Java‏ </a:t>
            </a:r>
            <a:r>
              <a:rPr lang="he-IL" sz="1450" b="0" i="0" noProof="0" dirty="0">
                <a:latin typeface="Segoe UI"/>
              </a:rPr>
              <a:t>רגיל — </a:t>
            </a:r>
            <a:r>
              <a:rPr lang="en-US" sz="1450" b="0" i="0" noProof="0" dirty="0">
                <a:latin typeface="Segoe UI"/>
              </a:rPr>
              <a:t>‏POJO‏.</a:t>
            </a:r>
            <a:endParaRPr lang="he-IL" sz="1450" noProof="0" dirty="0">
              <a:latin typeface="Segoe UI"/>
            </a:endParaRPr>
          </a:p>
          <a:p>
            <a:pPr algn="r" rtl="1"/>
            <a:r>
              <a:rPr lang="he-IL" sz="1450" b="0" i="0" noProof="0" dirty="0">
                <a:latin typeface="Segoe UI"/>
              </a:rPr>
              <a:t>אין צורך לרשת ממחלקה או לממש ממשק כלשהו.</a:t>
            </a:r>
          </a:p>
          <a:p>
            <a:pPr algn="r" rtl="1"/>
            <a:r>
              <a:rPr lang="en-US" sz="1450" b="0" i="0" noProof="0" dirty="0">
                <a:latin typeface="Segoe UI"/>
              </a:rPr>
              <a:t>JAX-WS</a:t>
            </a:r>
            <a:r>
              <a:rPr lang="he-IL" sz="1450" b="0" i="0" noProof="0" dirty="0">
                <a:latin typeface="Segoe UI"/>
              </a:rPr>
              <a:t> מאפשר להפוך מחלקת </a:t>
            </a:r>
            <a:r>
              <a:rPr lang="en-US" sz="1450" b="0" i="0" noProof="0" dirty="0">
                <a:latin typeface="Segoe UI"/>
              </a:rPr>
              <a:t>Java</a:t>
            </a:r>
            <a:r>
              <a:rPr lang="he-IL" sz="1450" b="0" i="0" noProof="0" dirty="0">
                <a:latin typeface="Segoe UI"/>
              </a:rPr>
              <a:t> רגילה לשירות </a:t>
            </a:r>
            <a:r>
              <a:rPr lang="en-US" sz="1450" b="0" i="0" noProof="0" dirty="0">
                <a:latin typeface="Segoe UI"/>
              </a:rPr>
              <a:t>SOAP</a:t>
            </a:r>
            <a:r>
              <a:rPr lang="he-IL" sz="1450" b="0" i="0" noProof="0" dirty="0">
                <a:latin typeface="Segoe UI"/>
              </a:rPr>
              <a:t> באמצעות אנוטציות בלבד.</a:t>
            </a:r>
            <a:endParaRPr lang="he-IL" sz="1450" b="0" i="0" noProof="0" dirty="0">
              <a:latin typeface="Segoe UI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1026066" y="464516"/>
            <a:ext cx="605102" cy="75827"/>
          </a:xfrm>
          <a:prstGeom prst="rect">
            <a:avLst/>
          </a:prstGeom>
          <a:solidFill>
            <a:srgbClr val="C4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11" name="Rounded Rectangle 10"/>
          <p:cNvSpPr/>
          <p:nvPr/>
        </p:nvSpPr>
        <p:spPr>
          <a:xfrm>
            <a:off x="566928" y="1700784"/>
            <a:ext cx="6355080" cy="4123944"/>
          </a:xfrm>
          <a:prstGeom prst="roundRect">
            <a:avLst>
              <a:gd name="adj" fmla="val 3500"/>
            </a:avLst>
          </a:prstGeom>
          <a:solidFill>
            <a:srgbClr val="0B2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12" name="Rounded Rectangle 11"/>
          <p:cNvSpPr/>
          <p:nvPr/>
        </p:nvSpPr>
        <p:spPr>
          <a:xfrm>
            <a:off x="566928" y="1700784"/>
            <a:ext cx="6355080" cy="274320"/>
          </a:xfrm>
          <a:prstGeom prst="roundRect">
            <a:avLst>
              <a:gd name="adj" fmla="val 9000"/>
            </a:avLst>
          </a:prstGeom>
          <a:solidFill>
            <a:srgbClr val="1139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13" name="Rectangle 12"/>
          <p:cNvSpPr/>
          <p:nvPr/>
        </p:nvSpPr>
        <p:spPr>
          <a:xfrm>
            <a:off x="566928" y="1865376"/>
            <a:ext cx="6355080" cy="109728"/>
          </a:xfrm>
          <a:prstGeom prst="rect">
            <a:avLst/>
          </a:prstGeom>
          <a:solidFill>
            <a:srgbClr val="1139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14" name="TextBox 13"/>
          <p:cNvSpPr txBox="1"/>
          <p:nvPr/>
        </p:nvSpPr>
        <p:spPr>
          <a:xfrm>
            <a:off x="713232" y="1751076"/>
            <a:ext cx="56235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rtl="0"/>
            <a:r>
              <a:rPr lang="en-US" sz="950" b="1" i="0" noProof="0" dirty="0">
                <a:solidFill>
                  <a:srgbClr val="6FA8B8"/>
                </a:solidFill>
                <a:latin typeface="Consolas"/>
              </a:rPr>
              <a:t>WelcomeSOAP.java  —  Deitel, Fig. 32.1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19672" y="1805940"/>
            <a:ext cx="256032" cy="68580"/>
          </a:xfrm>
          <a:prstGeom prst="roundRect">
            <a:avLst>
              <a:gd name="adj" fmla="val 50000"/>
            </a:avLst>
          </a:prstGeom>
          <a:solidFill>
            <a:srgbClr val="C4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16" name="TextBox 15"/>
          <p:cNvSpPr txBox="1"/>
          <p:nvPr/>
        </p:nvSpPr>
        <p:spPr>
          <a:xfrm>
            <a:off x="560831" y="2093976"/>
            <a:ext cx="6355079" cy="36895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rtl="0">
              <a:lnSpc>
                <a:spcPts val="1655"/>
              </a:lnSpc>
            </a:pPr>
            <a:r>
              <a:rPr lang="en-US" sz="1150" b="0" noProof="0" dirty="0">
                <a:solidFill>
                  <a:srgbClr val="7FC7DE"/>
                </a:solidFill>
                <a:latin typeface="Consolas"/>
              </a:rPr>
              <a:t>package</a:t>
            </a:r>
            <a:r>
              <a:rPr lang="en-US" sz="1150" b="0" noProof="0" dirty="0">
                <a:solidFill>
                  <a:srgbClr val="DCE8ED"/>
                </a:solidFill>
                <a:latin typeface="Consolas"/>
              </a:rPr>
              <a:t> </a:t>
            </a:r>
            <a:r>
              <a:rPr lang="en-US" sz="1150" b="0" noProof="0" dirty="0" err="1">
                <a:solidFill>
                  <a:srgbClr val="DCE8ED"/>
                </a:solidFill>
                <a:latin typeface="Consolas"/>
              </a:rPr>
              <a:t>com.deitel.welcomesoap</a:t>
            </a:r>
            <a:r>
              <a:rPr lang="en-US" sz="1150" b="0" noProof="0" dirty="0">
                <a:solidFill>
                  <a:srgbClr val="DCE8ED"/>
                </a:solidFill>
                <a:latin typeface="Consolas"/>
              </a:rPr>
              <a:t>;</a:t>
            </a:r>
          </a:p>
          <a:p>
            <a:pPr algn="l" rtl="0">
              <a:lnSpc>
                <a:spcPts val="1655"/>
              </a:lnSpc>
            </a:pPr>
            <a:r>
              <a:rPr lang="en-US" sz="1150" noProof="0" dirty="0">
                <a:latin typeface="Consolas"/>
              </a:rPr>
              <a:t> </a:t>
            </a:r>
          </a:p>
          <a:p>
            <a:pPr algn="l" rtl="0">
              <a:lnSpc>
                <a:spcPts val="1655"/>
              </a:lnSpc>
            </a:pPr>
            <a:r>
              <a:rPr lang="en-US" sz="1150" b="0" noProof="0" dirty="0">
                <a:solidFill>
                  <a:srgbClr val="7FC7DE"/>
                </a:solidFill>
                <a:latin typeface="Consolas"/>
              </a:rPr>
              <a:t>import</a:t>
            </a:r>
            <a:r>
              <a:rPr lang="en-US" sz="1150" b="0" noProof="0" dirty="0">
                <a:solidFill>
                  <a:srgbClr val="DCE8ED"/>
                </a:solidFill>
                <a:latin typeface="Consolas"/>
              </a:rPr>
              <a:t> </a:t>
            </a:r>
            <a:r>
              <a:rPr lang="en-US" sz="1150" b="0" noProof="0" dirty="0" err="1">
                <a:solidFill>
                  <a:srgbClr val="DCE8ED"/>
                </a:solidFill>
                <a:latin typeface="Consolas"/>
              </a:rPr>
              <a:t>javax.jws.</a:t>
            </a:r>
            <a:r>
              <a:rPr lang="en-US" sz="1150" b="0" noProof="0" dirty="0" err="1">
                <a:solidFill>
                  <a:srgbClr val="C9B6E8"/>
                </a:solidFill>
                <a:latin typeface="Consolas"/>
              </a:rPr>
              <a:t>WebService</a:t>
            </a:r>
            <a:r>
              <a:rPr lang="en-US" sz="1150" b="0" noProof="0" dirty="0">
                <a:solidFill>
                  <a:srgbClr val="DCE8ED"/>
                </a:solidFill>
                <a:latin typeface="Consolas"/>
              </a:rPr>
              <a:t>;   </a:t>
            </a:r>
            <a:r>
              <a:rPr lang="en-US" sz="1150" b="0" noProof="0" dirty="0">
                <a:solidFill>
                  <a:srgbClr val="6F8894"/>
                </a:solidFill>
                <a:latin typeface="Consolas"/>
              </a:rPr>
              <a:t>// </a:t>
            </a:r>
            <a:r>
              <a:rPr lang="en-US" sz="1150" b="0" noProof="0" dirty="0" err="1">
                <a:solidFill>
                  <a:srgbClr val="6F8894"/>
                </a:solidFill>
                <a:latin typeface="Consolas"/>
              </a:rPr>
              <a:t>מסמן</a:t>
            </a:r>
            <a:r>
              <a:rPr lang="en-US" sz="1150" b="0" noProof="0" dirty="0">
                <a:solidFill>
                  <a:srgbClr val="6F8894"/>
                </a:solidFill>
                <a:latin typeface="Consolas"/>
              </a:rPr>
              <a:t> </a:t>
            </a:r>
            <a:r>
              <a:rPr lang="en-US" sz="1150" b="0" noProof="0" dirty="0" err="1">
                <a:solidFill>
                  <a:srgbClr val="6F8894"/>
                </a:solidFill>
                <a:latin typeface="Consolas"/>
              </a:rPr>
              <a:t>מחלקה</a:t>
            </a:r>
            <a:r>
              <a:rPr lang="en-US" sz="1150" b="0" noProof="0" dirty="0">
                <a:solidFill>
                  <a:srgbClr val="6F8894"/>
                </a:solidFill>
                <a:latin typeface="Consolas"/>
              </a:rPr>
              <a:t> </a:t>
            </a:r>
            <a:r>
              <a:rPr lang="en-US" sz="1150" b="0" noProof="0" dirty="0" err="1">
                <a:solidFill>
                  <a:srgbClr val="6F8894"/>
                </a:solidFill>
                <a:latin typeface="Consolas"/>
              </a:rPr>
              <a:t>כשירות</a:t>
            </a:r>
            <a:endParaRPr lang="en-US" sz="1150" b="0" noProof="0" dirty="0">
              <a:solidFill>
                <a:srgbClr val="6F8894"/>
              </a:solidFill>
              <a:latin typeface="Consolas"/>
            </a:endParaRPr>
          </a:p>
          <a:p>
            <a:pPr algn="l" rtl="0">
              <a:lnSpc>
                <a:spcPts val="1655"/>
              </a:lnSpc>
            </a:pPr>
            <a:r>
              <a:rPr lang="en-US" sz="1150" b="0" noProof="0" dirty="0">
                <a:solidFill>
                  <a:srgbClr val="7FC7DE"/>
                </a:solidFill>
                <a:latin typeface="Consolas"/>
              </a:rPr>
              <a:t>import</a:t>
            </a:r>
            <a:r>
              <a:rPr lang="en-US" sz="1150" b="0" noProof="0" dirty="0">
                <a:solidFill>
                  <a:srgbClr val="DCE8ED"/>
                </a:solidFill>
                <a:latin typeface="Consolas"/>
              </a:rPr>
              <a:t> </a:t>
            </a:r>
            <a:r>
              <a:rPr lang="en-US" sz="1150" b="0" noProof="0" dirty="0" err="1">
                <a:solidFill>
                  <a:srgbClr val="DCE8ED"/>
                </a:solidFill>
                <a:latin typeface="Consolas"/>
              </a:rPr>
              <a:t>javax.jws.</a:t>
            </a:r>
            <a:r>
              <a:rPr lang="en-US" sz="1150" b="0" noProof="0" dirty="0" err="1">
                <a:solidFill>
                  <a:srgbClr val="C9B6E8"/>
                </a:solidFill>
                <a:latin typeface="Consolas"/>
              </a:rPr>
              <a:t>WebMethod</a:t>
            </a:r>
            <a:r>
              <a:rPr lang="en-US" sz="1150" b="0" noProof="0" dirty="0">
                <a:solidFill>
                  <a:srgbClr val="DCE8ED"/>
                </a:solidFill>
                <a:latin typeface="Consolas"/>
              </a:rPr>
              <a:t>;    </a:t>
            </a:r>
            <a:r>
              <a:rPr lang="en-US" sz="1150" b="0" noProof="0" dirty="0">
                <a:solidFill>
                  <a:srgbClr val="6F8894"/>
                </a:solidFill>
                <a:latin typeface="Consolas"/>
              </a:rPr>
              <a:t>// </a:t>
            </a:r>
            <a:r>
              <a:rPr lang="en-US" sz="1150" b="0" noProof="0" dirty="0" err="1">
                <a:solidFill>
                  <a:srgbClr val="6F8894"/>
                </a:solidFill>
                <a:latin typeface="Consolas"/>
              </a:rPr>
              <a:t>מסמן</a:t>
            </a:r>
            <a:r>
              <a:rPr lang="en-US" sz="1150" b="0" noProof="0" dirty="0">
                <a:solidFill>
                  <a:srgbClr val="6F8894"/>
                </a:solidFill>
                <a:latin typeface="Consolas"/>
              </a:rPr>
              <a:t> </a:t>
            </a:r>
            <a:r>
              <a:rPr lang="en-US" sz="1150" b="0" noProof="0" dirty="0" err="1">
                <a:solidFill>
                  <a:srgbClr val="6F8894"/>
                </a:solidFill>
                <a:latin typeface="Consolas"/>
              </a:rPr>
              <a:t>מתודה</a:t>
            </a:r>
            <a:r>
              <a:rPr lang="en-US" sz="1150" b="0" noProof="0" dirty="0">
                <a:solidFill>
                  <a:srgbClr val="6F8894"/>
                </a:solidFill>
                <a:latin typeface="Consolas"/>
              </a:rPr>
              <a:t> </a:t>
            </a:r>
            <a:r>
              <a:rPr lang="en-US" sz="1150" b="0" noProof="0" dirty="0" err="1">
                <a:solidFill>
                  <a:srgbClr val="6F8894"/>
                </a:solidFill>
                <a:latin typeface="Consolas"/>
              </a:rPr>
              <a:t>חשופה</a:t>
            </a:r>
            <a:endParaRPr lang="en-US" sz="1150" b="0" noProof="0" dirty="0">
              <a:solidFill>
                <a:srgbClr val="6F8894"/>
              </a:solidFill>
              <a:latin typeface="Consolas"/>
            </a:endParaRPr>
          </a:p>
          <a:p>
            <a:pPr algn="l" rtl="0">
              <a:lnSpc>
                <a:spcPts val="1655"/>
              </a:lnSpc>
            </a:pPr>
            <a:r>
              <a:rPr lang="en-US" sz="1150" b="0" noProof="0" dirty="0">
                <a:solidFill>
                  <a:srgbClr val="7FC7DE"/>
                </a:solidFill>
                <a:latin typeface="Consolas"/>
              </a:rPr>
              <a:t>import</a:t>
            </a:r>
            <a:r>
              <a:rPr lang="en-US" sz="1150" b="0" noProof="0" dirty="0">
                <a:solidFill>
                  <a:srgbClr val="DCE8ED"/>
                </a:solidFill>
                <a:latin typeface="Consolas"/>
              </a:rPr>
              <a:t> </a:t>
            </a:r>
            <a:r>
              <a:rPr lang="en-US" sz="1150" b="0" noProof="0" dirty="0" err="1">
                <a:solidFill>
                  <a:srgbClr val="DCE8ED"/>
                </a:solidFill>
                <a:latin typeface="Consolas"/>
              </a:rPr>
              <a:t>javax.jws.</a:t>
            </a:r>
            <a:r>
              <a:rPr lang="en-US" sz="1150" b="0" noProof="0" dirty="0" err="1">
                <a:solidFill>
                  <a:srgbClr val="C9B6E8"/>
                </a:solidFill>
                <a:latin typeface="Consolas"/>
              </a:rPr>
              <a:t>WebParam</a:t>
            </a:r>
            <a:r>
              <a:rPr lang="en-US" sz="1150" b="0" noProof="0" dirty="0">
                <a:solidFill>
                  <a:srgbClr val="DCE8ED"/>
                </a:solidFill>
                <a:latin typeface="Consolas"/>
              </a:rPr>
              <a:t>;     </a:t>
            </a:r>
            <a:r>
              <a:rPr lang="en-US" sz="1150" b="0" noProof="0" dirty="0">
                <a:solidFill>
                  <a:srgbClr val="6F8894"/>
                </a:solidFill>
                <a:latin typeface="Consolas"/>
              </a:rPr>
              <a:t>// שם הפרמטר </a:t>
            </a:r>
            <a:r>
              <a:rPr lang="en-US" sz="1150" b="0" noProof="0" dirty="0" err="1">
                <a:solidFill>
                  <a:srgbClr val="6F8894"/>
                </a:solidFill>
                <a:latin typeface="Consolas"/>
              </a:rPr>
              <a:t>בחוזה</a:t>
            </a:r>
            <a:endParaRPr lang="en-US" sz="1150" b="0" noProof="0" dirty="0">
              <a:solidFill>
                <a:srgbClr val="6F8894"/>
              </a:solidFill>
              <a:latin typeface="Consolas"/>
            </a:endParaRPr>
          </a:p>
          <a:p>
            <a:pPr algn="l" rtl="0">
              <a:lnSpc>
                <a:spcPts val="1655"/>
              </a:lnSpc>
            </a:pPr>
            <a:r>
              <a:rPr lang="en-US" sz="1150" noProof="0" dirty="0">
                <a:latin typeface="Consolas"/>
              </a:rPr>
              <a:t> </a:t>
            </a:r>
          </a:p>
          <a:p>
            <a:pPr algn="l" rtl="0">
              <a:lnSpc>
                <a:spcPts val="1655"/>
              </a:lnSpc>
            </a:pPr>
            <a:r>
              <a:rPr lang="en-US" sz="1150" b="1" noProof="0" dirty="0">
                <a:solidFill>
                  <a:srgbClr val="F0A06A"/>
                </a:solidFill>
                <a:latin typeface="Consolas"/>
              </a:rPr>
              <a:t>@WebService</a:t>
            </a:r>
            <a:r>
              <a:rPr lang="en-US" sz="1150" b="0" noProof="0" dirty="0">
                <a:solidFill>
                  <a:srgbClr val="DCE8ED"/>
                </a:solidFill>
                <a:latin typeface="Consolas"/>
              </a:rPr>
              <a:t>()</a:t>
            </a:r>
          </a:p>
          <a:p>
            <a:pPr algn="l" rtl="0">
              <a:lnSpc>
                <a:spcPts val="1655"/>
              </a:lnSpc>
            </a:pPr>
            <a:r>
              <a:rPr lang="en-US" sz="1150" b="0" noProof="0" dirty="0">
                <a:solidFill>
                  <a:srgbClr val="7FC7DE"/>
                </a:solidFill>
                <a:latin typeface="Consolas"/>
              </a:rPr>
              <a:t>public</a:t>
            </a:r>
            <a:r>
              <a:rPr lang="en-US" sz="1150" b="0" noProof="0" dirty="0">
                <a:solidFill>
                  <a:srgbClr val="DCE8ED"/>
                </a:solidFill>
                <a:latin typeface="Consolas"/>
              </a:rPr>
              <a:t> </a:t>
            </a:r>
            <a:r>
              <a:rPr lang="en-US" sz="1150" b="0" noProof="0" dirty="0">
                <a:solidFill>
                  <a:srgbClr val="7FC7DE"/>
                </a:solidFill>
                <a:latin typeface="Consolas"/>
              </a:rPr>
              <a:t>class</a:t>
            </a:r>
            <a:r>
              <a:rPr lang="en-US" sz="1150" b="0" noProof="0" dirty="0">
                <a:solidFill>
                  <a:srgbClr val="DCE8ED"/>
                </a:solidFill>
                <a:latin typeface="Consolas"/>
              </a:rPr>
              <a:t> </a:t>
            </a:r>
            <a:r>
              <a:rPr lang="en-US" sz="1150" b="0" noProof="0" dirty="0" err="1">
                <a:solidFill>
                  <a:srgbClr val="C9B6E8"/>
                </a:solidFill>
                <a:latin typeface="Consolas"/>
              </a:rPr>
              <a:t>WelcomeSOAP</a:t>
            </a:r>
            <a:endParaRPr lang="en-US" sz="1150" b="0" noProof="0" dirty="0">
              <a:solidFill>
                <a:srgbClr val="C9B6E8"/>
              </a:solidFill>
              <a:latin typeface="Consolas"/>
            </a:endParaRPr>
          </a:p>
          <a:p>
            <a:pPr algn="l" rtl="0">
              <a:lnSpc>
                <a:spcPts val="1655"/>
              </a:lnSpc>
            </a:pPr>
            <a:r>
              <a:rPr lang="en-US" sz="1150" b="0" noProof="0" dirty="0">
                <a:solidFill>
                  <a:srgbClr val="DCE8ED"/>
                </a:solidFill>
                <a:latin typeface="Consolas"/>
              </a:rPr>
              <a:t>{</a:t>
            </a:r>
          </a:p>
          <a:p>
            <a:pPr algn="l" rtl="0">
              <a:lnSpc>
                <a:spcPts val="1655"/>
              </a:lnSpc>
            </a:pPr>
            <a:r>
              <a:rPr lang="en-US" sz="1150" b="0" noProof="0" dirty="0">
                <a:solidFill>
                  <a:srgbClr val="DCE8ED"/>
                </a:solidFill>
                <a:latin typeface="Consolas"/>
              </a:rPr>
              <a:t>   </a:t>
            </a:r>
            <a:r>
              <a:rPr lang="en-US" sz="1150" b="1" noProof="0" dirty="0">
                <a:solidFill>
                  <a:srgbClr val="F0A06A"/>
                </a:solidFill>
                <a:latin typeface="Consolas"/>
              </a:rPr>
              <a:t>@WebMethod</a:t>
            </a:r>
            <a:r>
              <a:rPr lang="en-US" sz="1150" b="0" noProof="0" dirty="0">
                <a:solidFill>
                  <a:srgbClr val="DCE8ED"/>
                </a:solidFill>
                <a:latin typeface="Consolas"/>
              </a:rPr>
              <a:t>(operationName = </a:t>
            </a:r>
            <a:r>
              <a:rPr lang="en-US" sz="1150" b="0" noProof="0" dirty="0">
                <a:solidFill>
                  <a:srgbClr val="9FD1A0"/>
                </a:solidFill>
                <a:latin typeface="Consolas"/>
              </a:rPr>
              <a:t>"welcome"</a:t>
            </a:r>
            <a:r>
              <a:rPr lang="en-US" sz="1150" b="0" noProof="0" dirty="0">
                <a:solidFill>
                  <a:srgbClr val="DCE8ED"/>
                </a:solidFill>
                <a:latin typeface="Consolas"/>
              </a:rPr>
              <a:t>)</a:t>
            </a:r>
          </a:p>
          <a:p>
            <a:pPr algn="l" rtl="0">
              <a:lnSpc>
                <a:spcPts val="1655"/>
              </a:lnSpc>
            </a:pPr>
            <a:r>
              <a:rPr lang="en-US" sz="1150" b="0" noProof="0" dirty="0">
                <a:solidFill>
                  <a:srgbClr val="DCE8ED"/>
                </a:solidFill>
                <a:latin typeface="Consolas"/>
              </a:rPr>
              <a:t>   </a:t>
            </a:r>
            <a:r>
              <a:rPr lang="en-US" sz="1150" b="0" noProof="0" dirty="0">
                <a:solidFill>
                  <a:srgbClr val="7FC7DE"/>
                </a:solidFill>
                <a:latin typeface="Consolas"/>
              </a:rPr>
              <a:t>public</a:t>
            </a:r>
            <a:r>
              <a:rPr lang="en-US" sz="1150" b="0" noProof="0" dirty="0">
                <a:solidFill>
                  <a:srgbClr val="DCE8ED"/>
                </a:solidFill>
                <a:latin typeface="Consolas"/>
              </a:rPr>
              <a:t> </a:t>
            </a:r>
            <a:r>
              <a:rPr lang="en-US" sz="1150" b="0" noProof="0" dirty="0">
                <a:solidFill>
                  <a:srgbClr val="C9B6E8"/>
                </a:solidFill>
                <a:latin typeface="Consolas"/>
              </a:rPr>
              <a:t>String</a:t>
            </a:r>
            <a:r>
              <a:rPr lang="en-US" sz="1150" b="0" noProof="0" dirty="0">
                <a:solidFill>
                  <a:srgbClr val="DCE8ED"/>
                </a:solidFill>
                <a:latin typeface="Consolas"/>
              </a:rPr>
              <a:t> welcome(</a:t>
            </a:r>
          </a:p>
          <a:p>
            <a:pPr algn="l" rtl="0">
              <a:lnSpc>
                <a:spcPts val="1655"/>
              </a:lnSpc>
            </a:pPr>
            <a:r>
              <a:rPr lang="en-US" sz="1150" b="0" noProof="0" dirty="0">
                <a:solidFill>
                  <a:srgbClr val="DCE8ED"/>
                </a:solidFill>
                <a:latin typeface="Consolas"/>
              </a:rPr>
              <a:t>         </a:t>
            </a:r>
            <a:r>
              <a:rPr lang="en-US" sz="1150" b="1" noProof="0" dirty="0">
                <a:solidFill>
                  <a:srgbClr val="F0A06A"/>
                </a:solidFill>
                <a:latin typeface="Consolas"/>
              </a:rPr>
              <a:t>@WebParam</a:t>
            </a:r>
            <a:r>
              <a:rPr lang="en-US" sz="1150" b="0" noProof="0" dirty="0">
                <a:solidFill>
                  <a:srgbClr val="DCE8ED"/>
                </a:solidFill>
                <a:latin typeface="Consolas"/>
              </a:rPr>
              <a:t>(name = </a:t>
            </a:r>
            <a:r>
              <a:rPr lang="en-US" sz="1150" b="0" noProof="0" dirty="0">
                <a:solidFill>
                  <a:srgbClr val="9FD1A0"/>
                </a:solidFill>
                <a:latin typeface="Consolas"/>
              </a:rPr>
              <a:t>"name"</a:t>
            </a:r>
            <a:r>
              <a:rPr lang="en-US" sz="1150" b="0" noProof="0" dirty="0">
                <a:solidFill>
                  <a:srgbClr val="DCE8ED"/>
                </a:solidFill>
                <a:latin typeface="Consolas"/>
              </a:rPr>
              <a:t>) </a:t>
            </a:r>
            <a:r>
              <a:rPr lang="en-US" sz="1150" b="0" noProof="0" dirty="0">
                <a:solidFill>
                  <a:srgbClr val="C9B6E8"/>
                </a:solidFill>
                <a:latin typeface="Consolas"/>
              </a:rPr>
              <a:t>String</a:t>
            </a:r>
            <a:r>
              <a:rPr lang="en-US" sz="1150" b="0" noProof="0" dirty="0">
                <a:solidFill>
                  <a:srgbClr val="DCE8ED"/>
                </a:solidFill>
                <a:latin typeface="Consolas"/>
              </a:rPr>
              <a:t> name)</a:t>
            </a:r>
          </a:p>
          <a:p>
            <a:pPr algn="l" rtl="0">
              <a:lnSpc>
                <a:spcPts val="1655"/>
              </a:lnSpc>
            </a:pPr>
            <a:r>
              <a:rPr lang="en-US" sz="1150" b="0" noProof="0" dirty="0">
                <a:solidFill>
                  <a:srgbClr val="DCE8ED"/>
                </a:solidFill>
                <a:latin typeface="Consolas"/>
              </a:rPr>
              <a:t>   {</a:t>
            </a:r>
          </a:p>
          <a:p>
            <a:pPr algn="l" rtl="0">
              <a:lnSpc>
                <a:spcPts val="1655"/>
              </a:lnSpc>
            </a:pPr>
            <a:r>
              <a:rPr lang="en-US" sz="1150" b="0" noProof="0" dirty="0">
                <a:solidFill>
                  <a:srgbClr val="DCE8ED"/>
                </a:solidFill>
                <a:latin typeface="Consolas"/>
              </a:rPr>
              <a:t>      </a:t>
            </a:r>
            <a:r>
              <a:rPr lang="en-US" sz="1150" b="0" noProof="0" dirty="0">
                <a:solidFill>
                  <a:srgbClr val="7FC7DE"/>
                </a:solidFill>
                <a:latin typeface="Consolas"/>
              </a:rPr>
              <a:t>return</a:t>
            </a:r>
            <a:r>
              <a:rPr lang="en-US" sz="1150" b="0" noProof="0" dirty="0">
                <a:solidFill>
                  <a:srgbClr val="DCE8ED"/>
                </a:solidFill>
                <a:latin typeface="Consolas"/>
              </a:rPr>
              <a:t> </a:t>
            </a:r>
            <a:r>
              <a:rPr lang="en-US" sz="1150" b="0" noProof="0" dirty="0">
                <a:solidFill>
                  <a:srgbClr val="9FD1A0"/>
                </a:solidFill>
                <a:latin typeface="Consolas"/>
              </a:rPr>
              <a:t>"Welcome to JAX-WS web services"</a:t>
            </a:r>
          </a:p>
          <a:p>
            <a:pPr algn="l" rtl="0">
              <a:lnSpc>
                <a:spcPts val="1655"/>
              </a:lnSpc>
            </a:pPr>
            <a:r>
              <a:rPr lang="en-US" sz="1150" b="0" noProof="0" dirty="0">
                <a:solidFill>
                  <a:srgbClr val="DCE8ED"/>
                </a:solidFill>
                <a:latin typeface="Consolas"/>
              </a:rPr>
              <a:t>           + </a:t>
            </a:r>
            <a:r>
              <a:rPr lang="en-US" sz="1150" b="0" noProof="0" dirty="0">
                <a:solidFill>
                  <a:srgbClr val="9FD1A0"/>
                </a:solidFill>
                <a:latin typeface="Consolas"/>
              </a:rPr>
              <a:t>" with SOAP, "</a:t>
            </a:r>
            <a:r>
              <a:rPr lang="en-US" sz="1150" b="0" noProof="0" dirty="0">
                <a:solidFill>
                  <a:srgbClr val="DCE8ED"/>
                </a:solidFill>
                <a:latin typeface="Consolas"/>
              </a:rPr>
              <a:t> + name + </a:t>
            </a:r>
            <a:r>
              <a:rPr lang="en-US" sz="1150" b="0" noProof="0" dirty="0">
                <a:solidFill>
                  <a:srgbClr val="9FD1A0"/>
                </a:solidFill>
                <a:latin typeface="Consolas"/>
              </a:rPr>
              <a:t>"!"</a:t>
            </a:r>
            <a:r>
              <a:rPr lang="en-US" sz="1150" b="0" noProof="0" dirty="0">
                <a:solidFill>
                  <a:srgbClr val="DCE8ED"/>
                </a:solidFill>
                <a:latin typeface="Consolas"/>
              </a:rPr>
              <a:t>;</a:t>
            </a:r>
          </a:p>
          <a:p>
            <a:pPr algn="l" rtl="0">
              <a:lnSpc>
                <a:spcPts val="1655"/>
              </a:lnSpc>
            </a:pPr>
            <a:r>
              <a:rPr lang="en-US" sz="1150" b="0" noProof="0" dirty="0">
                <a:solidFill>
                  <a:srgbClr val="DCE8ED"/>
                </a:solidFill>
                <a:latin typeface="Consolas"/>
              </a:rPr>
              <a:t>   }</a:t>
            </a:r>
          </a:p>
          <a:p>
            <a:pPr algn="l" rtl="0">
              <a:lnSpc>
                <a:spcPts val="1655"/>
              </a:lnSpc>
            </a:pPr>
            <a:r>
              <a:rPr lang="en-US" sz="1150" b="0" noProof="0" dirty="0">
                <a:solidFill>
                  <a:srgbClr val="DCE8ED"/>
                </a:solidFill>
                <a:latin typeface="Consolas"/>
              </a:rPr>
              <a:t>}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00681" y="2222619"/>
            <a:ext cx="4498848" cy="23470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06000"/>
              </a:lnSpc>
              <a:spcAft>
                <a:spcPts val="800"/>
              </a:spcAft>
            </a:pPr>
            <a:r>
              <a:rPr lang="en-US" sz="1400" b="1" dirty="0">
                <a:solidFill>
                  <a:srgbClr val="C4622D"/>
                </a:solidFill>
                <a:latin typeface="Segoe UI"/>
              </a:rPr>
              <a:t>■</a:t>
            </a:r>
            <a:r>
              <a:rPr lang="he-IL" sz="1400" b="1" dirty="0">
                <a:solidFill>
                  <a:srgbClr val="C4622D"/>
                </a:solidFill>
                <a:latin typeface="Segoe UI"/>
              </a:rPr>
              <a:t> </a:t>
            </a:r>
            <a:r>
              <a:rPr lang="en-US" sz="1400" b="1" dirty="0">
                <a:solidFill>
                  <a:schemeClr val="accent5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@WebService</a:t>
            </a:r>
            <a:r>
              <a:rPr lang="en-US" sz="1400" b="1" dirty="0"/>
              <a:t> </a:t>
            </a:r>
            <a:r>
              <a:rPr lang="he-IL" sz="1400" b="1" dirty="0"/>
              <a:t> </a:t>
            </a:r>
            <a:r>
              <a:rPr lang="en-US" sz="1400" dirty="0" err="1"/>
              <a:t>מסמנת</a:t>
            </a:r>
            <a:r>
              <a:rPr lang="en-US" sz="1400" dirty="0"/>
              <a:t> את </a:t>
            </a:r>
            <a:r>
              <a:rPr lang="en-US" sz="1400" dirty="0" err="1"/>
              <a:t>המחלקה</a:t>
            </a:r>
            <a:r>
              <a:rPr lang="en-US" sz="1400" dirty="0"/>
              <a:t> </a:t>
            </a:r>
            <a:r>
              <a:rPr lang="en-US" sz="1400" dirty="0" err="1"/>
              <a:t>כשירות</a:t>
            </a:r>
            <a:r>
              <a:rPr lang="en-US" sz="1400" dirty="0"/>
              <a:t> SOAP</a:t>
            </a:r>
            <a:r>
              <a:rPr lang="he-IL" sz="1400" dirty="0"/>
              <a:t>.</a:t>
            </a:r>
            <a:endParaRPr lang="he-IL" sz="1400" b="1" dirty="0">
              <a:solidFill>
                <a:srgbClr val="C4622D"/>
              </a:solidFill>
              <a:latin typeface="Segoe UI"/>
            </a:endParaRPr>
          </a:p>
          <a:p>
            <a:pPr algn="r" rtl="1">
              <a:lnSpc>
                <a:spcPct val="106000"/>
              </a:lnSpc>
              <a:spcAft>
                <a:spcPts val="800"/>
              </a:spcAft>
            </a:pPr>
            <a:r>
              <a:rPr lang="en-US" sz="1400" b="1" i="0" noProof="0" dirty="0">
                <a:solidFill>
                  <a:srgbClr val="C4622D"/>
                </a:solidFill>
                <a:latin typeface="Segoe UI"/>
              </a:rPr>
              <a:t>■</a:t>
            </a:r>
            <a:r>
              <a:rPr lang="en-US" sz="1400" b="1" i="0" noProof="0" dirty="0">
                <a:solidFill>
                  <a:srgbClr val="0D4A5C"/>
                </a:solidFill>
                <a:latin typeface="Segoe UI"/>
              </a:rPr>
              <a:t>‏‎</a:t>
            </a:r>
            <a:r>
              <a:rPr lang="he-IL" sz="1400" b="1" i="0" noProof="0" dirty="0">
                <a:solidFill>
                  <a:srgbClr val="0D4A5C"/>
                </a:solidFill>
                <a:latin typeface="Segoe UI"/>
              </a:rPr>
              <a:t> </a:t>
            </a:r>
            <a:r>
              <a:rPr lang="en-US" sz="1400" b="1" i="0" noProof="0" dirty="0">
                <a:solidFill>
                  <a:srgbClr val="0D4A5C"/>
                </a:solidFill>
                <a:latin typeface="Segoe UI"/>
              </a:rPr>
              <a:t>@WebMethod‏ </a:t>
            </a:r>
            <a:r>
              <a:rPr lang="en-US" sz="1400" b="0" i="0" noProof="0" dirty="0" err="1">
                <a:solidFill>
                  <a:srgbClr val="0F1B24"/>
                </a:solidFill>
                <a:latin typeface="Segoe UI"/>
              </a:rPr>
              <a:t>מסמנת</a:t>
            </a:r>
            <a:r>
              <a:rPr lang="en-US" sz="14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0F1B24"/>
                </a:solidFill>
                <a:latin typeface="Segoe UI"/>
              </a:rPr>
              <a:t>מתודה</a:t>
            </a:r>
            <a:r>
              <a:rPr lang="en-US" sz="14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0F1B24"/>
                </a:solidFill>
                <a:latin typeface="Segoe UI"/>
              </a:rPr>
              <a:t>כניתנת</a:t>
            </a:r>
            <a:r>
              <a:rPr lang="en-US" sz="14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0F1B24"/>
                </a:solidFill>
                <a:latin typeface="Segoe UI"/>
              </a:rPr>
              <a:t>לקריאה</a:t>
            </a:r>
            <a:r>
              <a:rPr lang="en-US" sz="14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0F1B24"/>
                </a:solidFill>
                <a:latin typeface="Segoe UI"/>
              </a:rPr>
              <a:t>מרחוק</a:t>
            </a:r>
            <a:r>
              <a:rPr lang="en-US" sz="1400" b="0" i="0" noProof="0" dirty="0">
                <a:solidFill>
                  <a:srgbClr val="0F1B24"/>
                </a:solidFill>
                <a:latin typeface="Segoe UI"/>
              </a:rPr>
              <a:t>. </a:t>
            </a:r>
            <a:r>
              <a:rPr lang="en-US" sz="1400" b="0" i="0" noProof="0" dirty="0" err="1">
                <a:solidFill>
                  <a:srgbClr val="0F1B24"/>
                </a:solidFill>
                <a:latin typeface="Segoe UI"/>
              </a:rPr>
              <a:t>המאפיין</a:t>
            </a:r>
            <a:r>
              <a:rPr lang="en-US" sz="1400" b="0" i="0" noProof="0" dirty="0">
                <a:solidFill>
                  <a:srgbClr val="0F1B24"/>
                </a:solidFill>
                <a:latin typeface="Segoe UI"/>
              </a:rPr>
              <a:t> ‏</a:t>
            </a:r>
            <a:r>
              <a:rPr lang="en-US" sz="1400" b="0" i="0" noProof="0" dirty="0" err="1">
                <a:solidFill>
                  <a:srgbClr val="0F1B24"/>
                </a:solidFill>
                <a:latin typeface="Segoe UI"/>
              </a:rPr>
              <a:t>operationName</a:t>
            </a:r>
            <a:r>
              <a:rPr lang="en-US" sz="1400" b="0" i="0" noProof="0" dirty="0">
                <a:solidFill>
                  <a:srgbClr val="0F1B24"/>
                </a:solidFill>
                <a:latin typeface="Segoe UI"/>
              </a:rPr>
              <a:t>‏ </a:t>
            </a:r>
            <a:r>
              <a:rPr lang="en-US" sz="1400" b="0" i="0" noProof="0" dirty="0" err="1">
                <a:solidFill>
                  <a:srgbClr val="0F1B24"/>
                </a:solidFill>
                <a:latin typeface="Segoe UI"/>
              </a:rPr>
              <a:t>קובע</a:t>
            </a:r>
            <a:r>
              <a:rPr lang="en-US" sz="1400" b="0" i="0" noProof="0" dirty="0">
                <a:solidFill>
                  <a:srgbClr val="0F1B24"/>
                </a:solidFill>
                <a:latin typeface="Segoe UI"/>
              </a:rPr>
              <a:t> את </a:t>
            </a:r>
            <a:r>
              <a:rPr lang="en-US" sz="1400" b="0" i="0" noProof="0" dirty="0" err="1">
                <a:solidFill>
                  <a:srgbClr val="0F1B24"/>
                </a:solidFill>
                <a:latin typeface="Segoe UI"/>
              </a:rPr>
              <a:t>השם</a:t>
            </a:r>
            <a:r>
              <a:rPr lang="en-US" sz="14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0F1B24"/>
                </a:solidFill>
                <a:latin typeface="Segoe UI"/>
              </a:rPr>
              <a:t>שייחשף</a:t>
            </a:r>
            <a:r>
              <a:rPr lang="en-US" sz="14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0F1B24"/>
                </a:solidFill>
                <a:latin typeface="Segoe UI"/>
              </a:rPr>
              <a:t>ללקוח</a:t>
            </a:r>
            <a:r>
              <a:rPr lang="en-US" sz="1400" b="0" i="0" noProof="0" dirty="0">
                <a:solidFill>
                  <a:srgbClr val="0F1B24"/>
                </a:solidFill>
                <a:latin typeface="Segoe UI"/>
              </a:rPr>
              <a:t>.</a:t>
            </a:r>
            <a:endParaRPr lang="he-IL" sz="1400" b="0" i="0" noProof="0" dirty="0">
              <a:solidFill>
                <a:srgbClr val="0F1B24"/>
              </a:solidFill>
              <a:latin typeface="Segoe UI"/>
            </a:endParaRPr>
          </a:p>
          <a:p>
            <a:pPr algn="r" rtl="1">
              <a:lnSpc>
                <a:spcPct val="106000"/>
              </a:lnSpc>
              <a:spcAft>
                <a:spcPts val="800"/>
              </a:spcAft>
            </a:pPr>
            <a:r>
              <a:rPr lang="en-US" sz="1400" b="1" i="0" noProof="0" dirty="0">
                <a:solidFill>
                  <a:srgbClr val="C4622D"/>
                </a:solidFill>
                <a:latin typeface="Segoe UI"/>
              </a:rPr>
              <a:t>■</a:t>
            </a:r>
            <a:r>
              <a:rPr lang="he-IL" sz="1400" b="1" i="0" noProof="0" dirty="0">
                <a:solidFill>
                  <a:srgbClr val="C4622D"/>
                </a:solidFill>
                <a:latin typeface="Segoe UI"/>
              </a:rPr>
              <a:t> </a:t>
            </a:r>
            <a:r>
              <a:rPr lang="en-US" sz="1400" b="1" i="0" noProof="0" dirty="0">
                <a:solidFill>
                  <a:srgbClr val="0D4A5C"/>
                </a:solidFill>
                <a:latin typeface="Segoe UI"/>
              </a:rPr>
              <a:t>‏‎@WebParam‏ </a:t>
            </a:r>
            <a:r>
              <a:rPr lang="en-US" sz="1400" b="0" i="0" noProof="0" dirty="0">
                <a:solidFill>
                  <a:srgbClr val="0F1B24"/>
                </a:solidFill>
                <a:latin typeface="Segoe UI"/>
              </a:rPr>
              <a:t>קובעת את שם הפרמטר כפי </a:t>
            </a:r>
            <a:r>
              <a:rPr lang="en-US" sz="1400" b="0" i="0" noProof="0" dirty="0" err="1">
                <a:solidFill>
                  <a:srgbClr val="0F1B24"/>
                </a:solidFill>
                <a:latin typeface="Segoe UI"/>
              </a:rPr>
              <a:t>שיופיע</a:t>
            </a:r>
            <a:r>
              <a:rPr lang="en-US" sz="14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0F1B24"/>
                </a:solidFill>
                <a:latin typeface="Segoe UI"/>
              </a:rPr>
              <a:t>בחוזה</a:t>
            </a:r>
            <a:r>
              <a:rPr lang="en-US" sz="1400" b="0" i="0" noProof="0" dirty="0">
                <a:solidFill>
                  <a:srgbClr val="0F1B24"/>
                </a:solidFill>
                <a:latin typeface="Segoe UI"/>
              </a:rPr>
              <a:t>. </a:t>
            </a:r>
            <a:r>
              <a:rPr lang="en-US" sz="1400" b="0" i="0" noProof="0" dirty="0" err="1">
                <a:solidFill>
                  <a:srgbClr val="0F1B24"/>
                </a:solidFill>
                <a:latin typeface="Segoe UI"/>
              </a:rPr>
              <a:t>בלעדיה</a:t>
            </a:r>
            <a:r>
              <a:rPr lang="en-US" sz="1400" b="0" i="0" noProof="0" dirty="0">
                <a:solidFill>
                  <a:srgbClr val="0F1B24"/>
                </a:solidFill>
                <a:latin typeface="Segoe UI"/>
              </a:rPr>
              <a:t> הפרמטר </a:t>
            </a:r>
            <a:r>
              <a:rPr lang="en-US" sz="1400" b="0" i="0" noProof="0" dirty="0" err="1">
                <a:solidFill>
                  <a:srgbClr val="0F1B24"/>
                </a:solidFill>
                <a:latin typeface="Segoe UI"/>
              </a:rPr>
              <a:t>ייקרא</a:t>
            </a:r>
            <a:r>
              <a:rPr lang="en-US" sz="1400" b="0" i="0" noProof="0" dirty="0">
                <a:solidFill>
                  <a:srgbClr val="0F1B24"/>
                </a:solidFill>
                <a:latin typeface="Segoe UI"/>
              </a:rPr>
              <a:t> ‏arg0‏ — </a:t>
            </a:r>
            <a:r>
              <a:rPr lang="en-US" sz="1400" b="0" i="0" noProof="0" dirty="0" err="1">
                <a:solidFill>
                  <a:srgbClr val="0F1B24"/>
                </a:solidFill>
                <a:latin typeface="Segoe UI"/>
              </a:rPr>
              <a:t>ומי</a:t>
            </a:r>
            <a:r>
              <a:rPr lang="en-US" sz="14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0F1B24"/>
                </a:solidFill>
                <a:latin typeface="Segoe UI"/>
              </a:rPr>
              <a:t>שיצרוך</a:t>
            </a:r>
            <a:r>
              <a:rPr lang="en-US" sz="1400" b="0" i="0" noProof="0" dirty="0">
                <a:solidFill>
                  <a:srgbClr val="0F1B24"/>
                </a:solidFill>
                <a:latin typeface="Segoe UI"/>
              </a:rPr>
              <a:t> את </a:t>
            </a:r>
            <a:r>
              <a:rPr lang="en-US" sz="1400" b="0" i="0" noProof="0" dirty="0" err="1">
                <a:solidFill>
                  <a:srgbClr val="0F1B24"/>
                </a:solidFill>
                <a:latin typeface="Segoe UI"/>
              </a:rPr>
              <a:t>השירות</a:t>
            </a:r>
            <a:r>
              <a:rPr lang="en-US" sz="14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0F1B24"/>
                </a:solidFill>
                <a:latin typeface="Segoe UI"/>
              </a:rPr>
              <a:t>לא</a:t>
            </a:r>
            <a:r>
              <a:rPr lang="en-US" sz="14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0F1B24"/>
                </a:solidFill>
                <a:latin typeface="Segoe UI"/>
              </a:rPr>
              <a:t>יבין</a:t>
            </a:r>
            <a:r>
              <a:rPr lang="en-US" sz="14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0F1B24"/>
                </a:solidFill>
                <a:latin typeface="Segoe UI"/>
              </a:rPr>
              <a:t>מה</a:t>
            </a:r>
            <a:r>
              <a:rPr lang="en-US" sz="14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0F1B24"/>
                </a:solidFill>
                <a:latin typeface="Segoe UI"/>
              </a:rPr>
              <a:t>לשלוח</a:t>
            </a:r>
            <a:r>
              <a:rPr lang="en-US" sz="1400" b="0" i="0" noProof="0" dirty="0">
                <a:solidFill>
                  <a:srgbClr val="0F1B24"/>
                </a:solidFill>
                <a:latin typeface="Segoe UI"/>
              </a:rPr>
              <a:t>.</a:t>
            </a:r>
            <a:endParaRPr lang="he-IL" sz="1400" b="0" i="0" noProof="0" dirty="0">
              <a:solidFill>
                <a:srgbClr val="0F1B24"/>
              </a:solidFill>
              <a:latin typeface="Segoe UI"/>
            </a:endParaRPr>
          </a:p>
          <a:p>
            <a:pPr algn="r" rtl="1">
              <a:lnSpc>
                <a:spcPct val="106000"/>
              </a:lnSpc>
              <a:spcAft>
                <a:spcPts val="800"/>
              </a:spcAft>
            </a:pPr>
            <a:r>
              <a:rPr lang="en-US" sz="1400" b="1" dirty="0" err="1">
                <a:solidFill>
                  <a:srgbClr val="0D4A5C"/>
                </a:solidFill>
                <a:latin typeface="Segoe UI"/>
              </a:rPr>
              <a:t>הפריסה</a:t>
            </a:r>
            <a:r>
              <a:rPr lang="en-US" sz="1400" b="1" dirty="0">
                <a:solidFill>
                  <a:srgbClr val="0D4A5C"/>
                </a:solidFill>
                <a:latin typeface="Segoe UI"/>
              </a:rPr>
              <a:t> </a:t>
            </a:r>
            <a:r>
              <a:rPr lang="en-US" sz="1400" b="1" dirty="0" err="1">
                <a:solidFill>
                  <a:srgbClr val="0D4A5C"/>
                </a:solidFill>
                <a:latin typeface="Segoe UI"/>
              </a:rPr>
              <a:t>עושה</a:t>
            </a:r>
            <a:r>
              <a:rPr lang="en-US" sz="1400" b="1" dirty="0">
                <a:solidFill>
                  <a:srgbClr val="0D4A5C"/>
                </a:solidFill>
                <a:latin typeface="Segoe UI"/>
              </a:rPr>
              <a:t> את </a:t>
            </a:r>
            <a:r>
              <a:rPr lang="en-US" sz="1400" b="1" dirty="0" err="1">
                <a:solidFill>
                  <a:srgbClr val="0D4A5C"/>
                </a:solidFill>
                <a:latin typeface="Segoe UI"/>
              </a:rPr>
              <a:t>השאר</a:t>
            </a:r>
            <a:r>
              <a:rPr lang="en-US" sz="1400" b="1" dirty="0">
                <a:solidFill>
                  <a:srgbClr val="0D4A5C"/>
                </a:solidFill>
                <a:latin typeface="Segoe UI"/>
              </a:rPr>
              <a:t>:</a:t>
            </a:r>
            <a:r>
              <a:rPr lang="he-IL" sz="1400" b="1" dirty="0">
                <a:solidFill>
                  <a:srgbClr val="0D4A5C"/>
                </a:solidFill>
                <a:latin typeface="Segoe UI"/>
              </a:rPr>
              <a:t> </a:t>
            </a:r>
            <a:r>
              <a:rPr lang="en-US" sz="1400" dirty="0" err="1">
                <a:solidFill>
                  <a:srgbClr val="0F1B24"/>
                </a:solidFill>
                <a:latin typeface="Segoe UI"/>
              </a:rPr>
              <a:t>כששרת</a:t>
            </a:r>
            <a:r>
              <a:rPr lang="en-US" sz="140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400" dirty="0" err="1">
                <a:solidFill>
                  <a:srgbClr val="0F1B24"/>
                </a:solidFill>
                <a:latin typeface="Segoe UI"/>
              </a:rPr>
              <a:t>היישומים</a:t>
            </a:r>
            <a:r>
              <a:rPr lang="en-US" sz="140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400" dirty="0" err="1">
                <a:solidFill>
                  <a:srgbClr val="0F1B24"/>
                </a:solidFill>
                <a:latin typeface="Segoe UI"/>
              </a:rPr>
              <a:t>מזהה</a:t>
            </a:r>
            <a:r>
              <a:rPr lang="en-US" sz="1400" dirty="0">
                <a:solidFill>
                  <a:srgbClr val="0F1B24"/>
                </a:solidFill>
                <a:latin typeface="Segoe UI"/>
              </a:rPr>
              <a:t> את ‏‎@WebService‏, </a:t>
            </a:r>
            <a:r>
              <a:rPr lang="en-US" sz="1400" dirty="0" err="1">
                <a:solidFill>
                  <a:srgbClr val="0F1B24"/>
                </a:solidFill>
                <a:latin typeface="Segoe UI"/>
              </a:rPr>
              <a:t>הוא</a:t>
            </a:r>
            <a:r>
              <a:rPr lang="en-US" sz="140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400" dirty="0" err="1">
                <a:solidFill>
                  <a:srgbClr val="0F1B24"/>
                </a:solidFill>
                <a:latin typeface="Segoe UI"/>
              </a:rPr>
              <a:t>בונה</a:t>
            </a:r>
            <a:r>
              <a:rPr lang="en-US" sz="1400" dirty="0">
                <a:solidFill>
                  <a:srgbClr val="0F1B24"/>
                </a:solidFill>
                <a:latin typeface="Segoe UI"/>
              </a:rPr>
              <a:t> את </a:t>
            </a:r>
            <a:r>
              <a:rPr lang="en-US" sz="1400" dirty="0" err="1">
                <a:solidFill>
                  <a:srgbClr val="0F1B24"/>
                </a:solidFill>
                <a:latin typeface="Segoe UI"/>
              </a:rPr>
              <a:t>כל</a:t>
            </a:r>
            <a:r>
              <a:rPr lang="en-US" sz="140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400" dirty="0" err="1">
                <a:solidFill>
                  <a:srgbClr val="0F1B24"/>
                </a:solidFill>
                <a:latin typeface="Segoe UI"/>
              </a:rPr>
              <a:t>תשתית</a:t>
            </a:r>
            <a:r>
              <a:rPr lang="en-US" sz="140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400" dirty="0" err="1">
                <a:solidFill>
                  <a:srgbClr val="0F1B24"/>
                </a:solidFill>
                <a:latin typeface="Segoe UI"/>
              </a:rPr>
              <a:t>השרת</a:t>
            </a:r>
            <a:r>
              <a:rPr lang="en-US" sz="140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400" dirty="0" err="1">
                <a:solidFill>
                  <a:srgbClr val="0F1B24"/>
                </a:solidFill>
                <a:latin typeface="Segoe UI"/>
              </a:rPr>
              <a:t>ומייצר</a:t>
            </a:r>
            <a:r>
              <a:rPr lang="en-US" sz="1400" dirty="0">
                <a:solidFill>
                  <a:srgbClr val="0F1B24"/>
                </a:solidFill>
                <a:latin typeface="Segoe UI"/>
              </a:rPr>
              <a:t> את ה-‏WSDL‏.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81088" y="4807382"/>
            <a:ext cx="4498848" cy="1326504"/>
          </a:xfrm>
          <a:prstGeom prst="roundRect">
            <a:avLst>
              <a:gd name="adj" fmla="val 5000"/>
            </a:avLst>
          </a:prstGeom>
          <a:solidFill>
            <a:srgbClr val="FB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19" name="Rectangle 18"/>
          <p:cNvSpPr/>
          <p:nvPr/>
        </p:nvSpPr>
        <p:spPr>
          <a:xfrm>
            <a:off x="11659936" y="4840047"/>
            <a:ext cx="54864" cy="1293839"/>
          </a:xfrm>
          <a:prstGeom prst="rect">
            <a:avLst/>
          </a:prstGeom>
          <a:solidFill>
            <a:srgbClr val="C4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21" name="TextBox 20"/>
          <p:cNvSpPr txBox="1"/>
          <p:nvPr/>
        </p:nvSpPr>
        <p:spPr>
          <a:xfrm>
            <a:off x="7254241" y="4895355"/>
            <a:ext cx="4370831" cy="11505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06000"/>
              </a:lnSpc>
            </a:pPr>
            <a:r>
              <a:rPr lang="en-US" sz="1200" b="1" dirty="0">
                <a:solidFill>
                  <a:srgbClr val="C4622D"/>
                </a:solidFill>
                <a:latin typeface="Segoe UI"/>
              </a:rPr>
              <a:t>דגשים </a:t>
            </a:r>
            <a:r>
              <a:rPr lang="en-US" sz="1200" b="1" dirty="0" err="1">
                <a:solidFill>
                  <a:srgbClr val="C4622D"/>
                </a:solidFill>
                <a:latin typeface="Segoe UI"/>
              </a:rPr>
              <a:t>שחוסכים</a:t>
            </a:r>
            <a:r>
              <a:rPr lang="en-US" sz="1200" b="1" dirty="0">
                <a:solidFill>
                  <a:srgbClr val="C4622D"/>
                </a:solidFill>
                <a:latin typeface="Segoe UI"/>
              </a:rPr>
              <a:t> </a:t>
            </a:r>
            <a:r>
              <a:rPr lang="en-US" sz="1200" b="1" dirty="0" err="1">
                <a:solidFill>
                  <a:srgbClr val="C4622D"/>
                </a:solidFill>
                <a:latin typeface="Segoe UI"/>
              </a:rPr>
              <a:t>באגים</a:t>
            </a:r>
            <a:endParaRPr lang="he-IL" sz="1100" b="1" i="0" noProof="0" dirty="0">
              <a:solidFill>
                <a:srgbClr val="C4622D"/>
              </a:solidFill>
              <a:latin typeface="Segoe UI"/>
            </a:endParaRPr>
          </a:p>
          <a:p>
            <a:pPr algn="r" rtl="1">
              <a:lnSpc>
                <a:spcPct val="106000"/>
              </a:lnSpc>
            </a:pPr>
            <a:r>
              <a:rPr lang="en-US" sz="1000" b="1" i="0" noProof="0" dirty="0">
                <a:solidFill>
                  <a:srgbClr val="C4622D"/>
                </a:solidFill>
                <a:latin typeface="Segoe UI"/>
              </a:rPr>
              <a:t>▪  </a:t>
            </a:r>
            <a:r>
              <a:rPr lang="en-US" sz="1100" b="0" i="0" noProof="0" dirty="0" err="1">
                <a:solidFill>
                  <a:srgbClr val="0F1B24"/>
                </a:solidFill>
                <a:latin typeface="Segoe UI"/>
              </a:rPr>
              <a:t>מתודה</a:t>
            </a:r>
            <a:r>
              <a:rPr lang="en-US" sz="11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100" b="0" i="0" noProof="0" dirty="0" err="1">
                <a:solidFill>
                  <a:srgbClr val="0F1B24"/>
                </a:solidFill>
                <a:latin typeface="Segoe UI"/>
              </a:rPr>
              <a:t>בלי</a:t>
            </a:r>
            <a:r>
              <a:rPr lang="en-US" sz="1100" b="0" i="0" noProof="0" dirty="0">
                <a:solidFill>
                  <a:srgbClr val="0F1B24"/>
                </a:solidFill>
                <a:latin typeface="Segoe UI"/>
              </a:rPr>
              <a:t> ‏‎@WebMethod‏ </a:t>
            </a:r>
            <a:r>
              <a:rPr lang="en-US" sz="1100" b="0" i="0" noProof="0" dirty="0" err="1">
                <a:solidFill>
                  <a:srgbClr val="0F1B24"/>
                </a:solidFill>
                <a:latin typeface="Segoe UI"/>
              </a:rPr>
              <a:t>אינה</a:t>
            </a:r>
            <a:r>
              <a:rPr lang="en-US" sz="11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100" b="0" i="0" noProof="0" dirty="0" err="1">
                <a:solidFill>
                  <a:srgbClr val="0F1B24"/>
                </a:solidFill>
                <a:latin typeface="Segoe UI"/>
              </a:rPr>
              <a:t>נגישה</a:t>
            </a:r>
            <a:r>
              <a:rPr lang="en-US" sz="11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100" b="0" i="0" noProof="0" dirty="0" err="1">
                <a:solidFill>
                  <a:srgbClr val="0F1B24"/>
                </a:solidFill>
                <a:latin typeface="Segoe UI"/>
              </a:rPr>
              <a:t>ללקוחות</a:t>
            </a:r>
            <a:r>
              <a:rPr lang="en-US" sz="1100" b="0" i="0" noProof="0" dirty="0">
                <a:solidFill>
                  <a:srgbClr val="0F1B24"/>
                </a:solidFill>
                <a:latin typeface="Segoe UI"/>
              </a:rPr>
              <a:t>. </a:t>
            </a:r>
            <a:r>
              <a:rPr lang="en-US" sz="1100" b="0" i="0" noProof="0" dirty="0" err="1">
                <a:solidFill>
                  <a:srgbClr val="0F1B24"/>
                </a:solidFill>
                <a:latin typeface="Segoe UI"/>
              </a:rPr>
              <a:t>החריג</a:t>
            </a:r>
            <a:r>
              <a:rPr lang="en-US" sz="1100" b="0" i="0" noProof="0" dirty="0">
                <a:solidFill>
                  <a:srgbClr val="0F1B24"/>
                </a:solidFill>
                <a:latin typeface="Segoe UI"/>
              </a:rPr>
              <a:t>: </a:t>
            </a:r>
            <a:r>
              <a:rPr lang="en-US" sz="1100" b="0" i="0" noProof="0" dirty="0" err="1">
                <a:solidFill>
                  <a:srgbClr val="0F1B24"/>
                </a:solidFill>
                <a:latin typeface="Segoe UI"/>
              </a:rPr>
              <a:t>אם</a:t>
            </a:r>
            <a:r>
              <a:rPr lang="en-US" sz="11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100" b="0" i="0" noProof="0" dirty="0" err="1">
                <a:solidFill>
                  <a:srgbClr val="0F1B24"/>
                </a:solidFill>
                <a:latin typeface="Segoe UI"/>
              </a:rPr>
              <a:t>אף</a:t>
            </a:r>
            <a:r>
              <a:rPr lang="en-US" sz="11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100" b="0" i="0" noProof="0" dirty="0" err="1">
                <a:solidFill>
                  <a:srgbClr val="0F1B24"/>
                </a:solidFill>
                <a:latin typeface="Segoe UI"/>
              </a:rPr>
              <a:t>מתודה</a:t>
            </a:r>
            <a:r>
              <a:rPr lang="en-US" sz="11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100" b="0" i="0" noProof="0" dirty="0" err="1">
                <a:solidFill>
                  <a:srgbClr val="0F1B24"/>
                </a:solidFill>
                <a:latin typeface="Segoe UI"/>
              </a:rPr>
              <a:t>במחלקה</a:t>
            </a:r>
            <a:r>
              <a:rPr lang="en-US" sz="11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100" b="0" i="0" noProof="0" dirty="0" err="1">
                <a:solidFill>
                  <a:srgbClr val="0F1B24"/>
                </a:solidFill>
                <a:latin typeface="Segoe UI"/>
              </a:rPr>
              <a:t>אינה</a:t>
            </a:r>
            <a:r>
              <a:rPr lang="en-US" sz="11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100" b="0" i="0" noProof="0" dirty="0" err="1">
                <a:solidFill>
                  <a:srgbClr val="0F1B24"/>
                </a:solidFill>
                <a:latin typeface="Segoe UI"/>
              </a:rPr>
              <a:t>מסומנת</a:t>
            </a:r>
            <a:r>
              <a:rPr lang="en-US" sz="1100" b="0" i="0" noProof="0" dirty="0">
                <a:solidFill>
                  <a:srgbClr val="0F1B24"/>
                </a:solidFill>
                <a:latin typeface="Segoe UI"/>
              </a:rPr>
              <a:t> — </a:t>
            </a:r>
            <a:r>
              <a:rPr lang="en-US" sz="1100" b="0" i="0" noProof="0" dirty="0" err="1">
                <a:solidFill>
                  <a:srgbClr val="0F1B24"/>
                </a:solidFill>
                <a:latin typeface="Segoe UI"/>
              </a:rPr>
              <a:t>כל</a:t>
            </a:r>
            <a:r>
              <a:rPr lang="en-US" sz="11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100" b="0" i="0" noProof="0" dirty="0" err="1">
                <a:solidFill>
                  <a:srgbClr val="0F1B24"/>
                </a:solidFill>
                <a:latin typeface="Segoe UI"/>
              </a:rPr>
              <a:t>המתודות</a:t>
            </a:r>
            <a:r>
              <a:rPr lang="en-US" sz="11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100" b="0" i="0" noProof="0" dirty="0" err="1">
                <a:solidFill>
                  <a:srgbClr val="0F1B24"/>
                </a:solidFill>
                <a:latin typeface="Segoe UI"/>
              </a:rPr>
              <a:t>הציבוריות</a:t>
            </a:r>
            <a:r>
              <a:rPr lang="en-US" sz="11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100" b="0" i="0" noProof="0" dirty="0" err="1">
                <a:solidFill>
                  <a:srgbClr val="0F1B24"/>
                </a:solidFill>
                <a:latin typeface="Segoe UI"/>
              </a:rPr>
              <a:t>ייחשפו</a:t>
            </a:r>
            <a:r>
              <a:rPr lang="en-US" sz="1100" b="0" i="0" noProof="0" dirty="0">
                <a:solidFill>
                  <a:srgbClr val="0F1B24"/>
                </a:solidFill>
                <a:latin typeface="Segoe UI"/>
              </a:rPr>
              <a:t>.</a:t>
            </a:r>
            <a:endParaRPr lang="he-IL" sz="1100" b="0" i="0" noProof="0" dirty="0">
              <a:solidFill>
                <a:srgbClr val="0F1B24"/>
              </a:solidFill>
              <a:latin typeface="Segoe UI"/>
            </a:endParaRPr>
          </a:p>
          <a:p>
            <a:pPr algn="r" rtl="1">
              <a:lnSpc>
                <a:spcPct val="106000"/>
              </a:lnSpc>
            </a:pPr>
            <a:endParaRPr lang="he-IL" sz="1100" dirty="0">
              <a:solidFill>
                <a:srgbClr val="0F1B24"/>
              </a:solidFill>
              <a:latin typeface="Segoe UI"/>
            </a:endParaRPr>
          </a:p>
          <a:p>
            <a:pPr algn="r" rtl="1">
              <a:lnSpc>
                <a:spcPct val="106000"/>
              </a:lnSpc>
            </a:pPr>
            <a:r>
              <a:rPr lang="en-US" sz="1000" b="1" dirty="0">
                <a:solidFill>
                  <a:srgbClr val="C4622D"/>
                </a:solidFill>
                <a:latin typeface="Segoe UI"/>
              </a:rPr>
              <a:t>▪  </a:t>
            </a:r>
            <a:r>
              <a:rPr lang="en-US" sz="1050" dirty="0" err="1">
                <a:solidFill>
                  <a:srgbClr val="0F1B24"/>
                </a:solidFill>
                <a:latin typeface="Segoe UI"/>
              </a:rPr>
              <a:t>מתודה</a:t>
            </a:r>
            <a:r>
              <a:rPr lang="en-US" sz="105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050" dirty="0" err="1">
                <a:solidFill>
                  <a:srgbClr val="0F1B24"/>
                </a:solidFill>
                <a:latin typeface="Segoe UI"/>
              </a:rPr>
              <a:t>עם</a:t>
            </a:r>
            <a:r>
              <a:rPr lang="en-US" sz="1050" dirty="0">
                <a:solidFill>
                  <a:srgbClr val="0F1B24"/>
                </a:solidFill>
                <a:latin typeface="Segoe UI"/>
              </a:rPr>
              <a:t> ‏‎@WebMethod‏ </a:t>
            </a:r>
            <a:r>
              <a:rPr lang="en-US" sz="1050" dirty="0" err="1">
                <a:solidFill>
                  <a:srgbClr val="0F1B24"/>
                </a:solidFill>
                <a:latin typeface="Segoe UI"/>
              </a:rPr>
              <a:t>אינה</a:t>
            </a:r>
            <a:r>
              <a:rPr lang="en-US" sz="105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050" dirty="0" err="1">
                <a:solidFill>
                  <a:srgbClr val="0F1B24"/>
                </a:solidFill>
                <a:latin typeface="Segoe UI"/>
              </a:rPr>
              <a:t>יכולה</a:t>
            </a:r>
            <a:r>
              <a:rPr lang="en-US" sz="105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050" dirty="0" err="1">
                <a:solidFill>
                  <a:srgbClr val="0F1B24"/>
                </a:solidFill>
                <a:latin typeface="Segoe UI"/>
              </a:rPr>
              <a:t>להיות</a:t>
            </a:r>
            <a:r>
              <a:rPr lang="en-US" sz="1050" dirty="0">
                <a:solidFill>
                  <a:srgbClr val="0F1B24"/>
                </a:solidFill>
                <a:latin typeface="Segoe UI"/>
              </a:rPr>
              <a:t> ‏static‏ — </a:t>
            </a:r>
            <a:r>
              <a:rPr lang="en-US" sz="1050" dirty="0" err="1">
                <a:solidFill>
                  <a:srgbClr val="0F1B24"/>
                </a:solidFill>
                <a:latin typeface="Segoe UI"/>
              </a:rPr>
              <a:t>נדרש</a:t>
            </a:r>
            <a:r>
              <a:rPr lang="en-US" sz="105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050" dirty="0" err="1">
                <a:solidFill>
                  <a:srgbClr val="0F1B24"/>
                </a:solidFill>
                <a:latin typeface="Segoe UI"/>
              </a:rPr>
              <a:t>אובייקט</a:t>
            </a:r>
            <a:r>
              <a:rPr lang="en-US" sz="105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050" dirty="0" err="1">
                <a:solidFill>
                  <a:srgbClr val="0F1B24"/>
                </a:solidFill>
                <a:latin typeface="Segoe UI"/>
              </a:rPr>
              <a:t>של</a:t>
            </a:r>
            <a:r>
              <a:rPr lang="en-US" sz="105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050" dirty="0" err="1">
                <a:solidFill>
                  <a:srgbClr val="0F1B24"/>
                </a:solidFill>
                <a:latin typeface="Segoe UI"/>
              </a:rPr>
              <a:t>מחלקת</a:t>
            </a:r>
            <a:r>
              <a:rPr lang="en-US" sz="105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050" dirty="0" err="1">
                <a:solidFill>
                  <a:srgbClr val="0F1B24"/>
                </a:solidFill>
                <a:latin typeface="Segoe UI"/>
              </a:rPr>
              <a:t>השירות</a:t>
            </a:r>
            <a:r>
              <a:rPr lang="en-US" sz="1050" dirty="0">
                <a:solidFill>
                  <a:srgbClr val="0F1B24"/>
                </a:solidFill>
                <a:latin typeface="Segoe UI"/>
              </a:rPr>
              <a:t>.</a:t>
            </a:r>
            <a:endParaRPr lang="he-IL" sz="1050" dirty="0">
              <a:solidFill>
                <a:srgbClr val="0F1B24"/>
              </a:solidFill>
              <a:latin typeface="Segoe UI"/>
            </a:endParaRPr>
          </a:p>
          <a:p>
            <a:pPr algn="r" rtl="1">
              <a:lnSpc>
                <a:spcPct val="106000"/>
              </a:lnSpc>
            </a:pPr>
            <a:endParaRPr lang="he-IL" sz="1100" dirty="0">
              <a:solidFill>
                <a:srgbClr val="0F1B24"/>
              </a:solidFill>
              <a:latin typeface="Segoe UI"/>
            </a:endParaRPr>
          </a:p>
        </p:txBody>
      </p:sp>
      <p:sp>
        <p:nvSpPr>
          <p:cNvPr id="22" name="Rectangle 7 footer22"/>
          <p:cNvSpPr/>
          <p:nvPr/>
        </p:nvSpPr>
        <p:spPr>
          <a:xfrm>
            <a:off x="566928" y="6382512"/>
            <a:ext cx="11064240" cy="10972"/>
          </a:xfrm>
          <a:prstGeom prst="rect">
            <a:avLst/>
          </a:prstGeom>
          <a:solidFill>
            <a:srgbClr val="E3EA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23" name="TextBox 8 footer23"/>
          <p:cNvSpPr txBox="1"/>
          <p:nvPr/>
        </p:nvSpPr>
        <p:spPr>
          <a:xfrm>
            <a:off x="10424160" y="6473952"/>
            <a:ext cx="1207008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/>
            <a:r>
              <a:rPr lang="en-US" sz="1050" b="0" i="0" noProof="0" dirty="0">
                <a:solidFill>
                  <a:srgbClr val="8D9EA8"/>
                </a:solidFill>
                <a:latin typeface="Segoe UI"/>
              </a:rPr>
              <a:t>‏JAX-WS‏</a:t>
            </a:r>
          </a:p>
        </p:txBody>
      </p:sp>
      <p:sp>
        <p:nvSpPr>
          <p:cNvPr id="24" name="TextBox 9 footer24"/>
          <p:cNvSpPr txBox="1"/>
          <p:nvPr/>
        </p:nvSpPr>
        <p:spPr>
          <a:xfrm>
            <a:off x="566928" y="6473952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rtl="0"/>
            <a:r>
              <a:rPr lang="en-US" sz="1050" b="0" i="0" noProof="0" dirty="0">
                <a:solidFill>
                  <a:srgbClr val="8D9EA8"/>
                </a:solidFill>
                <a:latin typeface="Segoe UI"/>
              </a:rPr>
              <a:t>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91440"/>
          </a:xfrm>
          <a:prstGeom prst="rect">
            <a:avLst/>
          </a:prstGeom>
          <a:solidFill>
            <a:srgbClr val="0D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5" name="TextBox 4"/>
          <p:cNvSpPr txBox="1"/>
          <p:nvPr/>
        </p:nvSpPr>
        <p:spPr>
          <a:xfrm>
            <a:off x="566928" y="548640"/>
            <a:ext cx="1106424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/>
            <a:r>
              <a:rPr lang="en-US" sz="2800" b="1" i="0" noProof="0" dirty="0">
                <a:solidFill>
                  <a:srgbClr val="0D4A5C"/>
                </a:solidFill>
                <a:latin typeface="Segoe UI"/>
              </a:rPr>
              <a:t>‏JAX-WS‏ — </a:t>
            </a:r>
            <a:r>
              <a:rPr lang="en-US" sz="2800" b="1" i="0" noProof="0" dirty="0" err="1">
                <a:solidFill>
                  <a:srgbClr val="0D4A5C"/>
                </a:solidFill>
                <a:latin typeface="Segoe UI"/>
              </a:rPr>
              <a:t>צד</a:t>
            </a:r>
            <a:r>
              <a:rPr lang="en-US" sz="2800" b="1" i="0" noProof="0" dirty="0">
                <a:solidFill>
                  <a:srgbClr val="0D4A5C"/>
                </a:solidFill>
                <a:latin typeface="Segoe UI"/>
              </a:rPr>
              <a:t> </a:t>
            </a:r>
            <a:r>
              <a:rPr lang="en-US" sz="2800" b="1" i="0" noProof="0" dirty="0" err="1">
                <a:solidFill>
                  <a:srgbClr val="0D4A5C"/>
                </a:solidFill>
                <a:latin typeface="Segoe UI"/>
              </a:rPr>
              <a:t>הלקוח</a:t>
            </a:r>
            <a:r>
              <a:rPr lang="en-US" sz="2800" b="1" i="0" noProof="0" dirty="0">
                <a:solidFill>
                  <a:srgbClr val="0D4A5C"/>
                </a:solidFill>
                <a:latin typeface="Segoe UI"/>
              </a:rPr>
              <a:t> </a:t>
            </a:r>
            <a:r>
              <a:rPr lang="en-US" sz="2800" b="1" i="0" noProof="0" dirty="0" err="1">
                <a:solidFill>
                  <a:srgbClr val="0D4A5C"/>
                </a:solidFill>
                <a:latin typeface="Segoe UI"/>
              </a:rPr>
              <a:t>ובדיקה</a:t>
            </a:r>
            <a:endParaRPr lang="en-US" sz="2800" b="1" i="0" noProof="0" dirty="0">
              <a:solidFill>
                <a:srgbClr val="0D4A5C"/>
              </a:solidFill>
              <a:latin typeface="Segoe U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66928" y="1097280"/>
            <a:ext cx="110642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/>
            <a:r>
              <a:rPr lang="en-US" sz="1450" b="0" i="0" noProof="0" dirty="0" err="1">
                <a:solidFill>
                  <a:srgbClr val="5A6B75"/>
                </a:solidFill>
                <a:latin typeface="Segoe UI"/>
              </a:rPr>
              <a:t>מה</a:t>
            </a:r>
            <a:r>
              <a:rPr lang="en-US" sz="1450" b="0" i="0" noProof="0" dirty="0">
                <a:solidFill>
                  <a:srgbClr val="5A6B75"/>
                </a:solidFill>
                <a:latin typeface="Segoe UI"/>
              </a:rPr>
              <a:t>-‏WSDL‏ </a:t>
            </a:r>
            <a:r>
              <a:rPr lang="en-US" sz="1450" b="0" i="0" noProof="0" dirty="0" err="1">
                <a:solidFill>
                  <a:srgbClr val="5A6B75"/>
                </a:solidFill>
                <a:latin typeface="Segoe UI"/>
              </a:rPr>
              <a:t>אל</a:t>
            </a:r>
            <a:r>
              <a:rPr lang="en-US" sz="145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450" b="0" i="0" noProof="0" dirty="0" err="1">
                <a:solidFill>
                  <a:srgbClr val="5A6B75"/>
                </a:solidFill>
                <a:latin typeface="Segoe UI"/>
              </a:rPr>
              <a:t>מחלקת</a:t>
            </a:r>
            <a:r>
              <a:rPr lang="en-US" sz="1450" b="0" i="0" noProof="0" dirty="0">
                <a:solidFill>
                  <a:srgbClr val="5A6B75"/>
                </a:solidFill>
                <a:latin typeface="Segoe UI"/>
              </a:rPr>
              <a:t> ‏proxy‏: </a:t>
            </a:r>
            <a:r>
              <a:rPr lang="en-US" sz="1450" b="0" i="0" noProof="0" dirty="0" err="1">
                <a:solidFill>
                  <a:srgbClr val="5A6B75"/>
                </a:solidFill>
                <a:latin typeface="Segoe UI"/>
              </a:rPr>
              <a:t>קריאה</a:t>
            </a:r>
            <a:r>
              <a:rPr lang="en-US" sz="145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450" b="0" i="0" noProof="0" dirty="0" err="1">
                <a:solidFill>
                  <a:srgbClr val="5A6B75"/>
                </a:solidFill>
                <a:latin typeface="Segoe UI"/>
              </a:rPr>
              <a:t>מרוחקת</a:t>
            </a:r>
            <a:r>
              <a:rPr lang="en-US" sz="145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450" b="0" i="0" noProof="0" dirty="0" err="1">
                <a:solidFill>
                  <a:srgbClr val="5A6B75"/>
                </a:solidFill>
                <a:latin typeface="Segoe UI"/>
              </a:rPr>
              <a:t>שנראית</a:t>
            </a:r>
            <a:r>
              <a:rPr lang="en-US" sz="145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450" b="0" i="0" noProof="0" dirty="0" err="1">
                <a:solidFill>
                  <a:srgbClr val="5A6B75"/>
                </a:solidFill>
                <a:latin typeface="Segoe UI"/>
              </a:rPr>
              <a:t>כמו</a:t>
            </a:r>
            <a:r>
              <a:rPr lang="en-US" sz="145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450" b="0" i="0" noProof="0" dirty="0" err="1">
                <a:solidFill>
                  <a:srgbClr val="5A6B75"/>
                </a:solidFill>
                <a:latin typeface="Segoe UI"/>
              </a:rPr>
              <a:t>קריאה</a:t>
            </a:r>
            <a:r>
              <a:rPr lang="en-US" sz="145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450" b="0" i="0" noProof="0" dirty="0" err="1">
                <a:solidFill>
                  <a:srgbClr val="5A6B75"/>
                </a:solidFill>
                <a:latin typeface="Segoe UI"/>
              </a:rPr>
              <a:t>מקומית</a:t>
            </a:r>
            <a:endParaRPr lang="en-US" sz="1450" b="0" i="0" noProof="0" dirty="0">
              <a:solidFill>
                <a:srgbClr val="5A6B75"/>
              </a:solidFill>
              <a:latin typeface="Segoe UI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0955045" y="493776"/>
            <a:ext cx="676833" cy="45719"/>
          </a:xfrm>
          <a:prstGeom prst="rect">
            <a:avLst/>
          </a:prstGeom>
          <a:solidFill>
            <a:srgbClr val="C4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11" name="Rounded Rectangle 10"/>
          <p:cNvSpPr/>
          <p:nvPr/>
        </p:nvSpPr>
        <p:spPr>
          <a:xfrm>
            <a:off x="6035040" y="1700784"/>
            <a:ext cx="5596128" cy="640080"/>
          </a:xfrm>
          <a:prstGeom prst="roundRect">
            <a:avLst>
              <a:gd name="adj" fmla="val 4000"/>
            </a:avLst>
          </a:prstGeom>
          <a:solidFill>
            <a:srgbClr val="F1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12" name="Rounded Rectangle 11"/>
          <p:cNvSpPr/>
          <p:nvPr/>
        </p:nvSpPr>
        <p:spPr>
          <a:xfrm>
            <a:off x="11137392" y="1856232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D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13" name="TextBox 12"/>
          <p:cNvSpPr txBox="1"/>
          <p:nvPr/>
        </p:nvSpPr>
        <p:spPr>
          <a:xfrm>
            <a:off x="11137392" y="1874520"/>
            <a:ext cx="329184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 rtl="1"/>
            <a:r>
              <a:rPr lang="en-US" sz="1200" b="1" i="0" noProof="0" dirty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99631" y="1783080"/>
            <a:ext cx="4882896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/>
            <a:r>
              <a:rPr lang="en-US" sz="1400" b="1" i="0" noProof="0" dirty="0" err="1">
                <a:solidFill>
                  <a:srgbClr val="0D4A5C"/>
                </a:solidFill>
                <a:latin typeface="Segoe UI"/>
              </a:rPr>
              <a:t>מפנים</a:t>
            </a:r>
            <a:r>
              <a:rPr lang="en-US" sz="1400" b="1" i="0" noProof="0" dirty="0">
                <a:solidFill>
                  <a:srgbClr val="0D4A5C"/>
                </a:solidFill>
                <a:latin typeface="Segoe UI"/>
              </a:rPr>
              <a:t> את </a:t>
            </a:r>
            <a:r>
              <a:rPr lang="en-US" sz="1400" b="1" i="0" noProof="0" dirty="0" err="1">
                <a:solidFill>
                  <a:srgbClr val="0D4A5C"/>
                </a:solidFill>
                <a:latin typeface="Segoe UI"/>
              </a:rPr>
              <a:t>הכלי</a:t>
            </a:r>
            <a:r>
              <a:rPr lang="en-US" sz="1400" b="1" i="0" noProof="0" dirty="0">
                <a:solidFill>
                  <a:srgbClr val="0D4A5C"/>
                </a:solidFill>
                <a:latin typeface="Segoe UI"/>
              </a:rPr>
              <a:t> </a:t>
            </a:r>
            <a:r>
              <a:rPr lang="en-US" sz="1400" b="1" i="0" noProof="0" dirty="0" err="1">
                <a:solidFill>
                  <a:srgbClr val="0D4A5C"/>
                </a:solidFill>
                <a:latin typeface="Segoe UI"/>
              </a:rPr>
              <a:t>אל</a:t>
            </a:r>
            <a:r>
              <a:rPr lang="en-US" sz="1400" b="1" i="0" noProof="0" dirty="0">
                <a:solidFill>
                  <a:srgbClr val="0D4A5C"/>
                </a:solidFill>
                <a:latin typeface="Segoe UI"/>
              </a:rPr>
              <a:t> ה-‏WSDL‏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99631" y="2029968"/>
            <a:ext cx="4882896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/>
            <a:r>
              <a:rPr lang="en-US" sz="1100" b="0" i="0" noProof="0" dirty="0" err="1">
                <a:latin typeface="Segoe UI"/>
              </a:rPr>
              <a:t>בסביבת</a:t>
            </a:r>
            <a:r>
              <a:rPr lang="en-US" sz="1100" b="0" i="0" noProof="0" dirty="0">
                <a:latin typeface="Segoe UI"/>
              </a:rPr>
              <a:t> </a:t>
            </a:r>
            <a:r>
              <a:rPr lang="en-US" sz="1100" b="0" i="0" noProof="0" dirty="0" err="1">
                <a:latin typeface="Segoe UI"/>
              </a:rPr>
              <a:t>הפיתוח</a:t>
            </a:r>
            <a:r>
              <a:rPr lang="en-US" sz="1100" b="0" i="0" noProof="0" dirty="0">
                <a:latin typeface="Segoe UI"/>
              </a:rPr>
              <a:t> </a:t>
            </a:r>
            <a:r>
              <a:rPr lang="en-US" sz="1100" b="0" i="0" noProof="0" dirty="0" err="1">
                <a:latin typeface="Segoe UI"/>
              </a:rPr>
              <a:t>בוחרים</a:t>
            </a:r>
            <a:r>
              <a:rPr lang="en-US" sz="1100" b="0" i="0" noProof="0" dirty="0">
                <a:latin typeface="Segoe UI"/>
              </a:rPr>
              <a:t> ‏New Web Service Client‏ </a:t>
            </a:r>
            <a:r>
              <a:rPr lang="en-US" sz="1100" b="0" i="0" noProof="0" dirty="0" err="1">
                <a:latin typeface="Segoe UI"/>
              </a:rPr>
              <a:t>ומספקים</a:t>
            </a:r>
            <a:r>
              <a:rPr lang="en-US" sz="1100" b="0" i="0" noProof="0" dirty="0">
                <a:latin typeface="Segoe UI"/>
              </a:rPr>
              <a:t> את </a:t>
            </a:r>
            <a:r>
              <a:rPr lang="en-US" sz="1100" b="0" i="0" noProof="0" dirty="0" err="1">
                <a:latin typeface="Segoe UI"/>
              </a:rPr>
              <a:t>כתובת</a:t>
            </a:r>
            <a:r>
              <a:rPr lang="en-US" sz="1100" b="0" i="0" noProof="0" dirty="0">
                <a:latin typeface="Segoe UI"/>
              </a:rPr>
              <a:t> ה-‏‎?WSDL‏.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35040" y="2432304"/>
            <a:ext cx="5596128" cy="640080"/>
          </a:xfrm>
          <a:prstGeom prst="roundRect">
            <a:avLst>
              <a:gd name="adj" fmla="val 4000"/>
            </a:avLst>
          </a:prstGeom>
          <a:solidFill>
            <a:srgbClr val="F1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17" name="Rounded Rectangle 16"/>
          <p:cNvSpPr/>
          <p:nvPr/>
        </p:nvSpPr>
        <p:spPr>
          <a:xfrm>
            <a:off x="11137392" y="2587752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D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18" name="TextBox 17"/>
          <p:cNvSpPr txBox="1"/>
          <p:nvPr/>
        </p:nvSpPr>
        <p:spPr>
          <a:xfrm>
            <a:off x="11137392" y="2606040"/>
            <a:ext cx="329184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 rtl="1"/>
            <a:r>
              <a:rPr lang="en-US" sz="1200" b="1" i="0" noProof="0" dirty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99631" y="2514600"/>
            <a:ext cx="4882896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/>
            <a:r>
              <a:rPr lang="en-US" sz="1400" b="1" i="0" noProof="0" dirty="0" err="1">
                <a:solidFill>
                  <a:srgbClr val="0D4A5C"/>
                </a:solidFill>
                <a:latin typeface="Segoe UI"/>
              </a:rPr>
              <a:t>הכלי</a:t>
            </a:r>
            <a:r>
              <a:rPr lang="en-US" sz="1400" b="1" i="0" noProof="0" dirty="0">
                <a:solidFill>
                  <a:srgbClr val="0D4A5C"/>
                </a:solidFill>
                <a:latin typeface="Segoe UI"/>
              </a:rPr>
              <a:t> </a:t>
            </a:r>
            <a:r>
              <a:rPr lang="en-US" sz="1400" b="1" i="0" noProof="0" dirty="0" err="1">
                <a:solidFill>
                  <a:srgbClr val="0D4A5C"/>
                </a:solidFill>
                <a:latin typeface="Segoe UI"/>
              </a:rPr>
              <a:t>מייצר</a:t>
            </a:r>
            <a:r>
              <a:rPr lang="en-US" sz="1400" b="1" i="0" noProof="0" dirty="0">
                <a:solidFill>
                  <a:srgbClr val="0D4A5C"/>
                </a:solidFill>
                <a:latin typeface="Segoe UI"/>
              </a:rPr>
              <a:t> את </a:t>
            </a:r>
            <a:r>
              <a:rPr lang="en-US" sz="1400" b="1" i="0" noProof="0" dirty="0" err="1">
                <a:solidFill>
                  <a:srgbClr val="0D4A5C"/>
                </a:solidFill>
                <a:latin typeface="Segoe UI"/>
              </a:rPr>
              <a:t>מחלקות</a:t>
            </a:r>
            <a:r>
              <a:rPr lang="en-US" sz="1400" b="1" i="0" noProof="0" dirty="0">
                <a:solidFill>
                  <a:srgbClr val="0D4A5C"/>
                </a:solidFill>
                <a:latin typeface="Segoe UI"/>
              </a:rPr>
              <a:t> </a:t>
            </a:r>
            <a:r>
              <a:rPr lang="en-US" sz="1400" b="1" i="0" noProof="0" dirty="0" err="1">
                <a:solidFill>
                  <a:srgbClr val="0D4A5C"/>
                </a:solidFill>
                <a:latin typeface="Segoe UI"/>
              </a:rPr>
              <a:t>הלקוח</a:t>
            </a:r>
            <a:endParaRPr lang="en-US" sz="1400" b="1" i="0" noProof="0" dirty="0">
              <a:solidFill>
                <a:srgbClr val="0D4A5C"/>
              </a:solidFill>
              <a:latin typeface="Segoe UI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199631" y="2761488"/>
            <a:ext cx="4882896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/>
            <a:r>
              <a:rPr lang="en-US" sz="1100" b="0" i="0" noProof="0" dirty="0" err="1">
                <a:latin typeface="Segoe UI"/>
              </a:rPr>
              <a:t>נוצרים</a:t>
            </a:r>
            <a:r>
              <a:rPr lang="en-US" sz="1100" b="0" i="0" noProof="0" dirty="0">
                <a:latin typeface="Segoe UI"/>
              </a:rPr>
              <a:t> ‏service endpoint interface‏ — </a:t>
            </a:r>
            <a:r>
              <a:rPr lang="en-US" sz="1100" b="0" i="0" noProof="0" dirty="0" err="1">
                <a:latin typeface="Segoe UI"/>
              </a:rPr>
              <a:t>מחלקת</a:t>
            </a:r>
            <a:r>
              <a:rPr lang="en-US" sz="1100" b="0" i="0" noProof="0" dirty="0">
                <a:latin typeface="Segoe UI"/>
              </a:rPr>
              <a:t> ‏proxy‏ — </a:t>
            </a:r>
            <a:r>
              <a:rPr lang="en-US" sz="1100" b="0" i="0" noProof="0" dirty="0" err="1">
                <a:latin typeface="Segoe UI"/>
              </a:rPr>
              <a:t>ומחלקת</a:t>
            </a:r>
            <a:r>
              <a:rPr lang="en-US" sz="1100" b="0" i="0" noProof="0" dirty="0">
                <a:latin typeface="Segoe UI"/>
              </a:rPr>
              <a:t> ‏Service‏.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35040" y="3163824"/>
            <a:ext cx="5596128" cy="640080"/>
          </a:xfrm>
          <a:prstGeom prst="roundRect">
            <a:avLst>
              <a:gd name="adj" fmla="val 4000"/>
            </a:avLst>
          </a:prstGeom>
          <a:solidFill>
            <a:srgbClr val="F1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22" name="Rounded Rectangle 21"/>
          <p:cNvSpPr/>
          <p:nvPr/>
        </p:nvSpPr>
        <p:spPr>
          <a:xfrm>
            <a:off x="11137392" y="3319272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D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23" name="TextBox 22"/>
          <p:cNvSpPr txBox="1"/>
          <p:nvPr/>
        </p:nvSpPr>
        <p:spPr>
          <a:xfrm>
            <a:off x="11137392" y="3337560"/>
            <a:ext cx="329184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 rtl="1"/>
            <a:r>
              <a:rPr lang="en-US" sz="1200" b="1" i="0" noProof="0" dirty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99631" y="3246120"/>
            <a:ext cx="4882896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/>
            <a:r>
              <a:rPr lang="en-US" sz="1400" b="1" i="0" noProof="0" dirty="0" err="1">
                <a:solidFill>
                  <a:srgbClr val="0D4A5C"/>
                </a:solidFill>
                <a:latin typeface="Segoe UI"/>
              </a:rPr>
              <a:t>קוראים</a:t>
            </a:r>
            <a:r>
              <a:rPr lang="en-US" sz="1400" b="1" i="0" noProof="0" dirty="0">
                <a:solidFill>
                  <a:srgbClr val="0D4A5C"/>
                </a:solidFill>
                <a:latin typeface="Segoe UI"/>
              </a:rPr>
              <a:t> </a:t>
            </a:r>
            <a:r>
              <a:rPr lang="en-US" sz="1400" b="1" i="0" noProof="0" dirty="0" err="1">
                <a:solidFill>
                  <a:srgbClr val="0D4A5C"/>
                </a:solidFill>
                <a:latin typeface="Segoe UI"/>
              </a:rPr>
              <a:t>כמו</a:t>
            </a:r>
            <a:r>
              <a:rPr lang="en-US" sz="1400" b="1" i="0" noProof="0" dirty="0">
                <a:solidFill>
                  <a:srgbClr val="0D4A5C"/>
                </a:solidFill>
                <a:latin typeface="Segoe UI"/>
              </a:rPr>
              <a:t> </a:t>
            </a:r>
            <a:r>
              <a:rPr lang="en-US" sz="1400" b="1" i="0" noProof="0" dirty="0" err="1">
                <a:solidFill>
                  <a:srgbClr val="0D4A5C"/>
                </a:solidFill>
                <a:latin typeface="Segoe UI"/>
              </a:rPr>
              <a:t>למתודה</a:t>
            </a:r>
            <a:r>
              <a:rPr lang="en-US" sz="1400" b="1" i="0" noProof="0" dirty="0">
                <a:solidFill>
                  <a:srgbClr val="0D4A5C"/>
                </a:solidFill>
                <a:latin typeface="Segoe UI"/>
              </a:rPr>
              <a:t> </a:t>
            </a:r>
            <a:r>
              <a:rPr lang="en-US" sz="1400" b="1" i="0" noProof="0" dirty="0" err="1">
                <a:solidFill>
                  <a:srgbClr val="0D4A5C"/>
                </a:solidFill>
                <a:latin typeface="Segoe UI"/>
              </a:rPr>
              <a:t>מקומית</a:t>
            </a:r>
            <a:endParaRPr lang="en-US" sz="1400" b="1" i="0" noProof="0" dirty="0">
              <a:solidFill>
                <a:srgbClr val="0D4A5C"/>
              </a:solidFill>
              <a:latin typeface="Segoe UI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199631" y="3493008"/>
            <a:ext cx="4882896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/>
            <a:r>
              <a:rPr lang="en-US" sz="1100" b="0" i="0" noProof="0" dirty="0" err="1">
                <a:latin typeface="Segoe UI"/>
              </a:rPr>
              <a:t>מפעילים</a:t>
            </a:r>
            <a:r>
              <a:rPr lang="en-US" sz="1100" b="0" i="0" noProof="0" dirty="0">
                <a:latin typeface="Segoe UI"/>
              </a:rPr>
              <a:t> </a:t>
            </a:r>
            <a:r>
              <a:rPr lang="en-US" sz="1100" b="0" i="0" noProof="0" dirty="0" err="1">
                <a:latin typeface="Segoe UI"/>
              </a:rPr>
              <a:t>מתודה</a:t>
            </a:r>
            <a:r>
              <a:rPr lang="en-US" sz="1100" b="0" i="0" noProof="0" dirty="0">
                <a:latin typeface="Segoe UI"/>
              </a:rPr>
              <a:t> </a:t>
            </a:r>
            <a:r>
              <a:rPr lang="en-US" sz="1100" b="0" i="0" noProof="0" dirty="0" err="1">
                <a:latin typeface="Segoe UI"/>
              </a:rPr>
              <a:t>על</a:t>
            </a:r>
            <a:r>
              <a:rPr lang="en-US" sz="1100" b="0" i="0" noProof="0" dirty="0">
                <a:latin typeface="Segoe UI"/>
              </a:rPr>
              <a:t> </a:t>
            </a:r>
            <a:r>
              <a:rPr lang="en-US" sz="1100" b="0" i="0" noProof="0" dirty="0" err="1">
                <a:latin typeface="Segoe UI"/>
              </a:rPr>
              <a:t>אובייקט</a:t>
            </a:r>
            <a:r>
              <a:rPr lang="en-US" sz="1100" b="0" i="0" noProof="0" dirty="0">
                <a:latin typeface="Segoe UI"/>
              </a:rPr>
              <a:t> ה-‏proxy‏; ה-‏SOAP‏ </a:t>
            </a:r>
            <a:r>
              <a:rPr lang="en-US" sz="1100" b="0" i="0" noProof="0" dirty="0" err="1">
                <a:latin typeface="Segoe UI"/>
              </a:rPr>
              <a:t>נבנה</a:t>
            </a:r>
            <a:r>
              <a:rPr lang="en-US" sz="1100" b="0" i="0" noProof="0" dirty="0">
                <a:latin typeface="Segoe UI"/>
              </a:rPr>
              <a:t> </a:t>
            </a:r>
            <a:r>
              <a:rPr lang="en-US" sz="1100" b="0" i="0" noProof="0" dirty="0" err="1">
                <a:latin typeface="Segoe UI"/>
              </a:rPr>
              <a:t>ומפוענח</a:t>
            </a:r>
            <a:r>
              <a:rPr lang="en-US" sz="1100" b="0" i="0" noProof="0" dirty="0">
                <a:latin typeface="Segoe UI"/>
              </a:rPr>
              <a:t> </a:t>
            </a:r>
            <a:r>
              <a:rPr lang="en-US" sz="1100" b="0" i="0" noProof="0" dirty="0" err="1">
                <a:latin typeface="Segoe UI"/>
              </a:rPr>
              <a:t>מאחורי</a:t>
            </a:r>
            <a:r>
              <a:rPr lang="en-US" sz="1100" b="0" i="0" noProof="0" dirty="0">
                <a:latin typeface="Segoe UI"/>
              </a:rPr>
              <a:t> </a:t>
            </a:r>
            <a:r>
              <a:rPr lang="en-US" sz="1100" b="0" i="0" noProof="0" dirty="0" err="1">
                <a:latin typeface="Segoe UI"/>
              </a:rPr>
              <a:t>הקלעים</a:t>
            </a:r>
            <a:r>
              <a:rPr lang="en-US" sz="1100" b="0" i="0" noProof="0" dirty="0">
                <a:latin typeface="Segoe UI"/>
              </a:rPr>
              <a:t>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035040" y="3913632"/>
            <a:ext cx="5596128" cy="877824"/>
          </a:xfrm>
          <a:prstGeom prst="roundRect">
            <a:avLst>
              <a:gd name="adj" fmla="val 3500"/>
            </a:avLst>
          </a:prstGeom>
          <a:solidFill>
            <a:srgbClr val="0B2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27" name="Rounded Rectangle 26"/>
          <p:cNvSpPr/>
          <p:nvPr/>
        </p:nvSpPr>
        <p:spPr>
          <a:xfrm>
            <a:off x="6035040" y="3913632"/>
            <a:ext cx="5596128" cy="274320"/>
          </a:xfrm>
          <a:prstGeom prst="roundRect">
            <a:avLst>
              <a:gd name="adj" fmla="val 9000"/>
            </a:avLst>
          </a:prstGeom>
          <a:solidFill>
            <a:srgbClr val="1139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28" name="Rectangle 27"/>
          <p:cNvSpPr/>
          <p:nvPr/>
        </p:nvSpPr>
        <p:spPr>
          <a:xfrm>
            <a:off x="6035040" y="4078224"/>
            <a:ext cx="5596128" cy="109728"/>
          </a:xfrm>
          <a:prstGeom prst="rect">
            <a:avLst/>
          </a:prstGeom>
          <a:solidFill>
            <a:srgbClr val="1139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29" name="TextBox 28"/>
          <p:cNvSpPr txBox="1"/>
          <p:nvPr/>
        </p:nvSpPr>
        <p:spPr>
          <a:xfrm>
            <a:off x="6181344" y="3963924"/>
            <a:ext cx="486460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rtl="0"/>
            <a:r>
              <a:rPr lang="en-US" sz="950" b="1" i="0" noProof="0" dirty="0" err="1">
                <a:solidFill>
                  <a:srgbClr val="6FA8B8"/>
                </a:solidFill>
                <a:latin typeface="Consolas"/>
              </a:rPr>
              <a:t>שורת</a:t>
            </a:r>
            <a:r>
              <a:rPr lang="en-US" sz="950" b="1" i="0" noProof="0" dirty="0">
                <a:solidFill>
                  <a:srgbClr val="6FA8B8"/>
                </a:solidFill>
                <a:latin typeface="Consolas"/>
              </a:rPr>
              <a:t> </a:t>
            </a:r>
            <a:r>
              <a:rPr lang="en-US" sz="950" b="1" i="0" noProof="0" dirty="0" err="1">
                <a:solidFill>
                  <a:srgbClr val="6FA8B8"/>
                </a:solidFill>
                <a:latin typeface="Consolas"/>
              </a:rPr>
              <a:t>הפקודה</a:t>
            </a:r>
            <a:r>
              <a:rPr lang="en-US" sz="950" b="1" i="0" noProof="0" dirty="0">
                <a:solidFill>
                  <a:srgbClr val="6FA8B8"/>
                </a:solidFill>
                <a:latin typeface="Consolas"/>
              </a:rPr>
              <a:t> — </a:t>
            </a:r>
            <a:r>
              <a:rPr lang="en-US" sz="950" b="1" i="0" noProof="0" dirty="0" err="1">
                <a:solidFill>
                  <a:srgbClr val="6FA8B8"/>
                </a:solidFill>
                <a:latin typeface="Consolas"/>
              </a:rPr>
              <a:t>אם</a:t>
            </a:r>
            <a:r>
              <a:rPr lang="en-US" sz="950" b="1" i="0" noProof="0" dirty="0">
                <a:solidFill>
                  <a:srgbClr val="6FA8B8"/>
                </a:solidFill>
                <a:latin typeface="Consolas"/>
              </a:rPr>
              <a:t> </a:t>
            </a:r>
            <a:r>
              <a:rPr lang="en-US" sz="950" b="1" i="0" noProof="0" dirty="0" err="1">
                <a:solidFill>
                  <a:srgbClr val="6FA8B8"/>
                </a:solidFill>
                <a:latin typeface="Consolas"/>
              </a:rPr>
              <a:t>לא</a:t>
            </a:r>
            <a:r>
              <a:rPr lang="en-US" sz="950" b="1" i="0" noProof="0" dirty="0">
                <a:solidFill>
                  <a:srgbClr val="6FA8B8"/>
                </a:solidFill>
                <a:latin typeface="Consolas"/>
              </a:rPr>
              <a:t> </a:t>
            </a:r>
            <a:r>
              <a:rPr lang="en-US" sz="950" b="1" i="0" noProof="0" dirty="0" err="1">
                <a:solidFill>
                  <a:srgbClr val="6FA8B8"/>
                </a:solidFill>
                <a:latin typeface="Consolas"/>
              </a:rPr>
              <a:t>עובדים</a:t>
            </a:r>
            <a:r>
              <a:rPr lang="en-US" sz="950" b="1" i="0" noProof="0" dirty="0">
                <a:solidFill>
                  <a:srgbClr val="6FA8B8"/>
                </a:solidFill>
                <a:latin typeface="Consolas"/>
              </a:rPr>
              <a:t> </a:t>
            </a:r>
            <a:r>
              <a:rPr lang="en-US" sz="950" b="1" i="0" noProof="0" dirty="0" err="1">
                <a:solidFill>
                  <a:srgbClr val="6FA8B8"/>
                </a:solidFill>
                <a:latin typeface="Consolas"/>
              </a:rPr>
              <a:t>מתוך</a:t>
            </a:r>
            <a:r>
              <a:rPr lang="en-US" sz="950" b="1" i="0" noProof="0" dirty="0">
                <a:solidFill>
                  <a:srgbClr val="6FA8B8"/>
                </a:solidFill>
                <a:latin typeface="Consolas"/>
              </a:rPr>
              <a:t> IDE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1228832" y="4018788"/>
            <a:ext cx="256032" cy="68580"/>
          </a:xfrm>
          <a:prstGeom prst="roundRect">
            <a:avLst>
              <a:gd name="adj" fmla="val 50000"/>
            </a:avLst>
          </a:prstGeom>
          <a:solidFill>
            <a:srgbClr val="C4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31" name="TextBox 30"/>
          <p:cNvSpPr txBox="1"/>
          <p:nvPr/>
        </p:nvSpPr>
        <p:spPr>
          <a:xfrm>
            <a:off x="6181344" y="4306824"/>
            <a:ext cx="5303520" cy="3657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rtl="0">
              <a:lnSpc>
                <a:spcPts val="1296"/>
              </a:lnSpc>
            </a:pPr>
            <a:r>
              <a:rPr lang="en-US" sz="900" b="0" noProof="0" dirty="0" err="1">
                <a:solidFill>
                  <a:srgbClr val="DCE8ED"/>
                </a:solidFill>
                <a:latin typeface="Consolas"/>
              </a:rPr>
              <a:t>wsimport</a:t>
            </a:r>
            <a:r>
              <a:rPr lang="en-US" sz="900" b="0" noProof="0" dirty="0">
                <a:solidFill>
                  <a:srgbClr val="DCE8ED"/>
                </a:solidFill>
                <a:latin typeface="Consolas"/>
              </a:rPr>
              <a:t> -keep -p </a:t>
            </a:r>
            <a:r>
              <a:rPr lang="en-US" sz="900" b="0" noProof="0" dirty="0" err="1">
                <a:solidFill>
                  <a:srgbClr val="DCE8ED"/>
                </a:solidFill>
                <a:latin typeface="Consolas"/>
              </a:rPr>
              <a:t>com.example.client</a:t>
            </a:r>
            <a:r>
              <a:rPr lang="en-US" sz="900" b="0" noProof="0" dirty="0">
                <a:solidFill>
                  <a:srgbClr val="DCE8ED"/>
                </a:solidFill>
                <a:latin typeface="Consolas"/>
              </a:rPr>
              <a:t> \</a:t>
            </a:r>
          </a:p>
          <a:p>
            <a:pPr algn="l" rtl="0">
              <a:lnSpc>
                <a:spcPts val="1296"/>
              </a:lnSpc>
            </a:pPr>
            <a:r>
              <a:rPr lang="en-US" sz="900" b="0" noProof="0" dirty="0">
                <a:solidFill>
                  <a:srgbClr val="DCE8ED"/>
                </a:solidFill>
                <a:latin typeface="Consolas"/>
              </a:rPr>
              <a:t>   http://localhost:8080/WelcomeSOAP/WelcomeSOAPService?WSDL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035040" y="4809744"/>
            <a:ext cx="5596128" cy="1371600"/>
          </a:xfrm>
          <a:prstGeom prst="roundRect">
            <a:avLst>
              <a:gd name="adj" fmla="val 3500"/>
            </a:avLst>
          </a:prstGeom>
          <a:solidFill>
            <a:srgbClr val="0B2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33" name="Rounded Rectangle 32"/>
          <p:cNvSpPr/>
          <p:nvPr/>
        </p:nvSpPr>
        <p:spPr>
          <a:xfrm>
            <a:off x="6035040" y="4809744"/>
            <a:ext cx="5596128" cy="274320"/>
          </a:xfrm>
          <a:prstGeom prst="roundRect">
            <a:avLst>
              <a:gd name="adj" fmla="val 9000"/>
            </a:avLst>
          </a:prstGeom>
          <a:solidFill>
            <a:srgbClr val="1139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34" name="Rectangle 33"/>
          <p:cNvSpPr/>
          <p:nvPr/>
        </p:nvSpPr>
        <p:spPr>
          <a:xfrm>
            <a:off x="6035040" y="4974336"/>
            <a:ext cx="5596128" cy="109728"/>
          </a:xfrm>
          <a:prstGeom prst="rect">
            <a:avLst/>
          </a:prstGeom>
          <a:solidFill>
            <a:srgbClr val="1139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35" name="TextBox 34"/>
          <p:cNvSpPr txBox="1"/>
          <p:nvPr/>
        </p:nvSpPr>
        <p:spPr>
          <a:xfrm>
            <a:off x="6181344" y="4860036"/>
            <a:ext cx="486460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rtl="0"/>
            <a:r>
              <a:rPr lang="en-US" sz="950" b="1" i="0" noProof="0" dirty="0">
                <a:solidFill>
                  <a:srgbClr val="6FA8B8"/>
                </a:solidFill>
                <a:latin typeface="Consolas"/>
              </a:rPr>
              <a:t>Client.java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1228832" y="4914900"/>
            <a:ext cx="256032" cy="68580"/>
          </a:xfrm>
          <a:prstGeom prst="roundRect">
            <a:avLst>
              <a:gd name="adj" fmla="val 50000"/>
            </a:avLst>
          </a:prstGeom>
          <a:solidFill>
            <a:srgbClr val="C4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37" name="TextBox 36"/>
          <p:cNvSpPr txBox="1"/>
          <p:nvPr/>
        </p:nvSpPr>
        <p:spPr>
          <a:xfrm>
            <a:off x="6181344" y="5202936"/>
            <a:ext cx="5303520" cy="8595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rtl="0">
              <a:lnSpc>
                <a:spcPts val="1296"/>
              </a:lnSpc>
            </a:pPr>
            <a:r>
              <a:rPr lang="en-US" sz="900" b="0" noProof="0" dirty="0" err="1">
                <a:solidFill>
                  <a:srgbClr val="C9B6E8"/>
                </a:solidFill>
                <a:latin typeface="Consolas"/>
              </a:rPr>
              <a:t>WelcomeSOAPService</a:t>
            </a:r>
            <a:r>
              <a:rPr lang="en-US" sz="900" b="0" noProof="0" dirty="0">
                <a:solidFill>
                  <a:srgbClr val="DCE8ED"/>
                </a:solidFill>
                <a:latin typeface="Consolas"/>
              </a:rPr>
              <a:t> service = </a:t>
            </a:r>
            <a:r>
              <a:rPr lang="en-US" sz="900" b="0" noProof="0" dirty="0">
                <a:solidFill>
                  <a:srgbClr val="7FC7DE"/>
                </a:solidFill>
                <a:latin typeface="Consolas"/>
              </a:rPr>
              <a:t>new</a:t>
            </a:r>
            <a:r>
              <a:rPr lang="en-US" sz="900" b="0" noProof="0" dirty="0">
                <a:solidFill>
                  <a:srgbClr val="DCE8ED"/>
                </a:solidFill>
                <a:latin typeface="Consolas"/>
              </a:rPr>
              <a:t> </a:t>
            </a:r>
            <a:r>
              <a:rPr lang="en-US" sz="900" b="0" noProof="0" dirty="0" err="1">
                <a:solidFill>
                  <a:srgbClr val="C9B6E8"/>
                </a:solidFill>
                <a:latin typeface="Consolas"/>
              </a:rPr>
              <a:t>WelcomeSOAPService</a:t>
            </a:r>
            <a:r>
              <a:rPr lang="en-US" sz="900" b="0" noProof="0" dirty="0">
                <a:solidFill>
                  <a:srgbClr val="DCE8ED"/>
                </a:solidFill>
                <a:latin typeface="Consolas"/>
              </a:rPr>
              <a:t>();</a:t>
            </a:r>
          </a:p>
          <a:p>
            <a:pPr algn="l" rtl="0">
              <a:lnSpc>
                <a:spcPts val="1296"/>
              </a:lnSpc>
            </a:pPr>
            <a:r>
              <a:rPr lang="en-US" sz="900" b="0" noProof="0" dirty="0" err="1">
                <a:solidFill>
                  <a:srgbClr val="C9B6E8"/>
                </a:solidFill>
                <a:latin typeface="Consolas"/>
              </a:rPr>
              <a:t>WelcomeSOAP</a:t>
            </a:r>
            <a:r>
              <a:rPr lang="en-US" sz="900" b="0" noProof="0" dirty="0">
                <a:solidFill>
                  <a:srgbClr val="DCE8ED"/>
                </a:solidFill>
                <a:latin typeface="Consolas"/>
              </a:rPr>
              <a:t> proxy = </a:t>
            </a:r>
            <a:r>
              <a:rPr lang="en-US" sz="900" b="0" noProof="0" dirty="0" err="1">
                <a:solidFill>
                  <a:srgbClr val="DCE8ED"/>
                </a:solidFill>
                <a:latin typeface="Consolas"/>
              </a:rPr>
              <a:t>service.getWelcomeSOAPPort</a:t>
            </a:r>
            <a:r>
              <a:rPr lang="en-US" sz="900" b="0" noProof="0" dirty="0">
                <a:solidFill>
                  <a:srgbClr val="DCE8ED"/>
                </a:solidFill>
                <a:latin typeface="Consolas"/>
              </a:rPr>
              <a:t>();</a:t>
            </a:r>
          </a:p>
          <a:p>
            <a:pPr algn="l" rtl="0">
              <a:lnSpc>
                <a:spcPts val="1296"/>
              </a:lnSpc>
            </a:pPr>
            <a:r>
              <a:rPr lang="en-US" sz="900" noProof="0" dirty="0">
                <a:latin typeface="Consolas"/>
              </a:rPr>
              <a:t> </a:t>
            </a:r>
          </a:p>
          <a:p>
            <a:pPr algn="l" rtl="0">
              <a:lnSpc>
                <a:spcPts val="1296"/>
              </a:lnSpc>
            </a:pPr>
            <a:r>
              <a:rPr lang="en-US" sz="900" b="0" noProof="0" dirty="0">
                <a:solidFill>
                  <a:srgbClr val="C9B6E8"/>
                </a:solidFill>
                <a:latin typeface="Consolas"/>
              </a:rPr>
              <a:t>String</a:t>
            </a:r>
            <a:r>
              <a:rPr lang="en-US" sz="900" b="0" noProof="0" dirty="0">
                <a:solidFill>
                  <a:srgbClr val="DCE8ED"/>
                </a:solidFill>
                <a:latin typeface="Consolas"/>
              </a:rPr>
              <a:t> result = </a:t>
            </a:r>
            <a:r>
              <a:rPr lang="en-US" sz="900" b="0" noProof="0" dirty="0" err="1">
                <a:solidFill>
                  <a:srgbClr val="DCE8ED"/>
                </a:solidFill>
                <a:latin typeface="Consolas"/>
              </a:rPr>
              <a:t>proxy.welcome</a:t>
            </a:r>
            <a:r>
              <a:rPr lang="en-US" sz="900" b="0" noProof="0" dirty="0">
                <a:solidFill>
                  <a:srgbClr val="DCE8ED"/>
                </a:solidFill>
                <a:latin typeface="Consolas"/>
              </a:rPr>
              <a:t>(</a:t>
            </a:r>
            <a:r>
              <a:rPr lang="en-US" sz="900" b="0" noProof="0" dirty="0">
                <a:solidFill>
                  <a:srgbClr val="9FD1A0"/>
                </a:solidFill>
                <a:latin typeface="Consolas"/>
              </a:rPr>
              <a:t>"Paul"</a:t>
            </a:r>
            <a:r>
              <a:rPr lang="en-US" sz="900" b="0" noProof="0" dirty="0">
                <a:solidFill>
                  <a:srgbClr val="DCE8ED"/>
                </a:solidFill>
                <a:latin typeface="Consolas"/>
              </a:rPr>
              <a:t>);</a:t>
            </a:r>
          </a:p>
          <a:p>
            <a:pPr algn="l" rtl="0">
              <a:lnSpc>
                <a:spcPts val="1296"/>
              </a:lnSpc>
            </a:pPr>
            <a:r>
              <a:rPr lang="en-US" sz="900" b="0" noProof="0" dirty="0">
                <a:solidFill>
                  <a:srgbClr val="6F8894"/>
                </a:solidFill>
                <a:latin typeface="Consolas"/>
              </a:rPr>
              <a:t>// Welcome to JAX-WS web services with SOAP, Paul!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97576" y="1222792"/>
            <a:ext cx="2234619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/>
            <a:r>
              <a:rPr lang="en-US" sz="1400" b="1" i="0" noProof="0" dirty="0" err="1">
                <a:solidFill>
                  <a:srgbClr val="0D4A5C"/>
                </a:solidFill>
                <a:latin typeface="Segoe UI"/>
              </a:rPr>
              <a:t>בודקים</a:t>
            </a:r>
            <a:r>
              <a:rPr lang="en-US" sz="1400" b="1" i="0" noProof="0" dirty="0">
                <a:solidFill>
                  <a:srgbClr val="0D4A5C"/>
                </a:solidFill>
                <a:latin typeface="Segoe UI"/>
              </a:rPr>
              <a:t> </a:t>
            </a:r>
            <a:r>
              <a:rPr lang="en-US" sz="1400" b="1" i="0" noProof="0" dirty="0" err="1">
                <a:solidFill>
                  <a:srgbClr val="0D4A5C"/>
                </a:solidFill>
                <a:latin typeface="Segoe UI"/>
              </a:rPr>
              <a:t>בלי</a:t>
            </a:r>
            <a:r>
              <a:rPr lang="en-US" sz="1400" b="1" i="0" noProof="0" dirty="0">
                <a:solidFill>
                  <a:srgbClr val="0D4A5C"/>
                </a:solidFill>
                <a:latin typeface="Segoe UI"/>
              </a:rPr>
              <a:t> </a:t>
            </a:r>
            <a:r>
              <a:rPr lang="en-US" sz="1400" b="1" i="0" noProof="0" dirty="0" err="1">
                <a:solidFill>
                  <a:srgbClr val="0D4A5C"/>
                </a:solidFill>
                <a:latin typeface="Segoe UI"/>
              </a:rPr>
              <a:t>לכתוב</a:t>
            </a:r>
            <a:r>
              <a:rPr lang="en-US" sz="1400" b="1" i="0" noProof="0" dirty="0">
                <a:solidFill>
                  <a:srgbClr val="0D4A5C"/>
                </a:solidFill>
                <a:latin typeface="Segoe UI"/>
              </a:rPr>
              <a:t> </a:t>
            </a:r>
            <a:r>
              <a:rPr lang="en-US" sz="1400" b="1" i="0" noProof="0" dirty="0" err="1">
                <a:solidFill>
                  <a:srgbClr val="0D4A5C"/>
                </a:solidFill>
                <a:latin typeface="Segoe UI"/>
              </a:rPr>
              <a:t>לקוח</a:t>
            </a:r>
            <a:r>
              <a:rPr lang="en-US" sz="1400" b="1" i="0" noProof="0" dirty="0">
                <a:solidFill>
                  <a:srgbClr val="0D4A5C"/>
                </a:solidFill>
                <a:latin typeface="Segoe UI"/>
              </a:rPr>
              <a:t> </a:t>
            </a:r>
            <a:r>
              <a:rPr lang="en-US" sz="1400" b="1" i="0" noProof="0" dirty="0" err="1">
                <a:solidFill>
                  <a:srgbClr val="0D4A5C"/>
                </a:solidFill>
                <a:latin typeface="Segoe UI"/>
              </a:rPr>
              <a:t>בכלל</a:t>
            </a:r>
            <a:endParaRPr lang="en-US" sz="1400" b="1" i="0" noProof="0" dirty="0">
              <a:solidFill>
                <a:srgbClr val="0D4A5C"/>
              </a:solidFill>
              <a:latin typeface="Segoe UI"/>
            </a:endParaRPr>
          </a:p>
        </p:txBody>
      </p:sp>
      <p:pic>
        <p:nvPicPr>
          <p:cNvPr id="39" name="Picture 38" descr="img_6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832" y="2007046"/>
            <a:ext cx="4297680" cy="1732850"/>
          </a:xfrm>
          <a:prstGeom prst="rect">
            <a:avLst/>
          </a:prstGeom>
        </p:spPr>
      </p:pic>
      <p:sp>
        <p:nvSpPr>
          <p:cNvPr id="40" name="Rectangle 39"/>
          <p:cNvSpPr/>
          <p:nvPr/>
        </p:nvSpPr>
        <p:spPr>
          <a:xfrm>
            <a:off x="544068" y="1970532"/>
            <a:ext cx="4343400" cy="1778570"/>
          </a:xfrm>
          <a:prstGeom prst="rect">
            <a:avLst/>
          </a:prstGeom>
          <a:noFill/>
          <a:ln w="15875">
            <a:solidFill>
              <a:srgbClr val="E3EA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41" name="TextBox 40"/>
          <p:cNvSpPr txBox="1"/>
          <p:nvPr/>
        </p:nvSpPr>
        <p:spPr>
          <a:xfrm>
            <a:off x="94488" y="3765826"/>
            <a:ext cx="5230368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rtl="1"/>
            <a:r>
              <a:rPr lang="en-US" sz="1050" b="0" i="0" noProof="0" dirty="0" err="1">
                <a:solidFill>
                  <a:srgbClr val="5A6B75"/>
                </a:solidFill>
                <a:latin typeface="Segoe UI"/>
              </a:rPr>
              <a:t>שרת</a:t>
            </a:r>
            <a:r>
              <a:rPr lang="en-US" sz="1050" b="0" i="0" noProof="0" dirty="0">
                <a:solidFill>
                  <a:srgbClr val="5A6B75"/>
                </a:solidFill>
                <a:latin typeface="Segoe UI"/>
              </a:rPr>
              <a:t> ‏</a:t>
            </a:r>
            <a:r>
              <a:rPr lang="en-US" sz="1050" b="0" i="0" noProof="0" dirty="0" err="1">
                <a:solidFill>
                  <a:srgbClr val="5A6B75"/>
                </a:solidFill>
                <a:latin typeface="Segoe UI"/>
              </a:rPr>
              <a:t>GlassFish</a:t>
            </a:r>
            <a:r>
              <a:rPr lang="en-US" sz="1050" b="0" i="0" noProof="0" dirty="0">
                <a:solidFill>
                  <a:srgbClr val="5A6B75"/>
                </a:solidFill>
                <a:latin typeface="Segoe UI"/>
              </a:rPr>
              <a:t>‏ </a:t>
            </a:r>
            <a:r>
              <a:rPr lang="en-US" sz="1050" b="0" i="0" noProof="0" dirty="0" err="1">
                <a:solidFill>
                  <a:srgbClr val="5A6B75"/>
                </a:solidFill>
                <a:latin typeface="Segoe UI"/>
              </a:rPr>
              <a:t>מייצר</a:t>
            </a:r>
            <a:r>
              <a:rPr lang="en-US" sz="105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5A6B75"/>
                </a:solidFill>
                <a:latin typeface="Segoe UI"/>
              </a:rPr>
              <a:t>דף</a:t>
            </a:r>
            <a:r>
              <a:rPr lang="en-US" sz="1050" b="0" i="0" noProof="0" dirty="0">
                <a:solidFill>
                  <a:srgbClr val="5A6B75"/>
                </a:solidFill>
                <a:latin typeface="Segoe UI"/>
              </a:rPr>
              <a:t> ‏Tester‏ </a:t>
            </a:r>
            <a:r>
              <a:rPr lang="en-US" sz="1050" b="0" i="0" noProof="0" dirty="0" err="1">
                <a:solidFill>
                  <a:srgbClr val="5A6B75"/>
                </a:solidFill>
                <a:latin typeface="Segoe UI"/>
              </a:rPr>
              <a:t>לכל</a:t>
            </a:r>
            <a:r>
              <a:rPr lang="en-US" sz="105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5A6B75"/>
                </a:solidFill>
                <a:latin typeface="Segoe UI"/>
              </a:rPr>
              <a:t>שירות</a:t>
            </a:r>
            <a:r>
              <a:rPr lang="en-US" sz="1050" b="0" i="0" noProof="0" dirty="0">
                <a:solidFill>
                  <a:srgbClr val="5A6B75"/>
                </a:solidFill>
                <a:latin typeface="Segoe UI"/>
              </a:rPr>
              <a:t> — </a:t>
            </a:r>
            <a:r>
              <a:rPr lang="en-US" sz="1050" b="0" i="0" noProof="0" dirty="0" err="1">
                <a:solidFill>
                  <a:srgbClr val="5A6B75"/>
                </a:solidFill>
                <a:latin typeface="Segoe UI"/>
              </a:rPr>
              <a:t>מוסיפים</a:t>
            </a:r>
            <a:r>
              <a:rPr lang="en-US" sz="1050" b="0" i="0" noProof="0" dirty="0">
                <a:solidFill>
                  <a:srgbClr val="5A6B75"/>
                </a:solidFill>
                <a:latin typeface="Segoe UI"/>
              </a:rPr>
              <a:t> ‏‎?Tester‏ </a:t>
            </a:r>
            <a:r>
              <a:rPr lang="en-US" sz="1050" b="0" i="0" noProof="0" dirty="0" err="1">
                <a:solidFill>
                  <a:srgbClr val="5A6B75"/>
                </a:solidFill>
                <a:latin typeface="Segoe UI"/>
              </a:rPr>
              <a:t>לכתובת</a:t>
            </a:r>
            <a:endParaRPr lang="en-US" sz="1050" b="0" i="0" noProof="0" dirty="0">
              <a:solidFill>
                <a:srgbClr val="5A6B75"/>
              </a:solidFill>
              <a:latin typeface="Segoe UI"/>
            </a:endParaRPr>
          </a:p>
        </p:txBody>
      </p:sp>
      <p:pic>
        <p:nvPicPr>
          <p:cNvPr id="42" name="Picture 41" descr="img_6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5780" y="4151437"/>
            <a:ext cx="3351276" cy="2079214"/>
          </a:xfrm>
          <a:prstGeom prst="rect">
            <a:avLst/>
          </a:prstGeom>
        </p:spPr>
      </p:pic>
      <p:sp>
        <p:nvSpPr>
          <p:cNvPr id="43" name="Rectangle 42"/>
          <p:cNvSpPr/>
          <p:nvPr/>
        </p:nvSpPr>
        <p:spPr>
          <a:xfrm>
            <a:off x="544068" y="4105718"/>
            <a:ext cx="3291839" cy="2124933"/>
          </a:xfrm>
          <a:prstGeom prst="rect">
            <a:avLst/>
          </a:prstGeom>
          <a:noFill/>
          <a:ln w="15875">
            <a:solidFill>
              <a:srgbClr val="E3EA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44" name="TextBox 43"/>
          <p:cNvSpPr txBox="1"/>
          <p:nvPr/>
        </p:nvSpPr>
        <p:spPr>
          <a:xfrm>
            <a:off x="3968496" y="4402898"/>
            <a:ext cx="1828799" cy="51058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08000"/>
              </a:lnSpc>
            </a:pPr>
            <a:r>
              <a:rPr lang="en-US" sz="1050" b="0" i="0" noProof="0" dirty="0" err="1">
                <a:solidFill>
                  <a:srgbClr val="5A6B75"/>
                </a:solidFill>
                <a:latin typeface="Segoe UI"/>
              </a:rPr>
              <a:t>התוצאה</a:t>
            </a:r>
            <a:r>
              <a:rPr lang="en-US" sz="1050" b="0" i="0" noProof="0" dirty="0">
                <a:solidFill>
                  <a:srgbClr val="5A6B75"/>
                </a:solidFill>
                <a:latin typeface="Segoe UI"/>
              </a:rPr>
              <a:t>: הפרמטר </a:t>
            </a:r>
            <a:r>
              <a:rPr lang="en-US" sz="1050" b="0" i="0" noProof="0" dirty="0" err="1">
                <a:solidFill>
                  <a:srgbClr val="5A6B75"/>
                </a:solidFill>
                <a:latin typeface="Segoe UI"/>
              </a:rPr>
              <a:t>שנשלח</a:t>
            </a:r>
            <a:r>
              <a:rPr lang="en-US" sz="1050" b="0" i="0" noProof="0" dirty="0">
                <a:solidFill>
                  <a:srgbClr val="5A6B75"/>
                </a:solidFill>
                <a:latin typeface="Segoe UI"/>
              </a:rPr>
              <a:t>, </a:t>
            </a:r>
            <a:r>
              <a:rPr lang="en-US" sz="1050" b="0" i="0" noProof="0" dirty="0" err="1">
                <a:solidFill>
                  <a:srgbClr val="5A6B75"/>
                </a:solidFill>
                <a:latin typeface="Segoe UI"/>
              </a:rPr>
              <a:t>והערך</a:t>
            </a:r>
            <a:r>
              <a:rPr lang="en-US" sz="105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5A6B75"/>
                </a:solidFill>
                <a:latin typeface="Segoe UI"/>
              </a:rPr>
              <a:t>שהוחזר</a:t>
            </a:r>
            <a:r>
              <a:rPr lang="en-US" sz="105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5A6B75"/>
                </a:solidFill>
                <a:latin typeface="Segoe UI"/>
              </a:rPr>
              <a:t>מהמתודה</a:t>
            </a:r>
            <a:r>
              <a:rPr lang="en-US" sz="1050" b="0" i="0" noProof="0" dirty="0">
                <a:solidFill>
                  <a:srgbClr val="5A6B75"/>
                </a:solidFill>
                <a:latin typeface="Segoe UI"/>
              </a:rPr>
              <a:t> — </a:t>
            </a:r>
            <a:r>
              <a:rPr lang="en-US" sz="1050" b="0" i="0" noProof="0" dirty="0" err="1">
                <a:solidFill>
                  <a:srgbClr val="5A6B75"/>
                </a:solidFill>
                <a:latin typeface="Segoe UI"/>
              </a:rPr>
              <a:t>הכול</a:t>
            </a:r>
            <a:r>
              <a:rPr lang="en-US" sz="105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5A6B75"/>
                </a:solidFill>
                <a:latin typeface="Segoe UI"/>
              </a:rPr>
              <a:t>בדפדפן</a:t>
            </a:r>
            <a:r>
              <a:rPr lang="en-US" sz="1050" b="0" i="0" noProof="0" dirty="0">
                <a:solidFill>
                  <a:srgbClr val="5A6B75"/>
                </a:solidFill>
                <a:latin typeface="Segoe UI"/>
              </a:rPr>
              <a:t>, </a:t>
            </a:r>
            <a:r>
              <a:rPr lang="en-US" sz="1050" b="0" i="0" noProof="0" dirty="0" err="1">
                <a:solidFill>
                  <a:srgbClr val="5A6B75"/>
                </a:solidFill>
                <a:latin typeface="Segoe UI"/>
              </a:rPr>
              <a:t>בלי</a:t>
            </a:r>
            <a:r>
              <a:rPr lang="en-US" sz="105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5A6B75"/>
                </a:solidFill>
                <a:latin typeface="Segoe UI"/>
              </a:rPr>
              <a:t>לכתוב</a:t>
            </a:r>
            <a:r>
              <a:rPr lang="en-US" sz="105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5A6B75"/>
                </a:solidFill>
                <a:latin typeface="Segoe UI"/>
              </a:rPr>
              <a:t>שורת</a:t>
            </a:r>
            <a:r>
              <a:rPr lang="en-US" sz="105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5A6B75"/>
                </a:solidFill>
                <a:latin typeface="Segoe UI"/>
              </a:rPr>
              <a:t>קוד</a:t>
            </a:r>
            <a:r>
              <a:rPr lang="en-US" sz="1050" b="0" i="0" noProof="0" dirty="0">
                <a:solidFill>
                  <a:srgbClr val="5A6B75"/>
                </a:solidFill>
                <a:latin typeface="Segoe UI"/>
              </a:rPr>
              <a:t>.</a:t>
            </a:r>
          </a:p>
        </p:txBody>
      </p:sp>
      <p:sp>
        <p:nvSpPr>
          <p:cNvPr id="45" name="Rectangle 7 footer45"/>
          <p:cNvSpPr/>
          <p:nvPr/>
        </p:nvSpPr>
        <p:spPr>
          <a:xfrm>
            <a:off x="566928" y="6382512"/>
            <a:ext cx="11064240" cy="10972"/>
          </a:xfrm>
          <a:prstGeom prst="rect">
            <a:avLst/>
          </a:prstGeom>
          <a:solidFill>
            <a:srgbClr val="E3EA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46" name="TextBox 8 footer46"/>
          <p:cNvSpPr txBox="1"/>
          <p:nvPr/>
        </p:nvSpPr>
        <p:spPr>
          <a:xfrm>
            <a:off x="10424160" y="6473952"/>
            <a:ext cx="1207008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/>
            <a:r>
              <a:rPr lang="en-US" sz="1050" b="0" i="0" noProof="0" dirty="0">
                <a:solidFill>
                  <a:srgbClr val="8D9EA8"/>
                </a:solidFill>
                <a:latin typeface="Segoe UI"/>
              </a:rPr>
              <a:t>‏JAX-WS‏</a:t>
            </a:r>
          </a:p>
        </p:txBody>
      </p:sp>
      <p:sp>
        <p:nvSpPr>
          <p:cNvPr id="47" name="TextBox 9 footer47"/>
          <p:cNvSpPr txBox="1"/>
          <p:nvPr/>
        </p:nvSpPr>
        <p:spPr>
          <a:xfrm>
            <a:off x="566928" y="6473952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rtl="0"/>
            <a:r>
              <a:rPr lang="en-US" sz="1050" b="0" i="0" noProof="0" dirty="0">
                <a:solidFill>
                  <a:srgbClr val="8D9EA8"/>
                </a:solidFill>
                <a:latin typeface="Segoe UI"/>
              </a:rPr>
              <a:t>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91440"/>
          </a:xfrm>
          <a:prstGeom prst="rect">
            <a:avLst/>
          </a:prstGeom>
          <a:solidFill>
            <a:srgbClr val="0D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5" name="TextBox 4"/>
          <p:cNvSpPr txBox="1"/>
          <p:nvPr/>
        </p:nvSpPr>
        <p:spPr>
          <a:xfrm>
            <a:off x="566928" y="548640"/>
            <a:ext cx="1106424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/>
            <a:r>
              <a:rPr lang="en-US" sz="2800" b="1" i="0" noProof="0" dirty="0">
                <a:solidFill>
                  <a:srgbClr val="0D4A5C"/>
                </a:solidFill>
                <a:latin typeface="Segoe UI"/>
              </a:rPr>
              <a:t>‏REST‏ — </a:t>
            </a:r>
            <a:r>
              <a:rPr lang="en-US" sz="2800" b="1" i="0" noProof="0" dirty="0" err="1">
                <a:solidFill>
                  <a:srgbClr val="0D4A5C"/>
                </a:solidFill>
                <a:latin typeface="Segoe UI"/>
              </a:rPr>
              <a:t>הסגנון</a:t>
            </a:r>
            <a:r>
              <a:rPr lang="en-US" sz="2800" b="1" i="0" noProof="0" dirty="0">
                <a:solidFill>
                  <a:srgbClr val="0D4A5C"/>
                </a:solidFill>
                <a:latin typeface="Segoe UI"/>
              </a:rPr>
              <a:t> </a:t>
            </a:r>
            <a:r>
              <a:rPr lang="en-US" sz="2800" b="1" i="0" noProof="0" dirty="0" err="1">
                <a:solidFill>
                  <a:srgbClr val="0D4A5C"/>
                </a:solidFill>
                <a:latin typeface="Segoe UI"/>
              </a:rPr>
              <a:t>הארכיטקטוני</a:t>
            </a:r>
            <a:endParaRPr lang="en-US" sz="2800" b="1" i="0" noProof="0" dirty="0">
              <a:solidFill>
                <a:srgbClr val="0D4A5C"/>
              </a:solidFill>
              <a:latin typeface="Segoe U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66928" y="1097280"/>
            <a:ext cx="110642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/>
            <a:r>
              <a:rPr lang="en-US" sz="1450" b="0" i="0" noProof="0" dirty="0">
                <a:solidFill>
                  <a:srgbClr val="5A6B75"/>
                </a:solidFill>
                <a:latin typeface="Segoe UI"/>
              </a:rPr>
              <a:t>‏Representational State Transfer‏: </a:t>
            </a:r>
            <a:r>
              <a:rPr lang="en-US" sz="1450" b="0" i="0" noProof="0" dirty="0" err="1">
                <a:solidFill>
                  <a:srgbClr val="5A6B75"/>
                </a:solidFill>
                <a:latin typeface="Segoe UI"/>
              </a:rPr>
              <a:t>לא</a:t>
            </a:r>
            <a:r>
              <a:rPr lang="en-US" sz="145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450" b="0" i="0" noProof="0" dirty="0" err="1">
                <a:solidFill>
                  <a:srgbClr val="5A6B75"/>
                </a:solidFill>
                <a:latin typeface="Segoe UI"/>
              </a:rPr>
              <a:t>תקן</a:t>
            </a:r>
            <a:r>
              <a:rPr lang="en-US" sz="145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450" b="0" i="0" noProof="0" dirty="0" err="1">
                <a:solidFill>
                  <a:srgbClr val="5A6B75"/>
                </a:solidFill>
                <a:latin typeface="Segoe UI"/>
              </a:rPr>
              <a:t>ולא</a:t>
            </a:r>
            <a:r>
              <a:rPr lang="en-US" sz="145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450" b="0" i="0" noProof="0" dirty="0" err="1">
                <a:solidFill>
                  <a:srgbClr val="5A6B75"/>
                </a:solidFill>
                <a:latin typeface="Segoe UI"/>
              </a:rPr>
              <a:t>ספרייה</a:t>
            </a:r>
            <a:r>
              <a:rPr lang="en-US" sz="1450" b="0" i="0" noProof="0" dirty="0">
                <a:solidFill>
                  <a:srgbClr val="5A6B75"/>
                </a:solidFill>
                <a:latin typeface="Segoe UI"/>
              </a:rPr>
              <a:t>, </a:t>
            </a:r>
            <a:r>
              <a:rPr lang="en-US" sz="1450" b="0" i="0" noProof="0" dirty="0" err="1">
                <a:solidFill>
                  <a:srgbClr val="5A6B75"/>
                </a:solidFill>
                <a:latin typeface="Segoe UI"/>
              </a:rPr>
              <a:t>אלא</a:t>
            </a:r>
            <a:r>
              <a:rPr lang="en-US" sz="145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450" b="0" i="0" noProof="0" dirty="0" err="1">
                <a:solidFill>
                  <a:srgbClr val="5A6B75"/>
                </a:solidFill>
                <a:latin typeface="Segoe UI"/>
              </a:rPr>
              <a:t>שישה</a:t>
            </a:r>
            <a:r>
              <a:rPr lang="en-US" sz="145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450" b="0" i="0" noProof="0" dirty="0" err="1">
                <a:solidFill>
                  <a:srgbClr val="5A6B75"/>
                </a:solidFill>
                <a:latin typeface="Segoe UI"/>
              </a:rPr>
              <a:t>אילוצים</a:t>
            </a:r>
            <a:r>
              <a:rPr lang="en-US" sz="145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450" b="0" i="0" noProof="0" dirty="0" err="1">
                <a:solidFill>
                  <a:srgbClr val="5A6B75"/>
                </a:solidFill>
                <a:latin typeface="Segoe UI"/>
              </a:rPr>
              <a:t>על</a:t>
            </a:r>
            <a:r>
              <a:rPr lang="en-US" sz="145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450" b="0" i="0" noProof="0" dirty="0" err="1">
                <a:solidFill>
                  <a:srgbClr val="5A6B75"/>
                </a:solidFill>
                <a:latin typeface="Segoe UI"/>
              </a:rPr>
              <a:t>העיצוב</a:t>
            </a:r>
            <a:endParaRPr lang="en-US" sz="1450" b="0" i="0" noProof="0" dirty="0">
              <a:solidFill>
                <a:srgbClr val="5A6B75"/>
              </a:solidFill>
              <a:latin typeface="Segoe UI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1026066" y="482346"/>
            <a:ext cx="605102" cy="50292"/>
          </a:xfrm>
          <a:prstGeom prst="rect">
            <a:avLst/>
          </a:prstGeom>
          <a:solidFill>
            <a:srgbClr val="C4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8" name="Rectangle 7"/>
          <p:cNvSpPr/>
          <p:nvPr/>
        </p:nvSpPr>
        <p:spPr>
          <a:xfrm>
            <a:off x="566928" y="6382512"/>
            <a:ext cx="11064240" cy="10972"/>
          </a:xfrm>
          <a:prstGeom prst="rect">
            <a:avLst/>
          </a:prstGeom>
          <a:solidFill>
            <a:srgbClr val="E3EA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9" name="TextBox 8"/>
          <p:cNvSpPr txBox="1"/>
          <p:nvPr/>
        </p:nvSpPr>
        <p:spPr>
          <a:xfrm>
            <a:off x="10424160" y="6473952"/>
            <a:ext cx="1207008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/>
            <a:r>
              <a:rPr lang="en-US" sz="1050" b="0" i="0" noProof="0" dirty="0">
                <a:solidFill>
                  <a:srgbClr val="8D9EA8"/>
                </a:solidFill>
                <a:latin typeface="Segoe UI"/>
              </a:rPr>
              <a:t>‏REST‏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73952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rtl="0"/>
            <a:r>
              <a:rPr lang="en-US" sz="1050" b="0" i="0" noProof="0" dirty="0">
                <a:solidFill>
                  <a:srgbClr val="8D9EA8"/>
                </a:solidFill>
                <a:latin typeface="Segoe UI"/>
              </a:rPr>
              <a:t>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1700784"/>
            <a:ext cx="5367528" cy="3063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06000"/>
              </a:lnSpc>
              <a:spcAft>
                <a:spcPts val="800"/>
              </a:spcAft>
            </a:pPr>
            <a:r>
              <a:rPr lang="en-US" sz="960" b="1" i="0" noProof="0" dirty="0">
                <a:solidFill>
                  <a:srgbClr val="C4622D"/>
                </a:solidFill>
                <a:latin typeface="Segoe UI"/>
              </a:rPr>
              <a:t>■  </a:t>
            </a:r>
            <a:r>
              <a:rPr lang="en-US" sz="1200" b="1" i="0" noProof="0" dirty="0" err="1">
                <a:solidFill>
                  <a:srgbClr val="0D4A5C"/>
                </a:solidFill>
                <a:latin typeface="Segoe UI"/>
              </a:rPr>
              <a:t>סגנון</a:t>
            </a:r>
            <a:r>
              <a:rPr lang="en-US" sz="1200" b="1" i="0" noProof="0" dirty="0">
                <a:solidFill>
                  <a:srgbClr val="0D4A5C"/>
                </a:solidFill>
                <a:latin typeface="Segoe UI"/>
              </a:rPr>
              <a:t>, </a:t>
            </a:r>
            <a:r>
              <a:rPr lang="en-US" sz="1200" b="1" i="0" noProof="0" dirty="0" err="1">
                <a:solidFill>
                  <a:srgbClr val="0D4A5C"/>
                </a:solidFill>
                <a:latin typeface="Segoe UI"/>
              </a:rPr>
              <a:t>לא</a:t>
            </a:r>
            <a:r>
              <a:rPr lang="en-US" sz="1200" b="1" i="0" noProof="0" dirty="0">
                <a:solidFill>
                  <a:srgbClr val="0D4A5C"/>
                </a:solidFill>
                <a:latin typeface="Segoe UI"/>
              </a:rPr>
              <a:t> </a:t>
            </a:r>
            <a:r>
              <a:rPr lang="en-US" sz="1200" b="1" i="0" noProof="0" dirty="0" err="1">
                <a:solidFill>
                  <a:srgbClr val="0D4A5C"/>
                </a:solidFill>
                <a:latin typeface="Segoe UI"/>
              </a:rPr>
              <a:t>תקן</a:t>
            </a:r>
            <a:r>
              <a:rPr lang="en-US" sz="1200" b="1" i="0" noProof="0" dirty="0">
                <a:solidFill>
                  <a:srgbClr val="0D4A5C"/>
                </a:solidFill>
                <a:latin typeface="Segoe UI"/>
              </a:rPr>
              <a:t>. 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‏REST‏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מתאר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סגנון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ארכיטקטוני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למימוש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שירותי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 ‏Web‏.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שירות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כזה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נקרא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 ‏RESTful. REST‏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עצמו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אינו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תקן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 —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אך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הוא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ממומש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בעזרת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תקני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 ה-‏Web‏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הקיימים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.</a:t>
            </a:r>
          </a:p>
          <a:p>
            <a:pPr algn="r" rtl="1">
              <a:lnSpc>
                <a:spcPct val="106000"/>
              </a:lnSpc>
              <a:spcAft>
                <a:spcPts val="800"/>
              </a:spcAft>
            </a:pPr>
            <a:r>
              <a:rPr lang="en-US" sz="960" b="1" i="0" noProof="0" dirty="0">
                <a:solidFill>
                  <a:srgbClr val="C4622D"/>
                </a:solidFill>
                <a:latin typeface="Segoe UI"/>
              </a:rPr>
              <a:t>■  </a:t>
            </a:r>
            <a:r>
              <a:rPr lang="en-US" sz="1200" b="1" i="0" noProof="0" dirty="0" err="1">
                <a:solidFill>
                  <a:srgbClr val="0D4A5C"/>
                </a:solidFill>
                <a:latin typeface="Segoe UI"/>
              </a:rPr>
              <a:t>כל</a:t>
            </a:r>
            <a:r>
              <a:rPr lang="en-US" sz="1200" b="1" i="0" noProof="0" dirty="0">
                <a:solidFill>
                  <a:srgbClr val="0D4A5C"/>
                </a:solidFill>
                <a:latin typeface="Segoe UI"/>
              </a:rPr>
              <a:t> </a:t>
            </a:r>
            <a:r>
              <a:rPr lang="en-US" sz="1200" b="1" i="0" noProof="0" dirty="0" err="1">
                <a:solidFill>
                  <a:srgbClr val="0D4A5C"/>
                </a:solidFill>
                <a:latin typeface="Segoe UI"/>
              </a:rPr>
              <a:t>פעולה</a:t>
            </a:r>
            <a:r>
              <a:rPr lang="en-US" sz="1200" b="1" i="0" noProof="0" dirty="0">
                <a:solidFill>
                  <a:srgbClr val="0D4A5C"/>
                </a:solidFill>
                <a:latin typeface="Segoe UI"/>
              </a:rPr>
              <a:t> </a:t>
            </a:r>
            <a:r>
              <a:rPr lang="en-US" sz="1200" b="1" i="0" noProof="0" dirty="0" err="1">
                <a:solidFill>
                  <a:srgbClr val="0D4A5C"/>
                </a:solidFill>
                <a:latin typeface="Segoe UI"/>
              </a:rPr>
              <a:t>היא</a:t>
            </a:r>
            <a:r>
              <a:rPr lang="en-US" sz="1200" b="1" i="0" noProof="0" dirty="0">
                <a:solidFill>
                  <a:srgbClr val="0D4A5C"/>
                </a:solidFill>
                <a:latin typeface="Segoe UI"/>
              </a:rPr>
              <a:t> </a:t>
            </a:r>
            <a:r>
              <a:rPr lang="en-US" sz="1200" b="1" i="0" noProof="0" dirty="0" err="1">
                <a:solidFill>
                  <a:srgbClr val="0D4A5C"/>
                </a:solidFill>
                <a:latin typeface="Segoe UI"/>
              </a:rPr>
              <a:t>כתובת</a:t>
            </a:r>
            <a:r>
              <a:rPr lang="en-US" sz="1200" b="1" i="0" noProof="0" dirty="0">
                <a:solidFill>
                  <a:srgbClr val="0D4A5C"/>
                </a:solidFill>
                <a:latin typeface="Segoe UI"/>
              </a:rPr>
              <a:t>.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כל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פעולה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בשירות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 ‏RESTful‏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מזוהה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על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ידי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 ‏URL‏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ייחודי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.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כשהשרת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מקבל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בקשה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,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הוא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יודע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מייד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איזו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פעולה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לבצע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.</a:t>
            </a:r>
          </a:p>
          <a:p>
            <a:pPr algn="r" rtl="1">
              <a:lnSpc>
                <a:spcPct val="106000"/>
              </a:lnSpc>
              <a:spcAft>
                <a:spcPts val="800"/>
              </a:spcAft>
            </a:pPr>
            <a:r>
              <a:rPr lang="en-US" sz="960" b="1" i="0" noProof="0" dirty="0">
                <a:solidFill>
                  <a:srgbClr val="C4622D"/>
                </a:solidFill>
                <a:latin typeface="Segoe UI"/>
              </a:rPr>
              <a:t>■  </a:t>
            </a:r>
            <a:r>
              <a:rPr lang="en-US" sz="1200" b="1" i="0" noProof="0" dirty="0" err="1">
                <a:solidFill>
                  <a:srgbClr val="0D4A5C"/>
                </a:solidFill>
                <a:latin typeface="Segoe UI"/>
              </a:rPr>
              <a:t>גם</a:t>
            </a:r>
            <a:r>
              <a:rPr lang="en-US" sz="1200" b="1" i="0" noProof="0" dirty="0">
                <a:solidFill>
                  <a:srgbClr val="0D4A5C"/>
                </a:solidFill>
                <a:latin typeface="Segoe UI"/>
              </a:rPr>
              <a:t> </a:t>
            </a:r>
            <a:r>
              <a:rPr lang="en-US" sz="1200" b="1" i="0" noProof="0" dirty="0" err="1">
                <a:solidFill>
                  <a:srgbClr val="0D4A5C"/>
                </a:solidFill>
                <a:latin typeface="Segoe UI"/>
              </a:rPr>
              <a:t>מהדפדפן</a:t>
            </a:r>
            <a:r>
              <a:rPr lang="en-US" sz="1200" b="1" i="0" noProof="0" dirty="0">
                <a:solidFill>
                  <a:srgbClr val="0D4A5C"/>
                </a:solidFill>
                <a:latin typeface="Segoe UI"/>
              </a:rPr>
              <a:t>.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אפשר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להפעיל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שירות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כזה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מתוך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תוכנית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 —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או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פשוט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להקליד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 את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הכתובת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בדפדפן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ולראות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 את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התוצאה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.</a:t>
            </a:r>
          </a:p>
          <a:p>
            <a:pPr algn="r" rtl="1">
              <a:lnSpc>
                <a:spcPct val="106000"/>
              </a:lnSpc>
              <a:spcAft>
                <a:spcPts val="800"/>
              </a:spcAft>
            </a:pPr>
            <a:r>
              <a:rPr lang="en-US" sz="960" b="1" i="0" noProof="0" dirty="0">
                <a:solidFill>
                  <a:srgbClr val="C4622D"/>
                </a:solidFill>
                <a:latin typeface="Segoe UI"/>
              </a:rPr>
              <a:t>■  </a:t>
            </a:r>
            <a:r>
              <a:rPr lang="en-US" sz="1200" b="1" i="0" noProof="0" dirty="0" err="1">
                <a:solidFill>
                  <a:srgbClr val="0D4A5C"/>
                </a:solidFill>
                <a:latin typeface="Segoe UI"/>
              </a:rPr>
              <a:t>מטמון</a:t>
            </a:r>
            <a:r>
              <a:rPr lang="en-US" sz="1200" b="1" i="0" noProof="0" dirty="0">
                <a:solidFill>
                  <a:srgbClr val="0D4A5C"/>
                </a:solidFill>
                <a:latin typeface="Segoe UI"/>
              </a:rPr>
              <a:t> </a:t>
            </a:r>
            <a:r>
              <a:rPr lang="en-US" sz="1200" b="1" i="0" noProof="0" dirty="0" err="1">
                <a:solidFill>
                  <a:srgbClr val="0D4A5C"/>
                </a:solidFill>
                <a:latin typeface="Segoe UI"/>
              </a:rPr>
              <a:t>בחינם</a:t>
            </a:r>
            <a:r>
              <a:rPr lang="en-US" sz="1200" b="1" i="0" noProof="0" dirty="0">
                <a:solidFill>
                  <a:srgbClr val="0D4A5C"/>
                </a:solidFill>
                <a:latin typeface="Segoe UI"/>
              </a:rPr>
              <a:t>.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תוצאת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פעולה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שהופעלה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בבקשת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 ‏GET‏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יכולה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להישמר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במטמון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המקומי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,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ובקשות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חוזרות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ייענו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מיידית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.</a:t>
            </a:r>
          </a:p>
          <a:p>
            <a:pPr algn="r" rtl="1">
              <a:lnSpc>
                <a:spcPct val="106000"/>
              </a:lnSpc>
              <a:spcAft>
                <a:spcPts val="800"/>
              </a:spcAft>
            </a:pPr>
            <a:r>
              <a:rPr lang="en-US" sz="960" b="1" i="0" noProof="0" dirty="0">
                <a:solidFill>
                  <a:srgbClr val="C4622D"/>
                </a:solidFill>
                <a:latin typeface="Segoe UI"/>
              </a:rPr>
              <a:t>■  </a:t>
            </a:r>
            <a:r>
              <a:rPr lang="en-US" sz="1200" b="1" i="0" noProof="0" dirty="0" err="1">
                <a:solidFill>
                  <a:srgbClr val="0D4A5C"/>
                </a:solidFill>
                <a:latin typeface="Segoe UI"/>
              </a:rPr>
              <a:t>בלי</a:t>
            </a:r>
            <a:r>
              <a:rPr lang="en-US" sz="1200" b="1" i="0" noProof="0" dirty="0">
                <a:solidFill>
                  <a:srgbClr val="0D4A5C"/>
                </a:solidFill>
                <a:latin typeface="Segoe UI"/>
              </a:rPr>
              <a:t> </a:t>
            </a:r>
            <a:r>
              <a:rPr lang="en-US" sz="1200" b="1" i="0" noProof="0" dirty="0" err="1">
                <a:solidFill>
                  <a:srgbClr val="0D4A5C"/>
                </a:solidFill>
                <a:latin typeface="Segoe UI"/>
              </a:rPr>
              <a:t>מעטפת</a:t>
            </a:r>
            <a:r>
              <a:rPr lang="en-US" sz="1200" b="1" i="0" noProof="0" dirty="0">
                <a:solidFill>
                  <a:srgbClr val="0D4A5C"/>
                </a:solidFill>
                <a:latin typeface="Segoe UI"/>
              </a:rPr>
              <a:t>.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בשונה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 מ-‏SOAP‏,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הבקשה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והתשובה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אינן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עטופות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. ‏REST‏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גם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אינו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מוגבל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 ל-‏XML: JSON, XML‏,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טקסט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ואפילו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קובצי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מדיה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 —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הכול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לגיטימי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4864608"/>
            <a:ext cx="5367528" cy="896112"/>
          </a:xfrm>
          <a:prstGeom prst="roundRect">
            <a:avLst>
              <a:gd name="adj" fmla="val 4000"/>
            </a:avLst>
          </a:prstGeom>
          <a:solidFill>
            <a:srgbClr val="F1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13" name="TextBox 12"/>
          <p:cNvSpPr txBox="1"/>
          <p:nvPr/>
        </p:nvSpPr>
        <p:spPr>
          <a:xfrm>
            <a:off x="6446520" y="4946904"/>
            <a:ext cx="500176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/>
            <a:r>
              <a:rPr lang="en-US" sz="1250" b="1" i="0" noProof="0" dirty="0" err="1">
                <a:solidFill>
                  <a:srgbClr val="0D4A5C"/>
                </a:solidFill>
                <a:latin typeface="Segoe UI"/>
              </a:rPr>
              <a:t>איך</a:t>
            </a:r>
            <a:r>
              <a:rPr lang="en-US" sz="1250" b="1" i="0" noProof="0" dirty="0">
                <a:solidFill>
                  <a:srgbClr val="0D4A5C"/>
                </a:solidFill>
                <a:latin typeface="Segoe UI"/>
              </a:rPr>
              <a:t> </a:t>
            </a:r>
            <a:r>
              <a:rPr lang="en-US" sz="1250" b="1" i="0" noProof="0" dirty="0" err="1">
                <a:solidFill>
                  <a:srgbClr val="0D4A5C"/>
                </a:solidFill>
                <a:latin typeface="Segoe UI"/>
              </a:rPr>
              <a:t>מעצבים</a:t>
            </a:r>
            <a:r>
              <a:rPr lang="en-US" sz="1250" b="1" i="0" noProof="0" dirty="0">
                <a:solidFill>
                  <a:srgbClr val="0D4A5C"/>
                </a:solidFill>
                <a:latin typeface="Segoe UI"/>
              </a:rPr>
              <a:t> ‏URI‏ </a:t>
            </a:r>
            <a:r>
              <a:rPr lang="en-US" sz="1250" b="1" i="0" noProof="0" dirty="0" err="1">
                <a:solidFill>
                  <a:srgbClr val="0D4A5C"/>
                </a:solidFill>
                <a:latin typeface="Segoe UI"/>
              </a:rPr>
              <a:t>נכון</a:t>
            </a:r>
            <a:endParaRPr lang="en-US" sz="1250" b="1" i="0" noProof="0" dirty="0">
              <a:solidFill>
                <a:srgbClr val="0D4A5C"/>
              </a:solidFill>
              <a:latin typeface="Segoe UI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9052560" y="5202936"/>
            <a:ext cx="24231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rtl="0"/>
            <a:r>
              <a:rPr lang="en-US" sz="950" b="1" i="0" noProof="0" dirty="0">
                <a:solidFill>
                  <a:srgbClr val="C4622D"/>
                </a:solidFill>
                <a:latin typeface="Consolas"/>
              </a:rPr>
              <a:t>/movies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5202936"/>
            <a:ext cx="2542032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/>
            <a:r>
              <a:rPr lang="en-US" sz="1000" b="0" i="0" noProof="0" dirty="0" err="1">
                <a:solidFill>
                  <a:srgbClr val="5A6B75"/>
                </a:solidFill>
                <a:latin typeface="Segoe UI"/>
              </a:rPr>
              <a:t>אוסף</a:t>
            </a:r>
            <a:r>
              <a:rPr lang="en-US" sz="1000" b="0" i="0" noProof="0" dirty="0">
                <a:solidFill>
                  <a:srgbClr val="5A6B75"/>
                </a:solidFill>
                <a:latin typeface="Segoe UI"/>
              </a:rPr>
              <a:t> — שם </a:t>
            </a:r>
            <a:r>
              <a:rPr lang="en-US" sz="1000" b="0" i="0" noProof="0" dirty="0" err="1">
                <a:solidFill>
                  <a:srgbClr val="5A6B75"/>
                </a:solidFill>
                <a:latin typeface="Segoe UI"/>
              </a:rPr>
              <a:t>עצם</a:t>
            </a:r>
            <a:r>
              <a:rPr lang="en-US" sz="100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000" b="0" i="0" noProof="0" dirty="0" err="1">
                <a:solidFill>
                  <a:srgbClr val="5A6B75"/>
                </a:solidFill>
                <a:latin typeface="Segoe UI"/>
              </a:rPr>
              <a:t>ברבים</a:t>
            </a:r>
            <a:r>
              <a:rPr lang="en-US" sz="1000" b="0" i="0" noProof="0" dirty="0">
                <a:solidFill>
                  <a:srgbClr val="5A6B75"/>
                </a:solidFill>
                <a:latin typeface="Segoe UI"/>
              </a:rPr>
              <a:t>, </a:t>
            </a:r>
            <a:r>
              <a:rPr lang="en-US" sz="1000" b="0" i="0" noProof="0" dirty="0" err="1">
                <a:solidFill>
                  <a:srgbClr val="5A6B75"/>
                </a:solidFill>
                <a:latin typeface="Segoe UI"/>
              </a:rPr>
              <a:t>בלי</a:t>
            </a:r>
            <a:r>
              <a:rPr lang="en-US" sz="100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000" b="0" i="0" noProof="0" dirty="0" err="1">
                <a:solidFill>
                  <a:srgbClr val="5A6B75"/>
                </a:solidFill>
                <a:latin typeface="Segoe UI"/>
              </a:rPr>
              <a:t>פעלים</a:t>
            </a:r>
            <a:endParaRPr lang="en-US" sz="1000" b="0" i="0" noProof="0" dirty="0">
              <a:solidFill>
                <a:srgbClr val="5A6B75"/>
              </a:solidFill>
              <a:latin typeface="Segoe UI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9052560" y="5385816"/>
            <a:ext cx="24231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rtl="0"/>
            <a:r>
              <a:rPr lang="en-US" sz="950" b="1" i="0" noProof="0" dirty="0">
                <a:solidFill>
                  <a:srgbClr val="C4622D"/>
                </a:solidFill>
                <a:latin typeface="Consolas"/>
              </a:rPr>
              <a:t>/movies/42/copies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5385816"/>
            <a:ext cx="2542032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/>
            <a:r>
              <a:rPr lang="en-US" sz="1000" b="0" i="0" noProof="0" dirty="0" err="1">
                <a:solidFill>
                  <a:srgbClr val="5A6B75"/>
                </a:solidFill>
                <a:latin typeface="Segoe UI"/>
              </a:rPr>
              <a:t>היררכיה</a:t>
            </a:r>
            <a:r>
              <a:rPr lang="en-US" sz="1000" b="0" i="0" noProof="0" dirty="0">
                <a:solidFill>
                  <a:srgbClr val="5A6B75"/>
                </a:solidFill>
                <a:latin typeface="Segoe UI"/>
              </a:rPr>
              <a:t> — </a:t>
            </a:r>
            <a:r>
              <a:rPr lang="en-US" sz="1000" b="0" i="0" noProof="0" dirty="0" err="1">
                <a:solidFill>
                  <a:srgbClr val="5A6B75"/>
                </a:solidFill>
                <a:latin typeface="Segoe UI"/>
              </a:rPr>
              <a:t>עותקים</a:t>
            </a:r>
            <a:r>
              <a:rPr lang="en-US" sz="100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000" b="0" i="0" noProof="0" dirty="0" err="1">
                <a:solidFill>
                  <a:srgbClr val="5A6B75"/>
                </a:solidFill>
                <a:latin typeface="Segoe UI"/>
              </a:rPr>
              <a:t>של</a:t>
            </a:r>
            <a:r>
              <a:rPr lang="en-US" sz="100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000" b="0" i="0" noProof="0" dirty="0" err="1">
                <a:solidFill>
                  <a:srgbClr val="5A6B75"/>
                </a:solidFill>
                <a:latin typeface="Segoe UI"/>
              </a:rPr>
              <a:t>סרט</a:t>
            </a:r>
            <a:r>
              <a:rPr lang="en-US" sz="100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000" b="0" i="0" noProof="0" dirty="0" err="1">
                <a:solidFill>
                  <a:srgbClr val="5A6B75"/>
                </a:solidFill>
                <a:latin typeface="Segoe UI"/>
              </a:rPr>
              <a:t>מסוים</a:t>
            </a:r>
            <a:endParaRPr lang="en-US" sz="1000" b="0" i="0" noProof="0" dirty="0">
              <a:solidFill>
                <a:srgbClr val="5A6B75"/>
              </a:solidFill>
              <a:latin typeface="Segoe UI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9052560" y="5568696"/>
            <a:ext cx="24231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rtl="0"/>
            <a:r>
              <a:rPr lang="en-US" sz="950" b="1" i="0" noProof="0" dirty="0">
                <a:solidFill>
                  <a:srgbClr val="C4622D"/>
                </a:solidFill>
                <a:latin typeface="Consolas"/>
              </a:rPr>
              <a:t>/</a:t>
            </a:r>
            <a:r>
              <a:rPr lang="en-US" sz="950" b="1" i="0" noProof="0" dirty="0" err="1">
                <a:solidFill>
                  <a:srgbClr val="C4622D"/>
                </a:solidFill>
                <a:latin typeface="Consolas"/>
              </a:rPr>
              <a:t>movies?genre</a:t>
            </a:r>
            <a:r>
              <a:rPr lang="en-US" sz="950" b="1" i="0" noProof="0" dirty="0">
                <a:solidFill>
                  <a:srgbClr val="C4622D"/>
                </a:solidFill>
                <a:latin typeface="Consolas"/>
              </a:rPr>
              <a:t>=</a:t>
            </a:r>
            <a:r>
              <a:rPr lang="en-US" sz="950" b="1" i="0" noProof="0" dirty="0" err="1">
                <a:solidFill>
                  <a:srgbClr val="C4622D"/>
                </a:solidFill>
                <a:latin typeface="Consolas"/>
              </a:rPr>
              <a:t>drama&amp;page</a:t>
            </a:r>
            <a:r>
              <a:rPr lang="en-US" sz="950" b="1" i="0" noProof="0" dirty="0">
                <a:solidFill>
                  <a:srgbClr val="C4622D"/>
                </a:solidFill>
                <a:latin typeface="Consolas"/>
              </a:rPr>
              <a:t>=2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5568696"/>
            <a:ext cx="2542032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/>
            <a:r>
              <a:rPr lang="en-US" sz="1000" b="0" i="0" noProof="0" dirty="0" err="1">
                <a:solidFill>
                  <a:srgbClr val="5A6B75"/>
                </a:solidFill>
                <a:latin typeface="Segoe UI"/>
              </a:rPr>
              <a:t>סינון</a:t>
            </a:r>
            <a:r>
              <a:rPr lang="en-US" sz="100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000" b="0" i="0" noProof="0" dirty="0" err="1">
                <a:solidFill>
                  <a:srgbClr val="5A6B75"/>
                </a:solidFill>
                <a:latin typeface="Segoe UI"/>
              </a:rPr>
              <a:t>ועימוד</a:t>
            </a:r>
            <a:r>
              <a:rPr lang="en-US" sz="100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000" b="0" i="0" noProof="0" dirty="0" err="1">
                <a:solidFill>
                  <a:srgbClr val="5A6B75"/>
                </a:solidFill>
                <a:latin typeface="Segoe UI"/>
              </a:rPr>
              <a:t>בפרמטרי</a:t>
            </a:r>
            <a:r>
              <a:rPr lang="en-US" sz="100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000" b="0" i="0" noProof="0" dirty="0" err="1">
                <a:solidFill>
                  <a:srgbClr val="5A6B75"/>
                </a:solidFill>
                <a:latin typeface="Segoe UI"/>
              </a:rPr>
              <a:t>שאילתה</a:t>
            </a:r>
            <a:endParaRPr lang="en-US" sz="1000" b="0" i="0" noProof="0" dirty="0">
              <a:solidFill>
                <a:srgbClr val="5A6B75"/>
              </a:solidFill>
              <a:latin typeface="Segoe UI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66928" y="1700784"/>
            <a:ext cx="546811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/>
            <a:r>
              <a:rPr lang="en-US" sz="1300" b="1" i="0" noProof="0" dirty="0" err="1">
                <a:solidFill>
                  <a:srgbClr val="0D4A5C"/>
                </a:solidFill>
                <a:latin typeface="Segoe UI"/>
              </a:rPr>
              <a:t>ששת</a:t>
            </a:r>
            <a:r>
              <a:rPr lang="en-US" sz="1300" b="1" i="0" noProof="0" dirty="0">
                <a:solidFill>
                  <a:srgbClr val="0D4A5C"/>
                </a:solidFill>
                <a:latin typeface="Segoe UI"/>
              </a:rPr>
              <a:t> </a:t>
            </a:r>
            <a:r>
              <a:rPr lang="en-US" sz="1300" b="1" i="0" noProof="0" dirty="0" err="1">
                <a:solidFill>
                  <a:srgbClr val="0D4A5C"/>
                </a:solidFill>
                <a:latin typeface="Segoe UI"/>
              </a:rPr>
              <a:t>האילוצים</a:t>
            </a:r>
            <a:r>
              <a:rPr lang="en-US" sz="1300" b="1" i="0" noProof="0" dirty="0">
                <a:solidFill>
                  <a:srgbClr val="0D4A5C"/>
                </a:solidFill>
                <a:latin typeface="Segoe UI"/>
              </a:rPr>
              <a:t> </a:t>
            </a:r>
            <a:r>
              <a:rPr lang="en-US" sz="1300" b="1" i="0" noProof="0" dirty="0" err="1">
                <a:solidFill>
                  <a:srgbClr val="0D4A5C"/>
                </a:solidFill>
                <a:latin typeface="Segoe UI"/>
              </a:rPr>
              <a:t>של</a:t>
            </a:r>
            <a:r>
              <a:rPr lang="en-US" sz="1300" b="1" i="0" noProof="0" dirty="0">
                <a:solidFill>
                  <a:srgbClr val="0D4A5C"/>
                </a:solidFill>
                <a:latin typeface="Segoe UI"/>
              </a:rPr>
              <a:t> ‏Fielding‏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" y="2029968"/>
            <a:ext cx="5468112" cy="62636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0160">
            <a:solidFill>
              <a:srgbClr val="E3EA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24" name="Rounded Rectangle 23"/>
          <p:cNvSpPr/>
          <p:nvPr/>
        </p:nvSpPr>
        <p:spPr>
          <a:xfrm>
            <a:off x="4553712" y="2139696"/>
            <a:ext cx="1353312" cy="256032"/>
          </a:xfrm>
          <a:prstGeom prst="roundRect">
            <a:avLst>
              <a:gd name="adj" fmla="val 50000"/>
            </a:avLst>
          </a:prstGeom>
          <a:solidFill>
            <a:srgbClr val="0D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25" name="TextBox 24"/>
          <p:cNvSpPr txBox="1"/>
          <p:nvPr/>
        </p:nvSpPr>
        <p:spPr>
          <a:xfrm>
            <a:off x="4553712" y="2157984"/>
            <a:ext cx="1353312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 rtl="0"/>
            <a:r>
              <a:rPr lang="en-US" sz="900" b="1" i="0" noProof="0" dirty="0">
                <a:solidFill>
                  <a:srgbClr val="FFFFFF"/>
                </a:solidFill>
                <a:latin typeface="Consolas"/>
              </a:rPr>
              <a:t>client–server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2130552"/>
            <a:ext cx="3730752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/>
            <a:r>
              <a:rPr lang="en-US" sz="1000" b="1" i="0" noProof="0" dirty="0" err="1">
                <a:solidFill>
                  <a:srgbClr val="C4622D"/>
                </a:solidFill>
                <a:latin typeface="Segoe UI"/>
              </a:rPr>
              <a:t>אילוץ</a:t>
            </a:r>
            <a:r>
              <a:rPr lang="en-US" sz="1000" b="1" i="0" noProof="0" dirty="0">
                <a:solidFill>
                  <a:srgbClr val="C4622D"/>
                </a:solidFill>
                <a:latin typeface="Segoe UI"/>
              </a:rPr>
              <a:t> 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2359152"/>
            <a:ext cx="510235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05000"/>
              </a:lnSpc>
            </a:pP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הפרדת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אחריות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: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ממשק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המשתמש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בצד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אחד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,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אחסון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הנתונים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בצד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השני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.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כל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צד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מתפתח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בנפרד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2720340"/>
            <a:ext cx="5468112" cy="626364"/>
          </a:xfrm>
          <a:prstGeom prst="roundRect">
            <a:avLst>
              <a:gd name="adj" fmla="val 4000"/>
            </a:avLst>
          </a:prstGeom>
          <a:solidFill>
            <a:srgbClr val="F1F5F7"/>
          </a:solidFill>
          <a:ln w="10160">
            <a:solidFill>
              <a:srgbClr val="E3EA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29" name="Rounded Rectangle 28"/>
          <p:cNvSpPr/>
          <p:nvPr/>
        </p:nvSpPr>
        <p:spPr>
          <a:xfrm>
            <a:off x="4553712" y="2830068"/>
            <a:ext cx="1353312" cy="256032"/>
          </a:xfrm>
          <a:prstGeom prst="roundRect">
            <a:avLst>
              <a:gd name="adj" fmla="val 50000"/>
            </a:avLst>
          </a:prstGeom>
          <a:solidFill>
            <a:srgbClr val="0D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30" name="TextBox 29"/>
          <p:cNvSpPr txBox="1"/>
          <p:nvPr/>
        </p:nvSpPr>
        <p:spPr>
          <a:xfrm>
            <a:off x="4553712" y="2848356"/>
            <a:ext cx="1353312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 rtl="0"/>
            <a:r>
              <a:rPr lang="en-US" sz="900" b="1" i="0" noProof="0" dirty="0">
                <a:solidFill>
                  <a:srgbClr val="FFFFFF"/>
                </a:solidFill>
                <a:latin typeface="Consolas"/>
              </a:rPr>
              <a:t>stateless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2820924"/>
            <a:ext cx="3730752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/>
            <a:r>
              <a:rPr lang="en-US" sz="1000" b="1" i="0" noProof="0" dirty="0" err="1">
                <a:solidFill>
                  <a:srgbClr val="C4622D"/>
                </a:solidFill>
                <a:latin typeface="Segoe UI"/>
              </a:rPr>
              <a:t>אילוץ</a:t>
            </a:r>
            <a:r>
              <a:rPr lang="en-US" sz="1000" b="1" i="0" noProof="0" dirty="0">
                <a:solidFill>
                  <a:srgbClr val="C4622D"/>
                </a:solidFill>
                <a:latin typeface="Segoe UI"/>
              </a:rPr>
              <a:t> 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3049524"/>
            <a:ext cx="510235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05000"/>
              </a:lnSpc>
            </a:pP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השרת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אינו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שומר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הקשר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בין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בקשות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.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כל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בקשה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כוללת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 את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כל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המידע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הדרוש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להבנתה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66928" y="3410712"/>
            <a:ext cx="5468112" cy="62636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0160">
            <a:solidFill>
              <a:srgbClr val="E3EA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34" name="Rounded Rectangle 33"/>
          <p:cNvSpPr/>
          <p:nvPr/>
        </p:nvSpPr>
        <p:spPr>
          <a:xfrm>
            <a:off x="4553712" y="3520440"/>
            <a:ext cx="1353312" cy="256032"/>
          </a:xfrm>
          <a:prstGeom prst="roundRect">
            <a:avLst>
              <a:gd name="adj" fmla="val 50000"/>
            </a:avLst>
          </a:prstGeom>
          <a:solidFill>
            <a:srgbClr val="0D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35" name="TextBox 34"/>
          <p:cNvSpPr txBox="1"/>
          <p:nvPr/>
        </p:nvSpPr>
        <p:spPr>
          <a:xfrm>
            <a:off x="4553712" y="3538728"/>
            <a:ext cx="1353312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 rtl="0"/>
            <a:r>
              <a:rPr lang="en-US" sz="900" b="1" i="0" noProof="0" dirty="0">
                <a:solidFill>
                  <a:srgbClr val="FFFFFF"/>
                </a:solidFill>
                <a:latin typeface="Consolas"/>
              </a:rPr>
              <a:t>cacheable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" y="3511296"/>
            <a:ext cx="3730752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/>
            <a:r>
              <a:rPr lang="en-US" sz="1000" b="1" i="0" noProof="0" dirty="0" err="1">
                <a:solidFill>
                  <a:srgbClr val="C4622D"/>
                </a:solidFill>
                <a:latin typeface="Segoe UI"/>
              </a:rPr>
              <a:t>אילוץ</a:t>
            </a:r>
            <a:r>
              <a:rPr lang="en-US" sz="1000" b="1" i="0" noProof="0" dirty="0">
                <a:solidFill>
                  <a:srgbClr val="C4622D"/>
                </a:solidFill>
                <a:latin typeface="Segoe UI"/>
              </a:rPr>
              <a:t> 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" y="3739896"/>
            <a:ext cx="510235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05000"/>
              </a:lnSpc>
            </a:pP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כל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תשובה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מסומנת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כניתנת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או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כבלתי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ניתנת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לשמירה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במטמון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 —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וזה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מה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שהופך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 את ה-‏Web‏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למהיר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66928" y="4101084"/>
            <a:ext cx="5468112" cy="626364"/>
          </a:xfrm>
          <a:prstGeom prst="roundRect">
            <a:avLst>
              <a:gd name="adj" fmla="val 4000"/>
            </a:avLst>
          </a:prstGeom>
          <a:solidFill>
            <a:srgbClr val="F1F5F7"/>
          </a:solidFill>
          <a:ln w="10160">
            <a:solidFill>
              <a:srgbClr val="E3EA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39" name="Rounded Rectangle 38"/>
          <p:cNvSpPr/>
          <p:nvPr/>
        </p:nvSpPr>
        <p:spPr>
          <a:xfrm>
            <a:off x="4553712" y="4210812"/>
            <a:ext cx="1353312" cy="256032"/>
          </a:xfrm>
          <a:prstGeom prst="roundRect">
            <a:avLst>
              <a:gd name="adj" fmla="val 50000"/>
            </a:avLst>
          </a:prstGeom>
          <a:solidFill>
            <a:srgbClr val="0D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40" name="TextBox 39"/>
          <p:cNvSpPr txBox="1"/>
          <p:nvPr/>
        </p:nvSpPr>
        <p:spPr>
          <a:xfrm>
            <a:off x="4553712" y="4229100"/>
            <a:ext cx="1353312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 rtl="0"/>
            <a:r>
              <a:rPr lang="en-US" sz="900" b="1" i="0" noProof="0" dirty="0">
                <a:solidFill>
                  <a:srgbClr val="FFFFFF"/>
                </a:solidFill>
                <a:latin typeface="Consolas"/>
              </a:rPr>
              <a:t>uniform interface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1520" y="4201668"/>
            <a:ext cx="3730752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/>
            <a:r>
              <a:rPr lang="en-US" sz="1000" b="1" i="0" noProof="0" dirty="0" err="1">
                <a:solidFill>
                  <a:srgbClr val="C4622D"/>
                </a:solidFill>
                <a:latin typeface="Segoe UI"/>
              </a:rPr>
              <a:t>אילוץ</a:t>
            </a:r>
            <a:r>
              <a:rPr lang="en-US" sz="1000" b="1" i="0" noProof="0" dirty="0">
                <a:solidFill>
                  <a:srgbClr val="C4622D"/>
                </a:solidFill>
                <a:latin typeface="Segoe UI"/>
              </a:rPr>
              <a:t> 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1520" y="4430268"/>
            <a:ext cx="510235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05000"/>
              </a:lnSpc>
            </a:pP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האילוץ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המרכזי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: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משאבים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מזוהים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 ב-‏URI‏,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מיוצגים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בפורמט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מוסכם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,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ומופעלים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בפעולות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סטנדרטיות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66928" y="4791456"/>
            <a:ext cx="5468112" cy="62636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0160">
            <a:solidFill>
              <a:srgbClr val="E3EA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44" name="Rounded Rectangle 43"/>
          <p:cNvSpPr/>
          <p:nvPr/>
        </p:nvSpPr>
        <p:spPr>
          <a:xfrm>
            <a:off x="4553712" y="4901184"/>
            <a:ext cx="1353312" cy="256032"/>
          </a:xfrm>
          <a:prstGeom prst="roundRect">
            <a:avLst>
              <a:gd name="adj" fmla="val 50000"/>
            </a:avLst>
          </a:prstGeom>
          <a:solidFill>
            <a:srgbClr val="0D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45" name="TextBox 44"/>
          <p:cNvSpPr txBox="1"/>
          <p:nvPr/>
        </p:nvSpPr>
        <p:spPr>
          <a:xfrm>
            <a:off x="4553712" y="4919472"/>
            <a:ext cx="1353312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 rtl="0"/>
            <a:r>
              <a:rPr lang="en-US" sz="900" b="1" i="0" noProof="0" dirty="0">
                <a:solidFill>
                  <a:srgbClr val="FFFFFF"/>
                </a:solidFill>
                <a:latin typeface="Consolas"/>
              </a:rPr>
              <a:t>layered system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31520" y="4892040"/>
            <a:ext cx="3730752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/>
            <a:r>
              <a:rPr lang="en-US" sz="1000" b="1" i="0" noProof="0" dirty="0" err="1">
                <a:solidFill>
                  <a:srgbClr val="C4622D"/>
                </a:solidFill>
                <a:latin typeface="Segoe UI"/>
              </a:rPr>
              <a:t>אילוץ</a:t>
            </a:r>
            <a:r>
              <a:rPr lang="en-US" sz="1000" b="1" i="0" noProof="0" dirty="0">
                <a:solidFill>
                  <a:srgbClr val="C4622D"/>
                </a:solidFill>
                <a:latin typeface="Segoe UI"/>
              </a:rPr>
              <a:t> 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31520" y="5120640"/>
            <a:ext cx="510235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05000"/>
              </a:lnSpc>
            </a:pP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בין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הלקוח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לשרת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יכולים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לשבת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 ‏proxy, gateway‏ ו-‏CDN‏ —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והלקוח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אינו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יודע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ואינו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צריך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לדעת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66928" y="5481828"/>
            <a:ext cx="5468112" cy="626364"/>
          </a:xfrm>
          <a:prstGeom prst="roundRect">
            <a:avLst>
              <a:gd name="adj" fmla="val 4000"/>
            </a:avLst>
          </a:prstGeom>
          <a:solidFill>
            <a:srgbClr val="F1F5F7"/>
          </a:solidFill>
          <a:ln w="10160">
            <a:solidFill>
              <a:srgbClr val="E3EA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49" name="Rounded Rectangle 48"/>
          <p:cNvSpPr/>
          <p:nvPr/>
        </p:nvSpPr>
        <p:spPr>
          <a:xfrm>
            <a:off x="4553712" y="5591556"/>
            <a:ext cx="1353312" cy="256032"/>
          </a:xfrm>
          <a:prstGeom prst="roundRect">
            <a:avLst>
              <a:gd name="adj" fmla="val 50000"/>
            </a:avLst>
          </a:prstGeom>
          <a:solidFill>
            <a:srgbClr val="0D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50" name="TextBox 49"/>
          <p:cNvSpPr txBox="1"/>
          <p:nvPr/>
        </p:nvSpPr>
        <p:spPr>
          <a:xfrm>
            <a:off x="4553712" y="5609844"/>
            <a:ext cx="1353312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 rtl="0"/>
            <a:r>
              <a:rPr lang="en-US" sz="900" b="1" i="0" noProof="0" dirty="0">
                <a:solidFill>
                  <a:srgbClr val="FFFFFF"/>
                </a:solidFill>
                <a:latin typeface="Consolas"/>
              </a:rPr>
              <a:t>code on demand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31520" y="5582412"/>
            <a:ext cx="3730752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/>
            <a:r>
              <a:rPr lang="en-US" sz="1000" b="1" i="0" noProof="0" dirty="0" err="1">
                <a:solidFill>
                  <a:srgbClr val="C4622D"/>
                </a:solidFill>
                <a:latin typeface="Segoe UI"/>
              </a:rPr>
              <a:t>אילוץ</a:t>
            </a:r>
            <a:r>
              <a:rPr lang="en-US" sz="1000" b="1" i="0" noProof="0" dirty="0">
                <a:solidFill>
                  <a:srgbClr val="C4622D"/>
                </a:solidFill>
                <a:latin typeface="Segoe UI"/>
              </a:rPr>
              <a:t> 6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31520" y="5811012"/>
            <a:ext cx="510235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05000"/>
              </a:lnSpc>
            </a:pP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אופציונלי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: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השרת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רשאי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לשלוח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קוד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להרצה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אצל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הלקוח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,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למשל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 ‏JavaScript‏.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91440"/>
          </a:xfrm>
          <a:prstGeom prst="rect">
            <a:avLst/>
          </a:prstGeom>
          <a:solidFill>
            <a:srgbClr val="0D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5" name="TextBox 4"/>
          <p:cNvSpPr txBox="1"/>
          <p:nvPr/>
        </p:nvSpPr>
        <p:spPr>
          <a:xfrm>
            <a:off x="566928" y="548640"/>
            <a:ext cx="1106424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/>
            <a:r>
              <a:rPr lang="en-US" sz="2800" b="1" i="0" noProof="0" dirty="0">
                <a:solidFill>
                  <a:srgbClr val="0D4A5C"/>
                </a:solidFill>
                <a:latin typeface="Segoe UI"/>
              </a:rPr>
              <a:t>‏CRUD‏ — </a:t>
            </a:r>
            <a:r>
              <a:rPr lang="en-US" sz="2800" b="1" i="0" noProof="0" dirty="0" err="1">
                <a:solidFill>
                  <a:srgbClr val="0D4A5C"/>
                </a:solidFill>
                <a:latin typeface="Segoe UI"/>
              </a:rPr>
              <a:t>ארבע</a:t>
            </a:r>
            <a:r>
              <a:rPr lang="en-US" sz="2800" b="1" i="0" noProof="0" dirty="0">
                <a:solidFill>
                  <a:srgbClr val="0D4A5C"/>
                </a:solidFill>
                <a:latin typeface="Segoe UI"/>
              </a:rPr>
              <a:t> </a:t>
            </a:r>
            <a:r>
              <a:rPr lang="en-US" sz="2800" b="1" i="0" noProof="0" dirty="0" err="1">
                <a:solidFill>
                  <a:srgbClr val="0D4A5C"/>
                </a:solidFill>
                <a:latin typeface="Segoe UI"/>
              </a:rPr>
              <a:t>הפעולות</a:t>
            </a:r>
            <a:r>
              <a:rPr lang="en-US" sz="2800" b="1" i="0" noProof="0" dirty="0">
                <a:solidFill>
                  <a:srgbClr val="0D4A5C"/>
                </a:solidFill>
                <a:latin typeface="Segoe UI"/>
              </a:rPr>
              <a:t> </a:t>
            </a:r>
            <a:r>
              <a:rPr lang="en-US" sz="2800" b="1" i="0" noProof="0" dirty="0" err="1">
                <a:solidFill>
                  <a:srgbClr val="0D4A5C"/>
                </a:solidFill>
                <a:latin typeface="Segoe UI"/>
              </a:rPr>
              <a:t>על</a:t>
            </a:r>
            <a:r>
              <a:rPr lang="en-US" sz="2800" b="1" i="0" noProof="0" dirty="0">
                <a:solidFill>
                  <a:srgbClr val="0D4A5C"/>
                </a:solidFill>
                <a:latin typeface="Segoe UI"/>
              </a:rPr>
              <a:t> </a:t>
            </a:r>
            <a:r>
              <a:rPr lang="en-US" sz="2800" b="1" i="0" noProof="0" dirty="0" err="1">
                <a:solidFill>
                  <a:srgbClr val="0D4A5C"/>
                </a:solidFill>
                <a:latin typeface="Segoe UI"/>
              </a:rPr>
              <a:t>משאב</a:t>
            </a:r>
            <a:endParaRPr lang="en-US" sz="2800" b="1" i="0" noProof="0" dirty="0">
              <a:solidFill>
                <a:srgbClr val="0D4A5C"/>
              </a:solidFill>
              <a:latin typeface="Segoe U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66928" y="1097280"/>
            <a:ext cx="110642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/>
            <a:r>
              <a:rPr lang="en-US" sz="1450" b="0" i="0" noProof="0" dirty="0" err="1">
                <a:solidFill>
                  <a:srgbClr val="5A6B75"/>
                </a:solidFill>
                <a:latin typeface="Segoe UI"/>
              </a:rPr>
              <a:t>הפועל</a:t>
            </a:r>
            <a:r>
              <a:rPr lang="en-US" sz="145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450" b="0" i="0" noProof="0" dirty="0" err="1">
                <a:solidFill>
                  <a:srgbClr val="5A6B75"/>
                </a:solidFill>
                <a:latin typeface="Segoe UI"/>
              </a:rPr>
              <a:t>של</a:t>
            </a:r>
            <a:r>
              <a:rPr lang="en-US" sz="1450" b="0" i="0" noProof="0" dirty="0">
                <a:solidFill>
                  <a:srgbClr val="5A6B75"/>
                </a:solidFill>
                <a:latin typeface="Segoe UI"/>
              </a:rPr>
              <a:t> ‏HTTP‏ </a:t>
            </a:r>
            <a:r>
              <a:rPr lang="en-US" sz="1450" b="0" i="0" noProof="0" dirty="0" err="1">
                <a:solidFill>
                  <a:srgbClr val="5A6B75"/>
                </a:solidFill>
                <a:latin typeface="Segoe UI"/>
              </a:rPr>
              <a:t>הוא</a:t>
            </a:r>
            <a:r>
              <a:rPr lang="en-US" sz="145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450" b="0" i="0" noProof="0" dirty="0" err="1">
                <a:solidFill>
                  <a:srgbClr val="5A6B75"/>
                </a:solidFill>
                <a:latin typeface="Segoe UI"/>
              </a:rPr>
              <a:t>הפעולה</a:t>
            </a:r>
            <a:r>
              <a:rPr lang="en-US" sz="1450" b="0" i="0" noProof="0" dirty="0">
                <a:solidFill>
                  <a:srgbClr val="5A6B75"/>
                </a:solidFill>
                <a:latin typeface="Segoe UI"/>
              </a:rPr>
              <a:t>, </a:t>
            </a:r>
            <a:r>
              <a:rPr lang="en-US" sz="1450" b="0" i="0" noProof="0" dirty="0" err="1">
                <a:solidFill>
                  <a:srgbClr val="5A6B75"/>
                </a:solidFill>
                <a:latin typeface="Segoe UI"/>
              </a:rPr>
              <a:t>והנתיב</a:t>
            </a:r>
            <a:r>
              <a:rPr lang="en-US" sz="145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450" b="0" i="0" noProof="0" dirty="0" err="1">
                <a:solidFill>
                  <a:srgbClr val="5A6B75"/>
                </a:solidFill>
                <a:latin typeface="Segoe UI"/>
              </a:rPr>
              <a:t>הוא</a:t>
            </a:r>
            <a:r>
              <a:rPr lang="en-US" sz="145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450" b="0" i="0" noProof="0" dirty="0" err="1">
                <a:solidFill>
                  <a:srgbClr val="5A6B75"/>
                </a:solidFill>
                <a:latin typeface="Segoe UI"/>
              </a:rPr>
              <a:t>המשאב</a:t>
            </a:r>
            <a:r>
              <a:rPr lang="en-US" sz="1450" b="0" i="0" noProof="0" dirty="0">
                <a:solidFill>
                  <a:srgbClr val="5A6B75"/>
                </a:solidFill>
                <a:latin typeface="Segoe UI"/>
              </a:rPr>
              <a:t>. </a:t>
            </a:r>
            <a:r>
              <a:rPr lang="en-US" sz="1450" b="0" i="0" noProof="0" dirty="0" err="1">
                <a:solidFill>
                  <a:srgbClr val="5A6B75"/>
                </a:solidFill>
                <a:latin typeface="Segoe UI"/>
              </a:rPr>
              <a:t>זה</a:t>
            </a:r>
            <a:r>
              <a:rPr lang="en-US" sz="145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450" b="0" i="0" noProof="0" dirty="0" err="1">
                <a:solidFill>
                  <a:srgbClr val="5A6B75"/>
                </a:solidFill>
                <a:latin typeface="Segoe UI"/>
              </a:rPr>
              <a:t>כל</a:t>
            </a:r>
            <a:r>
              <a:rPr lang="en-US" sz="145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450" b="0" i="0" noProof="0" dirty="0" err="1">
                <a:solidFill>
                  <a:srgbClr val="5A6B75"/>
                </a:solidFill>
                <a:latin typeface="Segoe UI"/>
              </a:rPr>
              <a:t>הממשק</a:t>
            </a:r>
            <a:endParaRPr lang="en-US" sz="1450" b="0" i="0" noProof="0" dirty="0">
              <a:solidFill>
                <a:srgbClr val="5A6B75"/>
              </a:solidFill>
              <a:latin typeface="Segoe UI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1027664" y="378191"/>
            <a:ext cx="613980" cy="80250"/>
          </a:xfrm>
          <a:prstGeom prst="rect">
            <a:avLst/>
          </a:prstGeom>
          <a:solidFill>
            <a:srgbClr val="C4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8" name="Rectangle 7"/>
          <p:cNvSpPr/>
          <p:nvPr/>
        </p:nvSpPr>
        <p:spPr>
          <a:xfrm>
            <a:off x="566928" y="6382512"/>
            <a:ext cx="11064240" cy="10972"/>
          </a:xfrm>
          <a:prstGeom prst="rect">
            <a:avLst/>
          </a:prstGeom>
          <a:solidFill>
            <a:srgbClr val="E3EA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9" name="TextBox 8"/>
          <p:cNvSpPr txBox="1"/>
          <p:nvPr/>
        </p:nvSpPr>
        <p:spPr>
          <a:xfrm>
            <a:off x="10424160" y="6473952"/>
            <a:ext cx="1207008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/>
            <a:r>
              <a:rPr lang="en-US" sz="1050" b="0" i="0" noProof="0" dirty="0">
                <a:solidFill>
                  <a:srgbClr val="8D9EA8"/>
                </a:solidFill>
                <a:latin typeface="Segoe UI"/>
              </a:rPr>
              <a:t>‏CRUD‏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73952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rtl="0"/>
            <a:r>
              <a:rPr lang="en-US" sz="1050" b="0" i="0" noProof="0" dirty="0">
                <a:solidFill>
                  <a:srgbClr val="8D9EA8"/>
                </a:solidFill>
                <a:latin typeface="Segoe UI"/>
              </a:rPr>
              <a:t>9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1700784"/>
            <a:ext cx="11064240" cy="384048"/>
          </a:xfrm>
          <a:prstGeom prst="rect">
            <a:avLst/>
          </a:prstGeom>
          <a:solidFill>
            <a:srgbClr val="0D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12" name="TextBox 11"/>
          <p:cNvSpPr txBox="1"/>
          <p:nvPr/>
        </p:nvSpPr>
        <p:spPr>
          <a:xfrm>
            <a:off x="10136581" y="1746504"/>
            <a:ext cx="1384858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 rtl="1"/>
            <a:r>
              <a:rPr lang="en-US" sz="1150" b="1" i="0" noProof="0" dirty="0" err="1">
                <a:solidFill>
                  <a:srgbClr val="FFFFFF"/>
                </a:solidFill>
                <a:latin typeface="Segoe UI"/>
              </a:rPr>
              <a:t>פעולה</a:t>
            </a:r>
            <a:endParaRPr lang="en-US" sz="1150" b="1" i="0" noProof="0" dirty="0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974836" y="1746504"/>
            <a:ext cx="942289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 rtl="1"/>
            <a:r>
              <a:rPr lang="en-US" sz="1150" b="1" i="0" noProof="0" dirty="0" err="1">
                <a:solidFill>
                  <a:srgbClr val="FFFFFF"/>
                </a:solidFill>
                <a:latin typeface="Segoe UI"/>
              </a:rPr>
              <a:t>פועל</a:t>
            </a:r>
            <a:r>
              <a:rPr lang="en-US" sz="1150" b="1" i="0" noProof="0" dirty="0">
                <a:solidFill>
                  <a:srgbClr val="FFFFFF"/>
                </a:solidFill>
                <a:latin typeface="Segoe UI"/>
              </a:rPr>
              <a:t> ‏HTTP‏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4739" y="1746504"/>
            <a:ext cx="238064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 rtl="1"/>
            <a:r>
              <a:rPr lang="en-US" sz="1150" b="1" i="0" noProof="0" dirty="0" err="1">
                <a:solidFill>
                  <a:srgbClr val="FFFFFF"/>
                </a:solidFill>
                <a:latin typeface="Segoe UI"/>
              </a:rPr>
              <a:t>נתיב</a:t>
            </a:r>
            <a:r>
              <a:rPr lang="en-US" sz="1150" b="1" i="0" noProof="0" dirty="0">
                <a:solidFill>
                  <a:srgbClr val="FFFFFF"/>
                </a:solidFill>
                <a:latin typeface="Segoe UI"/>
              </a:rPr>
              <a:t> </a:t>
            </a:r>
            <a:r>
              <a:rPr lang="en-US" sz="1150" b="1" i="0" noProof="0" dirty="0" err="1">
                <a:solidFill>
                  <a:srgbClr val="FFFFFF"/>
                </a:solidFill>
                <a:latin typeface="Segoe UI"/>
              </a:rPr>
              <a:t>לדוגמה</a:t>
            </a:r>
            <a:endParaRPr lang="en-US" sz="1150" b="1" i="0" noProof="0" dirty="0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549140" y="1746504"/>
            <a:ext cx="1606143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 rtl="1"/>
            <a:r>
              <a:rPr lang="en-US" sz="1150" b="1" i="0" noProof="0" dirty="0">
                <a:solidFill>
                  <a:srgbClr val="FFFFFF"/>
                </a:solidFill>
                <a:latin typeface="Segoe UI"/>
              </a:rPr>
              <a:t>‏SQL‏ </a:t>
            </a:r>
            <a:r>
              <a:rPr lang="en-US" sz="1150" b="1" i="0" noProof="0" dirty="0" err="1">
                <a:solidFill>
                  <a:srgbClr val="FFFFFF"/>
                </a:solidFill>
                <a:latin typeface="Segoe UI"/>
              </a:rPr>
              <a:t>מקביל</a:t>
            </a:r>
            <a:endParaRPr lang="en-US" sz="1150" b="1" i="0" noProof="0" dirty="0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723540" y="1746504"/>
            <a:ext cx="1606143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 rtl="1"/>
            <a:r>
              <a:rPr lang="en-US" sz="1150" b="1" i="0" noProof="0" dirty="0" err="1">
                <a:solidFill>
                  <a:srgbClr val="FFFFFF"/>
                </a:solidFill>
                <a:latin typeface="Segoe UI"/>
              </a:rPr>
              <a:t>הצלחה</a:t>
            </a:r>
            <a:endParaRPr lang="en-US" sz="1150" b="1" i="0" noProof="0" dirty="0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783080" y="1746504"/>
            <a:ext cx="721004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 rtl="1"/>
            <a:r>
              <a:rPr lang="en-US" sz="1150" b="1" i="0" noProof="0" dirty="0" err="1">
                <a:solidFill>
                  <a:srgbClr val="FFFFFF"/>
                </a:solidFill>
                <a:latin typeface="Segoe UI"/>
              </a:rPr>
              <a:t>בטוח</a:t>
            </a:r>
            <a:endParaRPr lang="en-US" sz="1150" b="1" i="0" noProof="0" dirty="0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76656" y="1746504"/>
            <a:ext cx="886968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 rtl="1"/>
            <a:r>
              <a:rPr lang="en-US" sz="1150" b="1" i="0" noProof="0" dirty="0" err="1">
                <a:solidFill>
                  <a:srgbClr val="FFFFFF"/>
                </a:solidFill>
                <a:latin typeface="Segoe UI"/>
              </a:rPr>
              <a:t>אידמפוטנטי</a:t>
            </a:r>
            <a:endParaRPr lang="en-US" sz="1150" b="1" i="0" noProof="0" dirty="0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566928" y="2084832"/>
            <a:ext cx="11064240" cy="342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20" name="Rectangle 19"/>
          <p:cNvSpPr/>
          <p:nvPr/>
        </p:nvSpPr>
        <p:spPr>
          <a:xfrm>
            <a:off x="566928" y="2084832"/>
            <a:ext cx="11064240" cy="7315"/>
          </a:xfrm>
          <a:prstGeom prst="rect">
            <a:avLst/>
          </a:prstGeom>
          <a:solidFill>
            <a:srgbClr val="E3EA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21" name="TextBox 20"/>
          <p:cNvSpPr txBox="1"/>
          <p:nvPr/>
        </p:nvSpPr>
        <p:spPr>
          <a:xfrm>
            <a:off x="10136581" y="2103120"/>
            <a:ext cx="1384858" cy="3063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 rtl="1"/>
            <a:r>
              <a:rPr lang="en-US" sz="1100" b="1" i="0" noProof="0" dirty="0" err="1">
                <a:solidFill>
                  <a:srgbClr val="0F1B24"/>
                </a:solidFill>
                <a:latin typeface="Segoe UI"/>
              </a:rPr>
              <a:t>יצירה</a:t>
            </a:r>
            <a:endParaRPr lang="en-US" sz="1100" b="1" i="0" noProof="0" dirty="0">
              <a:solidFill>
                <a:srgbClr val="0F1B24"/>
              </a:solidFill>
              <a:latin typeface="Segoe UI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974836" y="2103120"/>
            <a:ext cx="942289" cy="3063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 rtl="0"/>
            <a:r>
              <a:rPr lang="en-US" sz="1100" b="0" i="0" noProof="0" dirty="0">
                <a:solidFill>
                  <a:srgbClr val="0F1B24"/>
                </a:solidFill>
                <a:latin typeface="Consolas"/>
              </a:rPr>
              <a:t>POST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74739" y="2103120"/>
            <a:ext cx="2380640" cy="3063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 rtl="0"/>
            <a:r>
              <a:rPr lang="en-US" sz="1100" b="0" i="0" noProof="0" dirty="0">
                <a:solidFill>
                  <a:srgbClr val="0F1B24"/>
                </a:solidFill>
                <a:latin typeface="Consolas"/>
              </a:rPr>
              <a:t>/movies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49140" y="2103120"/>
            <a:ext cx="1606143" cy="3063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 rtl="0"/>
            <a:r>
              <a:rPr lang="en-US" sz="1100" b="0" i="0" noProof="0" dirty="0">
                <a:solidFill>
                  <a:srgbClr val="0F1B24"/>
                </a:solidFill>
                <a:latin typeface="Consolas"/>
              </a:rPr>
              <a:t>INSERT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23540" y="2103120"/>
            <a:ext cx="1606143" cy="3063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 rtl="0"/>
            <a:r>
              <a:rPr lang="en-US" sz="1100" b="0" i="0" noProof="0" dirty="0">
                <a:solidFill>
                  <a:srgbClr val="0F1B24"/>
                </a:solidFill>
                <a:latin typeface="Consolas"/>
              </a:rPr>
              <a:t>201 Created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83080" y="2103120"/>
            <a:ext cx="721004" cy="3063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 rtl="0"/>
            <a:r>
              <a:rPr lang="en-US" sz="1100" b="0" i="0" noProof="0" dirty="0" err="1">
                <a:solidFill>
                  <a:srgbClr val="0F1B24"/>
                </a:solidFill>
                <a:latin typeface="Segoe UI"/>
              </a:rPr>
              <a:t>לא</a:t>
            </a:r>
            <a:endParaRPr lang="en-US" sz="1100" b="0" i="0" noProof="0" dirty="0">
              <a:solidFill>
                <a:srgbClr val="0F1B24"/>
              </a:solidFill>
              <a:latin typeface="Segoe UI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76656" y="2103120"/>
            <a:ext cx="886968" cy="3063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 rtl="0"/>
            <a:r>
              <a:rPr lang="en-US" sz="1100" b="0" i="0" noProof="0" dirty="0" err="1">
                <a:solidFill>
                  <a:srgbClr val="0F1B24"/>
                </a:solidFill>
                <a:latin typeface="Segoe UI"/>
              </a:rPr>
              <a:t>לא</a:t>
            </a:r>
            <a:endParaRPr lang="en-US" sz="1100" b="0" i="0" noProof="0" dirty="0">
              <a:solidFill>
                <a:srgbClr val="0F1B24"/>
              </a:solidFill>
              <a:latin typeface="Segoe UI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566928" y="2427732"/>
            <a:ext cx="11064240" cy="342900"/>
          </a:xfrm>
          <a:prstGeom prst="rect">
            <a:avLst/>
          </a:prstGeom>
          <a:solidFill>
            <a:srgbClr val="F1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29" name="Rectangle 28"/>
          <p:cNvSpPr/>
          <p:nvPr/>
        </p:nvSpPr>
        <p:spPr>
          <a:xfrm>
            <a:off x="566928" y="2427732"/>
            <a:ext cx="11064240" cy="7315"/>
          </a:xfrm>
          <a:prstGeom prst="rect">
            <a:avLst/>
          </a:prstGeom>
          <a:solidFill>
            <a:srgbClr val="E3EA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30" name="TextBox 29"/>
          <p:cNvSpPr txBox="1"/>
          <p:nvPr/>
        </p:nvSpPr>
        <p:spPr>
          <a:xfrm>
            <a:off x="10136581" y="2446020"/>
            <a:ext cx="1384858" cy="3063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 rtl="1"/>
            <a:r>
              <a:rPr lang="en-US" sz="1100" b="1" i="0" noProof="0" dirty="0" err="1">
                <a:solidFill>
                  <a:srgbClr val="0F1B24"/>
                </a:solidFill>
                <a:latin typeface="Segoe UI"/>
              </a:rPr>
              <a:t>קריאת</a:t>
            </a:r>
            <a:r>
              <a:rPr lang="en-US" sz="1100" b="1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100" b="1" i="0" noProof="0" dirty="0" err="1">
                <a:solidFill>
                  <a:srgbClr val="0F1B24"/>
                </a:solidFill>
                <a:latin typeface="Segoe UI"/>
              </a:rPr>
              <a:t>אוסף</a:t>
            </a:r>
            <a:endParaRPr lang="en-US" sz="1100" b="1" i="0" noProof="0" dirty="0">
              <a:solidFill>
                <a:srgbClr val="0F1B24"/>
              </a:solidFill>
              <a:latin typeface="Segoe UI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8974836" y="2446020"/>
            <a:ext cx="942289" cy="3063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 rtl="0"/>
            <a:r>
              <a:rPr lang="en-US" sz="1100" b="0" i="0" noProof="0" dirty="0">
                <a:solidFill>
                  <a:srgbClr val="0F1B24"/>
                </a:solidFill>
                <a:latin typeface="Consolas"/>
              </a:rPr>
              <a:t>GET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74739" y="2446020"/>
            <a:ext cx="2380640" cy="3063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 rtl="0"/>
            <a:r>
              <a:rPr lang="en-US" sz="1100" b="0" i="0" noProof="0" dirty="0">
                <a:solidFill>
                  <a:srgbClr val="0F1B24"/>
                </a:solidFill>
                <a:latin typeface="Consolas"/>
              </a:rPr>
              <a:t>/</a:t>
            </a:r>
            <a:r>
              <a:rPr lang="en-US" sz="1100" b="0" i="0" noProof="0" dirty="0" err="1">
                <a:solidFill>
                  <a:srgbClr val="0F1B24"/>
                </a:solidFill>
                <a:latin typeface="Consolas"/>
              </a:rPr>
              <a:t>movies?genre</a:t>
            </a:r>
            <a:r>
              <a:rPr lang="en-US" sz="1100" b="0" i="0" noProof="0" dirty="0">
                <a:solidFill>
                  <a:srgbClr val="0F1B24"/>
                </a:solidFill>
                <a:latin typeface="Consolas"/>
              </a:rPr>
              <a:t>=drama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49140" y="2446020"/>
            <a:ext cx="1606143" cy="3063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 rtl="0"/>
            <a:r>
              <a:rPr lang="en-US" sz="1100" b="0" i="0" noProof="0" dirty="0">
                <a:solidFill>
                  <a:srgbClr val="0F1B24"/>
                </a:solidFill>
                <a:latin typeface="Consolas"/>
              </a:rPr>
              <a:t>SELECT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723540" y="2446020"/>
            <a:ext cx="1606143" cy="3063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 rtl="0"/>
            <a:r>
              <a:rPr lang="en-US" sz="1100" b="0" i="0" noProof="0" dirty="0">
                <a:solidFill>
                  <a:srgbClr val="0F1B24"/>
                </a:solidFill>
                <a:latin typeface="Consolas"/>
              </a:rPr>
              <a:t>200 OK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783080" y="2446020"/>
            <a:ext cx="721004" cy="3063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 rtl="0"/>
            <a:r>
              <a:rPr lang="en-US" sz="1100" b="0" i="0" noProof="0" dirty="0" err="1">
                <a:solidFill>
                  <a:srgbClr val="0F1B24"/>
                </a:solidFill>
                <a:latin typeface="Segoe UI"/>
              </a:rPr>
              <a:t>כן</a:t>
            </a:r>
            <a:endParaRPr lang="en-US" sz="1100" b="0" i="0" noProof="0" dirty="0">
              <a:solidFill>
                <a:srgbClr val="0F1B24"/>
              </a:solidFill>
              <a:latin typeface="Segoe UI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676656" y="2446020"/>
            <a:ext cx="886968" cy="3063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 rtl="0"/>
            <a:r>
              <a:rPr lang="en-US" sz="1100" b="0" i="0" noProof="0" dirty="0" err="1">
                <a:solidFill>
                  <a:srgbClr val="0F1B24"/>
                </a:solidFill>
                <a:latin typeface="Segoe UI"/>
              </a:rPr>
              <a:t>כן</a:t>
            </a:r>
            <a:endParaRPr lang="en-US" sz="1100" b="0" i="0" noProof="0" dirty="0">
              <a:solidFill>
                <a:srgbClr val="0F1B24"/>
              </a:solidFill>
              <a:latin typeface="Segoe UI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566928" y="2770632"/>
            <a:ext cx="11064240" cy="342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38" name="Rectangle 37"/>
          <p:cNvSpPr/>
          <p:nvPr/>
        </p:nvSpPr>
        <p:spPr>
          <a:xfrm>
            <a:off x="566928" y="2770632"/>
            <a:ext cx="11064240" cy="7315"/>
          </a:xfrm>
          <a:prstGeom prst="rect">
            <a:avLst/>
          </a:prstGeom>
          <a:solidFill>
            <a:srgbClr val="E3EA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39" name="TextBox 38"/>
          <p:cNvSpPr txBox="1"/>
          <p:nvPr/>
        </p:nvSpPr>
        <p:spPr>
          <a:xfrm>
            <a:off x="10136581" y="2788920"/>
            <a:ext cx="1384858" cy="3063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 rtl="1"/>
            <a:r>
              <a:rPr lang="en-US" sz="1100" b="1" i="0" noProof="0" dirty="0" err="1">
                <a:solidFill>
                  <a:srgbClr val="0F1B24"/>
                </a:solidFill>
                <a:latin typeface="Segoe UI"/>
              </a:rPr>
              <a:t>קריאת</a:t>
            </a:r>
            <a:r>
              <a:rPr lang="en-US" sz="1100" b="1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100" b="1" i="0" noProof="0" dirty="0" err="1">
                <a:solidFill>
                  <a:srgbClr val="0F1B24"/>
                </a:solidFill>
                <a:latin typeface="Segoe UI"/>
              </a:rPr>
              <a:t>פריט</a:t>
            </a:r>
            <a:endParaRPr lang="en-US" sz="1100" b="1" i="0" noProof="0" dirty="0">
              <a:solidFill>
                <a:srgbClr val="0F1B24"/>
              </a:solidFill>
              <a:latin typeface="Segoe UI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8974836" y="2788920"/>
            <a:ext cx="942289" cy="3063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 rtl="0"/>
            <a:r>
              <a:rPr lang="en-US" sz="1100" b="0" i="0" noProof="0" dirty="0">
                <a:solidFill>
                  <a:srgbClr val="0F1B24"/>
                </a:solidFill>
                <a:latin typeface="Consolas"/>
              </a:rPr>
              <a:t>GET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74739" y="2788920"/>
            <a:ext cx="2380640" cy="3063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 rtl="0"/>
            <a:r>
              <a:rPr lang="en-US" sz="1100" b="0" i="0" noProof="0" dirty="0">
                <a:solidFill>
                  <a:srgbClr val="0F1B24"/>
                </a:solidFill>
                <a:latin typeface="Consolas"/>
              </a:rPr>
              <a:t>/movies/42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49140" y="2788920"/>
            <a:ext cx="1606143" cy="3063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 rtl="0"/>
            <a:r>
              <a:rPr lang="en-US" sz="1100" b="0" i="0" noProof="0" dirty="0">
                <a:solidFill>
                  <a:srgbClr val="0F1B24"/>
                </a:solidFill>
                <a:latin typeface="Consolas"/>
              </a:rPr>
              <a:t>SELECT ... WHERE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723540" y="2788920"/>
            <a:ext cx="1606143" cy="3063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 rtl="0"/>
            <a:r>
              <a:rPr lang="en-US" sz="1100" b="0" i="0" noProof="0" dirty="0">
                <a:solidFill>
                  <a:srgbClr val="0F1B24"/>
                </a:solidFill>
                <a:latin typeface="Consolas"/>
              </a:rPr>
              <a:t>200 / 404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783080" y="2788920"/>
            <a:ext cx="721004" cy="3063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 rtl="0"/>
            <a:r>
              <a:rPr lang="en-US" sz="1100" b="0" i="0" noProof="0" dirty="0" err="1">
                <a:solidFill>
                  <a:srgbClr val="0F1B24"/>
                </a:solidFill>
                <a:latin typeface="Segoe UI"/>
              </a:rPr>
              <a:t>כן</a:t>
            </a:r>
            <a:endParaRPr lang="en-US" sz="1100" b="0" i="0" noProof="0" dirty="0">
              <a:solidFill>
                <a:srgbClr val="0F1B24"/>
              </a:solidFill>
              <a:latin typeface="Segoe UI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676656" y="2788920"/>
            <a:ext cx="886968" cy="3063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 rtl="0"/>
            <a:r>
              <a:rPr lang="en-US" sz="1100" b="0" i="0" noProof="0" dirty="0" err="1">
                <a:solidFill>
                  <a:srgbClr val="0F1B24"/>
                </a:solidFill>
                <a:latin typeface="Segoe UI"/>
              </a:rPr>
              <a:t>כן</a:t>
            </a:r>
            <a:endParaRPr lang="en-US" sz="1100" b="0" i="0" noProof="0" dirty="0">
              <a:solidFill>
                <a:srgbClr val="0F1B24"/>
              </a:solidFill>
              <a:latin typeface="Segoe UI"/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566928" y="3113532"/>
            <a:ext cx="11064240" cy="342900"/>
          </a:xfrm>
          <a:prstGeom prst="rect">
            <a:avLst/>
          </a:prstGeom>
          <a:solidFill>
            <a:srgbClr val="F1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47" name="Rectangle 46"/>
          <p:cNvSpPr/>
          <p:nvPr/>
        </p:nvSpPr>
        <p:spPr>
          <a:xfrm>
            <a:off x="566928" y="3113532"/>
            <a:ext cx="11064240" cy="7315"/>
          </a:xfrm>
          <a:prstGeom prst="rect">
            <a:avLst/>
          </a:prstGeom>
          <a:solidFill>
            <a:srgbClr val="E3EA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48" name="TextBox 47"/>
          <p:cNvSpPr txBox="1"/>
          <p:nvPr/>
        </p:nvSpPr>
        <p:spPr>
          <a:xfrm>
            <a:off x="10136581" y="3131820"/>
            <a:ext cx="1384858" cy="3063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 rtl="1"/>
            <a:r>
              <a:rPr lang="en-US" sz="1100" b="1" i="0" noProof="0" dirty="0" err="1">
                <a:solidFill>
                  <a:srgbClr val="0F1B24"/>
                </a:solidFill>
                <a:latin typeface="Segoe UI"/>
              </a:rPr>
              <a:t>עדכון</a:t>
            </a:r>
            <a:r>
              <a:rPr lang="en-US" sz="1100" b="1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100" b="1" i="0" noProof="0" dirty="0" err="1">
                <a:solidFill>
                  <a:srgbClr val="0F1B24"/>
                </a:solidFill>
                <a:latin typeface="Segoe UI"/>
              </a:rPr>
              <a:t>מלא</a:t>
            </a:r>
            <a:endParaRPr lang="en-US" sz="1100" b="1" i="0" noProof="0" dirty="0">
              <a:solidFill>
                <a:srgbClr val="0F1B24"/>
              </a:solidFill>
              <a:latin typeface="Segoe UI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8974836" y="3131820"/>
            <a:ext cx="942289" cy="3063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 rtl="0"/>
            <a:r>
              <a:rPr lang="en-US" sz="1100" b="0" i="0" noProof="0" dirty="0">
                <a:solidFill>
                  <a:srgbClr val="0F1B24"/>
                </a:solidFill>
                <a:latin typeface="Consolas"/>
              </a:rPr>
              <a:t>PUT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374739" y="3131820"/>
            <a:ext cx="2380640" cy="3063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 rtl="0"/>
            <a:r>
              <a:rPr lang="en-US" sz="1100" b="0" i="0" noProof="0" dirty="0">
                <a:solidFill>
                  <a:srgbClr val="0F1B24"/>
                </a:solidFill>
                <a:latin typeface="Consolas"/>
              </a:rPr>
              <a:t>/movies/42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549140" y="3131820"/>
            <a:ext cx="1606143" cy="3063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 rtl="0"/>
            <a:r>
              <a:rPr lang="en-US" sz="1100" b="0" i="0" noProof="0" dirty="0">
                <a:solidFill>
                  <a:srgbClr val="0F1B24"/>
                </a:solidFill>
                <a:latin typeface="Consolas"/>
              </a:rPr>
              <a:t>UPDATE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723540" y="3131820"/>
            <a:ext cx="1606143" cy="3063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 rtl="0"/>
            <a:r>
              <a:rPr lang="en-US" sz="1100" b="0" i="0" noProof="0" dirty="0">
                <a:solidFill>
                  <a:srgbClr val="0F1B24"/>
                </a:solidFill>
                <a:latin typeface="Consolas"/>
              </a:rPr>
              <a:t>200 / 204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783080" y="3131820"/>
            <a:ext cx="721004" cy="3063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 rtl="0"/>
            <a:r>
              <a:rPr lang="en-US" sz="1100" b="0" i="0" noProof="0" dirty="0" err="1">
                <a:solidFill>
                  <a:srgbClr val="0F1B24"/>
                </a:solidFill>
                <a:latin typeface="Segoe UI"/>
              </a:rPr>
              <a:t>לא</a:t>
            </a:r>
            <a:endParaRPr lang="en-US" sz="1100" b="0" i="0" noProof="0" dirty="0">
              <a:solidFill>
                <a:srgbClr val="0F1B24"/>
              </a:solidFill>
              <a:latin typeface="Segoe UI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676656" y="3131820"/>
            <a:ext cx="886968" cy="3063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 rtl="0"/>
            <a:r>
              <a:rPr lang="en-US" sz="1100" b="0" i="0" noProof="0" dirty="0" err="1">
                <a:solidFill>
                  <a:srgbClr val="0F1B24"/>
                </a:solidFill>
                <a:latin typeface="Segoe UI"/>
              </a:rPr>
              <a:t>כן</a:t>
            </a:r>
            <a:endParaRPr lang="en-US" sz="1100" b="0" i="0" noProof="0" dirty="0">
              <a:solidFill>
                <a:srgbClr val="0F1B24"/>
              </a:solidFill>
              <a:latin typeface="Segoe UI"/>
            </a:endParaRPr>
          </a:p>
        </p:txBody>
      </p:sp>
      <p:sp>
        <p:nvSpPr>
          <p:cNvPr id="64" name="Rectangle 63"/>
          <p:cNvSpPr/>
          <p:nvPr/>
        </p:nvSpPr>
        <p:spPr>
          <a:xfrm>
            <a:off x="566928" y="3456432"/>
            <a:ext cx="11064240" cy="342900"/>
          </a:xfrm>
          <a:prstGeom prst="rect">
            <a:avLst/>
          </a:prstGeom>
          <a:solidFill>
            <a:srgbClr val="F1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65" name="Rectangle 64"/>
          <p:cNvSpPr/>
          <p:nvPr/>
        </p:nvSpPr>
        <p:spPr>
          <a:xfrm>
            <a:off x="566928" y="3456432"/>
            <a:ext cx="11064240" cy="7315"/>
          </a:xfrm>
          <a:prstGeom prst="rect">
            <a:avLst/>
          </a:prstGeom>
          <a:solidFill>
            <a:srgbClr val="E3EA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66" name="TextBox 65"/>
          <p:cNvSpPr txBox="1"/>
          <p:nvPr/>
        </p:nvSpPr>
        <p:spPr>
          <a:xfrm>
            <a:off x="10136581" y="3474720"/>
            <a:ext cx="1384858" cy="3063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 rtl="1"/>
            <a:r>
              <a:rPr lang="en-US" sz="1100" b="1" i="0" noProof="0" dirty="0" err="1">
                <a:solidFill>
                  <a:srgbClr val="0F1B24"/>
                </a:solidFill>
                <a:latin typeface="Segoe UI"/>
              </a:rPr>
              <a:t>מחיקה</a:t>
            </a:r>
            <a:endParaRPr lang="en-US" sz="1100" b="1" i="0" noProof="0" dirty="0">
              <a:solidFill>
                <a:srgbClr val="0F1B24"/>
              </a:solidFill>
              <a:latin typeface="Segoe UI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8974836" y="3474720"/>
            <a:ext cx="942289" cy="3063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 rtl="0"/>
            <a:r>
              <a:rPr lang="en-US" sz="1100" b="0" i="0" noProof="0" dirty="0">
                <a:solidFill>
                  <a:srgbClr val="0F1B24"/>
                </a:solidFill>
                <a:latin typeface="Consolas"/>
              </a:rPr>
              <a:t>DELETE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374739" y="3474720"/>
            <a:ext cx="2380640" cy="3063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 rtl="0"/>
            <a:r>
              <a:rPr lang="en-US" sz="1100" b="0" i="0" noProof="0" dirty="0">
                <a:solidFill>
                  <a:srgbClr val="0F1B24"/>
                </a:solidFill>
                <a:latin typeface="Consolas"/>
              </a:rPr>
              <a:t>/movies/42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549140" y="3474720"/>
            <a:ext cx="1606143" cy="3063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 rtl="0"/>
            <a:r>
              <a:rPr lang="en-US" sz="1100" b="0" i="0" noProof="0" dirty="0">
                <a:solidFill>
                  <a:srgbClr val="0F1B24"/>
                </a:solidFill>
                <a:latin typeface="Consolas"/>
              </a:rPr>
              <a:t>DELETE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723540" y="3474720"/>
            <a:ext cx="1606143" cy="3063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 rtl="0"/>
            <a:r>
              <a:rPr lang="en-US" sz="1100" b="0" i="0" noProof="0" dirty="0">
                <a:solidFill>
                  <a:srgbClr val="0F1B24"/>
                </a:solidFill>
                <a:latin typeface="Consolas"/>
              </a:rPr>
              <a:t>204 No Content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783080" y="3474720"/>
            <a:ext cx="721004" cy="3063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 rtl="0"/>
            <a:r>
              <a:rPr lang="en-US" sz="1100" b="0" i="0" noProof="0" dirty="0" err="1">
                <a:solidFill>
                  <a:srgbClr val="0F1B24"/>
                </a:solidFill>
                <a:latin typeface="Segoe UI"/>
              </a:rPr>
              <a:t>לא</a:t>
            </a:r>
            <a:endParaRPr lang="en-US" sz="1100" b="0" i="0" noProof="0" dirty="0">
              <a:solidFill>
                <a:srgbClr val="0F1B24"/>
              </a:solidFill>
              <a:latin typeface="Segoe UI"/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676656" y="3474720"/>
            <a:ext cx="886968" cy="3063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 rtl="0"/>
            <a:r>
              <a:rPr lang="en-US" sz="1100" b="0" i="0" noProof="0" dirty="0" err="1">
                <a:solidFill>
                  <a:srgbClr val="0F1B24"/>
                </a:solidFill>
                <a:latin typeface="Segoe UI"/>
              </a:rPr>
              <a:t>כן</a:t>
            </a:r>
            <a:endParaRPr lang="en-US" sz="1100" b="0" i="0" noProof="0" dirty="0">
              <a:solidFill>
                <a:srgbClr val="0F1B24"/>
              </a:solidFill>
              <a:latin typeface="Segoe UI"/>
            </a:endParaRPr>
          </a:p>
        </p:txBody>
      </p:sp>
      <p:sp>
        <p:nvSpPr>
          <p:cNvPr id="73" name="Rectangle 72"/>
          <p:cNvSpPr/>
          <p:nvPr/>
        </p:nvSpPr>
        <p:spPr>
          <a:xfrm>
            <a:off x="566928" y="1700784"/>
            <a:ext cx="11064240" cy="2098548"/>
          </a:xfrm>
          <a:prstGeom prst="rect">
            <a:avLst/>
          </a:prstGeom>
          <a:noFill/>
          <a:ln w="9525">
            <a:solidFill>
              <a:srgbClr val="E3EA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74" name="Rounded Rectangle 73"/>
          <p:cNvSpPr/>
          <p:nvPr/>
        </p:nvSpPr>
        <p:spPr>
          <a:xfrm>
            <a:off x="8089392" y="3881628"/>
            <a:ext cx="3541775" cy="1060704"/>
          </a:xfrm>
          <a:prstGeom prst="roundRect">
            <a:avLst>
              <a:gd name="adj" fmla="val 5000"/>
            </a:avLst>
          </a:prstGeom>
          <a:solidFill>
            <a:srgbClr val="F1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75" name="Rectangle 74"/>
          <p:cNvSpPr/>
          <p:nvPr/>
        </p:nvSpPr>
        <p:spPr>
          <a:xfrm>
            <a:off x="11576304" y="3881628"/>
            <a:ext cx="54864" cy="1060704"/>
          </a:xfrm>
          <a:prstGeom prst="rect">
            <a:avLst/>
          </a:prstGeom>
          <a:solidFill>
            <a:srgbClr val="C4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76" name="TextBox 75"/>
          <p:cNvSpPr txBox="1"/>
          <p:nvPr/>
        </p:nvSpPr>
        <p:spPr>
          <a:xfrm>
            <a:off x="8290560" y="4000500"/>
            <a:ext cx="310286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/>
            <a:r>
              <a:rPr lang="en-US" sz="1250" b="1" i="0" noProof="0" dirty="0" err="1">
                <a:solidFill>
                  <a:srgbClr val="0D4A5C"/>
                </a:solidFill>
                <a:latin typeface="Segoe UI"/>
              </a:rPr>
              <a:t>בטוח</a:t>
            </a:r>
            <a:r>
              <a:rPr lang="en-US" sz="1250" b="1" i="0" noProof="0" dirty="0">
                <a:solidFill>
                  <a:srgbClr val="0D4A5C"/>
                </a:solidFill>
                <a:latin typeface="Segoe UI"/>
              </a:rPr>
              <a:t> </a:t>
            </a:r>
            <a:r>
              <a:rPr lang="en-US" sz="1250" b="1" i="0" noProof="0" dirty="0" err="1">
                <a:solidFill>
                  <a:srgbClr val="0D4A5C"/>
                </a:solidFill>
                <a:latin typeface="Segoe UI"/>
              </a:rPr>
              <a:t>מול</a:t>
            </a:r>
            <a:r>
              <a:rPr lang="en-US" sz="1250" b="1" i="0" noProof="0" dirty="0">
                <a:solidFill>
                  <a:srgbClr val="0D4A5C"/>
                </a:solidFill>
                <a:latin typeface="Segoe UI"/>
              </a:rPr>
              <a:t> </a:t>
            </a:r>
            <a:r>
              <a:rPr lang="en-US" sz="1250" b="1" i="0" noProof="0" dirty="0" err="1">
                <a:solidFill>
                  <a:srgbClr val="0D4A5C"/>
                </a:solidFill>
                <a:latin typeface="Segoe UI"/>
              </a:rPr>
              <a:t>אידמפוטנטי</a:t>
            </a:r>
            <a:endParaRPr lang="en-US" sz="1250" b="1" i="0" noProof="0" dirty="0">
              <a:solidFill>
                <a:srgbClr val="0D4A5C"/>
              </a:solidFill>
              <a:latin typeface="Segoe UI"/>
            </a:endParaRPr>
          </a:p>
        </p:txBody>
      </p:sp>
      <p:sp>
        <p:nvSpPr>
          <p:cNvPr id="77" name="TextBox 76"/>
          <p:cNvSpPr txBox="1"/>
          <p:nvPr/>
        </p:nvSpPr>
        <p:spPr>
          <a:xfrm>
            <a:off x="8290560" y="4274820"/>
            <a:ext cx="3102864" cy="5760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08000"/>
              </a:lnSpc>
            </a:pPr>
            <a:r>
              <a:rPr lang="en-US" sz="950" b="0" i="0" noProof="0" dirty="0" err="1">
                <a:solidFill>
                  <a:srgbClr val="0F1B24"/>
                </a:solidFill>
                <a:latin typeface="Segoe UI"/>
              </a:rPr>
              <a:t>פעולה</a:t>
            </a:r>
            <a:r>
              <a:rPr lang="en-US" sz="9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950" b="0" i="0" noProof="0" dirty="0" err="1">
                <a:solidFill>
                  <a:srgbClr val="0F1B24"/>
                </a:solidFill>
                <a:latin typeface="Segoe UI"/>
              </a:rPr>
              <a:t>בטוחה</a:t>
            </a:r>
            <a:r>
              <a:rPr lang="en-US" sz="950" b="0" i="0" noProof="0" dirty="0">
                <a:solidFill>
                  <a:srgbClr val="0F1B24"/>
                </a:solidFill>
                <a:latin typeface="Segoe UI"/>
              </a:rPr>
              <a:t> ‏‎(safe)‎‏ </a:t>
            </a:r>
            <a:r>
              <a:rPr lang="en-US" sz="950" b="0" i="0" noProof="0" dirty="0" err="1">
                <a:solidFill>
                  <a:srgbClr val="0F1B24"/>
                </a:solidFill>
                <a:latin typeface="Segoe UI"/>
              </a:rPr>
              <a:t>אינה</a:t>
            </a:r>
            <a:r>
              <a:rPr lang="en-US" sz="9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950" b="0" i="0" noProof="0" dirty="0" err="1">
                <a:solidFill>
                  <a:srgbClr val="0F1B24"/>
                </a:solidFill>
                <a:latin typeface="Segoe UI"/>
              </a:rPr>
              <a:t>משנה</a:t>
            </a:r>
            <a:r>
              <a:rPr lang="en-US" sz="950" b="0" i="0" noProof="0" dirty="0">
                <a:solidFill>
                  <a:srgbClr val="0F1B24"/>
                </a:solidFill>
                <a:latin typeface="Segoe UI"/>
              </a:rPr>
              <a:t> את </a:t>
            </a:r>
            <a:r>
              <a:rPr lang="en-US" sz="950" b="0" i="0" noProof="0" dirty="0" err="1">
                <a:solidFill>
                  <a:srgbClr val="0F1B24"/>
                </a:solidFill>
                <a:latin typeface="Segoe UI"/>
              </a:rPr>
              <a:t>מצב</a:t>
            </a:r>
            <a:r>
              <a:rPr lang="en-US" sz="9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950" b="0" i="0" noProof="0" dirty="0" err="1">
                <a:solidFill>
                  <a:srgbClr val="0F1B24"/>
                </a:solidFill>
                <a:latin typeface="Segoe UI"/>
              </a:rPr>
              <a:t>השרת</a:t>
            </a:r>
            <a:r>
              <a:rPr lang="en-US" sz="950" b="0" i="0" noProof="0" dirty="0">
                <a:solidFill>
                  <a:srgbClr val="0F1B24"/>
                </a:solidFill>
                <a:latin typeface="Segoe UI"/>
              </a:rPr>
              <a:t>. </a:t>
            </a:r>
            <a:r>
              <a:rPr lang="en-US" sz="950" b="0" i="0" noProof="0" dirty="0" err="1">
                <a:solidFill>
                  <a:srgbClr val="0F1B24"/>
                </a:solidFill>
                <a:latin typeface="Segoe UI"/>
              </a:rPr>
              <a:t>על</a:t>
            </a:r>
            <a:r>
              <a:rPr lang="en-US" sz="9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950" b="0" i="0" noProof="0" dirty="0" err="1">
                <a:solidFill>
                  <a:srgbClr val="0F1B24"/>
                </a:solidFill>
                <a:latin typeface="Segoe UI"/>
              </a:rPr>
              <a:t>פעולה</a:t>
            </a:r>
            <a:r>
              <a:rPr lang="en-US" sz="9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950" b="0" i="0" noProof="0" dirty="0" err="1">
                <a:solidFill>
                  <a:srgbClr val="0F1B24"/>
                </a:solidFill>
                <a:latin typeface="Segoe UI"/>
              </a:rPr>
              <a:t>אידמפוטנטית</a:t>
            </a:r>
            <a:r>
              <a:rPr lang="en-US" sz="9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950" b="0" i="0" noProof="0" dirty="0" err="1">
                <a:solidFill>
                  <a:srgbClr val="0F1B24"/>
                </a:solidFill>
                <a:latin typeface="Segoe UI"/>
              </a:rPr>
              <a:t>מותר</a:t>
            </a:r>
            <a:r>
              <a:rPr lang="en-US" sz="9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950" b="0" i="0" noProof="0" dirty="0" err="1">
                <a:solidFill>
                  <a:srgbClr val="0F1B24"/>
                </a:solidFill>
                <a:latin typeface="Segoe UI"/>
              </a:rPr>
              <a:t>לחזור</a:t>
            </a:r>
            <a:r>
              <a:rPr lang="en-US" sz="950" b="0" i="0" noProof="0" dirty="0">
                <a:solidFill>
                  <a:srgbClr val="0F1B24"/>
                </a:solidFill>
                <a:latin typeface="Segoe UI"/>
              </a:rPr>
              <a:t> — </a:t>
            </a:r>
            <a:r>
              <a:rPr lang="en-US" sz="950" b="0" i="0" noProof="0" dirty="0" err="1">
                <a:solidFill>
                  <a:srgbClr val="0F1B24"/>
                </a:solidFill>
                <a:latin typeface="Segoe UI"/>
              </a:rPr>
              <a:t>התוצאה</a:t>
            </a:r>
            <a:r>
              <a:rPr lang="en-US" sz="9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950" b="0" i="0" noProof="0" dirty="0" err="1">
                <a:solidFill>
                  <a:srgbClr val="0F1B24"/>
                </a:solidFill>
                <a:latin typeface="Segoe UI"/>
              </a:rPr>
              <a:t>זהה</a:t>
            </a:r>
            <a:r>
              <a:rPr lang="en-US" sz="950" b="0" i="0" noProof="0" dirty="0">
                <a:solidFill>
                  <a:srgbClr val="0F1B24"/>
                </a:solidFill>
                <a:latin typeface="Segoe UI"/>
              </a:rPr>
              <a:t>. </a:t>
            </a:r>
            <a:r>
              <a:rPr lang="en-US" sz="950" b="0" i="0" noProof="0" dirty="0" err="1">
                <a:solidFill>
                  <a:srgbClr val="0F1B24"/>
                </a:solidFill>
                <a:latin typeface="Segoe UI"/>
              </a:rPr>
              <a:t>לכן</a:t>
            </a:r>
            <a:r>
              <a:rPr lang="en-US" sz="9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950" b="0" i="0" noProof="0" dirty="0" err="1">
                <a:solidFill>
                  <a:srgbClr val="0F1B24"/>
                </a:solidFill>
                <a:latin typeface="Segoe UI"/>
              </a:rPr>
              <a:t>דפדפן</a:t>
            </a:r>
            <a:r>
              <a:rPr lang="en-US" sz="9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950" b="0" i="0" noProof="0" dirty="0" err="1">
                <a:solidFill>
                  <a:srgbClr val="0F1B24"/>
                </a:solidFill>
                <a:latin typeface="Segoe UI"/>
              </a:rPr>
              <a:t>חוזר</a:t>
            </a:r>
            <a:r>
              <a:rPr lang="en-US" sz="9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950" b="0" i="0" noProof="0" dirty="0" err="1">
                <a:solidFill>
                  <a:srgbClr val="0F1B24"/>
                </a:solidFill>
                <a:latin typeface="Segoe UI"/>
              </a:rPr>
              <a:t>על</a:t>
            </a:r>
            <a:r>
              <a:rPr lang="en-US" sz="950" b="0" i="0" noProof="0" dirty="0">
                <a:solidFill>
                  <a:srgbClr val="0F1B24"/>
                </a:solidFill>
                <a:latin typeface="Segoe UI"/>
              </a:rPr>
              <a:t> ‏GET‏ </a:t>
            </a:r>
            <a:r>
              <a:rPr lang="en-US" sz="950" b="0" i="0" noProof="0" dirty="0" err="1">
                <a:solidFill>
                  <a:srgbClr val="0F1B24"/>
                </a:solidFill>
                <a:latin typeface="Segoe UI"/>
              </a:rPr>
              <a:t>בשקט</a:t>
            </a:r>
            <a:r>
              <a:rPr lang="en-US" sz="950" b="0" i="0" noProof="0" dirty="0">
                <a:solidFill>
                  <a:srgbClr val="0F1B24"/>
                </a:solidFill>
                <a:latin typeface="Segoe UI"/>
              </a:rPr>
              <a:t>, </a:t>
            </a:r>
            <a:r>
              <a:rPr lang="en-US" sz="950" b="0" i="0" noProof="0" dirty="0" err="1">
                <a:solidFill>
                  <a:srgbClr val="0F1B24"/>
                </a:solidFill>
                <a:latin typeface="Segoe UI"/>
              </a:rPr>
              <a:t>אך</a:t>
            </a:r>
            <a:r>
              <a:rPr lang="en-US" sz="9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950" b="0" i="0" noProof="0" dirty="0" err="1">
                <a:solidFill>
                  <a:srgbClr val="0F1B24"/>
                </a:solidFill>
                <a:latin typeface="Segoe UI"/>
              </a:rPr>
              <a:t>מזהיר</a:t>
            </a:r>
            <a:r>
              <a:rPr lang="en-US" sz="9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950" b="0" i="0" noProof="0" dirty="0" err="1">
                <a:solidFill>
                  <a:srgbClr val="0F1B24"/>
                </a:solidFill>
                <a:latin typeface="Segoe UI"/>
              </a:rPr>
              <a:t>לפני</a:t>
            </a:r>
            <a:r>
              <a:rPr lang="en-US" sz="9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950" b="0" i="0" noProof="0" dirty="0" err="1">
                <a:solidFill>
                  <a:srgbClr val="0F1B24"/>
                </a:solidFill>
                <a:latin typeface="Segoe UI"/>
              </a:rPr>
              <a:t>שליחה</a:t>
            </a:r>
            <a:r>
              <a:rPr lang="en-US" sz="9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950" b="0" i="0" noProof="0" dirty="0" err="1">
                <a:solidFill>
                  <a:srgbClr val="0F1B24"/>
                </a:solidFill>
                <a:latin typeface="Segoe UI"/>
              </a:rPr>
              <a:t>חוזרת</a:t>
            </a:r>
            <a:r>
              <a:rPr lang="en-US" sz="9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950" b="0" i="0" noProof="0" dirty="0" err="1">
                <a:solidFill>
                  <a:srgbClr val="0F1B24"/>
                </a:solidFill>
                <a:latin typeface="Segoe UI"/>
              </a:rPr>
              <a:t>של</a:t>
            </a:r>
            <a:r>
              <a:rPr lang="en-US" sz="9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950" b="0" i="0" noProof="0" dirty="0" err="1">
                <a:solidFill>
                  <a:srgbClr val="0F1B24"/>
                </a:solidFill>
                <a:latin typeface="Segoe UI"/>
              </a:rPr>
              <a:t>טופס</a:t>
            </a:r>
            <a:r>
              <a:rPr lang="en-US" sz="950" b="0" i="0" noProof="0" dirty="0">
                <a:solidFill>
                  <a:srgbClr val="0F1B24"/>
                </a:solidFill>
                <a:latin typeface="Segoe UI"/>
              </a:rPr>
              <a:t> ‏POST‏.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4328160" y="3881628"/>
            <a:ext cx="3541775" cy="1060704"/>
          </a:xfrm>
          <a:prstGeom prst="roundRect">
            <a:avLst>
              <a:gd name="adj" fmla="val 5000"/>
            </a:avLst>
          </a:prstGeom>
          <a:solidFill>
            <a:srgbClr val="F1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79" name="Rectangle 78"/>
          <p:cNvSpPr/>
          <p:nvPr/>
        </p:nvSpPr>
        <p:spPr>
          <a:xfrm>
            <a:off x="7815072" y="3881628"/>
            <a:ext cx="54864" cy="1060704"/>
          </a:xfrm>
          <a:prstGeom prst="rect">
            <a:avLst/>
          </a:prstGeom>
          <a:solidFill>
            <a:srgbClr val="C4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80" name="TextBox 79"/>
          <p:cNvSpPr txBox="1"/>
          <p:nvPr/>
        </p:nvSpPr>
        <p:spPr>
          <a:xfrm>
            <a:off x="4529328" y="4000500"/>
            <a:ext cx="310286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/>
            <a:r>
              <a:rPr lang="en-US" sz="1250" b="1" i="0" noProof="0" dirty="0">
                <a:solidFill>
                  <a:srgbClr val="0D4A5C"/>
                </a:solidFill>
                <a:latin typeface="Segoe UI"/>
              </a:rPr>
              <a:t>‏PUT‏ </a:t>
            </a:r>
            <a:r>
              <a:rPr lang="en-US" sz="1250" b="1" i="0" noProof="0" dirty="0" err="1">
                <a:solidFill>
                  <a:srgbClr val="0D4A5C"/>
                </a:solidFill>
                <a:latin typeface="Segoe UI"/>
              </a:rPr>
              <a:t>מול</a:t>
            </a:r>
            <a:r>
              <a:rPr lang="en-US" sz="1250" b="1" i="0" noProof="0" dirty="0">
                <a:solidFill>
                  <a:srgbClr val="0D4A5C"/>
                </a:solidFill>
                <a:latin typeface="Segoe UI"/>
              </a:rPr>
              <a:t> ‏POST‏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529328" y="4274820"/>
            <a:ext cx="3102864" cy="5760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08000"/>
              </a:lnSpc>
            </a:pPr>
            <a:r>
              <a:rPr lang="en-US" sz="950" b="0" i="0" noProof="0" dirty="0" err="1">
                <a:solidFill>
                  <a:srgbClr val="0F1B24"/>
                </a:solidFill>
                <a:latin typeface="Segoe UI"/>
              </a:rPr>
              <a:t>בקשת</a:t>
            </a:r>
            <a:r>
              <a:rPr lang="en-US" sz="950" b="0" i="0" noProof="0" dirty="0">
                <a:solidFill>
                  <a:srgbClr val="0F1B24"/>
                </a:solidFill>
                <a:latin typeface="Segoe UI"/>
              </a:rPr>
              <a:t> ‏POST‏ </a:t>
            </a:r>
            <a:r>
              <a:rPr lang="en-US" sz="950" b="0" i="0" noProof="0" dirty="0" err="1">
                <a:solidFill>
                  <a:srgbClr val="0F1B24"/>
                </a:solidFill>
                <a:latin typeface="Segoe UI"/>
              </a:rPr>
              <a:t>אומרת</a:t>
            </a:r>
            <a:r>
              <a:rPr lang="en-US" sz="950" b="0" i="0" noProof="0" dirty="0">
                <a:solidFill>
                  <a:srgbClr val="0F1B24"/>
                </a:solidFill>
                <a:latin typeface="Segoe UI"/>
              </a:rPr>
              <a:t>: </a:t>
            </a:r>
            <a:r>
              <a:rPr lang="en-US" sz="950" b="0" i="0" noProof="0" dirty="0" err="1">
                <a:solidFill>
                  <a:srgbClr val="0F1B24"/>
                </a:solidFill>
                <a:latin typeface="Segoe UI"/>
              </a:rPr>
              <a:t>קח</a:t>
            </a:r>
            <a:r>
              <a:rPr lang="en-US" sz="950" b="0" i="0" noProof="0" dirty="0">
                <a:solidFill>
                  <a:srgbClr val="0F1B24"/>
                </a:solidFill>
                <a:latin typeface="Segoe UI"/>
              </a:rPr>
              <a:t> את </a:t>
            </a:r>
            <a:r>
              <a:rPr lang="en-US" sz="950" b="0" i="0" noProof="0" dirty="0" err="1">
                <a:solidFill>
                  <a:srgbClr val="0F1B24"/>
                </a:solidFill>
                <a:latin typeface="Segoe UI"/>
              </a:rPr>
              <a:t>הנתונים</a:t>
            </a:r>
            <a:r>
              <a:rPr lang="en-US" sz="9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950" b="0" i="0" noProof="0" dirty="0" err="1">
                <a:solidFill>
                  <a:srgbClr val="0F1B24"/>
                </a:solidFill>
                <a:latin typeface="Segoe UI"/>
              </a:rPr>
              <a:t>וצור</a:t>
            </a:r>
            <a:r>
              <a:rPr lang="en-US" sz="9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950" b="0" i="0" noProof="0" dirty="0" err="1">
                <a:solidFill>
                  <a:srgbClr val="0F1B24"/>
                </a:solidFill>
                <a:latin typeface="Segoe UI"/>
              </a:rPr>
              <a:t>משהו</a:t>
            </a:r>
            <a:r>
              <a:rPr lang="en-US" sz="9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950" b="0" i="0" noProof="0" dirty="0" err="1">
                <a:solidFill>
                  <a:srgbClr val="0F1B24"/>
                </a:solidFill>
                <a:latin typeface="Segoe UI"/>
              </a:rPr>
              <a:t>חדש</a:t>
            </a:r>
            <a:r>
              <a:rPr lang="en-US" sz="950" b="0" i="0" noProof="0" dirty="0">
                <a:solidFill>
                  <a:srgbClr val="0F1B24"/>
                </a:solidFill>
                <a:latin typeface="Segoe UI"/>
              </a:rPr>
              <a:t> — </a:t>
            </a:r>
            <a:r>
              <a:rPr lang="en-US" sz="950" b="0" i="0" noProof="0" dirty="0" err="1">
                <a:solidFill>
                  <a:srgbClr val="0F1B24"/>
                </a:solidFill>
                <a:latin typeface="Segoe UI"/>
              </a:rPr>
              <a:t>השרת</a:t>
            </a:r>
            <a:r>
              <a:rPr lang="en-US" sz="9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950" b="0" i="0" noProof="0" dirty="0" err="1">
                <a:solidFill>
                  <a:srgbClr val="0F1B24"/>
                </a:solidFill>
                <a:latin typeface="Segoe UI"/>
              </a:rPr>
              <a:t>קובע</a:t>
            </a:r>
            <a:r>
              <a:rPr lang="en-US" sz="950" b="0" i="0" noProof="0" dirty="0">
                <a:solidFill>
                  <a:srgbClr val="0F1B24"/>
                </a:solidFill>
                <a:latin typeface="Segoe UI"/>
              </a:rPr>
              <a:t> את </a:t>
            </a:r>
            <a:r>
              <a:rPr lang="en-US" sz="950" b="0" i="0" noProof="0" dirty="0" err="1">
                <a:solidFill>
                  <a:srgbClr val="0F1B24"/>
                </a:solidFill>
                <a:latin typeface="Segoe UI"/>
              </a:rPr>
              <a:t>המזהה</a:t>
            </a:r>
            <a:r>
              <a:rPr lang="en-US" sz="950" b="0" i="0" noProof="0" dirty="0">
                <a:solidFill>
                  <a:srgbClr val="0F1B24"/>
                </a:solidFill>
                <a:latin typeface="Segoe UI"/>
              </a:rPr>
              <a:t>. </a:t>
            </a:r>
            <a:r>
              <a:rPr lang="en-US" sz="950" b="0" i="0" noProof="0" dirty="0" err="1">
                <a:solidFill>
                  <a:srgbClr val="0F1B24"/>
                </a:solidFill>
                <a:latin typeface="Segoe UI"/>
              </a:rPr>
              <a:t>בקשת</a:t>
            </a:r>
            <a:r>
              <a:rPr lang="en-US" sz="950" b="0" i="0" noProof="0" dirty="0">
                <a:solidFill>
                  <a:srgbClr val="0F1B24"/>
                </a:solidFill>
                <a:latin typeface="Segoe UI"/>
              </a:rPr>
              <a:t> ‏PUT‏ </a:t>
            </a:r>
            <a:r>
              <a:rPr lang="en-US" sz="950" b="0" i="0" noProof="0" dirty="0" err="1">
                <a:solidFill>
                  <a:srgbClr val="0F1B24"/>
                </a:solidFill>
                <a:latin typeface="Segoe UI"/>
              </a:rPr>
              <a:t>אומרת</a:t>
            </a:r>
            <a:r>
              <a:rPr lang="en-US" sz="950" b="0" i="0" noProof="0" dirty="0">
                <a:solidFill>
                  <a:srgbClr val="0F1B24"/>
                </a:solidFill>
                <a:latin typeface="Segoe UI"/>
              </a:rPr>
              <a:t>: </a:t>
            </a:r>
            <a:r>
              <a:rPr lang="en-US" sz="950" b="0" i="0" noProof="0" dirty="0" err="1">
                <a:solidFill>
                  <a:srgbClr val="0F1B24"/>
                </a:solidFill>
                <a:latin typeface="Segoe UI"/>
              </a:rPr>
              <a:t>בכתובת</a:t>
            </a:r>
            <a:r>
              <a:rPr lang="en-US" sz="9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950" b="0" i="0" noProof="0" dirty="0" err="1">
                <a:solidFill>
                  <a:srgbClr val="0F1B24"/>
                </a:solidFill>
                <a:latin typeface="Segoe UI"/>
              </a:rPr>
              <a:t>הזו</a:t>
            </a:r>
            <a:r>
              <a:rPr lang="en-US" sz="9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950" b="0" i="0" noProof="0" dirty="0" err="1">
                <a:solidFill>
                  <a:srgbClr val="0F1B24"/>
                </a:solidFill>
                <a:latin typeface="Segoe UI"/>
              </a:rPr>
              <a:t>יישב</a:t>
            </a:r>
            <a:r>
              <a:rPr lang="en-US" sz="9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950" b="0" i="0" noProof="0" dirty="0" err="1">
                <a:solidFill>
                  <a:srgbClr val="0F1B24"/>
                </a:solidFill>
                <a:latin typeface="Segoe UI"/>
              </a:rPr>
              <a:t>מעתה</a:t>
            </a:r>
            <a:r>
              <a:rPr lang="en-US" sz="9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950" b="0" i="0" noProof="0" dirty="0" err="1">
                <a:solidFill>
                  <a:srgbClr val="0F1B24"/>
                </a:solidFill>
                <a:latin typeface="Segoe UI"/>
              </a:rPr>
              <a:t>התוכן</a:t>
            </a:r>
            <a:r>
              <a:rPr lang="en-US" sz="9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950" b="0" i="0" noProof="0" dirty="0" err="1">
                <a:solidFill>
                  <a:srgbClr val="0F1B24"/>
                </a:solidFill>
                <a:latin typeface="Segoe UI"/>
              </a:rPr>
              <a:t>הזה</a:t>
            </a:r>
            <a:r>
              <a:rPr lang="en-US" sz="950" b="0" i="0" noProof="0" dirty="0">
                <a:solidFill>
                  <a:srgbClr val="0F1B24"/>
                </a:solidFill>
                <a:latin typeface="Segoe UI"/>
              </a:rPr>
              <a:t> — </a:t>
            </a:r>
            <a:r>
              <a:rPr lang="en-US" sz="950" b="0" i="0" noProof="0" dirty="0" err="1">
                <a:solidFill>
                  <a:srgbClr val="0F1B24"/>
                </a:solidFill>
                <a:latin typeface="Segoe UI"/>
              </a:rPr>
              <a:t>הלקוח</a:t>
            </a:r>
            <a:r>
              <a:rPr lang="en-US" sz="9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950" b="0" i="0" noProof="0" dirty="0" err="1">
                <a:solidFill>
                  <a:srgbClr val="0F1B24"/>
                </a:solidFill>
                <a:latin typeface="Segoe UI"/>
              </a:rPr>
              <a:t>קובע</a:t>
            </a:r>
            <a:r>
              <a:rPr lang="en-US" sz="9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950" b="0" i="0" noProof="0" dirty="0" err="1">
                <a:solidFill>
                  <a:srgbClr val="0F1B24"/>
                </a:solidFill>
                <a:latin typeface="Segoe UI"/>
              </a:rPr>
              <a:t>אותו</a:t>
            </a:r>
            <a:r>
              <a:rPr lang="en-US" sz="950" b="0" i="0" noProof="0" dirty="0">
                <a:solidFill>
                  <a:srgbClr val="0F1B24"/>
                </a:solidFill>
                <a:latin typeface="Segoe UI"/>
              </a:rPr>
              <a:t>, </a:t>
            </a:r>
            <a:r>
              <a:rPr lang="en-US" sz="950" b="0" i="0" noProof="0" dirty="0" err="1">
                <a:solidFill>
                  <a:srgbClr val="0F1B24"/>
                </a:solidFill>
                <a:latin typeface="Segoe UI"/>
              </a:rPr>
              <a:t>ושליחה</a:t>
            </a:r>
            <a:r>
              <a:rPr lang="en-US" sz="9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950" b="0" i="0" noProof="0" dirty="0" err="1">
                <a:solidFill>
                  <a:srgbClr val="0F1B24"/>
                </a:solidFill>
                <a:latin typeface="Segoe UI"/>
              </a:rPr>
              <a:t>כפולה</a:t>
            </a:r>
            <a:r>
              <a:rPr lang="en-US" sz="9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950" b="0" i="0" noProof="0" dirty="0" err="1">
                <a:solidFill>
                  <a:srgbClr val="0F1B24"/>
                </a:solidFill>
                <a:latin typeface="Segoe UI"/>
              </a:rPr>
              <a:t>לא</a:t>
            </a:r>
            <a:r>
              <a:rPr lang="en-US" sz="9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950" b="0" i="0" noProof="0" dirty="0" err="1">
                <a:solidFill>
                  <a:srgbClr val="0F1B24"/>
                </a:solidFill>
                <a:latin typeface="Segoe UI"/>
              </a:rPr>
              <a:t>תיצור</a:t>
            </a:r>
            <a:r>
              <a:rPr lang="en-US" sz="9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950" b="0" i="0" noProof="0" dirty="0" err="1">
                <a:solidFill>
                  <a:srgbClr val="0F1B24"/>
                </a:solidFill>
                <a:latin typeface="Segoe UI"/>
              </a:rPr>
              <a:t>כפילות</a:t>
            </a:r>
            <a:r>
              <a:rPr lang="en-US" sz="950" b="0" i="0" noProof="0" dirty="0">
                <a:solidFill>
                  <a:srgbClr val="0F1B24"/>
                </a:solidFill>
                <a:latin typeface="Segoe UI"/>
              </a:rPr>
              <a:t>.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566928" y="3881628"/>
            <a:ext cx="3541775" cy="1060704"/>
          </a:xfrm>
          <a:prstGeom prst="roundRect">
            <a:avLst>
              <a:gd name="adj" fmla="val 5000"/>
            </a:avLst>
          </a:prstGeom>
          <a:solidFill>
            <a:srgbClr val="F1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83" name="Rectangle 82"/>
          <p:cNvSpPr/>
          <p:nvPr/>
        </p:nvSpPr>
        <p:spPr>
          <a:xfrm>
            <a:off x="4053840" y="3881628"/>
            <a:ext cx="54864" cy="1060704"/>
          </a:xfrm>
          <a:prstGeom prst="rect">
            <a:avLst/>
          </a:prstGeom>
          <a:solidFill>
            <a:srgbClr val="C4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84" name="TextBox 83"/>
          <p:cNvSpPr txBox="1"/>
          <p:nvPr/>
        </p:nvSpPr>
        <p:spPr>
          <a:xfrm>
            <a:off x="768096" y="4000500"/>
            <a:ext cx="310286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/>
            <a:r>
              <a:rPr lang="en-US" sz="1250" b="1" i="0" noProof="0" dirty="0" err="1">
                <a:solidFill>
                  <a:srgbClr val="0D4A5C"/>
                </a:solidFill>
                <a:latin typeface="Segoe UI"/>
              </a:rPr>
              <a:t>ממשק אחיד</a:t>
            </a:r>
            <a:endParaRPr lang="en-US" sz="1250" b="1" i="0" noProof="0" dirty="0">
              <a:solidFill>
                <a:srgbClr val="0D4A5C"/>
              </a:solidFill>
              <a:latin typeface="Segoe UI"/>
            </a:endParaRPr>
          </a:p>
        </p:txBody>
      </p:sp>
      <p:sp>
        <p:nvSpPr>
          <p:cNvPr id="85" name="TextBox 84"/>
          <p:cNvSpPr txBox="1"/>
          <p:nvPr/>
        </p:nvSpPr>
        <p:spPr>
          <a:xfrm>
            <a:off x="768096" y="4274820"/>
            <a:ext cx="3102864" cy="5760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08000"/>
              </a:lnSpc>
            </a:pPr>
            <a:r>
              <a:rPr lang="en-US" sz="950" b="0" i="0" noProof="0" dirty="0" err="1">
                <a:solidFill>
                  <a:srgbClr val="0F1B24"/>
                </a:solidFill>
                <a:latin typeface="Segoe UI"/>
              </a:rPr>
              <a:t>ארבעת הפעלים מספיקים מפני שהפעולה מקודדת בפועל ובנתיב, ולא בשם של מתודה. כשהשרת מקבל בקשה הוא יודע מייד איזו פעולה לבצע — וזהו בדיוק אילוץ הממשק האחיד של </a:t>
            </a:r>
            <a:r>
              <a:rPr lang="en-US" sz="950" b="0" i="0" noProof="0" dirty="0">
                <a:solidFill>
                  <a:srgbClr val="0F1B24"/>
                </a:solidFill>
                <a:latin typeface="Segoe UI"/>
              </a:rPr>
              <a:t>‏REST‏</a:t>
            </a:r>
            <a:r>
              <a:rPr lang="en-US" sz="950" b="0" i="0" noProof="0" dirty="0" err="1">
                <a:solidFill>
                  <a:srgbClr val="0F1B24"/>
                </a:solidFill>
                <a:latin typeface="Segoe UI"/>
              </a:rPr>
              <a:t>.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8101584" y="5015484"/>
            <a:ext cx="3529584" cy="914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1430">
            <a:solidFill>
              <a:srgbClr val="E3EA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87" name="Rectangle 86"/>
          <p:cNvSpPr/>
          <p:nvPr/>
        </p:nvSpPr>
        <p:spPr>
          <a:xfrm>
            <a:off x="11580876" y="5106924"/>
            <a:ext cx="50292" cy="731520"/>
          </a:xfrm>
          <a:prstGeom prst="rect">
            <a:avLst/>
          </a:prstGeom>
          <a:solidFill>
            <a:srgbClr val="0D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88" name="TextBox 87"/>
          <p:cNvSpPr txBox="1"/>
          <p:nvPr/>
        </p:nvSpPr>
        <p:spPr>
          <a:xfrm>
            <a:off x="8266176" y="5116068"/>
            <a:ext cx="314553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0"/>
            <a:r>
              <a:rPr lang="en-US" sz="1300" b="1" i="0" noProof="0" dirty="0">
                <a:solidFill>
                  <a:srgbClr val="0D4A5C"/>
                </a:solidFill>
                <a:latin typeface="Consolas"/>
              </a:rPr>
              <a:t>2xx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8266176" y="5362956"/>
            <a:ext cx="3145536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/>
            <a:r>
              <a:rPr lang="en-US" sz="1150" b="1" i="0" noProof="0" dirty="0" err="1">
                <a:solidFill>
                  <a:srgbClr val="0D4A5C"/>
                </a:solidFill>
                <a:latin typeface="Segoe UI"/>
              </a:rPr>
              <a:t>הצליח</a:t>
            </a:r>
            <a:endParaRPr lang="en-US" sz="1150" b="1" i="0" noProof="0" dirty="0">
              <a:solidFill>
                <a:srgbClr val="0D4A5C"/>
              </a:solidFill>
              <a:latin typeface="Segoe UI"/>
            </a:endParaRPr>
          </a:p>
        </p:txBody>
      </p:sp>
      <p:sp>
        <p:nvSpPr>
          <p:cNvPr id="90" name="TextBox 89"/>
          <p:cNvSpPr txBox="1"/>
          <p:nvPr/>
        </p:nvSpPr>
        <p:spPr>
          <a:xfrm>
            <a:off x="8266176" y="5600700"/>
            <a:ext cx="314553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0"/>
            <a:r>
              <a:rPr lang="en-US" sz="900" b="0" i="0" noProof="0" dirty="0">
                <a:solidFill>
                  <a:srgbClr val="5A6B75"/>
                </a:solidFill>
                <a:latin typeface="Consolas"/>
              </a:rPr>
              <a:t>200 OK · 201 Created · 204 No Content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4334256" y="5015484"/>
            <a:ext cx="3529584" cy="914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1430">
            <a:solidFill>
              <a:srgbClr val="E3EA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92" name="Rectangle 91"/>
          <p:cNvSpPr/>
          <p:nvPr/>
        </p:nvSpPr>
        <p:spPr>
          <a:xfrm>
            <a:off x="7813548" y="5106924"/>
            <a:ext cx="50292" cy="731520"/>
          </a:xfrm>
          <a:prstGeom prst="rect">
            <a:avLst/>
          </a:prstGeom>
          <a:solidFill>
            <a:srgbClr val="C4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93" name="TextBox 92"/>
          <p:cNvSpPr txBox="1"/>
          <p:nvPr/>
        </p:nvSpPr>
        <p:spPr>
          <a:xfrm>
            <a:off x="4498848" y="5116068"/>
            <a:ext cx="314553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0"/>
            <a:r>
              <a:rPr lang="en-US" sz="1300" b="1" i="0" noProof="0" dirty="0">
                <a:solidFill>
                  <a:srgbClr val="C4622D"/>
                </a:solidFill>
                <a:latin typeface="Consolas"/>
              </a:rPr>
              <a:t>4xx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4498848" y="5362956"/>
            <a:ext cx="3145536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/>
            <a:r>
              <a:rPr lang="en-US" sz="1150" b="1" i="0" noProof="0" dirty="0" err="1">
                <a:solidFill>
                  <a:srgbClr val="0D4A5C"/>
                </a:solidFill>
                <a:latin typeface="Segoe UI"/>
              </a:rPr>
              <a:t>הלקוח</a:t>
            </a:r>
            <a:r>
              <a:rPr lang="en-US" sz="1150" b="1" i="0" noProof="0" dirty="0">
                <a:solidFill>
                  <a:srgbClr val="0D4A5C"/>
                </a:solidFill>
                <a:latin typeface="Segoe UI"/>
              </a:rPr>
              <a:t> </a:t>
            </a:r>
            <a:r>
              <a:rPr lang="en-US" sz="1150" b="1" i="0" noProof="0" dirty="0" err="1">
                <a:solidFill>
                  <a:srgbClr val="0D4A5C"/>
                </a:solidFill>
                <a:latin typeface="Segoe UI"/>
              </a:rPr>
              <a:t>טעה</a:t>
            </a:r>
            <a:endParaRPr lang="en-US" sz="1150" b="1" i="0" noProof="0" dirty="0">
              <a:solidFill>
                <a:srgbClr val="0D4A5C"/>
              </a:solidFill>
              <a:latin typeface="Segoe UI"/>
            </a:endParaRPr>
          </a:p>
        </p:txBody>
      </p:sp>
      <p:sp>
        <p:nvSpPr>
          <p:cNvPr id="95" name="TextBox 94"/>
          <p:cNvSpPr txBox="1"/>
          <p:nvPr/>
        </p:nvSpPr>
        <p:spPr>
          <a:xfrm>
            <a:off x="4498848" y="5600700"/>
            <a:ext cx="314553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0"/>
            <a:r>
              <a:rPr lang="en-US" sz="900" b="0" i="0" noProof="0" dirty="0">
                <a:solidFill>
                  <a:srgbClr val="5A6B75"/>
                </a:solidFill>
                <a:latin typeface="Consolas"/>
              </a:rPr>
              <a:t>400 Bad Request · 401 · 403 · 404 · 409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566928" y="5015484"/>
            <a:ext cx="3529584" cy="914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1430">
            <a:solidFill>
              <a:srgbClr val="E3EA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97" name="Rectangle 96"/>
          <p:cNvSpPr/>
          <p:nvPr/>
        </p:nvSpPr>
        <p:spPr>
          <a:xfrm>
            <a:off x="4046220" y="5106924"/>
            <a:ext cx="50292" cy="731520"/>
          </a:xfrm>
          <a:prstGeom prst="rect">
            <a:avLst/>
          </a:prstGeom>
          <a:solidFill>
            <a:srgbClr val="A83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98" name="TextBox 97"/>
          <p:cNvSpPr txBox="1"/>
          <p:nvPr/>
        </p:nvSpPr>
        <p:spPr>
          <a:xfrm>
            <a:off x="731520" y="5116068"/>
            <a:ext cx="314553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0"/>
            <a:r>
              <a:rPr lang="en-US" sz="1300" b="1" i="0" noProof="0" dirty="0">
                <a:solidFill>
                  <a:srgbClr val="A83A32"/>
                </a:solidFill>
                <a:latin typeface="Consolas"/>
              </a:rPr>
              <a:t>5xx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31520" y="5362956"/>
            <a:ext cx="3145536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/>
            <a:r>
              <a:rPr lang="en-US" sz="1150" b="1" i="0" noProof="0" dirty="0" err="1">
                <a:solidFill>
                  <a:srgbClr val="0D4A5C"/>
                </a:solidFill>
                <a:latin typeface="Segoe UI"/>
              </a:rPr>
              <a:t>השרת</a:t>
            </a:r>
            <a:r>
              <a:rPr lang="en-US" sz="1150" b="1" i="0" noProof="0" dirty="0">
                <a:solidFill>
                  <a:srgbClr val="0D4A5C"/>
                </a:solidFill>
                <a:latin typeface="Segoe UI"/>
              </a:rPr>
              <a:t> </a:t>
            </a:r>
            <a:r>
              <a:rPr lang="en-US" sz="1150" b="1" i="0" noProof="0" dirty="0" err="1">
                <a:solidFill>
                  <a:srgbClr val="0D4A5C"/>
                </a:solidFill>
                <a:latin typeface="Segoe UI"/>
              </a:rPr>
              <a:t>נכשל</a:t>
            </a:r>
            <a:endParaRPr lang="en-US" sz="1150" b="1" i="0" noProof="0" dirty="0">
              <a:solidFill>
                <a:srgbClr val="0D4A5C"/>
              </a:solidFill>
              <a:latin typeface="Segoe UI"/>
            </a:endParaRPr>
          </a:p>
        </p:txBody>
      </p:sp>
      <p:sp>
        <p:nvSpPr>
          <p:cNvPr id="100" name="TextBox 99"/>
          <p:cNvSpPr txBox="1"/>
          <p:nvPr/>
        </p:nvSpPr>
        <p:spPr>
          <a:xfrm>
            <a:off x="731520" y="5600700"/>
            <a:ext cx="314553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0"/>
            <a:r>
              <a:rPr lang="en-US" sz="900" b="0" i="0" noProof="0" dirty="0">
                <a:solidFill>
                  <a:srgbClr val="5A6B75"/>
                </a:solidFill>
                <a:latin typeface="Consolas"/>
              </a:rPr>
              <a:t>500 Internal Server Error · 503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91440"/>
          </a:xfrm>
          <a:prstGeom prst="rect">
            <a:avLst/>
          </a:prstGeom>
          <a:solidFill>
            <a:srgbClr val="0D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5" name="TextBox 4"/>
          <p:cNvSpPr txBox="1"/>
          <p:nvPr/>
        </p:nvSpPr>
        <p:spPr>
          <a:xfrm>
            <a:off x="566928" y="548640"/>
            <a:ext cx="1106424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/>
            <a:r>
              <a:rPr lang="en-US" sz="2800" b="1" i="0" noProof="0" dirty="0">
                <a:solidFill>
                  <a:srgbClr val="0D4A5C"/>
                </a:solidFill>
                <a:latin typeface="Segoe UI"/>
              </a:rPr>
              <a:t>‏JAX-RS‏ — </a:t>
            </a:r>
            <a:r>
              <a:rPr lang="en-US" sz="2800" b="1" i="0" noProof="0" dirty="0" err="1">
                <a:solidFill>
                  <a:srgbClr val="0D4A5C"/>
                </a:solidFill>
                <a:latin typeface="Segoe UI"/>
              </a:rPr>
              <a:t>בניית</a:t>
            </a:r>
            <a:r>
              <a:rPr lang="en-US" sz="2800" b="1" i="0" noProof="0" dirty="0">
                <a:solidFill>
                  <a:srgbClr val="0D4A5C"/>
                </a:solidFill>
                <a:latin typeface="Segoe UI"/>
              </a:rPr>
              <a:t> </a:t>
            </a:r>
            <a:r>
              <a:rPr lang="en-US" sz="2800" b="1" i="0" noProof="0" dirty="0" err="1">
                <a:solidFill>
                  <a:srgbClr val="0D4A5C"/>
                </a:solidFill>
                <a:latin typeface="Segoe UI"/>
              </a:rPr>
              <a:t>שירות</a:t>
            </a:r>
            <a:r>
              <a:rPr lang="en-US" sz="2800" b="1" i="0" noProof="0" dirty="0">
                <a:solidFill>
                  <a:srgbClr val="0D4A5C"/>
                </a:solidFill>
                <a:latin typeface="Segoe UI"/>
              </a:rPr>
              <a:t> ‏RESTful‏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097280"/>
            <a:ext cx="110642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/>
            <a:r>
              <a:rPr lang="en-US" sz="1450" b="0" i="0" noProof="0" dirty="0">
                <a:solidFill>
                  <a:srgbClr val="5A6B75"/>
                </a:solidFill>
                <a:latin typeface="Segoe UI"/>
              </a:rPr>
              <a:t>‏Java API for RESTful Web Services (JSR 311 / JSR 339)‎‏, </a:t>
            </a:r>
            <a:r>
              <a:rPr lang="en-US" sz="1450" b="0" i="0" noProof="0" dirty="0" err="1">
                <a:solidFill>
                  <a:srgbClr val="5A6B75"/>
                </a:solidFill>
                <a:latin typeface="Segoe UI"/>
              </a:rPr>
              <a:t>עם</a:t>
            </a:r>
            <a:r>
              <a:rPr lang="en-US" sz="1450" b="0" i="0" noProof="0" dirty="0">
                <a:solidFill>
                  <a:srgbClr val="5A6B75"/>
                </a:solidFill>
                <a:latin typeface="Segoe UI"/>
              </a:rPr>
              <a:t> ‏Jersey‏ </a:t>
            </a:r>
            <a:r>
              <a:rPr lang="en-US" sz="1450" b="0" i="0" noProof="0" dirty="0" err="1">
                <a:solidFill>
                  <a:srgbClr val="5A6B75"/>
                </a:solidFill>
                <a:latin typeface="Segoe UI"/>
              </a:rPr>
              <a:t>כמימוש</a:t>
            </a:r>
            <a:r>
              <a:rPr lang="en-US" sz="145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450" b="0" i="0" noProof="0" dirty="0" err="1">
                <a:solidFill>
                  <a:srgbClr val="5A6B75"/>
                </a:solidFill>
                <a:latin typeface="Segoe UI"/>
              </a:rPr>
              <a:t>הייחוס</a:t>
            </a:r>
            <a:endParaRPr lang="en-US" sz="1450" b="0" i="0" noProof="0" dirty="0">
              <a:solidFill>
                <a:srgbClr val="5A6B75"/>
              </a:solidFill>
              <a:latin typeface="Segoe UI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1055895" y="482803"/>
            <a:ext cx="578646" cy="65836"/>
          </a:xfrm>
          <a:prstGeom prst="rect">
            <a:avLst/>
          </a:prstGeom>
          <a:solidFill>
            <a:srgbClr val="C4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11" name="Rounded Rectangle 10"/>
          <p:cNvSpPr/>
          <p:nvPr/>
        </p:nvSpPr>
        <p:spPr>
          <a:xfrm>
            <a:off x="566928" y="1700784"/>
            <a:ext cx="6263640" cy="3675887"/>
          </a:xfrm>
          <a:prstGeom prst="roundRect">
            <a:avLst>
              <a:gd name="adj" fmla="val 3500"/>
            </a:avLst>
          </a:prstGeom>
          <a:solidFill>
            <a:srgbClr val="0B2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12" name="Rounded Rectangle 11"/>
          <p:cNvSpPr/>
          <p:nvPr/>
        </p:nvSpPr>
        <p:spPr>
          <a:xfrm>
            <a:off x="566928" y="1700784"/>
            <a:ext cx="6263640" cy="274320"/>
          </a:xfrm>
          <a:prstGeom prst="roundRect">
            <a:avLst>
              <a:gd name="adj" fmla="val 9000"/>
            </a:avLst>
          </a:prstGeom>
          <a:solidFill>
            <a:srgbClr val="1139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13" name="Rectangle 12"/>
          <p:cNvSpPr/>
          <p:nvPr/>
        </p:nvSpPr>
        <p:spPr>
          <a:xfrm>
            <a:off x="566928" y="1865376"/>
            <a:ext cx="6263640" cy="109728"/>
          </a:xfrm>
          <a:prstGeom prst="rect">
            <a:avLst/>
          </a:prstGeom>
          <a:solidFill>
            <a:srgbClr val="1139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14" name="TextBox 13"/>
          <p:cNvSpPr txBox="1"/>
          <p:nvPr/>
        </p:nvSpPr>
        <p:spPr>
          <a:xfrm>
            <a:off x="713232" y="1751076"/>
            <a:ext cx="55321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rtl="0"/>
            <a:r>
              <a:rPr lang="en-US" sz="950" b="1" i="0" noProof="0" dirty="0">
                <a:solidFill>
                  <a:srgbClr val="6FA8B8"/>
                </a:solidFill>
                <a:latin typeface="Consolas"/>
              </a:rPr>
              <a:t>WelcomeRESTJSONResource.java — Deitel, Fig. 32.20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28231" y="1805940"/>
            <a:ext cx="256032" cy="68580"/>
          </a:xfrm>
          <a:prstGeom prst="roundRect">
            <a:avLst>
              <a:gd name="adj" fmla="val 50000"/>
            </a:avLst>
          </a:prstGeom>
          <a:solidFill>
            <a:srgbClr val="C4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16" name="TextBox 15"/>
          <p:cNvSpPr txBox="1"/>
          <p:nvPr/>
        </p:nvSpPr>
        <p:spPr>
          <a:xfrm>
            <a:off x="713232" y="2093976"/>
            <a:ext cx="5971031" cy="31638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rtl="0">
              <a:lnSpc>
                <a:spcPts val="1296"/>
              </a:lnSpc>
            </a:pPr>
            <a:r>
              <a:rPr lang="en-US" sz="900" b="0" noProof="0" dirty="0">
                <a:solidFill>
                  <a:srgbClr val="7FC7DE"/>
                </a:solidFill>
                <a:latin typeface="Consolas"/>
              </a:rPr>
              <a:t>import</a:t>
            </a:r>
            <a:r>
              <a:rPr lang="en-US" sz="900" b="0" noProof="0" dirty="0">
                <a:solidFill>
                  <a:srgbClr val="DCE8ED"/>
                </a:solidFill>
                <a:latin typeface="Consolas"/>
              </a:rPr>
              <a:t> </a:t>
            </a:r>
            <a:r>
              <a:rPr lang="en-US" sz="900" b="0" noProof="0" dirty="0" err="1">
                <a:solidFill>
                  <a:srgbClr val="DCE8ED"/>
                </a:solidFill>
                <a:latin typeface="Consolas"/>
              </a:rPr>
              <a:t>javax.ws.rs.</a:t>
            </a:r>
            <a:r>
              <a:rPr lang="en-US" sz="900" b="0" noProof="0" dirty="0" err="1">
                <a:solidFill>
                  <a:srgbClr val="C9B6E8"/>
                </a:solidFill>
                <a:latin typeface="Consolas"/>
              </a:rPr>
              <a:t>GET</a:t>
            </a:r>
            <a:r>
              <a:rPr lang="en-US" sz="900" b="0" noProof="0" dirty="0">
                <a:solidFill>
                  <a:srgbClr val="DCE8ED"/>
                </a:solidFill>
                <a:latin typeface="Consolas"/>
              </a:rPr>
              <a:t>;</a:t>
            </a:r>
          </a:p>
          <a:p>
            <a:pPr algn="l" rtl="0">
              <a:lnSpc>
                <a:spcPts val="1296"/>
              </a:lnSpc>
            </a:pPr>
            <a:r>
              <a:rPr lang="en-US" sz="900" b="0" noProof="0" dirty="0">
                <a:solidFill>
                  <a:srgbClr val="7FC7DE"/>
                </a:solidFill>
                <a:latin typeface="Consolas"/>
              </a:rPr>
              <a:t>import</a:t>
            </a:r>
            <a:r>
              <a:rPr lang="en-US" sz="900" b="0" noProof="0" dirty="0">
                <a:solidFill>
                  <a:srgbClr val="DCE8ED"/>
                </a:solidFill>
                <a:latin typeface="Consolas"/>
              </a:rPr>
              <a:t> </a:t>
            </a:r>
            <a:r>
              <a:rPr lang="en-US" sz="900" b="0" noProof="0" dirty="0" err="1">
                <a:solidFill>
                  <a:srgbClr val="DCE8ED"/>
                </a:solidFill>
                <a:latin typeface="Consolas"/>
              </a:rPr>
              <a:t>javax.ws.rs.</a:t>
            </a:r>
            <a:r>
              <a:rPr lang="en-US" sz="900" b="0" noProof="0" dirty="0" err="1">
                <a:solidFill>
                  <a:srgbClr val="C9B6E8"/>
                </a:solidFill>
                <a:latin typeface="Consolas"/>
              </a:rPr>
              <a:t>Path</a:t>
            </a:r>
            <a:r>
              <a:rPr lang="en-US" sz="900" b="0" noProof="0" dirty="0">
                <a:solidFill>
                  <a:srgbClr val="DCE8ED"/>
                </a:solidFill>
                <a:latin typeface="Consolas"/>
              </a:rPr>
              <a:t>;</a:t>
            </a:r>
          </a:p>
          <a:p>
            <a:pPr algn="l" rtl="0">
              <a:lnSpc>
                <a:spcPts val="1296"/>
              </a:lnSpc>
            </a:pPr>
            <a:r>
              <a:rPr lang="en-US" sz="900" b="0" noProof="0" dirty="0">
                <a:solidFill>
                  <a:srgbClr val="7FC7DE"/>
                </a:solidFill>
                <a:latin typeface="Consolas"/>
              </a:rPr>
              <a:t>import</a:t>
            </a:r>
            <a:r>
              <a:rPr lang="en-US" sz="900" b="0" noProof="0" dirty="0">
                <a:solidFill>
                  <a:srgbClr val="DCE8ED"/>
                </a:solidFill>
                <a:latin typeface="Consolas"/>
              </a:rPr>
              <a:t> </a:t>
            </a:r>
            <a:r>
              <a:rPr lang="en-US" sz="900" b="0" noProof="0" dirty="0" err="1">
                <a:solidFill>
                  <a:srgbClr val="DCE8ED"/>
                </a:solidFill>
                <a:latin typeface="Consolas"/>
              </a:rPr>
              <a:t>javax.ws.rs.</a:t>
            </a:r>
            <a:r>
              <a:rPr lang="en-US" sz="900" b="0" noProof="0" dirty="0" err="1">
                <a:solidFill>
                  <a:srgbClr val="C9B6E8"/>
                </a:solidFill>
                <a:latin typeface="Consolas"/>
              </a:rPr>
              <a:t>PathParam</a:t>
            </a:r>
            <a:r>
              <a:rPr lang="en-US" sz="900" b="0" noProof="0" dirty="0">
                <a:solidFill>
                  <a:srgbClr val="DCE8ED"/>
                </a:solidFill>
                <a:latin typeface="Consolas"/>
              </a:rPr>
              <a:t>;</a:t>
            </a:r>
          </a:p>
          <a:p>
            <a:pPr algn="l" rtl="0">
              <a:lnSpc>
                <a:spcPts val="1296"/>
              </a:lnSpc>
            </a:pPr>
            <a:r>
              <a:rPr lang="en-US" sz="900" b="0" noProof="0" dirty="0">
                <a:solidFill>
                  <a:srgbClr val="7FC7DE"/>
                </a:solidFill>
                <a:latin typeface="Consolas"/>
              </a:rPr>
              <a:t>import</a:t>
            </a:r>
            <a:r>
              <a:rPr lang="en-US" sz="900" b="0" noProof="0" dirty="0">
                <a:solidFill>
                  <a:srgbClr val="DCE8ED"/>
                </a:solidFill>
                <a:latin typeface="Consolas"/>
              </a:rPr>
              <a:t> </a:t>
            </a:r>
            <a:r>
              <a:rPr lang="en-US" sz="900" b="0" noProof="0" dirty="0" err="1">
                <a:solidFill>
                  <a:srgbClr val="DCE8ED"/>
                </a:solidFill>
                <a:latin typeface="Consolas"/>
              </a:rPr>
              <a:t>javax.ws.rs.</a:t>
            </a:r>
            <a:r>
              <a:rPr lang="en-US" sz="900" b="0" noProof="0" dirty="0" err="1">
                <a:solidFill>
                  <a:srgbClr val="C9B6E8"/>
                </a:solidFill>
                <a:latin typeface="Consolas"/>
              </a:rPr>
              <a:t>Produces</a:t>
            </a:r>
            <a:r>
              <a:rPr lang="en-US" sz="900" b="0" noProof="0" dirty="0">
                <a:solidFill>
                  <a:srgbClr val="DCE8ED"/>
                </a:solidFill>
                <a:latin typeface="Consolas"/>
              </a:rPr>
              <a:t>;</a:t>
            </a:r>
          </a:p>
          <a:p>
            <a:pPr algn="l" rtl="0">
              <a:lnSpc>
                <a:spcPts val="1296"/>
              </a:lnSpc>
            </a:pPr>
            <a:r>
              <a:rPr lang="en-US" sz="900" noProof="0" dirty="0">
                <a:latin typeface="Consolas"/>
              </a:rPr>
              <a:t> </a:t>
            </a:r>
          </a:p>
          <a:p>
            <a:pPr algn="l" rtl="0">
              <a:lnSpc>
                <a:spcPts val="1296"/>
              </a:lnSpc>
            </a:pPr>
            <a:r>
              <a:rPr lang="en-US" sz="900" b="1" noProof="0" dirty="0">
                <a:solidFill>
                  <a:srgbClr val="F0A06A"/>
                </a:solidFill>
                <a:latin typeface="Consolas"/>
              </a:rPr>
              <a:t>@Path</a:t>
            </a:r>
            <a:r>
              <a:rPr lang="en-US" sz="900" b="0" noProof="0" dirty="0">
                <a:solidFill>
                  <a:srgbClr val="DCE8ED"/>
                </a:solidFill>
                <a:latin typeface="Consolas"/>
              </a:rPr>
              <a:t>(</a:t>
            </a:r>
            <a:r>
              <a:rPr lang="en-US" sz="900" b="0" noProof="0" dirty="0">
                <a:solidFill>
                  <a:srgbClr val="9FD1A0"/>
                </a:solidFill>
                <a:latin typeface="Consolas"/>
              </a:rPr>
              <a:t>"welcome"</a:t>
            </a:r>
            <a:r>
              <a:rPr lang="en-US" sz="900" b="0" noProof="0" dirty="0">
                <a:solidFill>
                  <a:srgbClr val="DCE8ED"/>
                </a:solidFill>
                <a:latin typeface="Consolas"/>
              </a:rPr>
              <a:t>)                 </a:t>
            </a:r>
            <a:r>
              <a:rPr lang="en-US" sz="900" b="0" noProof="0" dirty="0">
                <a:solidFill>
                  <a:srgbClr val="6F8894"/>
                </a:solidFill>
                <a:latin typeface="Consolas"/>
              </a:rPr>
              <a:t>// </a:t>
            </a:r>
            <a:r>
              <a:rPr lang="en-US" sz="900" b="0" noProof="0" dirty="0" err="1">
                <a:solidFill>
                  <a:srgbClr val="6F8894"/>
                </a:solidFill>
                <a:latin typeface="Consolas"/>
              </a:rPr>
              <a:t>הנתיב</a:t>
            </a:r>
            <a:r>
              <a:rPr lang="en-US" sz="900" b="0" noProof="0" dirty="0">
                <a:solidFill>
                  <a:srgbClr val="6F8894"/>
                </a:solidFill>
                <a:latin typeface="Consolas"/>
              </a:rPr>
              <a:t> </a:t>
            </a:r>
            <a:r>
              <a:rPr lang="en-US" sz="900" b="0" noProof="0" dirty="0" err="1">
                <a:solidFill>
                  <a:srgbClr val="6F8894"/>
                </a:solidFill>
                <a:latin typeface="Consolas"/>
              </a:rPr>
              <a:t>אל</a:t>
            </a:r>
            <a:r>
              <a:rPr lang="en-US" sz="900" b="0" noProof="0" dirty="0">
                <a:solidFill>
                  <a:srgbClr val="6F8894"/>
                </a:solidFill>
                <a:latin typeface="Consolas"/>
              </a:rPr>
              <a:t> </a:t>
            </a:r>
            <a:r>
              <a:rPr lang="en-US" sz="900" b="0" noProof="0" dirty="0" err="1">
                <a:solidFill>
                  <a:srgbClr val="6F8894"/>
                </a:solidFill>
                <a:latin typeface="Consolas"/>
              </a:rPr>
              <a:t>המשאב</a:t>
            </a:r>
            <a:endParaRPr lang="en-US" sz="900" b="0" noProof="0" dirty="0">
              <a:solidFill>
                <a:srgbClr val="6F8894"/>
              </a:solidFill>
              <a:latin typeface="Consolas"/>
            </a:endParaRPr>
          </a:p>
          <a:p>
            <a:pPr algn="l" rtl="0">
              <a:lnSpc>
                <a:spcPts val="1296"/>
              </a:lnSpc>
            </a:pPr>
            <a:r>
              <a:rPr lang="en-US" sz="900" b="0" noProof="0" dirty="0">
                <a:solidFill>
                  <a:srgbClr val="7FC7DE"/>
                </a:solidFill>
                <a:latin typeface="Consolas"/>
              </a:rPr>
              <a:t>public</a:t>
            </a:r>
            <a:r>
              <a:rPr lang="en-US" sz="900" b="0" noProof="0" dirty="0">
                <a:solidFill>
                  <a:srgbClr val="DCE8ED"/>
                </a:solidFill>
                <a:latin typeface="Consolas"/>
              </a:rPr>
              <a:t> </a:t>
            </a:r>
            <a:r>
              <a:rPr lang="en-US" sz="900" b="0" noProof="0" dirty="0">
                <a:solidFill>
                  <a:srgbClr val="7FC7DE"/>
                </a:solidFill>
                <a:latin typeface="Consolas"/>
              </a:rPr>
              <a:t>class</a:t>
            </a:r>
            <a:r>
              <a:rPr lang="en-US" sz="900" b="0" noProof="0" dirty="0">
                <a:solidFill>
                  <a:srgbClr val="DCE8ED"/>
                </a:solidFill>
                <a:latin typeface="Consolas"/>
              </a:rPr>
              <a:t> </a:t>
            </a:r>
            <a:r>
              <a:rPr lang="en-US" sz="900" b="0" noProof="0" dirty="0" err="1">
                <a:solidFill>
                  <a:srgbClr val="C9B6E8"/>
                </a:solidFill>
                <a:latin typeface="Consolas"/>
              </a:rPr>
              <a:t>WelcomeRESTJSONResource</a:t>
            </a:r>
            <a:endParaRPr lang="en-US" sz="900" b="0" noProof="0" dirty="0">
              <a:solidFill>
                <a:srgbClr val="C9B6E8"/>
              </a:solidFill>
              <a:latin typeface="Consolas"/>
            </a:endParaRPr>
          </a:p>
          <a:p>
            <a:pPr algn="l" rtl="0">
              <a:lnSpc>
                <a:spcPts val="1296"/>
              </a:lnSpc>
            </a:pPr>
            <a:r>
              <a:rPr lang="en-US" sz="900" b="0" noProof="0" dirty="0">
                <a:solidFill>
                  <a:srgbClr val="DCE8ED"/>
                </a:solidFill>
                <a:latin typeface="Consolas"/>
              </a:rPr>
              <a:t>{</a:t>
            </a:r>
          </a:p>
          <a:p>
            <a:pPr algn="l" rtl="0">
              <a:lnSpc>
                <a:spcPts val="1296"/>
              </a:lnSpc>
            </a:pPr>
            <a:r>
              <a:rPr lang="en-US" sz="900" b="0" noProof="0" dirty="0">
                <a:solidFill>
                  <a:srgbClr val="DCE8ED"/>
                </a:solidFill>
                <a:latin typeface="Consolas"/>
              </a:rPr>
              <a:t>   </a:t>
            </a:r>
            <a:r>
              <a:rPr lang="en-US" sz="900" b="1" noProof="0" dirty="0">
                <a:solidFill>
                  <a:srgbClr val="F0A06A"/>
                </a:solidFill>
                <a:latin typeface="Consolas"/>
              </a:rPr>
              <a:t>@GET</a:t>
            </a:r>
            <a:r>
              <a:rPr lang="en-US" sz="900" b="0" noProof="0" dirty="0">
                <a:solidFill>
                  <a:srgbClr val="DCE8ED"/>
                </a:solidFill>
                <a:latin typeface="Consolas"/>
              </a:rPr>
              <a:t>                           </a:t>
            </a:r>
            <a:r>
              <a:rPr lang="en-US" sz="900" b="0" noProof="0" dirty="0">
                <a:solidFill>
                  <a:srgbClr val="6F8894"/>
                </a:solidFill>
                <a:latin typeface="Consolas"/>
              </a:rPr>
              <a:t>// </a:t>
            </a:r>
            <a:r>
              <a:rPr lang="en-US" sz="900" b="0" noProof="0" dirty="0" err="1">
                <a:solidFill>
                  <a:srgbClr val="6F8894"/>
                </a:solidFill>
                <a:latin typeface="Consolas"/>
              </a:rPr>
              <a:t>מטפל</a:t>
            </a:r>
            <a:r>
              <a:rPr lang="en-US" sz="900" b="0" noProof="0" dirty="0">
                <a:solidFill>
                  <a:srgbClr val="6F8894"/>
                </a:solidFill>
                <a:latin typeface="Consolas"/>
              </a:rPr>
              <a:t> </a:t>
            </a:r>
            <a:r>
              <a:rPr lang="en-US" sz="900" b="0" noProof="0" dirty="0" err="1">
                <a:solidFill>
                  <a:srgbClr val="6F8894"/>
                </a:solidFill>
                <a:latin typeface="Consolas"/>
              </a:rPr>
              <a:t>בבקשות</a:t>
            </a:r>
            <a:r>
              <a:rPr lang="en-US" sz="900" b="0" noProof="0" dirty="0">
                <a:solidFill>
                  <a:srgbClr val="6F8894"/>
                </a:solidFill>
                <a:latin typeface="Consolas"/>
              </a:rPr>
              <a:t> GET</a:t>
            </a:r>
          </a:p>
          <a:p>
            <a:pPr algn="l" rtl="0">
              <a:lnSpc>
                <a:spcPts val="1296"/>
              </a:lnSpc>
            </a:pPr>
            <a:r>
              <a:rPr lang="en-US" sz="900" b="0" noProof="0" dirty="0">
                <a:solidFill>
                  <a:srgbClr val="DCE8ED"/>
                </a:solidFill>
                <a:latin typeface="Consolas"/>
              </a:rPr>
              <a:t>   </a:t>
            </a:r>
            <a:r>
              <a:rPr lang="en-US" sz="900" b="1" noProof="0" dirty="0">
                <a:solidFill>
                  <a:srgbClr val="F0A06A"/>
                </a:solidFill>
                <a:latin typeface="Consolas"/>
              </a:rPr>
              <a:t>@Path</a:t>
            </a:r>
            <a:r>
              <a:rPr lang="en-US" sz="900" b="0" noProof="0" dirty="0">
                <a:solidFill>
                  <a:srgbClr val="DCE8ED"/>
                </a:solidFill>
                <a:latin typeface="Consolas"/>
              </a:rPr>
              <a:t>(</a:t>
            </a:r>
            <a:r>
              <a:rPr lang="en-US" sz="900" b="0" noProof="0" dirty="0">
                <a:solidFill>
                  <a:srgbClr val="9FD1A0"/>
                </a:solidFill>
                <a:latin typeface="Consolas"/>
              </a:rPr>
              <a:t>"{name}"</a:t>
            </a:r>
            <a:r>
              <a:rPr lang="en-US" sz="900" b="0" noProof="0" dirty="0">
                <a:solidFill>
                  <a:srgbClr val="DCE8ED"/>
                </a:solidFill>
                <a:latin typeface="Consolas"/>
              </a:rPr>
              <a:t>)                </a:t>
            </a:r>
            <a:r>
              <a:rPr lang="en-US" sz="900" b="0" noProof="0" dirty="0">
                <a:solidFill>
                  <a:srgbClr val="6F8894"/>
                </a:solidFill>
                <a:latin typeface="Consolas"/>
              </a:rPr>
              <a:t>// </a:t>
            </a:r>
            <a:r>
              <a:rPr lang="en-US" sz="900" b="0" noProof="0" dirty="0" err="1">
                <a:solidFill>
                  <a:srgbClr val="6F8894"/>
                </a:solidFill>
                <a:latin typeface="Consolas"/>
              </a:rPr>
              <a:t>פרמטר</a:t>
            </a:r>
            <a:r>
              <a:rPr lang="en-US" sz="900" b="0" noProof="0" dirty="0">
                <a:solidFill>
                  <a:srgbClr val="6F8894"/>
                </a:solidFill>
                <a:latin typeface="Consolas"/>
              </a:rPr>
              <a:t> </a:t>
            </a:r>
            <a:r>
              <a:rPr lang="en-US" sz="900" b="0" noProof="0" dirty="0" err="1">
                <a:solidFill>
                  <a:srgbClr val="6F8894"/>
                </a:solidFill>
                <a:latin typeface="Consolas"/>
              </a:rPr>
              <a:t>בתוך</a:t>
            </a:r>
            <a:r>
              <a:rPr lang="en-US" sz="900" b="0" noProof="0" dirty="0">
                <a:solidFill>
                  <a:srgbClr val="6F8894"/>
                </a:solidFill>
                <a:latin typeface="Consolas"/>
              </a:rPr>
              <a:t> </a:t>
            </a:r>
            <a:r>
              <a:rPr lang="en-US" sz="900" b="0" noProof="0" dirty="0" err="1">
                <a:solidFill>
                  <a:srgbClr val="6F8894"/>
                </a:solidFill>
                <a:latin typeface="Consolas"/>
              </a:rPr>
              <a:t>הנתיב</a:t>
            </a:r>
            <a:endParaRPr lang="en-US" sz="900" b="0" noProof="0" dirty="0">
              <a:solidFill>
                <a:srgbClr val="6F8894"/>
              </a:solidFill>
              <a:latin typeface="Consolas"/>
            </a:endParaRPr>
          </a:p>
          <a:p>
            <a:pPr algn="l" rtl="0">
              <a:lnSpc>
                <a:spcPts val="1296"/>
              </a:lnSpc>
            </a:pPr>
            <a:r>
              <a:rPr lang="en-US" sz="900" b="0" noProof="0" dirty="0">
                <a:solidFill>
                  <a:srgbClr val="DCE8ED"/>
                </a:solidFill>
                <a:latin typeface="Consolas"/>
              </a:rPr>
              <a:t>   </a:t>
            </a:r>
            <a:r>
              <a:rPr lang="en-US" sz="900" b="1" noProof="0" dirty="0">
                <a:solidFill>
                  <a:srgbClr val="F0A06A"/>
                </a:solidFill>
                <a:latin typeface="Consolas"/>
              </a:rPr>
              <a:t>@Produces</a:t>
            </a:r>
            <a:r>
              <a:rPr lang="en-US" sz="900" b="0" noProof="0" dirty="0">
                <a:solidFill>
                  <a:srgbClr val="DCE8ED"/>
                </a:solidFill>
                <a:latin typeface="Consolas"/>
              </a:rPr>
              <a:t>(</a:t>
            </a:r>
            <a:r>
              <a:rPr lang="en-US" sz="900" b="0" noProof="0" dirty="0">
                <a:solidFill>
                  <a:srgbClr val="9FD1A0"/>
                </a:solidFill>
                <a:latin typeface="Consolas"/>
              </a:rPr>
              <a:t>"application/json"</a:t>
            </a:r>
            <a:r>
              <a:rPr lang="en-US" sz="900" b="0" noProof="0" dirty="0">
                <a:solidFill>
                  <a:srgbClr val="DCE8ED"/>
                </a:solidFill>
                <a:latin typeface="Consolas"/>
              </a:rPr>
              <a:t>)  </a:t>
            </a:r>
            <a:r>
              <a:rPr lang="en-US" sz="900" b="0" noProof="0" dirty="0">
                <a:solidFill>
                  <a:srgbClr val="6F8894"/>
                </a:solidFill>
                <a:latin typeface="Consolas"/>
              </a:rPr>
              <a:t>// </a:t>
            </a:r>
            <a:r>
              <a:rPr lang="en-US" sz="900" b="0" noProof="0" dirty="0" err="1">
                <a:solidFill>
                  <a:srgbClr val="6F8894"/>
                </a:solidFill>
                <a:latin typeface="Consolas"/>
              </a:rPr>
              <a:t>מה</a:t>
            </a:r>
            <a:r>
              <a:rPr lang="en-US" sz="900" b="0" noProof="0" dirty="0">
                <a:solidFill>
                  <a:srgbClr val="6F8894"/>
                </a:solidFill>
                <a:latin typeface="Consolas"/>
              </a:rPr>
              <a:t> </a:t>
            </a:r>
            <a:r>
              <a:rPr lang="en-US" sz="900" b="0" noProof="0" dirty="0" err="1">
                <a:solidFill>
                  <a:srgbClr val="6F8894"/>
                </a:solidFill>
                <a:latin typeface="Consolas"/>
              </a:rPr>
              <a:t>מוחזר</a:t>
            </a:r>
            <a:endParaRPr lang="en-US" sz="900" b="0" noProof="0" dirty="0">
              <a:solidFill>
                <a:srgbClr val="6F8894"/>
              </a:solidFill>
              <a:latin typeface="Consolas"/>
            </a:endParaRPr>
          </a:p>
          <a:p>
            <a:pPr algn="l" rtl="0">
              <a:lnSpc>
                <a:spcPts val="1296"/>
              </a:lnSpc>
            </a:pPr>
            <a:r>
              <a:rPr lang="en-US" sz="900" b="0" noProof="0" dirty="0">
                <a:solidFill>
                  <a:srgbClr val="DCE8ED"/>
                </a:solidFill>
                <a:latin typeface="Consolas"/>
              </a:rPr>
              <a:t>   </a:t>
            </a:r>
            <a:r>
              <a:rPr lang="en-US" sz="900" b="0" noProof="0" dirty="0">
                <a:solidFill>
                  <a:srgbClr val="7FC7DE"/>
                </a:solidFill>
                <a:latin typeface="Consolas"/>
              </a:rPr>
              <a:t>public</a:t>
            </a:r>
            <a:r>
              <a:rPr lang="en-US" sz="900" b="0" noProof="0" dirty="0">
                <a:solidFill>
                  <a:srgbClr val="DCE8ED"/>
                </a:solidFill>
                <a:latin typeface="Consolas"/>
              </a:rPr>
              <a:t> </a:t>
            </a:r>
            <a:r>
              <a:rPr lang="en-US" sz="900" b="0" noProof="0" dirty="0">
                <a:solidFill>
                  <a:srgbClr val="C9B6E8"/>
                </a:solidFill>
                <a:latin typeface="Consolas"/>
              </a:rPr>
              <a:t>String</a:t>
            </a:r>
            <a:r>
              <a:rPr lang="en-US" sz="900" b="0" noProof="0" dirty="0">
                <a:solidFill>
                  <a:srgbClr val="DCE8ED"/>
                </a:solidFill>
                <a:latin typeface="Consolas"/>
              </a:rPr>
              <a:t> </a:t>
            </a:r>
            <a:r>
              <a:rPr lang="en-US" sz="900" b="0" noProof="0" dirty="0" err="1">
                <a:solidFill>
                  <a:srgbClr val="DCE8ED"/>
                </a:solidFill>
                <a:latin typeface="Consolas"/>
              </a:rPr>
              <a:t>getJson</a:t>
            </a:r>
            <a:r>
              <a:rPr lang="en-US" sz="900" b="0" noProof="0" dirty="0">
                <a:solidFill>
                  <a:srgbClr val="DCE8ED"/>
                </a:solidFill>
                <a:latin typeface="Consolas"/>
              </a:rPr>
              <a:t>(</a:t>
            </a:r>
          </a:p>
          <a:p>
            <a:pPr algn="l" rtl="0">
              <a:lnSpc>
                <a:spcPts val="1296"/>
              </a:lnSpc>
            </a:pPr>
            <a:r>
              <a:rPr lang="en-US" sz="900" b="0" noProof="0" dirty="0">
                <a:solidFill>
                  <a:srgbClr val="DCE8ED"/>
                </a:solidFill>
                <a:latin typeface="Consolas"/>
              </a:rPr>
              <a:t>         </a:t>
            </a:r>
            <a:r>
              <a:rPr lang="en-US" sz="900" b="1" noProof="0" dirty="0">
                <a:solidFill>
                  <a:srgbClr val="F0A06A"/>
                </a:solidFill>
                <a:latin typeface="Consolas"/>
              </a:rPr>
              <a:t>@PathParam</a:t>
            </a:r>
            <a:r>
              <a:rPr lang="en-US" sz="900" b="0" noProof="0" dirty="0">
                <a:solidFill>
                  <a:srgbClr val="DCE8ED"/>
                </a:solidFill>
                <a:latin typeface="Consolas"/>
              </a:rPr>
              <a:t>(</a:t>
            </a:r>
            <a:r>
              <a:rPr lang="en-US" sz="900" b="0" noProof="0" dirty="0">
                <a:solidFill>
                  <a:srgbClr val="9FD1A0"/>
                </a:solidFill>
                <a:latin typeface="Consolas"/>
              </a:rPr>
              <a:t>"name"</a:t>
            </a:r>
            <a:r>
              <a:rPr lang="en-US" sz="900" b="0" noProof="0" dirty="0">
                <a:solidFill>
                  <a:srgbClr val="DCE8ED"/>
                </a:solidFill>
                <a:latin typeface="Consolas"/>
              </a:rPr>
              <a:t>) </a:t>
            </a:r>
            <a:r>
              <a:rPr lang="en-US" sz="900" b="0" noProof="0" dirty="0">
                <a:solidFill>
                  <a:srgbClr val="C9B6E8"/>
                </a:solidFill>
                <a:latin typeface="Consolas"/>
              </a:rPr>
              <a:t>String</a:t>
            </a:r>
            <a:r>
              <a:rPr lang="en-US" sz="900" b="0" noProof="0" dirty="0">
                <a:solidFill>
                  <a:srgbClr val="DCE8ED"/>
                </a:solidFill>
                <a:latin typeface="Consolas"/>
              </a:rPr>
              <a:t> name)</a:t>
            </a:r>
          </a:p>
          <a:p>
            <a:pPr algn="l" rtl="0">
              <a:lnSpc>
                <a:spcPts val="1296"/>
              </a:lnSpc>
            </a:pPr>
            <a:r>
              <a:rPr lang="en-US" sz="900" b="0" noProof="0" dirty="0">
                <a:solidFill>
                  <a:srgbClr val="DCE8ED"/>
                </a:solidFill>
                <a:latin typeface="Consolas"/>
              </a:rPr>
              <a:t>   {</a:t>
            </a:r>
          </a:p>
          <a:p>
            <a:pPr algn="l" rtl="0">
              <a:lnSpc>
                <a:spcPts val="1296"/>
              </a:lnSpc>
            </a:pPr>
            <a:r>
              <a:rPr lang="en-US" sz="900" b="0" noProof="0" dirty="0">
                <a:solidFill>
                  <a:srgbClr val="DCE8ED"/>
                </a:solidFill>
                <a:latin typeface="Consolas"/>
              </a:rPr>
              <a:t>      </a:t>
            </a:r>
            <a:r>
              <a:rPr lang="en-US" sz="900" b="0" noProof="0" dirty="0" err="1">
                <a:solidFill>
                  <a:srgbClr val="C9B6E8"/>
                </a:solidFill>
                <a:latin typeface="Consolas"/>
              </a:rPr>
              <a:t>TextMessage</a:t>
            </a:r>
            <a:r>
              <a:rPr lang="en-US" sz="900" b="0" noProof="0" dirty="0">
                <a:solidFill>
                  <a:srgbClr val="DCE8ED"/>
                </a:solidFill>
                <a:latin typeface="Consolas"/>
              </a:rPr>
              <a:t> message = </a:t>
            </a:r>
            <a:r>
              <a:rPr lang="en-US" sz="900" b="0" noProof="0" dirty="0">
                <a:solidFill>
                  <a:srgbClr val="7FC7DE"/>
                </a:solidFill>
                <a:latin typeface="Consolas"/>
              </a:rPr>
              <a:t>new</a:t>
            </a:r>
            <a:r>
              <a:rPr lang="en-US" sz="900" b="0" noProof="0" dirty="0">
                <a:solidFill>
                  <a:srgbClr val="DCE8ED"/>
                </a:solidFill>
                <a:latin typeface="Consolas"/>
              </a:rPr>
              <a:t> </a:t>
            </a:r>
            <a:r>
              <a:rPr lang="en-US" sz="900" b="0" noProof="0" dirty="0" err="1">
                <a:solidFill>
                  <a:srgbClr val="C9B6E8"/>
                </a:solidFill>
                <a:latin typeface="Consolas"/>
              </a:rPr>
              <a:t>TextMessage</a:t>
            </a:r>
            <a:r>
              <a:rPr lang="en-US" sz="900" b="0" noProof="0" dirty="0">
                <a:solidFill>
                  <a:srgbClr val="DCE8ED"/>
                </a:solidFill>
                <a:latin typeface="Consolas"/>
              </a:rPr>
              <a:t>();</a:t>
            </a:r>
          </a:p>
          <a:p>
            <a:pPr algn="l" rtl="0">
              <a:lnSpc>
                <a:spcPts val="1296"/>
              </a:lnSpc>
            </a:pPr>
            <a:r>
              <a:rPr lang="en-US" sz="900" b="0" noProof="0" dirty="0">
                <a:solidFill>
                  <a:srgbClr val="DCE8ED"/>
                </a:solidFill>
                <a:latin typeface="Consolas"/>
              </a:rPr>
              <a:t>      </a:t>
            </a:r>
            <a:r>
              <a:rPr lang="en-US" sz="900" b="0" noProof="0" dirty="0" err="1">
                <a:solidFill>
                  <a:srgbClr val="DCE8ED"/>
                </a:solidFill>
                <a:latin typeface="Consolas"/>
              </a:rPr>
              <a:t>message.setMessage</a:t>
            </a:r>
            <a:r>
              <a:rPr lang="en-US" sz="900" b="0" noProof="0" dirty="0">
                <a:solidFill>
                  <a:srgbClr val="DCE8ED"/>
                </a:solidFill>
                <a:latin typeface="Consolas"/>
              </a:rPr>
              <a:t>(</a:t>
            </a:r>
            <a:r>
              <a:rPr lang="en-US" sz="900" b="0" noProof="0" dirty="0">
                <a:solidFill>
                  <a:srgbClr val="9FD1A0"/>
                </a:solidFill>
                <a:latin typeface="Consolas"/>
              </a:rPr>
              <a:t>"Welcome to JAX-RS, "</a:t>
            </a:r>
            <a:r>
              <a:rPr lang="en-US" sz="900" b="0" noProof="0" dirty="0">
                <a:solidFill>
                  <a:srgbClr val="DCE8ED"/>
                </a:solidFill>
                <a:latin typeface="Consolas"/>
              </a:rPr>
              <a:t> + name);</a:t>
            </a:r>
          </a:p>
          <a:p>
            <a:pPr algn="l" rtl="0">
              <a:lnSpc>
                <a:spcPts val="1296"/>
              </a:lnSpc>
            </a:pPr>
            <a:r>
              <a:rPr lang="en-US" sz="900" b="0" noProof="0" dirty="0">
                <a:solidFill>
                  <a:srgbClr val="DCE8ED"/>
                </a:solidFill>
                <a:latin typeface="Consolas"/>
              </a:rPr>
              <a:t>      </a:t>
            </a:r>
            <a:r>
              <a:rPr lang="en-US" sz="900" b="0" noProof="0" dirty="0">
                <a:solidFill>
                  <a:srgbClr val="7FC7DE"/>
                </a:solidFill>
                <a:latin typeface="Consolas"/>
              </a:rPr>
              <a:t>return</a:t>
            </a:r>
            <a:r>
              <a:rPr lang="en-US" sz="900" b="0" noProof="0" dirty="0">
                <a:solidFill>
                  <a:srgbClr val="DCE8ED"/>
                </a:solidFill>
                <a:latin typeface="Consolas"/>
              </a:rPr>
              <a:t> </a:t>
            </a:r>
            <a:r>
              <a:rPr lang="en-US" sz="900" b="0" noProof="0" dirty="0">
                <a:solidFill>
                  <a:srgbClr val="7FC7DE"/>
                </a:solidFill>
                <a:latin typeface="Consolas"/>
              </a:rPr>
              <a:t>new</a:t>
            </a:r>
            <a:r>
              <a:rPr lang="en-US" sz="900" b="0" noProof="0" dirty="0">
                <a:solidFill>
                  <a:srgbClr val="DCE8ED"/>
                </a:solidFill>
                <a:latin typeface="Consolas"/>
              </a:rPr>
              <a:t> </a:t>
            </a:r>
            <a:r>
              <a:rPr lang="en-US" sz="900" b="0" noProof="0" dirty="0" err="1">
                <a:solidFill>
                  <a:srgbClr val="C9B6E8"/>
                </a:solidFill>
                <a:latin typeface="Consolas"/>
              </a:rPr>
              <a:t>Gson</a:t>
            </a:r>
            <a:r>
              <a:rPr lang="en-US" sz="900" b="0" noProof="0" dirty="0">
                <a:solidFill>
                  <a:srgbClr val="DCE8ED"/>
                </a:solidFill>
                <a:latin typeface="Consolas"/>
              </a:rPr>
              <a:t>().</a:t>
            </a:r>
            <a:r>
              <a:rPr lang="en-US" sz="900" b="0" noProof="0" dirty="0" err="1">
                <a:solidFill>
                  <a:srgbClr val="DCE8ED"/>
                </a:solidFill>
                <a:latin typeface="Consolas"/>
              </a:rPr>
              <a:t>toJson</a:t>
            </a:r>
            <a:r>
              <a:rPr lang="en-US" sz="900" b="0" noProof="0" dirty="0">
                <a:solidFill>
                  <a:srgbClr val="DCE8ED"/>
                </a:solidFill>
                <a:latin typeface="Consolas"/>
              </a:rPr>
              <a:t>(message);</a:t>
            </a:r>
          </a:p>
          <a:p>
            <a:pPr algn="l" rtl="0">
              <a:lnSpc>
                <a:spcPts val="1296"/>
              </a:lnSpc>
            </a:pPr>
            <a:r>
              <a:rPr lang="en-US" sz="900" b="0" noProof="0" dirty="0">
                <a:solidFill>
                  <a:srgbClr val="DCE8ED"/>
                </a:solidFill>
                <a:latin typeface="Consolas"/>
              </a:rPr>
              <a:t>   }</a:t>
            </a:r>
          </a:p>
          <a:p>
            <a:pPr algn="l" rtl="0">
              <a:lnSpc>
                <a:spcPts val="1296"/>
              </a:lnSpc>
            </a:pPr>
            <a:r>
              <a:rPr lang="en-US" sz="900" b="0" noProof="0" dirty="0">
                <a:solidFill>
                  <a:srgbClr val="DCE8ED"/>
                </a:solidFill>
                <a:latin typeface="Consolas"/>
              </a:rPr>
              <a:t>}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5449824"/>
            <a:ext cx="6263640" cy="566928"/>
          </a:xfrm>
          <a:prstGeom prst="roundRect">
            <a:avLst>
              <a:gd name="adj" fmla="val 4000"/>
            </a:avLst>
          </a:prstGeom>
          <a:solidFill>
            <a:srgbClr val="0B2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18" name="TextBox 17"/>
          <p:cNvSpPr txBox="1"/>
          <p:nvPr/>
        </p:nvSpPr>
        <p:spPr>
          <a:xfrm>
            <a:off x="731520" y="5513832"/>
            <a:ext cx="593445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/>
            <a:r>
              <a:rPr lang="en-US" sz="950" b="1" i="0" noProof="0" dirty="0" err="1">
                <a:solidFill>
                  <a:srgbClr val="6FA8B8"/>
                </a:solidFill>
                <a:latin typeface="Segoe UI"/>
              </a:rPr>
              <a:t>והכתובת</a:t>
            </a:r>
            <a:r>
              <a:rPr lang="en-US" sz="950" b="1" i="0" noProof="0" dirty="0">
                <a:solidFill>
                  <a:srgbClr val="6FA8B8"/>
                </a:solidFill>
                <a:latin typeface="Segoe UI"/>
              </a:rPr>
              <a:t> </a:t>
            </a:r>
            <a:r>
              <a:rPr lang="en-US" sz="950" b="1" i="0" noProof="0" dirty="0" err="1">
                <a:solidFill>
                  <a:srgbClr val="6FA8B8"/>
                </a:solidFill>
                <a:latin typeface="Segoe UI"/>
              </a:rPr>
              <a:t>שנוצרת</a:t>
            </a:r>
            <a:r>
              <a:rPr lang="en-US" sz="950" b="1" i="0" noProof="0" dirty="0">
                <a:solidFill>
                  <a:srgbClr val="6FA8B8"/>
                </a:solidFill>
                <a:latin typeface="Segoe UI"/>
              </a:rPr>
              <a:t> </a:t>
            </a:r>
            <a:r>
              <a:rPr lang="en-US" sz="950" b="1" i="0" noProof="0" dirty="0" err="1">
                <a:solidFill>
                  <a:srgbClr val="6FA8B8"/>
                </a:solidFill>
                <a:latin typeface="Segoe UI"/>
              </a:rPr>
              <a:t>בפועל</a:t>
            </a:r>
            <a:r>
              <a:rPr lang="en-US" sz="950" b="1" i="0" noProof="0" dirty="0">
                <a:solidFill>
                  <a:srgbClr val="6FA8B8"/>
                </a:solidFill>
                <a:latin typeface="Segoe UI"/>
              </a:rPr>
              <a:t>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715000"/>
            <a:ext cx="5934456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rtl="0"/>
            <a:r>
              <a:rPr lang="en-US" sz="1000" b="0" i="0" noProof="0" dirty="0">
                <a:solidFill>
                  <a:srgbClr val="9FD1A0"/>
                </a:solidFill>
                <a:latin typeface="Consolas"/>
              </a:rPr>
              <a:t>http://localhost:8080/WelcomeRESTJSON/webresources/welcome/John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071616"/>
            <a:ext cx="6263640" cy="1461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rtl="1"/>
            <a:r>
              <a:rPr lang="en-US" sz="950" b="0" i="0" noProof="0" dirty="0" err="1">
                <a:solidFill>
                  <a:srgbClr val="5A6B75"/>
                </a:solidFill>
                <a:latin typeface="Segoe UI"/>
              </a:rPr>
              <a:t>עם</a:t>
            </a:r>
            <a:r>
              <a:rPr lang="en-US" sz="950" b="0" i="0" noProof="0" dirty="0">
                <a:solidFill>
                  <a:srgbClr val="5A6B75"/>
                </a:solidFill>
                <a:latin typeface="Segoe UI"/>
              </a:rPr>
              <a:t> ‏‎@Produces("application/xml")‎‏ </a:t>
            </a:r>
            <a:r>
              <a:rPr lang="en-US" sz="950" b="0" i="0" noProof="0" dirty="0" err="1">
                <a:solidFill>
                  <a:srgbClr val="5A6B75"/>
                </a:solidFill>
                <a:latin typeface="Segoe UI"/>
              </a:rPr>
              <a:t>ועם</a:t>
            </a:r>
            <a:r>
              <a:rPr lang="en-US" sz="950" b="0" i="0" noProof="0" dirty="0">
                <a:solidFill>
                  <a:srgbClr val="5A6B75"/>
                </a:solidFill>
                <a:latin typeface="Segoe UI"/>
              </a:rPr>
              <a:t> ‏JAXB‏ </a:t>
            </a:r>
            <a:r>
              <a:rPr lang="en-US" sz="950" b="0" i="0" noProof="0" dirty="0" err="1">
                <a:solidFill>
                  <a:srgbClr val="5A6B75"/>
                </a:solidFill>
                <a:latin typeface="Segoe UI"/>
              </a:rPr>
              <a:t>אותו</a:t>
            </a:r>
            <a:r>
              <a:rPr lang="en-US" sz="95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950" b="0" i="0" noProof="0" dirty="0" err="1">
                <a:solidFill>
                  <a:srgbClr val="5A6B75"/>
                </a:solidFill>
                <a:latin typeface="Segoe UI"/>
              </a:rPr>
              <a:t>קוד</a:t>
            </a:r>
            <a:r>
              <a:rPr lang="en-US" sz="95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950" b="0" i="0" noProof="0" dirty="0" err="1">
                <a:solidFill>
                  <a:srgbClr val="5A6B75"/>
                </a:solidFill>
                <a:latin typeface="Segoe UI"/>
              </a:rPr>
              <a:t>מחזיר</a:t>
            </a:r>
            <a:r>
              <a:rPr lang="en-US" sz="950" b="0" i="0" noProof="0" dirty="0">
                <a:solidFill>
                  <a:srgbClr val="5A6B75"/>
                </a:solidFill>
                <a:latin typeface="Segoe UI"/>
              </a:rPr>
              <a:t> ‏XML‏.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59168" y="1700784"/>
            <a:ext cx="45720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/>
            <a:r>
              <a:rPr lang="en-US" sz="1300" b="1" i="0" noProof="0" dirty="0" err="1">
                <a:solidFill>
                  <a:srgbClr val="0D4A5C"/>
                </a:solidFill>
                <a:latin typeface="Segoe UI"/>
              </a:rPr>
              <a:t>האנוטציות</a:t>
            </a:r>
            <a:r>
              <a:rPr lang="en-US" sz="1300" b="1" i="0" noProof="0" dirty="0">
                <a:solidFill>
                  <a:srgbClr val="0D4A5C"/>
                </a:solidFill>
                <a:latin typeface="Segoe UI"/>
              </a:rPr>
              <a:t> </a:t>
            </a:r>
            <a:r>
              <a:rPr lang="en-US" sz="1300" b="1" i="0" noProof="0" dirty="0" err="1">
                <a:solidFill>
                  <a:srgbClr val="0D4A5C"/>
                </a:solidFill>
                <a:latin typeface="Segoe UI"/>
              </a:rPr>
              <a:t>המרכזיות</a:t>
            </a:r>
            <a:endParaRPr lang="en-US" sz="1300" b="1" i="0" noProof="0" dirty="0">
              <a:solidFill>
                <a:srgbClr val="0D4A5C"/>
              </a:solidFill>
              <a:latin typeface="Segoe UI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7059168" y="2011680"/>
            <a:ext cx="4572000" cy="347472"/>
          </a:xfrm>
          <a:prstGeom prst="rect">
            <a:avLst/>
          </a:prstGeom>
          <a:solidFill>
            <a:srgbClr val="0D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23" name="TextBox 22"/>
          <p:cNvSpPr txBox="1"/>
          <p:nvPr/>
        </p:nvSpPr>
        <p:spPr>
          <a:xfrm>
            <a:off x="10003536" y="2057400"/>
            <a:ext cx="1517904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 rtl="1"/>
            <a:r>
              <a:rPr lang="en-US" sz="1150" b="1" i="0" noProof="0" dirty="0" err="1">
                <a:solidFill>
                  <a:srgbClr val="FFFFFF"/>
                </a:solidFill>
                <a:latin typeface="Segoe UI"/>
              </a:rPr>
              <a:t>אנוטציה</a:t>
            </a:r>
            <a:endParaRPr lang="en-US" sz="1150" b="1" i="0" noProof="0" dirty="0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7168896" y="2057400"/>
            <a:ext cx="2615184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 rtl="1"/>
            <a:r>
              <a:rPr lang="en-US" sz="1150" b="1" i="0" noProof="0" dirty="0" err="1">
                <a:solidFill>
                  <a:srgbClr val="FFFFFF"/>
                </a:solidFill>
                <a:latin typeface="Segoe UI"/>
              </a:rPr>
              <a:t>תפקיד</a:t>
            </a:r>
            <a:endParaRPr lang="en-US" sz="1150" b="1" i="0" noProof="0" dirty="0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7059168" y="2359152"/>
            <a:ext cx="4572000" cy="3154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26" name="Rectangle 25"/>
          <p:cNvSpPr/>
          <p:nvPr/>
        </p:nvSpPr>
        <p:spPr>
          <a:xfrm>
            <a:off x="7059168" y="2359152"/>
            <a:ext cx="4572000" cy="7315"/>
          </a:xfrm>
          <a:prstGeom prst="rect">
            <a:avLst/>
          </a:prstGeom>
          <a:solidFill>
            <a:srgbClr val="E3EA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27" name="TextBox 26"/>
          <p:cNvSpPr txBox="1"/>
          <p:nvPr/>
        </p:nvSpPr>
        <p:spPr>
          <a:xfrm>
            <a:off x="10003536" y="2377440"/>
            <a:ext cx="1517904" cy="2788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 rtl="0"/>
            <a:r>
              <a:rPr lang="en-US" sz="1050" b="0" i="0" noProof="0" dirty="0">
                <a:solidFill>
                  <a:srgbClr val="0F1B24"/>
                </a:solidFill>
                <a:latin typeface="Consolas"/>
              </a:rPr>
              <a:t>@Path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68896" y="2377440"/>
            <a:ext cx="2615184" cy="2788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 rtl="1"/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הנתיב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שבו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נגיש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המשאב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או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המתודה</a:t>
            </a:r>
            <a:endParaRPr lang="en-US" sz="1050" b="0" i="0" noProof="0" dirty="0">
              <a:solidFill>
                <a:srgbClr val="0F1B24"/>
              </a:solidFill>
              <a:latin typeface="Segoe UI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7059168" y="2674620"/>
            <a:ext cx="4572000" cy="315468"/>
          </a:xfrm>
          <a:prstGeom prst="rect">
            <a:avLst/>
          </a:prstGeom>
          <a:solidFill>
            <a:srgbClr val="F1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30" name="Rectangle 29"/>
          <p:cNvSpPr/>
          <p:nvPr/>
        </p:nvSpPr>
        <p:spPr>
          <a:xfrm>
            <a:off x="7059168" y="2674620"/>
            <a:ext cx="4572000" cy="7315"/>
          </a:xfrm>
          <a:prstGeom prst="rect">
            <a:avLst/>
          </a:prstGeom>
          <a:solidFill>
            <a:srgbClr val="E3EA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31" name="TextBox 30"/>
          <p:cNvSpPr txBox="1"/>
          <p:nvPr/>
        </p:nvSpPr>
        <p:spPr>
          <a:xfrm>
            <a:off x="10003536" y="2692908"/>
            <a:ext cx="1517904" cy="2788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 rtl="0"/>
            <a:r>
              <a:rPr lang="en-US" sz="1050" b="0" i="0" noProof="0" dirty="0">
                <a:solidFill>
                  <a:srgbClr val="0F1B24"/>
                </a:solidFill>
                <a:latin typeface="Consolas"/>
              </a:rPr>
              <a:t>@GET @POST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68896" y="2692908"/>
            <a:ext cx="2615184" cy="2788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 rtl="1"/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לאיזה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פועל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 ‏HTTP‏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המתודה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עונה</a:t>
            </a:r>
            <a:endParaRPr lang="en-US" sz="1050" b="0" i="0" noProof="0" dirty="0">
              <a:solidFill>
                <a:srgbClr val="0F1B24"/>
              </a:solidFill>
              <a:latin typeface="Segoe UI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7059168" y="2990087"/>
            <a:ext cx="4572000" cy="3154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34" name="Rectangle 33"/>
          <p:cNvSpPr/>
          <p:nvPr/>
        </p:nvSpPr>
        <p:spPr>
          <a:xfrm>
            <a:off x="7059168" y="2990087"/>
            <a:ext cx="4572000" cy="7315"/>
          </a:xfrm>
          <a:prstGeom prst="rect">
            <a:avLst/>
          </a:prstGeom>
          <a:solidFill>
            <a:srgbClr val="E3EA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35" name="TextBox 34"/>
          <p:cNvSpPr txBox="1"/>
          <p:nvPr/>
        </p:nvSpPr>
        <p:spPr>
          <a:xfrm>
            <a:off x="10003536" y="3008375"/>
            <a:ext cx="1517904" cy="2788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 rtl="0"/>
            <a:r>
              <a:rPr lang="en-US" sz="1050" b="0" i="0" noProof="0" dirty="0">
                <a:solidFill>
                  <a:srgbClr val="0F1B24"/>
                </a:solidFill>
                <a:latin typeface="Consolas"/>
              </a:rPr>
              <a:t>@PUT @DELETE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8896" y="3008375"/>
            <a:ext cx="2615184" cy="2788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 rtl="1"/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עדכון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ומחיקה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של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המשאב</a:t>
            </a:r>
            <a:endParaRPr lang="en-US" sz="1050" b="0" i="0" noProof="0" dirty="0">
              <a:solidFill>
                <a:srgbClr val="0F1B24"/>
              </a:solidFill>
              <a:latin typeface="Segoe UI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7059168" y="3305555"/>
            <a:ext cx="4572000" cy="315468"/>
          </a:xfrm>
          <a:prstGeom prst="rect">
            <a:avLst/>
          </a:prstGeom>
          <a:solidFill>
            <a:srgbClr val="F1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38" name="Rectangle 37"/>
          <p:cNvSpPr/>
          <p:nvPr/>
        </p:nvSpPr>
        <p:spPr>
          <a:xfrm>
            <a:off x="7059168" y="3305555"/>
            <a:ext cx="4572000" cy="7315"/>
          </a:xfrm>
          <a:prstGeom prst="rect">
            <a:avLst/>
          </a:prstGeom>
          <a:solidFill>
            <a:srgbClr val="E3EA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39" name="TextBox 38"/>
          <p:cNvSpPr txBox="1"/>
          <p:nvPr/>
        </p:nvSpPr>
        <p:spPr>
          <a:xfrm>
            <a:off x="10003536" y="3323843"/>
            <a:ext cx="1517904" cy="2788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 rtl="0"/>
            <a:r>
              <a:rPr lang="en-US" sz="1050" b="0" i="0" noProof="0" dirty="0">
                <a:solidFill>
                  <a:srgbClr val="0F1B24"/>
                </a:solidFill>
                <a:latin typeface="Consolas"/>
              </a:rPr>
              <a:t>@Produces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168896" y="3323843"/>
            <a:ext cx="2615184" cy="2788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 rtl="1"/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סוג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התוכן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שהמתודה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מחזירה</a:t>
            </a:r>
            <a:endParaRPr lang="en-US" sz="1050" b="0" i="0" noProof="0" dirty="0">
              <a:solidFill>
                <a:srgbClr val="0F1B24"/>
              </a:solidFill>
              <a:latin typeface="Segoe UI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7059168" y="3621023"/>
            <a:ext cx="4572000" cy="3154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42" name="Rectangle 41"/>
          <p:cNvSpPr/>
          <p:nvPr/>
        </p:nvSpPr>
        <p:spPr>
          <a:xfrm>
            <a:off x="7059168" y="3621023"/>
            <a:ext cx="4572000" cy="7315"/>
          </a:xfrm>
          <a:prstGeom prst="rect">
            <a:avLst/>
          </a:prstGeom>
          <a:solidFill>
            <a:srgbClr val="E3EA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43" name="TextBox 42"/>
          <p:cNvSpPr txBox="1"/>
          <p:nvPr/>
        </p:nvSpPr>
        <p:spPr>
          <a:xfrm>
            <a:off x="10003536" y="3639311"/>
            <a:ext cx="1517904" cy="2788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 rtl="0"/>
            <a:r>
              <a:rPr lang="en-US" sz="1050" b="0" i="0" noProof="0" dirty="0">
                <a:solidFill>
                  <a:srgbClr val="0F1B24"/>
                </a:solidFill>
                <a:latin typeface="Consolas"/>
              </a:rPr>
              <a:t>@Consumes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168896" y="3639311"/>
            <a:ext cx="2615184" cy="2788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 rtl="1"/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סוג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התוכן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שהמתודה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מוכנה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לקבל</a:t>
            </a:r>
            <a:endParaRPr lang="en-US" sz="1050" b="0" i="0" noProof="0" dirty="0">
              <a:solidFill>
                <a:srgbClr val="0F1B24"/>
              </a:solidFill>
              <a:latin typeface="Segoe UI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7059168" y="3936491"/>
            <a:ext cx="4572000" cy="315468"/>
          </a:xfrm>
          <a:prstGeom prst="rect">
            <a:avLst/>
          </a:prstGeom>
          <a:solidFill>
            <a:srgbClr val="F1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46" name="Rectangle 45"/>
          <p:cNvSpPr/>
          <p:nvPr/>
        </p:nvSpPr>
        <p:spPr>
          <a:xfrm>
            <a:off x="7059168" y="3936491"/>
            <a:ext cx="4572000" cy="7315"/>
          </a:xfrm>
          <a:prstGeom prst="rect">
            <a:avLst/>
          </a:prstGeom>
          <a:solidFill>
            <a:srgbClr val="E3EA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47" name="TextBox 46"/>
          <p:cNvSpPr txBox="1"/>
          <p:nvPr/>
        </p:nvSpPr>
        <p:spPr>
          <a:xfrm>
            <a:off x="10003536" y="3954779"/>
            <a:ext cx="1517904" cy="2788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 rtl="0"/>
            <a:r>
              <a:rPr lang="en-US" sz="1050" b="0" i="0" noProof="0" dirty="0">
                <a:solidFill>
                  <a:srgbClr val="0F1B24"/>
                </a:solidFill>
                <a:latin typeface="Consolas"/>
              </a:rPr>
              <a:t>@PathParam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168896" y="3954779"/>
            <a:ext cx="2615184" cy="2788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 rtl="1"/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קושר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רכיב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מהנתיב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לפרמטר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במתודה</a:t>
            </a:r>
            <a:endParaRPr lang="en-US" sz="1050" b="0" i="0" noProof="0" dirty="0">
              <a:solidFill>
                <a:srgbClr val="0F1B24"/>
              </a:solidFill>
              <a:latin typeface="Segoe UI"/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7059168" y="4251959"/>
            <a:ext cx="4572000" cy="3154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50" name="Rectangle 49"/>
          <p:cNvSpPr/>
          <p:nvPr/>
        </p:nvSpPr>
        <p:spPr>
          <a:xfrm>
            <a:off x="7059168" y="4251959"/>
            <a:ext cx="4572000" cy="7315"/>
          </a:xfrm>
          <a:prstGeom prst="rect">
            <a:avLst/>
          </a:prstGeom>
          <a:solidFill>
            <a:srgbClr val="E3EA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51" name="TextBox 50"/>
          <p:cNvSpPr txBox="1"/>
          <p:nvPr/>
        </p:nvSpPr>
        <p:spPr>
          <a:xfrm>
            <a:off x="10003536" y="4270247"/>
            <a:ext cx="1517904" cy="2788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 rtl="0"/>
            <a:r>
              <a:rPr lang="en-US" sz="1050" b="0" i="0" noProof="0" dirty="0">
                <a:solidFill>
                  <a:srgbClr val="0F1B24"/>
                </a:solidFill>
                <a:latin typeface="Consolas"/>
              </a:rPr>
              <a:t>@QueryParam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168896" y="4270247"/>
            <a:ext cx="2615184" cy="2788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 rtl="1"/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קושר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פרמטר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שאילתה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לפרמטר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במתודה</a:t>
            </a:r>
            <a:endParaRPr lang="en-US" sz="1050" b="0" i="0" noProof="0" dirty="0">
              <a:solidFill>
                <a:srgbClr val="0F1B24"/>
              </a:solidFill>
              <a:latin typeface="Segoe UI"/>
            </a:endParaRPr>
          </a:p>
        </p:txBody>
      </p:sp>
      <p:sp>
        <p:nvSpPr>
          <p:cNvPr id="53" name="Rectangle 52"/>
          <p:cNvSpPr/>
          <p:nvPr/>
        </p:nvSpPr>
        <p:spPr>
          <a:xfrm>
            <a:off x="7059168" y="4567427"/>
            <a:ext cx="4572000" cy="315468"/>
          </a:xfrm>
          <a:prstGeom prst="rect">
            <a:avLst/>
          </a:prstGeom>
          <a:solidFill>
            <a:srgbClr val="F1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54" name="Rectangle 53"/>
          <p:cNvSpPr/>
          <p:nvPr/>
        </p:nvSpPr>
        <p:spPr>
          <a:xfrm>
            <a:off x="7059168" y="4567427"/>
            <a:ext cx="4572000" cy="7315"/>
          </a:xfrm>
          <a:prstGeom prst="rect">
            <a:avLst/>
          </a:prstGeom>
          <a:solidFill>
            <a:srgbClr val="E3EA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55" name="TextBox 54"/>
          <p:cNvSpPr txBox="1"/>
          <p:nvPr/>
        </p:nvSpPr>
        <p:spPr>
          <a:xfrm>
            <a:off x="10003536" y="4585715"/>
            <a:ext cx="1517904" cy="2788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 rtl="0"/>
            <a:r>
              <a:rPr lang="en-US" sz="1050" b="0" i="0" noProof="0" dirty="0">
                <a:solidFill>
                  <a:srgbClr val="0F1B24"/>
                </a:solidFill>
                <a:latin typeface="Consolas"/>
              </a:rPr>
              <a:t>@ApplicationPath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168896" y="4585715"/>
            <a:ext cx="2615184" cy="2788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 rtl="1"/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הקידומת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של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כל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 ה-‏API‏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ביישום</a:t>
            </a:r>
            <a:endParaRPr lang="en-US" sz="1050" b="0" i="0" noProof="0" dirty="0">
              <a:solidFill>
                <a:srgbClr val="0F1B24"/>
              </a:solidFill>
              <a:latin typeface="Segoe UI"/>
            </a:endParaRPr>
          </a:p>
        </p:txBody>
      </p:sp>
      <p:sp>
        <p:nvSpPr>
          <p:cNvPr id="57" name="Rectangle 56"/>
          <p:cNvSpPr/>
          <p:nvPr/>
        </p:nvSpPr>
        <p:spPr>
          <a:xfrm>
            <a:off x="7059168" y="2011680"/>
            <a:ext cx="4572000" cy="2871215"/>
          </a:xfrm>
          <a:prstGeom prst="rect">
            <a:avLst/>
          </a:prstGeom>
          <a:noFill/>
          <a:ln w="9525">
            <a:solidFill>
              <a:srgbClr val="E3EA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58" name="Rounded Rectangle 57"/>
          <p:cNvSpPr/>
          <p:nvPr/>
        </p:nvSpPr>
        <p:spPr>
          <a:xfrm>
            <a:off x="7059168" y="4956048"/>
            <a:ext cx="4572000" cy="1289304"/>
          </a:xfrm>
          <a:prstGeom prst="roundRect">
            <a:avLst>
              <a:gd name="adj" fmla="val 5000"/>
            </a:avLst>
          </a:prstGeom>
          <a:solidFill>
            <a:srgbClr val="F1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59" name="Rectangle 58"/>
          <p:cNvSpPr/>
          <p:nvPr/>
        </p:nvSpPr>
        <p:spPr>
          <a:xfrm>
            <a:off x="11576303" y="4956048"/>
            <a:ext cx="54864" cy="1289304"/>
          </a:xfrm>
          <a:prstGeom prst="rect">
            <a:avLst/>
          </a:prstGeom>
          <a:solidFill>
            <a:srgbClr val="C4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60" name="TextBox 59"/>
          <p:cNvSpPr txBox="1"/>
          <p:nvPr/>
        </p:nvSpPr>
        <p:spPr>
          <a:xfrm>
            <a:off x="7260336" y="5074920"/>
            <a:ext cx="4133087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/>
            <a:r>
              <a:rPr lang="en-US" sz="1250" b="1" i="0" noProof="0" dirty="0" err="1">
                <a:solidFill>
                  <a:srgbClr val="0D4A5C"/>
                </a:solidFill>
                <a:latin typeface="Segoe UI"/>
              </a:rPr>
              <a:t>פרטים</a:t>
            </a:r>
            <a:r>
              <a:rPr lang="en-US" sz="1250" b="1" i="0" noProof="0" dirty="0">
                <a:solidFill>
                  <a:srgbClr val="0D4A5C"/>
                </a:solidFill>
                <a:latin typeface="Segoe UI"/>
              </a:rPr>
              <a:t> </a:t>
            </a:r>
            <a:r>
              <a:rPr lang="en-US" sz="1250" b="1" i="0" noProof="0" dirty="0" err="1">
                <a:solidFill>
                  <a:srgbClr val="0D4A5C"/>
                </a:solidFill>
                <a:latin typeface="Segoe UI"/>
              </a:rPr>
              <a:t>ששווה</a:t>
            </a:r>
            <a:r>
              <a:rPr lang="en-US" sz="1250" b="1" i="0" noProof="0" dirty="0">
                <a:solidFill>
                  <a:srgbClr val="0D4A5C"/>
                </a:solidFill>
                <a:latin typeface="Segoe UI"/>
              </a:rPr>
              <a:t> </a:t>
            </a:r>
            <a:r>
              <a:rPr lang="en-US" sz="1250" b="1" i="0" noProof="0" dirty="0" err="1">
                <a:solidFill>
                  <a:srgbClr val="0D4A5C"/>
                </a:solidFill>
                <a:latin typeface="Segoe UI"/>
              </a:rPr>
              <a:t>לדעת</a:t>
            </a:r>
            <a:endParaRPr lang="en-US" sz="1250" b="1" i="0" noProof="0" dirty="0">
              <a:solidFill>
                <a:srgbClr val="0D4A5C"/>
              </a:solidFill>
              <a:latin typeface="Segoe UI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7260335" y="5367528"/>
            <a:ext cx="4169663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06000"/>
              </a:lnSpc>
            </a:pPr>
            <a:r>
              <a:rPr lang="en-US" sz="807" b="1" i="0" noProof="0" dirty="0">
                <a:solidFill>
                  <a:srgbClr val="C4622D"/>
                </a:solidFill>
                <a:latin typeface="Segoe UI"/>
              </a:rPr>
              <a:t>▪  </a:t>
            </a:r>
            <a:r>
              <a:rPr lang="en-US" sz="950" b="0" i="0" noProof="0" dirty="0" err="1">
                <a:solidFill>
                  <a:srgbClr val="0F1B24"/>
                </a:solidFill>
                <a:latin typeface="Segoe UI"/>
              </a:rPr>
              <a:t>אפשר</a:t>
            </a:r>
            <a:r>
              <a:rPr lang="en-US" sz="9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950" b="0" i="0" noProof="0" dirty="0" err="1">
                <a:solidFill>
                  <a:srgbClr val="0F1B24"/>
                </a:solidFill>
                <a:latin typeface="Segoe UI"/>
              </a:rPr>
              <a:t>שתי</a:t>
            </a:r>
            <a:r>
              <a:rPr lang="en-US" sz="9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950" b="0" i="0" noProof="0" dirty="0" err="1">
                <a:solidFill>
                  <a:srgbClr val="0F1B24"/>
                </a:solidFill>
                <a:latin typeface="Segoe UI"/>
              </a:rPr>
              <a:t>מתודות</a:t>
            </a:r>
            <a:r>
              <a:rPr lang="en-US" sz="9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950" b="0" i="0" noProof="0" dirty="0" err="1">
                <a:solidFill>
                  <a:srgbClr val="0F1B24"/>
                </a:solidFill>
                <a:latin typeface="Segoe UI"/>
              </a:rPr>
              <a:t>לאותו</a:t>
            </a:r>
            <a:r>
              <a:rPr lang="en-US" sz="9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950" b="0" i="0" noProof="0" dirty="0" err="1">
                <a:solidFill>
                  <a:srgbClr val="0F1B24"/>
                </a:solidFill>
                <a:latin typeface="Segoe UI"/>
              </a:rPr>
              <a:t>נתיב</a:t>
            </a:r>
            <a:r>
              <a:rPr lang="en-US" sz="9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950" b="0" i="0" noProof="0" dirty="0" err="1">
                <a:solidFill>
                  <a:srgbClr val="0F1B24"/>
                </a:solidFill>
                <a:latin typeface="Segoe UI"/>
              </a:rPr>
              <a:t>ואותו</a:t>
            </a:r>
            <a:r>
              <a:rPr lang="en-US" sz="9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950" b="0" i="0" noProof="0" dirty="0" err="1">
                <a:solidFill>
                  <a:srgbClr val="0F1B24"/>
                </a:solidFill>
                <a:latin typeface="Segoe UI"/>
              </a:rPr>
              <a:t>פועל</a:t>
            </a:r>
            <a:r>
              <a:rPr lang="en-US" sz="9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950" b="0" i="0" noProof="0" dirty="0" err="1">
                <a:solidFill>
                  <a:srgbClr val="0F1B24"/>
                </a:solidFill>
                <a:latin typeface="Segoe UI"/>
              </a:rPr>
              <a:t>עם</a:t>
            </a:r>
            <a:r>
              <a:rPr lang="en-US" sz="950" b="0" i="0" noProof="0" dirty="0">
                <a:solidFill>
                  <a:srgbClr val="0F1B24"/>
                </a:solidFill>
                <a:latin typeface="Segoe UI"/>
              </a:rPr>
              <a:t> ‏‎@Produces‏ </a:t>
            </a:r>
            <a:r>
              <a:rPr lang="en-US" sz="950" b="0" i="0" noProof="0" dirty="0" err="1">
                <a:solidFill>
                  <a:srgbClr val="0F1B24"/>
                </a:solidFill>
                <a:latin typeface="Segoe UI"/>
              </a:rPr>
              <a:t>שונה</a:t>
            </a:r>
            <a:r>
              <a:rPr lang="en-US" sz="950" b="0" i="0" noProof="0" dirty="0">
                <a:solidFill>
                  <a:srgbClr val="0F1B24"/>
                </a:solidFill>
                <a:latin typeface="Segoe UI"/>
              </a:rPr>
              <a:t> — </a:t>
            </a:r>
            <a:r>
              <a:rPr lang="en-US" sz="950" b="0" i="0" noProof="0" dirty="0" err="1">
                <a:solidFill>
                  <a:srgbClr val="0F1B24"/>
                </a:solidFill>
                <a:latin typeface="Segoe UI"/>
              </a:rPr>
              <a:t>המסגרת</a:t>
            </a:r>
            <a:r>
              <a:rPr lang="en-US" sz="9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950" b="0" i="0" noProof="0" dirty="0" err="1">
                <a:solidFill>
                  <a:srgbClr val="0F1B24"/>
                </a:solidFill>
                <a:latin typeface="Segoe UI"/>
              </a:rPr>
              <a:t>תבחר</a:t>
            </a:r>
            <a:r>
              <a:rPr lang="en-US" sz="9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950" b="0" i="0" noProof="0" dirty="0" err="1">
                <a:solidFill>
                  <a:srgbClr val="0F1B24"/>
                </a:solidFill>
                <a:latin typeface="Segoe UI"/>
              </a:rPr>
              <a:t>לפי</a:t>
            </a:r>
            <a:r>
              <a:rPr lang="en-US" sz="9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950" b="0" i="0" noProof="0" dirty="0" err="1">
                <a:solidFill>
                  <a:srgbClr val="0F1B24"/>
                </a:solidFill>
                <a:latin typeface="Segoe UI"/>
              </a:rPr>
              <a:t>מה</a:t>
            </a:r>
            <a:r>
              <a:rPr lang="en-US" sz="9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950" b="0" i="0" noProof="0" dirty="0" err="1">
                <a:solidFill>
                  <a:srgbClr val="0F1B24"/>
                </a:solidFill>
                <a:latin typeface="Segoe UI"/>
              </a:rPr>
              <a:t>שהלקוח</a:t>
            </a:r>
            <a:r>
              <a:rPr lang="en-US" sz="9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950" b="0" i="0" noProof="0" dirty="0" err="1">
                <a:solidFill>
                  <a:srgbClr val="0F1B24"/>
                </a:solidFill>
                <a:latin typeface="Segoe UI"/>
              </a:rPr>
              <a:t>ביקש</a:t>
            </a:r>
            <a:r>
              <a:rPr lang="en-US" sz="9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950" b="0" i="0" noProof="0" dirty="0" err="1">
                <a:solidFill>
                  <a:srgbClr val="0F1B24"/>
                </a:solidFill>
                <a:latin typeface="Segoe UI"/>
              </a:rPr>
              <a:t>בכותרת</a:t>
            </a:r>
            <a:r>
              <a:rPr lang="en-US" sz="950" b="0" i="0" noProof="0" dirty="0">
                <a:solidFill>
                  <a:srgbClr val="0F1B24"/>
                </a:solidFill>
                <a:latin typeface="Segoe UI"/>
              </a:rPr>
              <a:t> ‏Accept‏.</a:t>
            </a:r>
          </a:p>
        </p:txBody>
      </p:sp>
      <p:sp>
        <p:nvSpPr>
          <p:cNvPr id="62" name="Rectangle 7 footer62"/>
          <p:cNvSpPr/>
          <p:nvPr/>
        </p:nvSpPr>
        <p:spPr>
          <a:xfrm>
            <a:off x="566928" y="6382512"/>
            <a:ext cx="11064240" cy="10972"/>
          </a:xfrm>
          <a:prstGeom prst="rect">
            <a:avLst/>
          </a:prstGeom>
          <a:solidFill>
            <a:srgbClr val="E3EA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63" name="TextBox 8 footer63"/>
          <p:cNvSpPr txBox="1"/>
          <p:nvPr/>
        </p:nvSpPr>
        <p:spPr>
          <a:xfrm>
            <a:off x="10424160" y="6473952"/>
            <a:ext cx="1207008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/>
            <a:r>
              <a:rPr lang="en-US" sz="1050" b="0" i="0" noProof="0" dirty="0">
                <a:solidFill>
                  <a:srgbClr val="8D9EA8"/>
                </a:solidFill>
                <a:latin typeface="Segoe UI"/>
              </a:rPr>
              <a:t>‏JAX-RS‏</a:t>
            </a:r>
          </a:p>
        </p:txBody>
      </p:sp>
      <p:sp>
        <p:nvSpPr>
          <p:cNvPr id="64" name="TextBox 9 footer64"/>
          <p:cNvSpPr txBox="1"/>
          <p:nvPr/>
        </p:nvSpPr>
        <p:spPr>
          <a:xfrm>
            <a:off x="566928" y="6473952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rtl="0"/>
            <a:r>
              <a:rPr lang="en-US" sz="1050" b="0" i="0" noProof="0" dirty="0">
                <a:solidFill>
                  <a:srgbClr val="8D9EA8"/>
                </a:solidFill>
                <a:latin typeface="Segoe UI"/>
              </a:rPr>
              <a:t>10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91440"/>
          </a:xfrm>
          <a:prstGeom prst="rect">
            <a:avLst/>
          </a:prstGeom>
          <a:solidFill>
            <a:srgbClr val="0D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5" name="TextBox 4"/>
          <p:cNvSpPr txBox="1"/>
          <p:nvPr/>
        </p:nvSpPr>
        <p:spPr>
          <a:xfrm>
            <a:off x="566928" y="548640"/>
            <a:ext cx="1106424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/>
            <a:r>
              <a:rPr lang="en-US" sz="2800" b="1" i="0" noProof="0" dirty="0">
                <a:solidFill>
                  <a:srgbClr val="0D4A5C"/>
                </a:solidFill>
                <a:latin typeface="Segoe UI"/>
              </a:rPr>
              <a:t>‏JAX-RS‏ — </a:t>
            </a:r>
            <a:r>
              <a:rPr lang="en-US" sz="2800" b="1" i="0" noProof="0" dirty="0" err="1">
                <a:solidFill>
                  <a:srgbClr val="0D4A5C"/>
                </a:solidFill>
                <a:latin typeface="Segoe UI"/>
              </a:rPr>
              <a:t>משאב</a:t>
            </a:r>
            <a:r>
              <a:rPr lang="en-US" sz="2800" b="1" i="0" noProof="0" dirty="0">
                <a:solidFill>
                  <a:srgbClr val="0D4A5C"/>
                </a:solidFill>
                <a:latin typeface="Segoe UI"/>
              </a:rPr>
              <a:t> ‏CRUD‏ </a:t>
            </a:r>
            <a:r>
              <a:rPr lang="en-US" sz="2800" b="1" i="0" noProof="0" dirty="0" err="1">
                <a:solidFill>
                  <a:srgbClr val="0D4A5C"/>
                </a:solidFill>
                <a:latin typeface="Segoe UI"/>
              </a:rPr>
              <a:t>מלא</a:t>
            </a:r>
            <a:r>
              <a:rPr lang="en-US" sz="2800" b="1" i="0" noProof="0" dirty="0">
                <a:solidFill>
                  <a:srgbClr val="0D4A5C"/>
                </a:solidFill>
                <a:latin typeface="Segoe UI"/>
              </a:rPr>
              <a:t> </a:t>
            </a:r>
            <a:r>
              <a:rPr lang="en-US" sz="2800" b="1" i="0" noProof="0" dirty="0" err="1">
                <a:solidFill>
                  <a:srgbClr val="0D4A5C"/>
                </a:solidFill>
                <a:latin typeface="Segoe UI"/>
              </a:rPr>
              <a:t>ולקוח</a:t>
            </a:r>
            <a:endParaRPr lang="en-US" sz="2800" b="1" i="0" noProof="0" dirty="0">
              <a:solidFill>
                <a:srgbClr val="0D4A5C"/>
              </a:solidFill>
              <a:latin typeface="Segoe U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66928" y="1097280"/>
            <a:ext cx="110642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/>
            <a:r>
              <a:rPr lang="en-US" sz="1450" b="0" i="0" noProof="0" dirty="0" err="1">
                <a:solidFill>
                  <a:srgbClr val="5A6B75"/>
                </a:solidFill>
                <a:latin typeface="Segoe UI"/>
              </a:rPr>
              <a:t>כך</a:t>
            </a:r>
            <a:r>
              <a:rPr lang="en-US" sz="145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450" b="0" i="0" noProof="0" dirty="0" err="1">
                <a:solidFill>
                  <a:srgbClr val="5A6B75"/>
                </a:solidFill>
                <a:latin typeface="Segoe UI"/>
              </a:rPr>
              <a:t>נראה</a:t>
            </a:r>
            <a:r>
              <a:rPr lang="en-US" sz="145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450" b="0" i="0" noProof="0" dirty="0" err="1">
                <a:solidFill>
                  <a:srgbClr val="5A6B75"/>
                </a:solidFill>
                <a:latin typeface="Segoe UI"/>
              </a:rPr>
              <a:t>בפועל</a:t>
            </a:r>
            <a:r>
              <a:rPr lang="en-US" sz="145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450" b="0" i="0" noProof="0" dirty="0" err="1">
                <a:solidFill>
                  <a:srgbClr val="5A6B75"/>
                </a:solidFill>
                <a:latin typeface="Segoe UI"/>
              </a:rPr>
              <a:t>משאב</a:t>
            </a:r>
            <a:r>
              <a:rPr lang="en-US" sz="145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450" b="0" i="0" noProof="0" dirty="0" err="1">
                <a:solidFill>
                  <a:srgbClr val="5A6B75"/>
                </a:solidFill>
                <a:latin typeface="Segoe UI"/>
              </a:rPr>
              <a:t>שמממש</a:t>
            </a:r>
            <a:r>
              <a:rPr lang="en-US" sz="1450" b="0" i="0" noProof="0" dirty="0">
                <a:solidFill>
                  <a:srgbClr val="5A6B75"/>
                </a:solidFill>
                <a:latin typeface="Segoe UI"/>
              </a:rPr>
              <a:t> את </a:t>
            </a:r>
            <a:r>
              <a:rPr lang="en-US" sz="1450" b="0" i="0" noProof="0" dirty="0" err="1">
                <a:solidFill>
                  <a:srgbClr val="5A6B75"/>
                </a:solidFill>
                <a:latin typeface="Segoe UI"/>
              </a:rPr>
              <a:t>כל</a:t>
            </a:r>
            <a:r>
              <a:rPr lang="en-US" sz="145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450" b="0" i="0" noProof="0" dirty="0" err="1">
                <a:solidFill>
                  <a:srgbClr val="5A6B75"/>
                </a:solidFill>
                <a:latin typeface="Segoe UI"/>
              </a:rPr>
              <a:t>ארבע</a:t>
            </a:r>
            <a:r>
              <a:rPr lang="en-US" sz="145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450" b="0" i="0" noProof="0" dirty="0" err="1">
                <a:solidFill>
                  <a:srgbClr val="5A6B75"/>
                </a:solidFill>
                <a:latin typeface="Segoe UI"/>
              </a:rPr>
              <a:t>הפעולות</a:t>
            </a:r>
            <a:endParaRPr lang="en-US" sz="1450" b="0" i="0" noProof="0" dirty="0">
              <a:solidFill>
                <a:srgbClr val="5A6B75"/>
              </a:solidFill>
              <a:latin typeface="Segoe UI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1045952" y="475487"/>
            <a:ext cx="609127" cy="64008"/>
          </a:xfrm>
          <a:prstGeom prst="rect">
            <a:avLst/>
          </a:prstGeom>
          <a:solidFill>
            <a:srgbClr val="C4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11" name="Rounded Rectangle 10"/>
          <p:cNvSpPr/>
          <p:nvPr/>
        </p:nvSpPr>
        <p:spPr>
          <a:xfrm>
            <a:off x="566928" y="1700784"/>
            <a:ext cx="6400800" cy="4587240"/>
          </a:xfrm>
          <a:prstGeom prst="roundRect">
            <a:avLst>
              <a:gd name="adj" fmla="val 3500"/>
            </a:avLst>
          </a:prstGeom>
          <a:solidFill>
            <a:srgbClr val="0B2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12" name="Rounded Rectangle 11"/>
          <p:cNvSpPr/>
          <p:nvPr/>
        </p:nvSpPr>
        <p:spPr>
          <a:xfrm>
            <a:off x="566928" y="1700784"/>
            <a:ext cx="6400800" cy="274320"/>
          </a:xfrm>
          <a:prstGeom prst="roundRect">
            <a:avLst>
              <a:gd name="adj" fmla="val 9000"/>
            </a:avLst>
          </a:prstGeom>
          <a:solidFill>
            <a:srgbClr val="1139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13" name="Rectangle 12"/>
          <p:cNvSpPr/>
          <p:nvPr/>
        </p:nvSpPr>
        <p:spPr>
          <a:xfrm>
            <a:off x="566928" y="1865376"/>
            <a:ext cx="6400800" cy="109728"/>
          </a:xfrm>
          <a:prstGeom prst="rect">
            <a:avLst/>
          </a:prstGeom>
          <a:solidFill>
            <a:srgbClr val="1139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14" name="TextBox 13"/>
          <p:cNvSpPr txBox="1"/>
          <p:nvPr/>
        </p:nvSpPr>
        <p:spPr>
          <a:xfrm>
            <a:off x="713232" y="1751076"/>
            <a:ext cx="56692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rtl="0"/>
            <a:r>
              <a:rPr lang="en-US" sz="950" b="1" i="0" noProof="0" dirty="0">
                <a:solidFill>
                  <a:srgbClr val="6FA8B8"/>
                </a:solidFill>
                <a:latin typeface="Consolas"/>
              </a:rPr>
              <a:t>MovieResource.java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65392" y="1805940"/>
            <a:ext cx="256032" cy="68580"/>
          </a:xfrm>
          <a:prstGeom prst="roundRect">
            <a:avLst>
              <a:gd name="adj" fmla="val 50000"/>
            </a:avLst>
          </a:prstGeom>
          <a:solidFill>
            <a:srgbClr val="C4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16" name="TextBox 15"/>
          <p:cNvSpPr txBox="1"/>
          <p:nvPr/>
        </p:nvSpPr>
        <p:spPr>
          <a:xfrm>
            <a:off x="713232" y="2093976"/>
            <a:ext cx="6108192" cy="4226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rtl="0">
              <a:lnSpc>
                <a:spcPts val="1060"/>
              </a:lnSpc>
            </a:pPr>
            <a:r>
              <a:rPr lang="en-US" sz="1200" b="1" noProof="0" dirty="0">
                <a:solidFill>
                  <a:srgbClr val="F0A06A"/>
                </a:solidFill>
                <a:latin typeface="Consolas"/>
              </a:rPr>
              <a:t>@Path</a:t>
            </a:r>
            <a:r>
              <a:rPr lang="en-US" sz="1200" b="0" noProof="0" dirty="0">
                <a:solidFill>
                  <a:srgbClr val="DCE8ED"/>
                </a:solidFill>
                <a:latin typeface="Consolas"/>
              </a:rPr>
              <a:t>(</a:t>
            </a:r>
            <a:r>
              <a:rPr lang="en-US" sz="1200" b="0" noProof="0" dirty="0">
                <a:solidFill>
                  <a:srgbClr val="9FD1A0"/>
                </a:solidFill>
                <a:latin typeface="Consolas"/>
              </a:rPr>
              <a:t>"movies"</a:t>
            </a:r>
            <a:r>
              <a:rPr lang="en-US" sz="1200" b="0" noProof="0" dirty="0">
                <a:solidFill>
                  <a:srgbClr val="DCE8ED"/>
                </a:solidFill>
                <a:latin typeface="Consolas"/>
              </a:rPr>
              <a:t>)</a:t>
            </a:r>
          </a:p>
          <a:p>
            <a:pPr algn="l" rtl="0">
              <a:lnSpc>
                <a:spcPts val="1060"/>
              </a:lnSpc>
            </a:pPr>
            <a:r>
              <a:rPr lang="en-US" sz="1200" b="1" noProof="0" dirty="0">
                <a:solidFill>
                  <a:srgbClr val="F0A06A"/>
                </a:solidFill>
                <a:latin typeface="Consolas"/>
              </a:rPr>
              <a:t>@Produces</a:t>
            </a:r>
            <a:r>
              <a:rPr lang="en-US" sz="1200" b="0" noProof="0" dirty="0">
                <a:solidFill>
                  <a:srgbClr val="DCE8ED"/>
                </a:solidFill>
                <a:latin typeface="Consolas"/>
              </a:rPr>
              <a:t>(</a:t>
            </a:r>
            <a:r>
              <a:rPr lang="en-US" sz="1200" b="0" noProof="0" dirty="0">
                <a:solidFill>
                  <a:srgbClr val="C9B6E8"/>
                </a:solidFill>
                <a:latin typeface="Consolas"/>
              </a:rPr>
              <a:t>MediaType</a:t>
            </a:r>
            <a:r>
              <a:rPr lang="en-US" sz="1200" b="0" noProof="0" dirty="0">
                <a:solidFill>
                  <a:srgbClr val="DCE8ED"/>
                </a:solidFill>
                <a:latin typeface="Consolas"/>
              </a:rPr>
              <a:t>.</a:t>
            </a:r>
            <a:r>
              <a:rPr lang="en-US" sz="1200" b="0" noProof="0" dirty="0">
                <a:solidFill>
                  <a:srgbClr val="C9B6E8"/>
                </a:solidFill>
                <a:latin typeface="Consolas"/>
              </a:rPr>
              <a:t>APPLICATION_JSON</a:t>
            </a:r>
            <a:r>
              <a:rPr lang="en-US" sz="1200" b="0" noProof="0" dirty="0">
                <a:solidFill>
                  <a:srgbClr val="DCE8ED"/>
                </a:solidFill>
                <a:latin typeface="Consolas"/>
              </a:rPr>
              <a:t>)</a:t>
            </a:r>
          </a:p>
          <a:p>
            <a:pPr algn="l" rtl="0">
              <a:lnSpc>
                <a:spcPts val="1060"/>
              </a:lnSpc>
            </a:pPr>
            <a:r>
              <a:rPr lang="en-US" sz="1200" b="1" noProof="0" dirty="0">
                <a:solidFill>
                  <a:srgbClr val="F0A06A"/>
                </a:solidFill>
                <a:latin typeface="Consolas"/>
              </a:rPr>
              <a:t>@Consumes</a:t>
            </a:r>
            <a:r>
              <a:rPr lang="en-US" sz="1200" b="0" noProof="0" dirty="0">
                <a:solidFill>
                  <a:srgbClr val="DCE8ED"/>
                </a:solidFill>
                <a:latin typeface="Consolas"/>
              </a:rPr>
              <a:t>(</a:t>
            </a:r>
            <a:r>
              <a:rPr lang="en-US" sz="1200" b="0" noProof="0" dirty="0">
                <a:solidFill>
                  <a:srgbClr val="C9B6E8"/>
                </a:solidFill>
                <a:latin typeface="Consolas"/>
              </a:rPr>
              <a:t>MediaType</a:t>
            </a:r>
            <a:r>
              <a:rPr lang="en-US" sz="1200" b="0" noProof="0" dirty="0">
                <a:solidFill>
                  <a:srgbClr val="DCE8ED"/>
                </a:solidFill>
                <a:latin typeface="Consolas"/>
              </a:rPr>
              <a:t>.</a:t>
            </a:r>
            <a:r>
              <a:rPr lang="en-US" sz="1200" b="0" noProof="0" dirty="0">
                <a:solidFill>
                  <a:srgbClr val="C9B6E8"/>
                </a:solidFill>
                <a:latin typeface="Consolas"/>
              </a:rPr>
              <a:t>APPLICATION_JSON</a:t>
            </a:r>
            <a:r>
              <a:rPr lang="en-US" sz="1200" b="0" noProof="0" dirty="0">
                <a:solidFill>
                  <a:srgbClr val="DCE8ED"/>
                </a:solidFill>
                <a:latin typeface="Consolas"/>
              </a:rPr>
              <a:t>)</a:t>
            </a:r>
          </a:p>
          <a:p>
            <a:pPr algn="l" rtl="0">
              <a:lnSpc>
                <a:spcPts val="1060"/>
              </a:lnSpc>
            </a:pPr>
            <a:r>
              <a:rPr lang="en-US" sz="1200" b="0" noProof="0" dirty="0">
                <a:solidFill>
                  <a:srgbClr val="7FC7DE"/>
                </a:solidFill>
                <a:latin typeface="Consolas"/>
              </a:rPr>
              <a:t>public</a:t>
            </a:r>
            <a:r>
              <a:rPr lang="en-US" sz="1200" b="0" noProof="0" dirty="0">
                <a:solidFill>
                  <a:srgbClr val="DCE8ED"/>
                </a:solidFill>
                <a:latin typeface="Consolas"/>
              </a:rPr>
              <a:t> </a:t>
            </a:r>
            <a:r>
              <a:rPr lang="en-US" sz="1200" b="0" noProof="0" dirty="0">
                <a:solidFill>
                  <a:srgbClr val="7FC7DE"/>
                </a:solidFill>
                <a:latin typeface="Consolas"/>
              </a:rPr>
              <a:t>class</a:t>
            </a:r>
            <a:r>
              <a:rPr lang="en-US" sz="1200" b="0" noProof="0" dirty="0">
                <a:solidFill>
                  <a:srgbClr val="DCE8ED"/>
                </a:solidFill>
                <a:latin typeface="Consolas"/>
              </a:rPr>
              <a:t> </a:t>
            </a:r>
            <a:r>
              <a:rPr lang="en-US" sz="1200" b="0" noProof="0" dirty="0" err="1">
                <a:solidFill>
                  <a:srgbClr val="C9B6E8"/>
                </a:solidFill>
                <a:latin typeface="Consolas"/>
              </a:rPr>
              <a:t>MovieResource</a:t>
            </a:r>
            <a:r>
              <a:rPr lang="en-US" sz="1200" b="0" noProof="0" dirty="0">
                <a:solidFill>
                  <a:srgbClr val="DCE8ED"/>
                </a:solidFill>
                <a:latin typeface="Consolas"/>
              </a:rPr>
              <a:t> {</a:t>
            </a:r>
          </a:p>
          <a:p>
            <a:pPr algn="l" rtl="0">
              <a:lnSpc>
                <a:spcPts val="1060"/>
              </a:lnSpc>
            </a:pPr>
            <a:r>
              <a:rPr lang="en-US" sz="1200" noProof="0" dirty="0">
                <a:latin typeface="Consolas"/>
              </a:rPr>
              <a:t> </a:t>
            </a:r>
          </a:p>
          <a:p>
            <a:pPr algn="l" rtl="0">
              <a:lnSpc>
                <a:spcPts val="1060"/>
              </a:lnSpc>
            </a:pPr>
            <a:r>
              <a:rPr lang="en-US" sz="1200" b="0" noProof="0" dirty="0">
                <a:solidFill>
                  <a:srgbClr val="DCE8ED"/>
                </a:solidFill>
                <a:latin typeface="Consolas"/>
              </a:rPr>
              <a:t>   </a:t>
            </a:r>
            <a:r>
              <a:rPr lang="en-US" sz="1200" b="1" noProof="0" dirty="0">
                <a:solidFill>
                  <a:srgbClr val="F0A06A"/>
                </a:solidFill>
                <a:latin typeface="Consolas"/>
              </a:rPr>
              <a:t>@GET</a:t>
            </a:r>
            <a:r>
              <a:rPr lang="en-US" sz="1200" b="0" noProof="0" dirty="0">
                <a:solidFill>
                  <a:srgbClr val="DCE8ED"/>
                </a:solidFill>
                <a:latin typeface="Consolas"/>
              </a:rPr>
              <a:t>                                    </a:t>
            </a:r>
            <a:r>
              <a:rPr lang="en-US" sz="1200" b="0" noProof="0" dirty="0">
                <a:solidFill>
                  <a:srgbClr val="6F8894"/>
                </a:solidFill>
                <a:latin typeface="Consolas"/>
              </a:rPr>
              <a:t>// /</a:t>
            </a:r>
            <a:r>
              <a:rPr lang="en-US" sz="1200" b="0" noProof="0" dirty="0" err="1">
                <a:solidFill>
                  <a:srgbClr val="6F8894"/>
                </a:solidFill>
                <a:latin typeface="Consolas"/>
              </a:rPr>
              <a:t>movies?genre</a:t>
            </a:r>
            <a:r>
              <a:rPr lang="en-US" sz="1200" b="0" noProof="0" dirty="0">
                <a:solidFill>
                  <a:srgbClr val="6F8894"/>
                </a:solidFill>
                <a:latin typeface="Consolas"/>
              </a:rPr>
              <a:t>=drama</a:t>
            </a:r>
          </a:p>
          <a:p>
            <a:pPr algn="l" rtl="0">
              <a:lnSpc>
                <a:spcPts val="1060"/>
              </a:lnSpc>
            </a:pPr>
            <a:r>
              <a:rPr lang="en-US" sz="1200" b="0" noProof="0" dirty="0">
                <a:solidFill>
                  <a:srgbClr val="DCE8ED"/>
                </a:solidFill>
                <a:latin typeface="Consolas"/>
              </a:rPr>
              <a:t>   </a:t>
            </a:r>
            <a:r>
              <a:rPr lang="en-US" sz="1200" b="0" noProof="0" dirty="0">
                <a:solidFill>
                  <a:srgbClr val="7FC7DE"/>
                </a:solidFill>
                <a:latin typeface="Consolas"/>
              </a:rPr>
              <a:t>public</a:t>
            </a:r>
            <a:r>
              <a:rPr lang="en-US" sz="1200" b="0" noProof="0" dirty="0">
                <a:solidFill>
                  <a:srgbClr val="DCE8ED"/>
                </a:solidFill>
                <a:latin typeface="Consolas"/>
              </a:rPr>
              <a:t> </a:t>
            </a:r>
            <a:r>
              <a:rPr lang="en-US" sz="1200" b="0" noProof="0" dirty="0">
                <a:solidFill>
                  <a:srgbClr val="C9B6E8"/>
                </a:solidFill>
                <a:latin typeface="Consolas"/>
              </a:rPr>
              <a:t>List</a:t>
            </a:r>
            <a:r>
              <a:rPr lang="en-US" sz="1200" b="0" noProof="0" dirty="0">
                <a:solidFill>
                  <a:srgbClr val="DCE8ED"/>
                </a:solidFill>
                <a:latin typeface="Consolas"/>
              </a:rPr>
              <a:t>&lt;</a:t>
            </a:r>
            <a:r>
              <a:rPr lang="en-US" sz="1200" b="0" noProof="0" dirty="0">
                <a:solidFill>
                  <a:srgbClr val="C9B6E8"/>
                </a:solidFill>
                <a:latin typeface="Consolas"/>
              </a:rPr>
              <a:t>Movie</a:t>
            </a:r>
            <a:r>
              <a:rPr lang="en-US" sz="1200" b="0" noProof="0" dirty="0">
                <a:solidFill>
                  <a:srgbClr val="DCE8ED"/>
                </a:solidFill>
                <a:latin typeface="Consolas"/>
              </a:rPr>
              <a:t>&gt; list(</a:t>
            </a:r>
            <a:r>
              <a:rPr lang="en-US" sz="1200" b="1" noProof="0" dirty="0">
                <a:solidFill>
                  <a:srgbClr val="F0A06A"/>
                </a:solidFill>
                <a:latin typeface="Consolas"/>
              </a:rPr>
              <a:t>@QueryParam</a:t>
            </a:r>
            <a:r>
              <a:rPr lang="en-US" sz="1200" b="0" noProof="0" dirty="0">
                <a:solidFill>
                  <a:srgbClr val="DCE8ED"/>
                </a:solidFill>
                <a:latin typeface="Consolas"/>
              </a:rPr>
              <a:t>(</a:t>
            </a:r>
            <a:r>
              <a:rPr lang="en-US" sz="1200" b="0" noProof="0" dirty="0">
                <a:solidFill>
                  <a:srgbClr val="9FD1A0"/>
                </a:solidFill>
                <a:latin typeface="Consolas"/>
              </a:rPr>
              <a:t>"genre"</a:t>
            </a:r>
            <a:r>
              <a:rPr lang="en-US" sz="1200" b="0" noProof="0" dirty="0">
                <a:solidFill>
                  <a:srgbClr val="DCE8ED"/>
                </a:solidFill>
                <a:latin typeface="Consolas"/>
              </a:rPr>
              <a:t>) </a:t>
            </a:r>
            <a:r>
              <a:rPr lang="en-US" sz="1200" b="0" noProof="0" dirty="0">
                <a:solidFill>
                  <a:srgbClr val="C9B6E8"/>
                </a:solidFill>
                <a:latin typeface="Consolas"/>
              </a:rPr>
              <a:t>String</a:t>
            </a:r>
            <a:r>
              <a:rPr lang="en-US" sz="1200" b="0" noProof="0" dirty="0">
                <a:solidFill>
                  <a:srgbClr val="DCE8ED"/>
                </a:solidFill>
                <a:latin typeface="Consolas"/>
              </a:rPr>
              <a:t> g) {</a:t>
            </a:r>
          </a:p>
          <a:p>
            <a:pPr algn="l" rtl="0">
              <a:lnSpc>
                <a:spcPts val="1060"/>
              </a:lnSpc>
            </a:pPr>
            <a:r>
              <a:rPr lang="en-US" sz="1200" b="0" noProof="0" dirty="0">
                <a:solidFill>
                  <a:srgbClr val="DCE8ED"/>
                </a:solidFill>
                <a:latin typeface="Consolas"/>
              </a:rPr>
              <a:t>      </a:t>
            </a:r>
            <a:r>
              <a:rPr lang="en-US" sz="1200" b="0" noProof="0" dirty="0">
                <a:solidFill>
                  <a:srgbClr val="7FC7DE"/>
                </a:solidFill>
                <a:latin typeface="Consolas"/>
              </a:rPr>
              <a:t>return</a:t>
            </a:r>
            <a:r>
              <a:rPr lang="en-US" sz="1200" b="0" noProof="0" dirty="0">
                <a:solidFill>
                  <a:srgbClr val="DCE8ED"/>
                </a:solidFill>
                <a:latin typeface="Consolas"/>
              </a:rPr>
              <a:t> </a:t>
            </a:r>
            <a:r>
              <a:rPr lang="en-US" sz="1200" b="0" noProof="0" dirty="0" err="1">
                <a:solidFill>
                  <a:srgbClr val="DCE8ED"/>
                </a:solidFill>
                <a:latin typeface="Consolas"/>
              </a:rPr>
              <a:t>dao.findAll</a:t>
            </a:r>
            <a:r>
              <a:rPr lang="en-US" sz="1200" b="0" noProof="0" dirty="0">
                <a:solidFill>
                  <a:srgbClr val="DCE8ED"/>
                </a:solidFill>
                <a:latin typeface="Consolas"/>
              </a:rPr>
              <a:t>(g);</a:t>
            </a:r>
          </a:p>
          <a:p>
            <a:pPr algn="l" rtl="0">
              <a:lnSpc>
                <a:spcPts val="1060"/>
              </a:lnSpc>
            </a:pPr>
            <a:r>
              <a:rPr lang="en-US" sz="1200" b="0" noProof="0" dirty="0">
                <a:solidFill>
                  <a:srgbClr val="DCE8ED"/>
                </a:solidFill>
                <a:latin typeface="Consolas"/>
              </a:rPr>
              <a:t>   }</a:t>
            </a:r>
          </a:p>
          <a:p>
            <a:pPr algn="l" rtl="0">
              <a:lnSpc>
                <a:spcPts val="1060"/>
              </a:lnSpc>
            </a:pPr>
            <a:r>
              <a:rPr lang="en-US" sz="1200" noProof="0" dirty="0">
                <a:latin typeface="Consolas"/>
              </a:rPr>
              <a:t> </a:t>
            </a:r>
          </a:p>
          <a:p>
            <a:pPr algn="l" rtl="0">
              <a:lnSpc>
                <a:spcPts val="1060"/>
              </a:lnSpc>
            </a:pPr>
            <a:r>
              <a:rPr lang="en-US" sz="1200" b="0" noProof="0" dirty="0">
                <a:solidFill>
                  <a:srgbClr val="DCE8ED"/>
                </a:solidFill>
                <a:latin typeface="Consolas"/>
              </a:rPr>
              <a:t>   </a:t>
            </a:r>
            <a:r>
              <a:rPr lang="en-US" sz="1200" b="1" noProof="0" dirty="0">
                <a:solidFill>
                  <a:srgbClr val="F0A06A"/>
                </a:solidFill>
                <a:latin typeface="Consolas"/>
              </a:rPr>
              <a:t>@GET</a:t>
            </a:r>
            <a:r>
              <a:rPr lang="en-US" sz="1200" b="0" noProof="0" dirty="0">
                <a:solidFill>
                  <a:srgbClr val="DCE8ED"/>
                </a:solidFill>
                <a:latin typeface="Consolas"/>
              </a:rPr>
              <a:t> </a:t>
            </a:r>
            <a:r>
              <a:rPr lang="en-US" sz="1200" b="1" noProof="0" dirty="0">
                <a:solidFill>
                  <a:srgbClr val="F0A06A"/>
                </a:solidFill>
                <a:latin typeface="Consolas"/>
              </a:rPr>
              <a:t>@Path</a:t>
            </a:r>
            <a:r>
              <a:rPr lang="en-US" sz="1200" b="0" noProof="0" dirty="0">
                <a:solidFill>
                  <a:srgbClr val="DCE8ED"/>
                </a:solidFill>
                <a:latin typeface="Consolas"/>
              </a:rPr>
              <a:t>(</a:t>
            </a:r>
            <a:r>
              <a:rPr lang="en-US" sz="1200" b="0" noProof="0" dirty="0">
                <a:solidFill>
                  <a:srgbClr val="9FD1A0"/>
                </a:solidFill>
                <a:latin typeface="Consolas"/>
              </a:rPr>
              <a:t>"{id}"</a:t>
            </a:r>
            <a:r>
              <a:rPr lang="en-US" sz="1200" b="0" noProof="0" dirty="0">
                <a:solidFill>
                  <a:srgbClr val="DCE8ED"/>
                </a:solidFill>
                <a:latin typeface="Consolas"/>
              </a:rPr>
              <a:t>)                       </a:t>
            </a:r>
            <a:r>
              <a:rPr lang="en-US" sz="1200" b="0" noProof="0" dirty="0">
                <a:solidFill>
                  <a:srgbClr val="6F8894"/>
                </a:solidFill>
                <a:latin typeface="Consolas"/>
              </a:rPr>
              <a:t>// /movies/42</a:t>
            </a:r>
          </a:p>
          <a:p>
            <a:pPr algn="l" rtl="0">
              <a:lnSpc>
                <a:spcPts val="1060"/>
              </a:lnSpc>
            </a:pPr>
            <a:r>
              <a:rPr lang="en-US" sz="1200" b="0" noProof="0" dirty="0">
                <a:solidFill>
                  <a:srgbClr val="DCE8ED"/>
                </a:solidFill>
                <a:latin typeface="Consolas"/>
              </a:rPr>
              <a:t>   </a:t>
            </a:r>
            <a:r>
              <a:rPr lang="en-US" sz="1200" b="0" noProof="0" dirty="0">
                <a:solidFill>
                  <a:srgbClr val="7FC7DE"/>
                </a:solidFill>
                <a:latin typeface="Consolas"/>
              </a:rPr>
              <a:t>public</a:t>
            </a:r>
            <a:r>
              <a:rPr lang="en-US" sz="1200" b="0" noProof="0" dirty="0">
                <a:solidFill>
                  <a:srgbClr val="DCE8ED"/>
                </a:solidFill>
                <a:latin typeface="Consolas"/>
              </a:rPr>
              <a:t> </a:t>
            </a:r>
            <a:r>
              <a:rPr lang="en-US" sz="1200" b="0" noProof="0" dirty="0">
                <a:solidFill>
                  <a:srgbClr val="C9B6E8"/>
                </a:solidFill>
                <a:latin typeface="Consolas"/>
              </a:rPr>
              <a:t>Movie</a:t>
            </a:r>
            <a:r>
              <a:rPr lang="en-US" sz="1200" b="0" noProof="0" dirty="0">
                <a:solidFill>
                  <a:srgbClr val="DCE8ED"/>
                </a:solidFill>
                <a:latin typeface="Consolas"/>
              </a:rPr>
              <a:t> find(</a:t>
            </a:r>
            <a:r>
              <a:rPr lang="en-US" sz="1200" b="1" noProof="0" dirty="0">
                <a:solidFill>
                  <a:srgbClr val="F0A06A"/>
                </a:solidFill>
                <a:latin typeface="Consolas"/>
              </a:rPr>
              <a:t>@PathParam</a:t>
            </a:r>
            <a:r>
              <a:rPr lang="en-US" sz="1200" b="0" noProof="0" dirty="0">
                <a:solidFill>
                  <a:srgbClr val="DCE8ED"/>
                </a:solidFill>
                <a:latin typeface="Consolas"/>
              </a:rPr>
              <a:t>(</a:t>
            </a:r>
            <a:r>
              <a:rPr lang="en-US" sz="1200" b="0" noProof="0" dirty="0">
                <a:solidFill>
                  <a:srgbClr val="9FD1A0"/>
                </a:solidFill>
                <a:latin typeface="Consolas"/>
              </a:rPr>
              <a:t>"id"</a:t>
            </a:r>
            <a:r>
              <a:rPr lang="en-US" sz="1200" b="0" noProof="0" dirty="0">
                <a:solidFill>
                  <a:srgbClr val="DCE8ED"/>
                </a:solidFill>
                <a:latin typeface="Consolas"/>
              </a:rPr>
              <a:t>) </a:t>
            </a:r>
            <a:r>
              <a:rPr lang="en-US" sz="1200" b="0" noProof="0" dirty="0">
                <a:solidFill>
                  <a:srgbClr val="7FC7DE"/>
                </a:solidFill>
                <a:latin typeface="Consolas"/>
              </a:rPr>
              <a:t>int</a:t>
            </a:r>
            <a:r>
              <a:rPr lang="en-US" sz="1200" b="0" noProof="0" dirty="0">
                <a:solidFill>
                  <a:srgbClr val="DCE8ED"/>
                </a:solidFill>
                <a:latin typeface="Consolas"/>
              </a:rPr>
              <a:t> id) {</a:t>
            </a:r>
          </a:p>
          <a:p>
            <a:pPr algn="l" rtl="0">
              <a:lnSpc>
                <a:spcPts val="1060"/>
              </a:lnSpc>
            </a:pPr>
            <a:r>
              <a:rPr lang="en-US" sz="1200" b="0" noProof="0" dirty="0">
                <a:solidFill>
                  <a:srgbClr val="DCE8ED"/>
                </a:solidFill>
                <a:latin typeface="Consolas"/>
              </a:rPr>
              <a:t>      </a:t>
            </a:r>
            <a:r>
              <a:rPr lang="en-US" sz="1200" b="0" noProof="0" dirty="0">
                <a:solidFill>
                  <a:srgbClr val="C9B6E8"/>
                </a:solidFill>
                <a:latin typeface="Consolas"/>
              </a:rPr>
              <a:t>Movie</a:t>
            </a:r>
            <a:r>
              <a:rPr lang="en-US" sz="1200" b="0" noProof="0" dirty="0">
                <a:solidFill>
                  <a:srgbClr val="DCE8ED"/>
                </a:solidFill>
                <a:latin typeface="Consolas"/>
              </a:rPr>
              <a:t> m = </a:t>
            </a:r>
            <a:r>
              <a:rPr lang="en-US" sz="1200" b="0" noProof="0" dirty="0" err="1">
                <a:solidFill>
                  <a:srgbClr val="DCE8ED"/>
                </a:solidFill>
                <a:latin typeface="Consolas"/>
              </a:rPr>
              <a:t>dao.find</a:t>
            </a:r>
            <a:r>
              <a:rPr lang="en-US" sz="1200" b="0" noProof="0" dirty="0">
                <a:solidFill>
                  <a:srgbClr val="DCE8ED"/>
                </a:solidFill>
                <a:latin typeface="Consolas"/>
              </a:rPr>
              <a:t>(id);</a:t>
            </a:r>
          </a:p>
          <a:p>
            <a:pPr algn="l" rtl="0">
              <a:lnSpc>
                <a:spcPts val="1060"/>
              </a:lnSpc>
            </a:pPr>
            <a:r>
              <a:rPr lang="en-US" sz="1200" b="0" noProof="0" dirty="0">
                <a:solidFill>
                  <a:srgbClr val="DCE8ED"/>
                </a:solidFill>
                <a:latin typeface="Consolas"/>
              </a:rPr>
              <a:t>      </a:t>
            </a:r>
            <a:r>
              <a:rPr lang="en-US" sz="1200" b="0" noProof="0" dirty="0">
                <a:solidFill>
                  <a:srgbClr val="7FC7DE"/>
                </a:solidFill>
                <a:latin typeface="Consolas"/>
              </a:rPr>
              <a:t>if</a:t>
            </a:r>
            <a:r>
              <a:rPr lang="en-US" sz="1200" b="0" noProof="0" dirty="0">
                <a:solidFill>
                  <a:srgbClr val="DCE8ED"/>
                </a:solidFill>
                <a:latin typeface="Consolas"/>
              </a:rPr>
              <a:t> (m == </a:t>
            </a:r>
            <a:r>
              <a:rPr lang="en-US" sz="1200" b="0" noProof="0" dirty="0">
                <a:solidFill>
                  <a:srgbClr val="7FC7DE"/>
                </a:solidFill>
                <a:latin typeface="Consolas"/>
              </a:rPr>
              <a:t>null</a:t>
            </a:r>
            <a:r>
              <a:rPr lang="en-US" sz="1200" b="0" noProof="0" dirty="0">
                <a:solidFill>
                  <a:srgbClr val="DCE8ED"/>
                </a:solidFill>
                <a:latin typeface="Consolas"/>
              </a:rPr>
              <a:t>) </a:t>
            </a:r>
            <a:r>
              <a:rPr lang="en-US" sz="1200" b="0" noProof="0" dirty="0">
                <a:solidFill>
                  <a:srgbClr val="7FC7DE"/>
                </a:solidFill>
                <a:latin typeface="Consolas"/>
              </a:rPr>
              <a:t>throw</a:t>
            </a:r>
            <a:r>
              <a:rPr lang="en-US" sz="1200" b="0" noProof="0" dirty="0">
                <a:solidFill>
                  <a:srgbClr val="DCE8ED"/>
                </a:solidFill>
                <a:latin typeface="Consolas"/>
              </a:rPr>
              <a:t> </a:t>
            </a:r>
            <a:r>
              <a:rPr lang="en-US" sz="1200" b="0" noProof="0" dirty="0">
                <a:solidFill>
                  <a:srgbClr val="7FC7DE"/>
                </a:solidFill>
                <a:latin typeface="Consolas"/>
              </a:rPr>
              <a:t>new</a:t>
            </a:r>
            <a:r>
              <a:rPr lang="en-US" sz="1200" b="0" noProof="0" dirty="0">
                <a:solidFill>
                  <a:srgbClr val="DCE8ED"/>
                </a:solidFill>
                <a:latin typeface="Consolas"/>
              </a:rPr>
              <a:t> </a:t>
            </a:r>
            <a:r>
              <a:rPr lang="en-US" sz="1200" b="0" noProof="0" dirty="0" err="1">
                <a:solidFill>
                  <a:srgbClr val="C9B6E8"/>
                </a:solidFill>
                <a:latin typeface="Consolas"/>
              </a:rPr>
              <a:t>NotFoundException</a:t>
            </a:r>
            <a:r>
              <a:rPr lang="en-US" sz="1200" b="0" noProof="0" dirty="0">
                <a:solidFill>
                  <a:srgbClr val="DCE8ED"/>
                </a:solidFill>
                <a:latin typeface="Consolas"/>
              </a:rPr>
              <a:t>();   </a:t>
            </a:r>
            <a:r>
              <a:rPr lang="en-US" sz="1200" b="0" noProof="0" dirty="0">
                <a:solidFill>
                  <a:srgbClr val="6F8894"/>
                </a:solidFill>
                <a:latin typeface="Consolas"/>
              </a:rPr>
              <a:t>// 404</a:t>
            </a:r>
          </a:p>
          <a:p>
            <a:pPr algn="l" rtl="0">
              <a:lnSpc>
                <a:spcPts val="1060"/>
              </a:lnSpc>
            </a:pPr>
            <a:r>
              <a:rPr lang="en-US" sz="1200" b="0" noProof="0" dirty="0">
                <a:solidFill>
                  <a:srgbClr val="DCE8ED"/>
                </a:solidFill>
                <a:latin typeface="Consolas"/>
              </a:rPr>
              <a:t>      </a:t>
            </a:r>
            <a:r>
              <a:rPr lang="en-US" sz="1200" b="0" noProof="0" dirty="0">
                <a:solidFill>
                  <a:srgbClr val="7FC7DE"/>
                </a:solidFill>
                <a:latin typeface="Consolas"/>
              </a:rPr>
              <a:t>return</a:t>
            </a:r>
            <a:r>
              <a:rPr lang="en-US" sz="1200" b="0" noProof="0" dirty="0">
                <a:solidFill>
                  <a:srgbClr val="DCE8ED"/>
                </a:solidFill>
                <a:latin typeface="Consolas"/>
              </a:rPr>
              <a:t> m;</a:t>
            </a:r>
          </a:p>
          <a:p>
            <a:pPr algn="l" rtl="0">
              <a:lnSpc>
                <a:spcPts val="1060"/>
              </a:lnSpc>
            </a:pPr>
            <a:r>
              <a:rPr lang="en-US" sz="1200" b="0" noProof="0" dirty="0">
                <a:solidFill>
                  <a:srgbClr val="DCE8ED"/>
                </a:solidFill>
                <a:latin typeface="Consolas"/>
              </a:rPr>
              <a:t>   }</a:t>
            </a:r>
          </a:p>
          <a:p>
            <a:pPr algn="l" rtl="0">
              <a:lnSpc>
                <a:spcPts val="1060"/>
              </a:lnSpc>
            </a:pPr>
            <a:r>
              <a:rPr lang="en-US" sz="1200" noProof="0" dirty="0">
                <a:latin typeface="Consolas"/>
              </a:rPr>
              <a:t> </a:t>
            </a:r>
          </a:p>
          <a:p>
            <a:pPr algn="l" rtl="0">
              <a:lnSpc>
                <a:spcPts val="1060"/>
              </a:lnSpc>
            </a:pPr>
            <a:r>
              <a:rPr lang="en-US" sz="1200" b="0" noProof="0" dirty="0">
                <a:solidFill>
                  <a:srgbClr val="DCE8ED"/>
                </a:solidFill>
                <a:latin typeface="Consolas"/>
              </a:rPr>
              <a:t>   </a:t>
            </a:r>
            <a:r>
              <a:rPr lang="en-US" sz="1200" b="1" noProof="0" dirty="0">
                <a:solidFill>
                  <a:srgbClr val="F0A06A"/>
                </a:solidFill>
                <a:latin typeface="Consolas"/>
              </a:rPr>
              <a:t>@POST</a:t>
            </a:r>
            <a:r>
              <a:rPr lang="en-US" sz="1200" b="0" noProof="0" dirty="0">
                <a:solidFill>
                  <a:srgbClr val="DCE8ED"/>
                </a:solidFill>
                <a:latin typeface="Consolas"/>
              </a:rPr>
              <a:t>                                   </a:t>
            </a:r>
            <a:r>
              <a:rPr lang="en-US" sz="1200" b="0" noProof="0" dirty="0">
                <a:solidFill>
                  <a:srgbClr val="6F8894"/>
                </a:solidFill>
                <a:latin typeface="Consolas"/>
              </a:rPr>
              <a:t>// 201 + Location</a:t>
            </a:r>
          </a:p>
          <a:p>
            <a:pPr algn="l" rtl="0">
              <a:lnSpc>
                <a:spcPts val="1060"/>
              </a:lnSpc>
            </a:pPr>
            <a:r>
              <a:rPr lang="en-US" sz="1200" b="0" noProof="0" dirty="0">
                <a:solidFill>
                  <a:srgbClr val="DCE8ED"/>
                </a:solidFill>
                <a:latin typeface="Consolas"/>
              </a:rPr>
              <a:t>   </a:t>
            </a:r>
            <a:r>
              <a:rPr lang="en-US" sz="1200" b="0" noProof="0" dirty="0">
                <a:solidFill>
                  <a:srgbClr val="7FC7DE"/>
                </a:solidFill>
                <a:latin typeface="Consolas"/>
              </a:rPr>
              <a:t>public</a:t>
            </a:r>
            <a:r>
              <a:rPr lang="en-US" sz="1200" b="0" noProof="0" dirty="0">
                <a:solidFill>
                  <a:srgbClr val="DCE8ED"/>
                </a:solidFill>
                <a:latin typeface="Consolas"/>
              </a:rPr>
              <a:t> </a:t>
            </a:r>
            <a:r>
              <a:rPr lang="en-US" sz="1200" b="0" noProof="0" dirty="0">
                <a:solidFill>
                  <a:srgbClr val="C9B6E8"/>
                </a:solidFill>
                <a:latin typeface="Consolas"/>
              </a:rPr>
              <a:t>Response</a:t>
            </a:r>
            <a:r>
              <a:rPr lang="en-US" sz="1200" b="0" noProof="0" dirty="0">
                <a:solidFill>
                  <a:srgbClr val="DCE8ED"/>
                </a:solidFill>
                <a:latin typeface="Consolas"/>
              </a:rPr>
              <a:t> create(</a:t>
            </a:r>
            <a:r>
              <a:rPr lang="en-US" sz="1200" b="0" noProof="0" dirty="0">
                <a:solidFill>
                  <a:srgbClr val="C9B6E8"/>
                </a:solidFill>
                <a:latin typeface="Consolas"/>
              </a:rPr>
              <a:t>Movie</a:t>
            </a:r>
            <a:r>
              <a:rPr lang="en-US" sz="1200" b="0" noProof="0" dirty="0">
                <a:solidFill>
                  <a:srgbClr val="DCE8ED"/>
                </a:solidFill>
                <a:latin typeface="Consolas"/>
              </a:rPr>
              <a:t> m) {</a:t>
            </a:r>
          </a:p>
          <a:p>
            <a:pPr algn="l" rtl="0">
              <a:lnSpc>
                <a:spcPts val="1060"/>
              </a:lnSpc>
            </a:pPr>
            <a:r>
              <a:rPr lang="en-US" sz="1200" b="0" noProof="0" dirty="0">
                <a:solidFill>
                  <a:srgbClr val="DCE8ED"/>
                </a:solidFill>
                <a:latin typeface="Consolas"/>
              </a:rPr>
              <a:t>      </a:t>
            </a:r>
            <a:r>
              <a:rPr lang="en-US" sz="1200" b="0" noProof="0" dirty="0" err="1">
                <a:solidFill>
                  <a:srgbClr val="DCE8ED"/>
                </a:solidFill>
                <a:latin typeface="Consolas"/>
              </a:rPr>
              <a:t>dao.insert</a:t>
            </a:r>
            <a:r>
              <a:rPr lang="en-US" sz="1200" b="0" noProof="0" dirty="0">
                <a:solidFill>
                  <a:srgbClr val="DCE8ED"/>
                </a:solidFill>
                <a:latin typeface="Consolas"/>
              </a:rPr>
              <a:t>(m);</a:t>
            </a:r>
          </a:p>
          <a:p>
            <a:pPr algn="l" rtl="0">
              <a:lnSpc>
                <a:spcPts val="1060"/>
              </a:lnSpc>
            </a:pPr>
            <a:r>
              <a:rPr lang="en-US" sz="1200" b="0" noProof="0" dirty="0">
                <a:solidFill>
                  <a:srgbClr val="DCE8ED"/>
                </a:solidFill>
                <a:latin typeface="Consolas"/>
              </a:rPr>
              <a:t>      </a:t>
            </a:r>
            <a:r>
              <a:rPr lang="en-US" sz="1200" b="0" noProof="0" dirty="0">
                <a:solidFill>
                  <a:srgbClr val="7FC7DE"/>
                </a:solidFill>
                <a:latin typeface="Consolas"/>
              </a:rPr>
              <a:t>return</a:t>
            </a:r>
            <a:r>
              <a:rPr lang="en-US" sz="1200" b="0" noProof="0" dirty="0">
                <a:solidFill>
                  <a:srgbClr val="DCE8ED"/>
                </a:solidFill>
                <a:latin typeface="Consolas"/>
              </a:rPr>
              <a:t> </a:t>
            </a:r>
            <a:r>
              <a:rPr lang="en-US" sz="1200" b="0" noProof="0" dirty="0" err="1">
                <a:solidFill>
                  <a:srgbClr val="C9B6E8"/>
                </a:solidFill>
                <a:latin typeface="Consolas"/>
              </a:rPr>
              <a:t>Response</a:t>
            </a:r>
            <a:r>
              <a:rPr lang="en-US" sz="1200" b="0" noProof="0" dirty="0" err="1">
                <a:solidFill>
                  <a:srgbClr val="DCE8ED"/>
                </a:solidFill>
                <a:latin typeface="Consolas"/>
              </a:rPr>
              <a:t>.created</a:t>
            </a:r>
            <a:r>
              <a:rPr lang="en-US" sz="1200" b="0" noProof="0" dirty="0">
                <a:solidFill>
                  <a:srgbClr val="DCE8ED"/>
                </a:solidFill>
                <a:latin typeface="Consolas"/>
              </a:rPr>
              <a:t>(</a:t>
            </a:r>
          </a:p>
          <a:p>
            <a:pPr algn="l" rtl="0">
              <a:lnSpc>
                <a:spcPts val="1060"/>
              </a:lnSpc>
            </a:pPr>
            <a:r>
              <a:rPr lang="en-US" sz="1200" b="0" noProof="0" dirty="0">
                <a:solidFill>
                  <a:srgbClr val="DCE8ED"/>
                </a:solidFill>
                <a:latin typeface="Consolas"/>
              </a:rPr>
              <a:t>            </a:t>
            </a:r>
            <a:r>
              <a:rPr lang="en-US" sz="1200" b="0" noProof="0" dirty="0" err="1">
                <a:solidFill>
                  <a:srgbClr val="C9B6E8"/>
                </a:solidFill>
                <a:latin typeface="Consolas"/>
              </a:rPr>
              <a:t>URI</a:t>
            </a:r>
            <a:r>
              <a:rPr lang="en-US" sz="1200" b="0" noProof="0" dirty="0" err="1">
                <a:solidFill>
                  <a:srgbClr val="DCE8ED"/>
                </a:solidFill>
                <a:latin typeface="Consolas"/>
              </a:rPr>
              <a:t>.create</a:t>
            </a:r>
            <a:r>
              <a:rPr lang="en-US" sz="1200" b="0" noProof="0" dirty="0">
                <a:solidFill>
                  <a:srgbClr val="DCE8ED"/>
                </a:solidFill>
                <a:latin typeface="Consolas"/>
              </a:rPr>
              <a:t>(</a:t>
            </a:r>
            <a:r>
              <a:rPr lang="en-US" sz="1200" b="0" noProof="0" dirty="0">
                <a:solidFill>
                  <a:srgbClr val="9FD1A0"/>
                </a:solidFill>
                <a:latin typeface="Consolas"/>
              </a:rPr>
              <a:t>"movies/"</a:t>
            </a:r>
            <a:r>
              <a:rPr lang="en-US" sz="1200" b="0" noProof="0" dirty="0">
                <a:solidFill>
                  <a:srgbClr val="DCE8ED"/>
                </a:solidFill>
                <a:latin typeface="Consolas"/>
              </a:rPr>
              <a:t> + </a:t>
            </a:r>
            <a:r>
              <a:rPr lang="en-US" sz="1200" b="0" noProof="0" dirty="0" err="1">
                <a:solidFill>
                  <a:srgbClr val="DCE8ED"/>
                </a:solidFill>
                <a:latin typeface="Consolas"/>
              </a:rPr>
              <a:t>m.getId</a:t>
            </a:r>
            <a:r>
              <a:rPr lang="en-US" sz="1200" b="0" noProof="0" dirty="0">
                <a:solidFill>
                  <a:srgbClr val="DCE8ED"/>
                </a:solidFill>
                <a:latin typeface="Consolas"/>
              </a:rPr>
              <a:t>())).build();</a:t>
            </a:r>
          </a:p>
          <a:p>
            <a:pPr algn="l" rtl="0">
              <a:lnSpc>
                <a:spcPts val="1060"/>
              </a:lnSpc>
            </a:pPr>
            <a:r>
              <a:rPr lang="en-US" sz="1200" b="0" noProof="0" dirty="0">
                <a:solidFill>
                  <a:srgbClr val="DCE8ED"/>
                </a:solidFill>
                <a:latin typeface="Consolas"/>
              </a:rPr>
              <a:t>   }</a:t>
            </a:r>
          </a:p>
          <a:p>
            <a:pPr algn="l" rtl="0">
              <a:lnSpc>
                <a:spcPts val="1060"/>
              </a:lnSpc>
            </a:pPr>
            <a:r>
              <a:rPr lang="en-US" sz="1200" noProof="0" dirty="0">
                <a:latin typeface="Consolas"/>
              </a:rPr>
              <a:t> </a:t>
            </a:r>
          </a:p>
          <a:p>
            <a:pPr algn="l" rtl="0">
              <a:lnSpc>
                <a:spcPts val="1060"/>
              </a:lnSpc>
            </a:pPr>
            <a:r>
              <a:rPr lang="en-US" sz="1200" b="0" noProof="0" dirty="0">
                <a:solidFill>
                  <a:srgbClr val="DCE8ED"/>
                </a:solidFill>
                <a:latin typeface="Consolas"/>
              </a:rPr>
              <a:t>   </a:t>
            </a:r>
            <a:r>
              <a:rPr lang="en-US" sz="1200" b="1" noProof="0" dirty="0">
                <a:solidFill>
                  <a:srgbClr val="F0A06A"/>
                </a:solidFill>
                <a:latin typeface="Consolas"/>
              </a:rPr>
              <a:t>@DELETE</a:t>
            </a:r>
            <a:r>
              <a:rPr lang="en-US" sz="1200" b="0" noProof="0" dirty="0">
                <a:solidFill>
                  <a:srgbClr val="DCE8ED"/>
                </a:solidFill>
                <a:latin typeface="Consolas"/>
              </a:rPr>
              <a:t> </a:t>
            </a:r>
            <a:r>
              <a:rPr lang="en-US" sz="1200" b="1" noProof="0" dirty="0">
                <a:solidFill>
                  <a:srgbClr val="F0A06A"/>
                </a:solidFill>
                <a:latin typeface="Consolas"/>
              </a:rPr>
              <a:t>@Path</a:t>
            </a:r>
            <a:r>
              <a:rPr lang="en-US" sz="1200" b="0" noProof="0" dirty="0">
                <a:solidFill>
                  <a:srgbClr val="DCE8ED"/>
                </a:solidFill>
                <a:latin typeface="Consolas"/>
              </a:rPr>
              <a:t>(</a:t>
            </a:r>
            <a:r>
              <a:rPr lang="en-US" sz="1200" b="0" noProof="0" dirty="0">
                <a:solidFill>
                  <a:srgbClr val="9FD1A0"/>
                </a:solidFill>
                <a:latin typeface="Consolas"/>
              </a:rPr>
              <a:t>"{id}"</a:t>
            </a:r>
            <a:r>
              <a:rPr lang="en-US" sz="1200" b="0" noProof="0" dirty="0">
                <a:solidFill>
                  <a:srgbClr val="DCE8ED"/>
                </a:solidFill>
                <a:latin typeface="Consolas"/>
              </a:rPr>
              <a:t>)                    </a:t>
            </a:r>
            <a:r>
              <a:rPr lang="en-US" sz="1200" b="0" noProof="0" dirty="0">
                <a:solidFill>
                  <a:srgbClr val="6F8894"/>
                </a:solidFill>
                <a:latin typeface="Consolas"/>
              </a:rPr>
              <a:t>// 204</a:t>
            </a:r>
          </a:p>
          <a:p>
            <a:pPr algn="l" rtl="0">
              <a:lnSpc>
                <a:spcPts val="1060"/>
              </a:lnSpc>
            </a:pPr>
            <a:r>
              <a:rPr lang="en-US" sz="1200" b="0" noProof="0" dirty="0">
                <a:solidFill>
                  <a:srgbClr val="DCE8ED"/>
                </a:solidFill>
                <a:latin typeface="Consolas"/>
              </a:rPr>
              <a:t>   </a:t>
            </a:r>
            <a:r>
              <a:rPr lang="en-US" sz="1200" b="0" noProof="0" dirty="0">
                <a:solidFill>
                  <a:srgbClr val="7FC7DE"/>
                </a:solidFill>
                <a:latin typeface="Consolas"/>
              </a:rPr>
              <a:t>public</a:t>
            </a:r>
            <a:r>
              <a:rPr lang="en-US" sz="1200" b="0" noProof="0" dirty="0">
                <a:solidFill>
                  <a:srgbClr val="DCE8ED"/>
                </a:solidFill>
                <a:latin typeface="Consolas"/>
              </a:rPr>
              <a:t> </a:t>
            </a:r>
            <a:r>
              <a:rPr lang="en-US" sz="1200" b="0" noProof="0" dirty="0">
                <a:solidFill>
                  <a:srgbClr val="C9B6E8"/>
                </a:solidFill>
                <a:latin typeface="Consolas"/>
              </a:rPr>
              <a:t>Response</a:t>
            </a:r>
            <a:r>
              <a:rPr lang="en-US" sz="1200" b="0" noProof="0" dirty="0">
                <a:solidFill>
                  <a:srgbClr val="DCE8ED"/>
                </a:solidFill>
                <a:latin typeface="Consolas"/>
              </a:rPr>
              <a:t> delete(</a:t>
            </a:r>
            <a:r>
              <a:rPr lang="en-US" sz="1200" b="1" noProof="0" dirty="0">
                <a:solidFill>
                  <a:srgbClr val="F0A06A"/>
                </a:solidFill>
                <a:latin typeface="Consolas"/>
              </a:rPr>
              <a:t>@PathParam</a:t>
            </a:r>
            <a:r>
              <a:rPr lang="en-US" sz="1200" b="0" noProof="0" dirty="0">
                <a:solidFill>
                  <a:srgbClr val="DCE8ED"/>
                </a:solidFill>
                <a:latin typeface="Consolas"/>
              </a:rPr>
              <a:t>(</a:t>
            </a:r>
            <a:r>
              <a:rPr lang="en-US" sz="1200" b="0" noProof="0" dirty="0">
                <a:solidFill>
                  <a:srgbClr val="9FD1A0"/>
                </a:solidFill>
                <a:latin typeface="Consolas"/>
              </a:rPr>
              <a:t>"id"</a:t>
            </a:r>
            <a:r>
              <a:rPr lang="en-US" sz="1200" b="0" noProof="0" dirty="0">
                <a:solidFill>
                  <a:srgbClr val="DCE8ED"/>
                </a:solidFill>
                <a:latin typeface="Consolas"/>
              </a:rPr>
              <a:t>) </a:t>
            </a:r>
            <a:r>
              <a:rPr lang="en-US" sz="1200" b="0" noProof="0" dirty="0">
                <a:solidFill>
                  <a:srgbClr val="7FC7DE"/>
                </a:solidFill>
                <a:latin typeface="Consolas"/>
              </a:rPr>
              <a:t>int</a:t>
            </a:r>
            <a:r>
              <a:rPr lang="en-US" sz="1200" b="0" noProof="0" dirty="0">
                <a:solidFill>
                  <a:srgbClr val="DCE8ED"/>
                </a:solidFill>
                <a:latin typeface="Consolas"/>
              </a:rPr>
              <a:t> id) {</a:t>
            </a:r>
          </a:p>
          <a:p>
            <a:pPr algn="l" rtl="0">
              <a:lnSpc>
                <a:spcPts val="1060"/>
              </a:lnSpc>
            </a:pPr>
            <a:r>
              <a:rPr lang="en-US" sz="1200" b="0" noProof="0" dirty="0">
                <a:solidFill>
                  <a:srgbClr val="DCE8ED"/>
                </a:solidFill>
                <a:latin typeface="Consolas"/>
              </a:rPr>
              <a:t>      </a:t>
            </a:r>
            <a:r>
              <a:rPr lang="en-US" sz="1200" b="0" noProof="0" dirty="0" err="1">
                <a:solidFill>
                  <a:srgbClr val="DCE8ED"/>
                </a:solidFill>
                <a:latin typeface="Consolas"/>
              </a:rPr>
              <a:t>dao.delete</a:t>
            </a:r>
            <a:r>
              <a:rPr lang="en-US" sz="1200" b="0" noProof="0" dirty="0">
                <a:solidFill>
                  <a:srgbClr val="DCE8ED"/>
                </a:solidFill>
                <a:latin typeface="Consolas"/>
              </a:rPr>
              <a:t>(id);</a:t>
            </a:r>
          </a:p>
          <a:p>
            <a:pPr algn="l" rtl="0">
              <a:lnSpc>
                <a:spcPts val="1060"/>
              </a:lnSpc>
            </a:pPr>
            <a:r>
              <a:rPr lang="en-US" sz="1200" b="0" noProof="0" dirty="0">
                <a:solidFill>
                  <a:srgbClr val="DCE8ED"/>
                </a:solidFill>
                <a:latin typeface="Consolas"/>
              </a:rPr>
              <a:t>      </a:t>
            </a:r>
            <a:r>
              <a:rPr lang="en-US" sz="1200" b="0" noProof="0" dirty="0">
                <a:solidFill>
                  <a:srgbClr val="7FC7DE"/>
                </a:solidFill>
                <a:latin typeface="Consolas"/>
              </a:rPr>
              <a:t>return</a:t>
            </a:r>
            <a:r>
              <a:rPr lang="en-US" sz="1200" b="0" noProof="0" dirty="0">
                <a:solidFill>
                  <a:srgbClr val="DCE8ED"/>
                </a:solidFill>
                <a:latin typeface="Consolas"/>
              </a:rPr>
              <a:t> </a:t>
            </a:r>
            <a:r>
              <a:rPr lang="en-US" sz="1200" b="0" noProof="0" dirty="0" err="1">
                <a:solidFill>
                  <a:srgbClr val="C9B6E8"/>
                </a:solidFill>
                <a:latin typeface="Consolas"/>
              </a:rPr>
              <a:t>Response</a:t>
            </a:r>
            <a:r>
              <a:rPr lang="en-US" sz="1200" b="0" noProof="0" dirty="0" err="1">
                <a:solidFill>
                  <a:srgbClr val="DCE8ED"/>
                </a:solidFill>
                <a:latin typeface="Consolas"/>
              </a:rPr>
              <a:t>.noContent</a:t>
            </a:r>
            <a:r>
              <a:rPr lang="en-US" sz="1200" b="0" noProof="0" dirty="0">
                <a:solidFill>
                  <a:srgbClr val="DCE8ED"/>
                </a:solidFill>
                <a:latin typeface="Consolas"/>
              </a:rPr>
              <a:t>().build();</a:t>
            </a:r>
          </a:p>
          <a:p>
            <a:pPr algn="l" rtl="0">
              <a:lnSpc>
                <a:spcPts val="1060"/>
              </a:lnSpc>
            </a:pPr>
            <a:r>
              <a:rPr lang="en-US" sz="1200" b="0" noProof="0" dirty="0">
                <a:solidFill>
                  <a:srgbClr val="DCE8ED"/>
                </a:solidFill>
                <a:latin typeface="Consolas"/>
              </a:rPr>
              <a:t>   }</a:t>
            </a:r>
          </a:p>
          <a:p>
            <a:pPr algn="l" rtl="0">
              <a:lnSpc>
                <a:spcPts val="1060"/>
              </a:lnSpc>
            </a:pPr>
            <a:r>
              <a:rPr lang="en-US" sz="1200" b="0" noProof="0" dirty="0">
                <a:solidFill>
                  <a:srgbClr val="DCE8ED"/>
                </a:solidFill>
                <a:latin typeface="Consolas"/>
              </a:rPr>
              <a:t>}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23760" y="1700784"/>
            <a:ext cx="4407408" cy="896112"/>
          </a:xfrm>
          <a:prstGeom prst="roundRect">
            <a:avLst>
              <a:gd name="adj" fmla="val 3500"/>
            </a:avLst>
          </a:prstGeom>
          <a:solidFill>
            <a:srgbClr val="0B2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18" name="Rounded Rectangle 17"/>
          <p:cNvSpPr/>
          <p:nvPr/>
        </p:nvSpPr>
        <p:spPr>
          <a:xfrm>
            <a:off x="7223760" y="1700784"/>
            <a:ext cx="4407408" cy="274320"/>
          </a:xfrm>
          <a:prstGeom prst="roundRect">
            <a:avLst>
              <a:gd name="adj" fmla="val 9000"/>
            </a:avLst>
          </a:prstGeom>
          <a:solidFill>
            <a:srgbClr val="1139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19" name="Rectangle 18"/>
          <p:cNvSpPr/>
          <p:nvPr/>
        </p:nvSpPr>
        <p:spPr>
          <a:xfrm>
            <a:off x="7223760" y="1865376"/>
            <a:ext cx="4407408" cy="109728"/>
          </a:xfrm>
          <a:prstGeom prst="rect">
            <a:avLst/>
          </a:prstGeom>
          <a:solidFill>
            <a:srgbClr val="1139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20" name="TextBox 19"/>
          <p:cNvSpPr txBox="1"/>
          <p:nvPr/>
        </p:nvSpPr>
        <p:spPr>
          <a:xfrm>
            <a:off x="7370064" y="1751076"/>
            <a:ext cx="3675888" cy="1461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rtl="1"/>
            <a:r>
              <a:rPr lang="en-US" sz="950" b="1" i="0" noProof="0" dirty="0">
                <a:solidFill>
                  <a:srgbClr val="6FA8B8"/>
                </a:solidFill>
                <a:latin typeface="Consolas"/>
              </a:rPr>
              <a:t>                       </a:t>
            </a:r>
            <a:r>
              <a:rPr lang="he-IL" sz="950" b="1" dirty="0">
                <a:solidFill>
                  <a:srgbClr val="6FA8B8"/>
                </a:solidFill>
                <a:latin typeface="Consolas"/>
              </a:rPr>
              <a:t>הפעלת </a:t>
            </a:r>
            <a:r>
              <a:rPr lang="en-US" sz="950" b="1" dirty="0">
                <a:solidFill>
                  <a:srgbClr val="6FA8B8"/>
                </a:solidFill>
                <a:latin typeface="Consolas"/>
              </a:rPr>
              <a:t>JAX-RS</a:t>
            </a:r>
            <a:endParaRPr lang="he-IL" sz="950" b="1" i="0" noProof="0" dirty="0">
              <a:solidFill>
                <a:srgbClr val="6FA8B8"/>
              </a:solidFill>
              <a:latin typeface="Consolas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11228832" y="1805940"/>
            <a:ext cx="256032" cy="68580"/>
          </a:xfrm>
          <a:prstGeom prst="roundRect">
            <a:avLst>
              <a:gd name="adj" fmla="val 50000"/>
            </a:avLst>
          </a:prstGeom>
          <a:solidFill>
            <a:srgbClr val="C4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22" name="TextBox 21"/>
          <p:cNvSpPr txBox="1"/>
          <p:nvPr/>
        </p:nvSpPr>
        <p:spPr>
          <a:xfrm>
            <a:off x="7315200" y="2086251"/>
            <a:ext cx="4114800" cy="3471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rtl="0">
              <a:lnSpc>
                <a:spcPts val="1368"/>
              </a:lnSpc>
            </a:pPr>
            <a:r>
              <a:rPr lang="en-US" sz="1100" b="1" noProof="0" dirty="0">
                <a:solidFill>
                  <a:srgbClr val="F0A06A"/>
                </a:solidFill>
                <a:latin typeface="Consolas"/>
              </a:rPr>
              <a:t>@ApplicationPath</a:t>
            </a:r>
            <a:r>
              <a:rPr lang="en-US" sz="1100" b="0" noProof="0" dirty="0">
                <a:solidFill>
                  <a:srgbClr val="DCE8ED"/>
                </a:solidFill>
                <a:latin typeface="Consolas"/>
              </a:rPr>
              <a:t>(</a:t>
            </a:r>
            <a:r>
              <a:rPr lang="en-US" sz="1100" b="0" noProof="0" dirty="0">
                <a:solidFill>
                  <a:srgbClr val="9FD1A0"/>
                </a:solidFill>
                <a:latin typeface="Consolas"/>
              </a:rPr>
              <a:t>"api"</a:t>
            </a:r>
            <a:r>
              <a:rPr lang="en-US" sz="1100" b="0" noProof="0" dirty="0">
                <a:solidFill>
                  <a:srgbClr val="DCE8ED"/>
                </a:solidFill>
                <a:latin typeface="Consolas"/>
              </a:rPr>
              <a:t>)</a:t>
            </a:r>
          </a:p>
          <a:p>
            <a:pPr algn="l" rtl="0">
              <a:lnSpc>
                <a:spcPts val="1368"/>
              </a:lnSpc>
            </a:pPr>
            <a:r>
              <a:rPr lang="en-US" sz="1100" b="0" noProof="0" dirty="0">
                <a:solidFill>
                  <a:srgbClr val="7FC7DE"/>
                </a:solidFill>
                <a:latin typeface="Consolas"/>
              </a:rPr>
              <a:t>public</a:t>
            </a:r>
            <a:r>
              <a:rPr lang="en-US" sz="1100" b="0" noProof="0" dirty="0">
                <a:solidFill>
                  <a:srgbClr val="DCE8ED"/>
                </a:solidFill>
                <a:latin typeface="Consolas"/>
              </a:rPr>
              <a:t> </a:t>
            </a:r>
            <a:r>
              <a:rPr lang="en-US" sz="1100" b="0" noProof="0" dirty="0">
                <a:solidFill>
                  <a:srgbClr val="7FC7DE"/>
                </a:solidFill>
                <a:latin typeface="Consolas"/>
              </a:rPr>
              <a:t>class</a:t>
            </a:r>
            <a:r>
              <a:rPr lang="en-US" sz="1100" b="0" noProof="0" dirty="0">
                <a:solidFill>
                  <a:srgbClr val="DCE8ED"/>
                </a:solidFill>
                <a:latin typeface="Consolas"/>
              </a:rPr>
              <a:t> </a:t>
            </a:r>
            <a:r>
              <a:rPr lang="en-US" sz="1100" b="0" noProof="0" dirty="0" err="1">
                <a:solidFill>
                  <a:srgbClr val="C9B6E8"/>
                </a:solidFill>
                <a:latin typeface="Consolas"/>
              </a:rPr>
              <a:t>RestConfig</a:t>
            </a:r>
            <a:r>
              <a:rPr lang="en-US" sz="1100" b="0" noProof="0" dirty="0">
                <a:solidFill>
                  <a:srgbClr val="DCE8ED"/>
                </a:solidFill>
                <a:latin typeface="Consolas"/>
              </a:rPr>
              <a:t> </a:t>
            </a:r>
            <a:r>
              <a:rPr lang="en-US" sz="1100" b="0" noProof="0" dirty="0">
                <a:solidFill>
                  <a:srgbClr val="7FC7DE"/>
                </a:solidFill>
                <a:latin typeface="Consolas"/>
              </a:rPr>
              <a:t>extends</a:t>
            </a:r>
            <a:r>
              <a:rPr lang="en-US" sz="1100" b="0" noProof="0" dirty="0">
                <a:solidFill>
                  <a:srgbClr val="DCE8ED"/>
                </a:solidFill>
                <a:latin typeface="Consolas"/>
              </a:rPr>
              <a:t> </a:t>
            </a:r>
            <a:r>
              <a:rPr lang="en-US" sz="1100" b="0" noProof="0" dirty="0">
                <a:solidFill>
                  <a:srgbClr val="C9B6E8"/>
                </a:solidFill>
                <a:latin typeface="Consolas"/>
              </a:rPr>
              <a:t>Application</a:t>
            </a:r>
            <a:r>
              <a:rPr lang="en-US" sz="1100" b="0" noProof="0" dirty="0">
                <a:solidFill>
                  <a:srgbClr val="DCE8ED"/>
                </a:solidFill>
                <a:latin typeface="Consolas"/>
              </a:rPr>
              <a:t> { }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223760" y="2578608"/>
            <a:ext cx="4407408" cy="1764792"/>
          </a:xfrm>
          <a:prstGeom prst="roundRect">
            <a:avLst>
              <a:gd name="adj" fmla="val 3500"/>
            </a:avLst>
          </a:prstGeom>
          <a:solidFill>
            <a:srgbClr val="0B2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24" name="Rounded Rectangle 23"/>
          <p:cNvSpPr/>
          <p:nvPr/>
        </p:nvSpPr>
        <p:spPr>
          <a:xfrm>
            <a:off x="7223760" y="2578608"/>
            <a:ext cx="4407408" cy="274320"/>
          </a:xfrm>
          <a:prstGeom prst="roundRect">
            <a:avLst>
              <a:gd name="adj" fmla="val 9000"/>
            </a:avLst>
          </a:prstGeom>
          <a:solidFill>
            <a:srgbClr val="1139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25" name="Rectangle 24"/>
          <p:cNvSpPr/>
          <p:nvPr/>
        </p:nvSpPr>
        <p:spPr>
          <a:xfrm>
            <a:off x="7223760" y="2743199"/>
            <a:ext cx="4407408" cy="109728"/>
          </a:xfrm>
          <a:prstGeom prst="rect">
            <a:avLst/>
          </a:prstGeom>
          <a:solidFill>
            <a:srgbClr val="1139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26" name="TextBox 25"/>
          <p:cNvSpPr txBox="1"/>
          <p:nvPr/>
        </p:nvSpPr>
        <p:spPr>
          <a:xfrm>
            <a:off x="7370064" y="2628900"/>
            <a:ext cx="367588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rtl="0"/>
            <a:r>
              <a:rPr lang="en-US" sz="950" b="1" i="0" noProof="0" dirty="0">
                <a:solidFill>
                  <a:srgbClr val="6FA8B8"/>
                </a:solidFill>
                <a:latin typeface="Consolas"/>
              </a:rPr>
              <a:t>Client API — JAX-RS 2.0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1228832" y="2683764"/>
            <a:ext cx="256032" cy="68580"/>
          </a:xfrm>
          <a:prstGeom prst="roundRect">
            <a:avLst>
              <a:gd name="adj" fmla="val 50000"/>
            </a:avLst>
          </a:prstGeom>
          <a:solidFill>
            <a:srgbClr val="C4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28" name="TextBox 27"/>
          <p:cNvSpPr txBox="1"/>
          <p:nvPr/>
        </p:nvSpPr>
        <p:spPr>
          <a:xfrm>
            <a:off x="7370064" y="2971799"/>
            <a:ext cx="4114800" cy="1252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rtl="0">
              <a:lnSpc>
                <a:spcPts val="1368"/>
              </a:lnSpc>
            </a:pPr>
            <a:r>
              <a:rPr lang="en-US" sz="1100" b="0" noProof="0" dirty="0">
                <a:solidFill>
                  <a:srgbClr val="C9B6E8"/>
                </a:solidFill>
                <a:latin typeface="Consolas"/>
              </a:rPr>
              <a:t>Client</a:t>
            </a:r>
            <a:r>
              <a:rPr lang="en-US" sz="1100" b="0" noProof="0" dirty="0">
                <a:solidFill>
                  <a:srgbClr val="DCE8ED"/>
                </a:solidFill>
                <a:latin typeface="Consolas"/>
              </a:rPr>
              <a:t> </a:t>
            </a:r>
            <a:r>
              <a:rPr lang="en-US" sz="1100" b="0" noProof="0" dirty="0" err="1">
                <a:solidFill>
                  <a:srgbClr val="DCE8ED"/>
                </a:solidFill>
                <a:latin typeface="Consolas"/>
              </a:rPr>
              <a:t>client</a:t>
            </a:r>
            <a:r>
              <a:rPr lang="en-US" sz="1100" b="0" noProof="0" dirty="0">
                <a:solidFill>
                  <a:srgbClr val="DCE8ED"/>
                </a:solidFill>
                <a:latin typeface="Consolas"/>
              </a:rPr>
              <a:t> = </a:t>
            </a:r>
            <a:r>
              <a:rPr lang="en-US" sz="1100" b="0" noProof="0" dirty="0" err="1">
                <a:solidFill>
                  <a:srgbClr val="C9B6E8"/>
                </a:solidFill>
                <a:latin typeface="Consolas"/>
              </a:rPr>
              <a:t>ClientBuilder</a:t>
            </a:r>
            <a:r>
              <a:rPr lang="en-US" sz="1100" b="0" noProof="0" dirty="0" err="1">
                <a:solidFill>
                  <a:srgbClr val="DCE8ED"/>
                </a:solidFill>
                <a:latin typeface="Consolas"/>
              </a:rPr>
              <a:t>.newClient</a:t>
            </a:r>
            <a:r>
              <a:rPr lang="en-US" sz="1100" b="0" noProof="0" dirty="0">
                <a:solidFill>
                  <a:srgbClr val="DCE8ED"/>
                </a:solidFill>
                <a:latin typeface="Consolas"/>
              </a:rPr>
              <a:t>();</a:t>
            </a:r>
          </a:p>
          <a:p>
            <a:pPr algn="l" rtl="0">
              <a:lnSpc>
                <a:spcPts val="1368"/>
              </a:lnSpc>
            </a:pPr>
            <a:r>
              <a:rPr lang="en-US" sz="1100" noProof="0" dirty="0">
                <a:latin typeface="Consolas"/>
              </a:rPr>
              <a:t> </a:t>
            </a:r>
          </a:p>
          <a:p>
            <a:pPr algn="l" rtl="0">
              <a:lnSpc>
                <a:spcPts val="1368"/>
              </a:lnSpc>
            </a:pPr>
            <a:r>
              <a:rPr lang="en-US" sz="1100" b="0" noProof="0" dirty="0">
                <a:solidFill>
                  <a:srgbClr val="C9B6E8"/>
                </a:solidFill>
                <a:latin typeface="Consolas"/>
              </a:rPr>
              <a:t>Movie</a:t>
            </a:r>
            <a:r>
              <a:rPr lang="en-US" sz="1100" b="0" noProof="0" dirty="0">
                <a:solidFill>
                  <a:srgbClr val="DCE8ED"/>
                </a:solidFill>
                <a:latin typeface="Consolas"/>
              </a:rPr>
              <a:t> m = client</a:t>
            </a:r>
          </a:p>
          <a:p>
            <a:pPr algn="l" rtl="0">
              <a:lnSpc>
                <a:spcPts val="1368"/>
              </a:lnSpc>
            </a:pPr>
            <a:r>
              <a:rPr lang="en-US" sz="1100" b="0" noProof="0" dirty="0">
                <a:solidFill>
                  <a:srgbClr val="DCE8ED"/>
                </a:solidFill>
                <a:latin typeface="Consolas"/>
              </a:rPr>
              <a:t>      .target(</a:t>
            </a:r>
            <a:r>
              <a:rPr lang="en-US" sz="1100" b="0" noProof="0" dirty="0">
                <a:solidFill>
                  <a:srgbClr val="9FD1A0"/>
                </a:solidFill>
                <a:latin typeface="Consolas"/>
              </a:rPr>
              <a:t>"http://localhost:8080/</a:t>
            </a:r>
            <a:r>
              <a:rPr lang="en-US" sz="1100" b="0" noProof="0" dirty="0" err="1">
                <a:solidFill>
                  <a:srgbClr val="9FD1A0"/>
                </a:solidFill>
                <a:latin typeface="Consolas"/>
              </a:rPr>
              <a:t>api</a:t>
            </a:r>
            <a:r>
              <a:rPr lang="en-US" sz="1100" b="0" noProof="0" dirty="0">
                <a:solidFill>
                  <a:srgbClr val="9FD1A0"/>
                </a:solidFill>
                <a:latin typeface="Consolas"/>
              </a:rPr>
              <a:t>"</a:t>
            </a:r>
            <a:r>
              <a:rPr lang="en-US" sz="1100" b="0" noProof="0" dirty="0">
                <a:solidFill>
                  <a:srgbClr val="DCE8ED"/>
                </a:solidFill>
                <a:latin typeface="Consolas"/>
              </a:rPr>
              <a:t>)</a:t>
            </a:r>
          </a:p>
          <a:p>
            <a:pPr algn="l" rtl="0">
              <a:lnSpc>
                <a:spcPts val="1368"/>
              </a:lnSpc>
            </a:pPr>
            <a:r>
              <a:rPr lang="en-US" sz="1100" b="0" noProof="0" dirty="0">
                <a:solidFill>
                  <a:srgbClr val="DCE8ED"/>
                </a:solidFill>
                <a:latin typeface="Consolas"/>
              </a:rPr>
              <a:t>      .path(</a:t>
            </a:r>
            <a:r>
              <a:rPr lang="en-US" sz="1100" b="0" noProof="0" dirty="0">
                <a:solidFill>
                  <a:srgbClr val="9FD1A0"/>
                </a:solidFill>
                <a:latin typeface="Consolas"/>
              </a:rPr>
              <a:t>"movies/42"</a:t>
            </a:r>
            <a:r>
              <a:rPr lang="en-US" sz="1100" b="0" noProof="0" dirty="0">
                <a:solidFill>
                  <a:srgbClr val="DCE8ED"/>
                </a:solidFill>
                <a:latin typeface="Consolas"/>
              </a:rPr>
              <a:t>)</a:t>
            </a:r>
          </a:p>
          <a:p>
            <a:pPr algn="l" rtl="0">
              <a:lnSpc>
                <a:spcPts val="1368"/>
              </a:lnSpc>
            </a:pPr>
            <a:r>
              <a:rPr lang="en-US" sz="1100" b="0" noProof="0" dirty="0">
                <a:solidFill>
                  <a:srgbClr val="DCE8ED"/>
                </a:solidFill>
                <a:latin typeface="Consolas"/>
              </a:rPr>
              <a:t>      .request(</a:t>
            </a:r>
            <a:r>
              <a:rPr lang="en-US" sz="1100" b="0" noProof="0" dirty="0" err="1">
                <a:solidFill>
                  <a:srgbClr val="C9B6E8"/>
                </a:solidFill>
                <a:latin typeface="Consolas"/>
              </a:rPr>
              <a:t>MediaType</a:t>
            </a:r>
            <a:r>
              <a:rPr lang="en-US" sz="1100" b="0" noProof="0" dirty="0" err="1">
                <a:solidFill>
                  <a:srgbClr val="DCE8ED"/>
                </a:solidFill>
                <a:latin typeface="Consolas"/>
              </a:rPr>
              <a:t>.</a:t>
            </a:r>
            <a:r>
              <a:rPr lang="en-US" sz="1100" b="0" noProof="0" dirty="0" err="1">
                <a:solidFill>
                  <a:srgbClr val="C9B6E8"/>
                </a:solidFill>
                <a:latin typeface="Consolas"/>
              </a:rPr>
              <a:t>APPLICATION_JSON</a:t>
            </a:r>
            <a:r>
              <a:rPr lang="en-US" sz="1100" b="0" noProof="0" dirty="0">
                <a:solidFill>
                  <a:srgbClr val="DCE8ED"/>
                </a:solidFill>
                <a:latin typeface="Consolas"/>
              </a:rPr>
              <a:t>)</a:t>
            </a:r>
          </a:p>
          <a:p>
            <a:pPr algn="l" rtl="0">
              <a:lnSpc>
                <a:spcPts val="1368"/>
              </a:lnSpc>
            </a:pPr>
            <a:r>
              <a:rPr lang="en-US" sz="1100" b="0" noProof="0" dirty="0">
                <a:solidFill>
                  <a:srgbClr val="DCE8ED"/>
                </a:solidFill>
                <a:latin typeface="Consolas"/>
              </a:rPr>
              <a:t>      .get(</a:t>
            </a:r>
            <a:r>
              <a:rPr lang="en-US" sz="1100" b="0" noProof="0" dirty="0" err="1">
                <a:solidFill>
                  <a:srgbClr val="C9B6E8"/>
                </a:solidFill>
                <a:latin typeface="Consolas"/>
              </a:rPr>
              <a:t>Movie</a:t>
            </a:r>
            <a:r>
              <a:rPr lang="en-US" sz="1100" b="0" noProof="0" dirty="0" err="1">
                <a:solidFill>
                  <a:srgbClr val="DCE8ED"/>
                </a:solidFill>
                <a:latin typeface="Consolas"/>
              </a:rPr>
              <a:t>.</a:t>
            </a:r>
            <a:r>
              <a:rPr lang="en-US" sz="1100" b="0" noProof="0" dirty="0" err="1">
                <a:solidFill>
                  <a:srgbClr val="7FC7DE"/>
                </a:solidFill>
                <a:latin typeface="Consolas"/>
              </a:rPr>
              <a:t>class</a:t>
            </a:r>
            <a:r>
              <a:rPr lang="en-US" sz="1100" b="0" noProof="0" dirty="0">
                <a:solidFill>
                  <a:srgbClr val="DCE8ED"/>
                </a:solidFill>
                <a:latin typeface="Consolas"/>
              </a:rPr>
              <a:t>);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223760" y="4352544"/>
            <a:ext cx="4407408" cy="1892807"/>
          </a:xfrm>
          <a:prstGeom prst="roundRect">
            <a:avLst>
              <a:gd name="adj" fmla="val 5000"/>
            </a:avLst>
          </a:prstGeom>
          <a:solidFill>
            <a:srgbClr val="F1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30" name="Rectangle 29"/>
          <p:cNvSpPr/>
          <p:nvPr/>
        </p:nvSpPr>
        <p:spPr>
          <a:xfrm>
            <a:off x="11576304" y="4352544"/>
            <a:ext cx="54864" cy="1892807"/>
          </a:xfrm>
          <a:prstGeom prst="rect">
            <a:avLst/>
          </a:prstGeom>
          <a:solidFill>
            <a:srgbClr val="C4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31" name="TextBox 30"/>
          <p:cNvSpPr txBox="1"/>
          <p:nvPr/>
        </p:nvSpPr>
        <p:spPr>
          <a:xfrm>
            <a:off x="7424928" y="4471416"/>
            <a:ext cx="3968496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/>
            <a:r>
              <a:rPr lang="en-US" sz="1200" b="1" i="0" noProof="0" dirty="0" err="1">
                <a:solidFill>
                  <a:srgbClr val="0D4A5C"/>
                </a:solidFill>
                <a:latin typeface="Segoe UI"/>
              </a:rPr>
              <a:t>כללי</a:t>
            </a:r>
            <a:r>
              <a:rPr lang="en-US" sz="1200" b="1" i="0" noProof="0" dirty="0">
                <a:solidFill>
                  <a:srgbClr val="0D4A5C"/>
                </a:solidFill>
                <a:latin typeface="Segoe UI"/>
              </a:rPr>
              <a:t> </a:t>
            </a:r>
            <a:r>
              <a:rPr lang="en-US" sz="1200" b="1" i="0" noProof="0" dirty="0" err="1">
                <a:solidFill>
                  <a:srgbClr val="0D4A5C"/>
                </a:solidFill>
                <a:latin typeface="Segoe UI"/>
              </a:rPr>
              <a:t>אצבע</a:t>
            </a:r>
            <a:r>
              <a:rPr lang="en-US" sz="1200" b="1" i="0" noProof="0" dirty="0">
                <a:solidFill>
                  <a:srgbClr val="0D4A5C"/>
                </a:solidFill>
                <a:latin typeface="Segoe UI"/>
              </a:rPr>
              <a:t> </a:t>
            </a:r>
            <a:r>
              <a:rPr lang="en-US" sz="1200" b="1" i="0" noProof="0" dirty="0" err="1">
                <a:solidFill>
                  <a:srgbClr val="0D4A5C"/>
                </a:solidFill>
                <a:latin typeface="Segoe UI"/>
              </a:rPr>
              <a:t>שמפרידים</a:t>
            </a:r>
            <a:r>
              <a:rPr lang="en-US" sz="1200" b="1" i="0" noProof="0" dirty="0">
                <a:solidFill>
                  <a:srgbClr val="0D4A5C"/>
                </a:solidFill>
                <a:latin typeface="Segoe UI"/>
              </a:rPr>
              <a:t> ‏API‏ </a:t>
            </a:r>
            <a:r>
              <a:rPr lang="en-US" sz="1200" b="1" i="0" noProof="0" dirty="0" err="1">
                <a:solidFill>
                  <a:srgbClr val="0D4A5C"/>
                </a:solidFill>
                <a:latin typeface="Segoe UI"/>
              </a:rPr>
              <a:t>טוב</a:t>
            </a:r>
            <a:r>
              <a:rPr lang="en-US" sz="1200" b="1" i="0" noProof="0" dirty="0">
                <a:solidFill>
                  <a:srgbClr val="0D4A5C"/>
                </a:solidFill>
                <a:latin typeface="Segoe UI"/>
              </a:rPr>
              <a:t> מ-‏API‏ </a:t>
            </a:r>
            <a:r>
              <a:rPr lang="en-US" sz="1200" b="1" i="0" noProof="0" dirty="0" err="1">
                <a:solidFill>
                  <a:srgbClr val="0D4A5C"/>
                </a:solidFill>
                <a:latin typeface="Segoe UI"/>
              </a:rPr>
              <a:t>מרושל</a:t>
            </a:r>
            <a:endParaRPr lang="en-US" sz="1200" b="1" i="0" noProof="0" dirty="0">
              <a:solidFill>
                <a:srgbClr val="0D4A5C"/>
              </a:solidFill>
              <a:latin typeface="Segoe UI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7424928" y="4764024"/>
            <a:ext cx="4005072" cy="14225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06000"/>
              </a:lnSpc>
            </a:pPr>
            <a:r>
              <a:rPr lang="en-US" sz="1050" b="1" i="0" noProof="0" dirty="0">
                <a:solidFill>
                  <a:srgbClr val="C4622D"/>
                </a:solidFill>
                <a:latin typeface="Segoe UI"/>
              </a:rPr>
              <a:t>▪  </a:t>
            </a:r>
            <a:r>
              <a:rPr lang="en-US" sz="1100" b="0" i="0" noProof="0" dirty="0" err="1">
                <a:solidFill>
                  <a:srgbClr val="0F1B24"/>
                </a:solidFill>
                <a:latin typeface="Segoe UI"/>
              </a:rPr>
              <a:t>החזירו</a:t>
            </a:r>
            <a:r>
              <a:rPr lang="en-US" sz="1100" b="0" i="0" noProof="0" dirty="0">
                <a:solidFill>
                  <a:srgbClr val="0F1B24"/>
                </a:solidFill>
                <a:latin typeface="Segoe UI"/>
              </a:rPr>
              <a:t> ‏201 Created‏ </a:t>
            </a:r>
            <a:r>
              <a:rPr lang="en-US" sz="1100" b="0" i="0" noProof="0" dirty="0" err="1">
                <a:solidFill>
                  <a:srgbClr val="0F1B24"/>
                </a:solidFill>
                <a:latin typeface="Segoe UI"/>
              </a:rPr>
              <a:t>עם</a:t>
            </a:r>
            <a:r>
              <a:rPr lang="en-US" sz="11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100" b="0" i="0" noProof="0" dirty="0" err="1">
                <a:solidFill>
                  <a:srgbClr val="0F1B24"/>
                </a:solidFill>
                <a:latin typeface="Segoe UI"/>
              </a:rPr>
              <a:t>כותרת</a:t>
            </a:r>
            <a:r>
              <a:rPr lang="en-US" sz="1100" b="0" i="0" noProof="0" dirty="0">
                <a:solidFill>
                  <a:srgbClr val="0F1B24"/>
                </a:solidFill>
                <a:latin typeface="Segoe UI"/>
              </a:rPr>
              <a:t> ‏Location‏ </a:t>
            </a:r>
            <a:r>
              <a:rPr lang="en-US" sz="1100" b="0" i="0" noProof="0" dirty="0" err="1">
                <a:solidFill>
                  <a:srgbClr val="0F1B24"/>
                </a:solidFill>
                <a:latin typeface="Segoe UI"/>
              </a:rPr>
              <a:t>אחרי</a:t>
            </a:r>
            <a:r>
              <a:rPr lang="en-US" sz="11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100" b="0" i="0" noProof="0" dirty="0" err="1">
                <a:solidFill>
                  <a:srgbClr val="0F1B24"/>
                </a:solidFill>
                <a:latin typeface="Segoe UI"/>
              </a:rPr>
              <a:t>יצירה</a:t>
            </a:r>
            <a:r>
              <a:rPr lang="en-US" sz="1100" b="0" i="0" noProof="0" dirty="0">
                <a:solidFill>
                  <a:srgbClr val="0F1B24"/>
                </a:solidFill>
                <a:latin typeface="Segoe UI"/>
              </a:rPr>
              <a:t>, ו-‏204 No Content‏ </a:t>
            </a:r>
            <a:r>
              <a:rPr lang="en-US" sz="1100" b="0" i="0" noProof="0" dirty="0" err="1">
                <a:solidFill>
                  <a:srgbClr val="0F1B24"/>
                </a:solidFill>
                <a:latin typeface="Segoe UI"/>
              </a:rPr>
              <a:t>אחרי</a:t>
            </a:r>
            <a:r>
              <a:rPr lang="en-US" sz="11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100" b="0" i="0" noProof="0" dirty="0" err="1">
                <a:solidFill>
                  <a:srgbClr val="0F1B24"/>
                </a:solidFill>
                <a:latin typeface="Segoe UI"/>
              </a:rPr>
              <a:t>מחיקה</a:t>
            </a:r>
            <a:r>
              <a:rPr lang="en-US" sz="1100" b="0" i="0" noProof="0" dirty="0">
                <a:solidFill>
                  <a:srgbClr val="0F1B24"/>
                </a:solidFill>
                <a:latin typeface="Segoe UI"/>
              </a:rPr>
              <a:t> — </a:t>
            </a:r>
            <a:r>
              <a:rPr lang="en-US" sz="1100" b="0" i="0" noProof="0" dirty="0" err="1">
                <a:solidFill>
                  <a:srgbClr val="0F1B24"/>
                </a:solidFill>
                <a:latin typeface="Segoe UI"/>
              </a:rPr>
              <a:t>לא</a:t>
            </a:r>
            <a:r>
              <a:rPr lang="en-US" sz="1100" b="0" i="0" noProof="0" dirty="0">
                <a:solidFill>
                  <a:srgbClr val="0F1B24"/>
                </a:solidFill>
                <a:latin typeface="Segoe UI"/>
              </a:rPr>
              <a:t> 200 </a:t>
            </a:r>
            <a:r>
              <a:rPr lang="en-US" sz="1100" b="0" i="0" noProof="0" dirty="0" err="1">
                <a:solidFill>
                  <a:srgbClr val="0F1B24"/>
                </a:solidFill>
                <a:latin typeface="Segoe UI"/>
              </a:rPr>
              <a:t>עם</a:t>
            </a:r>
            <a:r>
              <a:rPr lang="en-US" sz="11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100" b="0" i="0" noProof="0" dirty="0" err="1">
                <a:solidFill>
                  <a:srgbClr val="0F1B24"/>
                </a:solidFill>
                <a:latin typeface="Segoe UI"/>
              </a:rPr>
              <a:t>גוף</a:t>
            </a:r>
            <a:r>
              <a:rPr lang="en-US" sz="11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100" b="0" i="0" noProof="0" dirty="0" err="1">
                <a:solidFill>
                  <a:srgbClr val="0F1B24"/>
                </a:solidFill>
                <a:latin typeface="Segoe UI"/>
              </a:rPr>
              <a:t>ריק</a:t>
            </a:r>
            <a:r>
              <a:rPr lang="en-US" sz="1100" b="0" i="0" noProof="0" dirty="0">
                <a:solidFill>
                  <a:srgbClr val="0F1B24"/>
                </a:solidFill>
                <a:latin typeface="Segoe UI"/>
              </a:rPr>
              <a:t>.</a:t>
            </a:r>
            <a:endParaRPr lang="he-IL" sz="1100" b="0" i="0" noProof="0" dirty="0">
              <a:solidFill>
                <a:srgbClr val="0F1B24"/>
              </a:solidFill>
              <a:latin typeface="Segoe UI"/>
            </a:endParaRPr>
          </a:p>
          <a:p>
            <a:pPr algn="r" rtl="1">
              <a:lnSpc>
                <a:spcPct val="106000"/>
              </a:lnSpc>
            </a:pPr>
            <a:r>
              <a:rPr lang="en-US" sz="1050" b="1" dirty="0">
                <a:solidFill>
                  <a:srgbClr val="C4622D"/>
                </a:solidFill>
                <a:latin typeface="Segoe UI"/>
              </a:rPr>
              <a:t>▪  </a:t>
            </a:r>
            <a:r>
              <a:rPr lang="en-US" sz="1100" dirty="0" err="1">
                <a:solidFill>
                  <a:srgbClr val="0F1B24"/>
                </a:solidFill>
                <a:latin typeface="Segoe UI"/>
              </a:rPr>
              <a:t>החזירו</a:t>
            </a:r>
            <a:r>
              <a:rPr lang="en-US" sz="1100" dirty="0">
                <a:solidFill>
                  <a:srgbClr val="0F1B24"/>
                </a:solidFill>
                <a:latin typeface="Segoe UI"/>
              </a:rPr>
              <a:t> 404 </a:t>
            </a:r>
            <a:r>
              <a:rPr lang="en-US" sz="1100" dirty="0" err="1">
                <a:solidFill>
                  <a:srgbClr val="0F1B24"/>
                </a:solidFill>
                <a:latin typeface="Segoe UI"/>
              </a:rPr>
              <a:t>כשמשאב</a:t>
            </a:r>
            <a:r>
              <a:rPr lang="en-US" sz="110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100" dirty="0" err="1">
                <a:solidFill>
                  <a:srgbClr val="0F1B24"/>
                </a:solidFill>
                <a:latin typeface="Segoe UI"/>
              </a:rPr>
              <a:t>אינו</a:t>
            </a:r>
            <a:r>
              <a:rPr lang="en-US" sz="110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100" dirty="0" err="1">
                <a:solidFill>
                  <a:srgbClr val="0F1B24"/>
                </a:solidFill>
                <a:latin typeface="Segoe UI"/>
              </a:rPr>
              <a:t>קיים</a:t>
            </a:r>
            <a:r>
              <a:rPr lang="en-US" sz="1100" dirty="0">
                <a:solidFill>
                  <a:srgbClr val="0F1B24"/>
                </a:solidFill>
                <a:latin typeface="Segoe UI"/>
              </a:rPr>
              <a:t>; ‏</a:t>
            </a:r>
            <a:r>
              <a:rPr lang="en-US" sz="1100" dirty="0" err="1">
                <a:solidFill>
                  <a:srgbClr val="0F1B24"/>
                </a:solidFill>
                <a:latin typeface="Segoe UI"/>
              </a:rPr>
              <a:t>NotFoundException</a:t>
            </a:r>
            <a:r>
              <a:rPr lang="en-US" sz="1100" dirty="0">
                <a:solidFill>
                  <a:srgbClr val="0F1B24"/>
                </a:solidFill>
                <a:latin typeface="Segoe UI"/>
              </a:rPr>
              <a:t>‏ </a:t>
            </a:r>
            <a:r>
              <a:rPr lang="en-US" sz="1100" dirty="0" err="1">
                <a:solidFill>
                  <a:srgbClr val="0F1B24"/>
                </a:solidFill>
                <a:latin typeface="Segoe UI"/>
              </a:rPr>
              <a:t>עושה</a:t>
            </a:r>
            <a:r>
              <a:rPr lang="en-US" sz="110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100" dirty="0" err="1">
                <a:solidFill>
                  <a:srgbClr val="0F1B24"/>
                </a:solidFill>
                <a:latin typeface="Segoe UI"/>
              </a:rPr>
              <a:t>זאת</a:t>
            </a:r>
            <a:r>
              <a:rPr lang="en-US" sz="110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100" dirty="0" err="1">
                <a:solidFill>
                  <a:srgbClr val="0F1B24"/>
                </a:solidFill>
                <a:latin typeface="Segoe UI"/>
              </a:rPr>
              <a:t>עבורכם</a:t>
            </a:r>
            <a:r>
              <a:rPr lang="en-US" sz="1100" dirty="0">
                <a:solidFill>
                  <a:srgbClr val="0F1B24"/>
                </a:solidFill>
                <a:latin typeface="Segoe UI"/>
              </a:rPr>
              <a:t>.</a:t>
            </a:r>
            <a:endParaRPr lang="he-IL" sz="1100" dirty="0">
              <a:solidFill>
                <a:srgbClr val="0F1B24"/>
              </a:solidFill>
              <a:latin typeface="Segoe UI"/>
            </a:endParaRPr>
          </a:p>
          <a:p>
            <a:pPr algn="r" rtl="1">
              <a:lnSpc>
                <a:spcPct val="106000"/>
              </a:lnSpc>
            </a:pPr>
            <a:r>
              <a:rPr lang="en-US" sz="1050" b="1" dirty="0">
                <a:solidFill>
                  <a:srgbClr val="C4622D"/>
                </a:solidFill>
                <a:latin typeface="Segoe UI"/>
              </a:rPr>
              <a:t>▪  </a:t>
            </a:r>
            <a:r>
              <a:rPr lang="en-US" sz="1100" dirty="0" err="1">
                <a:solidFill>
                  <a:srgbClr val="0F1B24"/>
                </a:solidFill>
                <a:latin typeface="Segoe UI"/>
              </a:rPr>
              <a:t>אל</a:t>
            </a:r>
            <a:r>
              <a:rPr lang="en-US" sz="110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100" dirty="0" err="1">
                <a:solidFill>
                  <a:srgbClr val="0F1B24"/>
                </a:solidFill>
                <a:latin typeface="Segoe UI"/>
              </a:rPr>
              <a:t>תשימו</a:t>
            </a:r>
            <a:r>
              <a:rPr lang="en-US" sz="110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100" dirty="0" err="1">
                <a:solidFill>
                  <a:srgbClr val="0F1B24"/>
                </a:solidFill>
                <a:latin typeface="Segoe UI"/>
              </a:rPr>
              <a:t>פעלים</a:t>
            </a:r>
            <a:r>
              <a:rPr lang="en-US" sz="110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100" dirty="0" err="1">
                <a:solidFill>
                  <a:srgbClr val="0F1B24"/>
                </a:solidFill>
                <a:latin typeface="Segoe UI"/>
              </a:rPr>
              <a:t>בנתיב</a:t>
            </a:r>
            <a:r>
              <a:rPr lang="en-US" sz="1100" dirty="0">
                <a:solidFill>
                  <a:srgbClr val="0F1B24"/>
                </a:solidFill>
                <a:latin typeface="Segoe UI"/>
              </a:rPr>
              <a:t>: </a:t>
            </a:r>
            <a:r>
              <a:rPr lang="en-US" sz="1100" dirty="0" err="1">
                <a:solidFill>
                  <a:srgbClr val="0F1B24"/>
                </a:solidFill>
                <a:latin typeface="Segoe UI"/>
              </a:rPr>
              <a:t>לא</a:t>
            </a:r>
            <a:r>
              <a:rPr lang="en-US" sz="1100" dirty="0">
                <a:solidFill>
                  <a:srgbClr val="0F1B24"/>
                </a:solidFill>
                <a:latin typeface="Segoe UI"/>
              </a:rPr>
              <a:t> ‏‎/</a:t>
            </a:r>
            <a:r>
              <a:rPr lang="en-US" sz="1100" dirty="0" err="1">
                <a:solidFill>
                  <a:srgbClr val="0F1B24"/>
                </a:solidFill>
                <a:latin typeface="Segoe UI"/>
              </a:rPr>
              <a:t>getMovie</a:t>
            </a:r>
            <a:r>
              <a:rPr lang="en-US" sz="1100" dirty="0">
                <a:solidFill>
                  <a:srgbClr val="0F1B24"/>
                </a:solidFill>
                <a:latin typeface="Segoe UI"/>
              </a:rPr>
              <a:t>‏ </a:t>
            </a:r>
            <a:r>
              <a:rPr lang="en-US" sz="1100" dirty="0" err="1">
                <a:solidFill>
                  <a:srgbClr val="0F1B24"/>
                </a:solidFill>
                <a:latin typeface="Segoe UI"/>
              </a:rPr>
              <a:t>אלא</a:t>
            </a:r>
            <a:r>
              <a:rPr lang="en-US" sz="1100" dirty="0">
                <a:solidFill>
                  <a:srgbClr val="0F1B24"/>
                </a:solidFill>
                <a:latin typeface="Segoe UI"/>
              </a:rPr>
              <a:t> ‏GET /movies/42‏.</a:t>
            </a:r>
            <a:endParaRPr lang="he-IL" sz="1100" dirty="0">
              <a:solidFill>
                <a:srgbClr val="0F1B24"/>
              </a:solidFill>
              <a:latin typeface="Segoe UI"/>
            </a:endParaRPr>
          </a:p>
        </p:txBody>
      </p:sp>
      <p:sp>
        <p:nvSpPr>
          <p:cNvPr id="33" name="Rectangle 7 footer33"/>
          <p:cNvSpPr/>
          <p:nvPr/>
        </p:nvSpPr>
        <p:spPr>
          <a:xfrm>
            <a:off x="566928" y="6382512"/>
            <a:ext cx="11064240" cy="10972"/>
          </a:xfrm>
          <a:prstGeom prst="rect">
            <a:avLst/>
          </a:prstGeom>
          <a:solidFill>
            <a:srgbClr val="E3EA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34" name="TextBox 8 footer34"/>
          <p:cNvSpPr txBox="1"/>
          <p:nvPr/>
        </p:nvSpPr>
        <p:spPr>
          <a:xfrm>
            <a:off x="10424160" y="6473952"/>
            <a:ext cx="1207008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/>
            <a:r>
              <a:rPr lang="en-US" sz="1050" b="0" i="0" noProof="0" dirty="0">
                <a:solidFill>
                  <a:srgbClr val="8D9EA8"/>
                </a:solidFill>
                <a:latin typeface="Segoe UI"/>
              </a:rPr>
              <a:t>‏JAX-RS‏</a:t>
            </a:r>
          </a:p>
        </p:txBody>
      </p:sp>
      <p:sp>
        <p:nvSpPr>
          <p:cNvPr id="35" name="TextBox 9 footer35"/>
          <p:cNvSpPr txBox="1"/>
          <p:nvPr/>
        </p:nvSpPr>
        <p:spPr>
          <a:xfrm>
            <a:off x="566928" y="6473952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rtl="0"/>
            <a:r>
              <a:rPr lang="en-US" sz="1050" b="0" i="0" noProof="0" dirty="0">
                <a:solidFill>
                  <a:srgbClr val="8D9EA8"/>
                </a:solidFill>
                <a:latin typeface="Segoe UI"/>
              </a:rPr>
              <a:t>11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91440"/>
          </a:xfrm>
          <a:prstGeom prst="rect">
            <a:avLst/>
          </a:prstGeom>
          <a:solidFill>
            <a:srgbClr val="0D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5" name="TextBox 4"/>
          <p:cNvSpPr txBox="1"/>
          <p:nvPr/>
        </p:nvSpPr>
        <p:spPr>
          <a:xfrm>
            <a:off x="566928" y="548640"/>
            <a:ext cx="1106424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/>
            <a:r>
              <a:rPr lang="en-US" sz="2800" b="1" i="0" noProof="0" dirty="0" err="1">
                <a:solidFill>
                  <a:srgbClr val="0D4A5C"/>
                </a:solidFill>
                <a:latin typeface="Segoe UI"/>
              </a:rPr>
              <a:t>איך</a:t>
            </a:r>
            <a:r>
              <a:rPr lang="en-US" sz="2800" b="1" i="0" noProof="0" dirty="0">
                <a:solidFill>
                  <a:srgbClr val="0D4A5C"/>
                </a:solidFill>
                <a:latin typeface="Segoe UI"/>
              </a:rPr>
              <a:t> </a:t>
            </a:r>
            <a:r>
              <a:rPr lang="en-US" sz="2800" b="1" i="0" noProof="0" dirty="0" err="1">
                <a:solidFill>
                  <a:srgbClr val="0D4A5C"/>
                </a:solidFill>
                <a:latin typeface="Segoe UI"/>
              </a:rPr>
              <a:t>זה</a:t>
            </a:r>
            <a:r>
              <a:rPr lang="en-US" sz="2800" b="1" i="0" noProof="0" dirty="0">
                <a:solidFill>
                  <a:srgbClr val="0D4A5C"/>
                </a:solidFill>
                <a:latin typeface="Segoe UI"/>
              </a:rPr>
              <a:t> </a:t>
            </a:r>
            <a:r>
              <a:rPr lang="en-US" sz="2800" b="1" i="0" noProof="0" dirty="0" err="1">
                <a:solidFill>
                  <a:srgbClr val="0D4A5C"/>
                </a:solidFill>
                <a:latin typeface="Segoe UI"/>
              </a:rPr>
              <a:t>נראה</a:t>
            </a:r>
            <a:r>
              <a:rPr lang="en-US" sz="2800" b="1" i="0" noProof="0" dirty="0">
                <a:solidFill>
                  <a:srgbClr val="0D4A5C"/>
                </a:solidFill>
                <a:latin typeface="Segoe UI"/>
              </a:rPr>
              <a:t> </a:t>
            </a:r>
            <a:r>
              <a:rPr lang="he-IL" sz="2800" b="1" i="0" noProof="0" dirty="0">
                <a:solidFill>
                  <a:srgbClr val="0D4A5C"/>
                </a:solidFill>
                <a:latin typeface="Segoe UI"/>
              </a:rPr>
              <a:t>בקוד</a:t>
            </a:r>
            <a:r>
              <a:rPr lang="en-US" sz="2800" b="1" i="0" noProof="0" dirty="0">
                <a:solidFill>
                  <a:srgbClr val="0D4A5C"/>
                </a:solidFill>
                <a:latin typeface="Segoe UI"/>
              </a:rPr>
              <a:t>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097280"/>
            <a:ext cx="110642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/>
            <a:r>
              <a:rPr lang="en-US" sz="1450" b="0" i="0" noProof="0" dirty="0" err="1">
                <a:solidFill>
                  <a:srgbClr val="5A6B75"/>
                </a:solidFill>
                <a:latin typeface="Segoe UI"/>
              </a:rPr>
              <a:t>אותה</a:t>
            </a:r>
            <a:r>
              <a:rPr lang="en-US" sz="145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450" b="0" i="0" noProof="0" dirty="0" err="1">
                <a:solidFill>
                  <a:srgbClr val="5A6B75"/>
                </a:solidFill>
                <a:latin typeface="Segoe UI"/>
              </a:rPr>
              <a:t>בקשה</a:t>
            </a:r>
            <a:r>
              <a:rPr lang="en-US" sz="145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450" b="0" i="0" noProof="0" dirty="0" err="1">
                <a:solidFill>
                  <a:srgbClr val="5A6B75"/>
                </a:solidFill>
                <a:latin typeface="Segoe UI"/>
              </a:rPr>
              <a:t>בדיוק</a:t>
            </a:r>
            <a:r>
              <a:rPr lang="en-US" sz="1450" b="0" i="0" noProof="0" dirty="0">
                <a:solidFill>
                  <a:srgbClr val="5A6B75"/>
                </a:solidFill>
                <a:latin typeface="Segoe UI"/>
              </a:rPr>
              <a:t> — </a:t>
            </a:r>
            <a:r>
              <a:rPr lang="en-US" sz="1450" b="0" i="0" noProof="0" dirty="0" err="1">
                <a:solidFill>
                  <a:srgbClr val="5A6B75"/>
                </a:solidFill>
                <a:latin typeface="Segoe UI"/>
              </a:rPr>
              <a:t>פעם</a:t>
            </a:r>
            <a:r>
              <a:rPr lang="en-US" sz="145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450" b="0" i="0" noProof="0" dirty="0" err="1">
                <a:solidFill>
                  <a:srgbClr val="5A6B75"/>
                </a:solidFill>
                <a:latin typeface="Segoe UI"/>
              </a:rPr>
              <a:t>כקריאת</a:t>
            </a:r>
            <a:r>
              <a:rPr lang="en-US" sz="1450" b="0" i="0" noProof="0" dirty="0">
                <a:solidFill>
                  <a:srgbClr val="5A6B75"/>
                </a:solidFill>
                <a:latin typeface="Segoe UI"/>
              </a:rPr>
              <a:t> ‏REST‏ </a:t>
            </a:r>
            <a:r>
              <a:rPr lang="en-US" sz="1450" b="0" i="0" noProof="0" dirty="0" err="1">
                <a:solidFill>
                  <a:srgbClr val="5A6B75"/>
                </a:solidFill>
                <a:latin typeface="Segoe UI"/>
              </a:rPr>
              <a:t>ופעם</a:t>
            </a:r>
            <a:r>
              <a:rPr lang="en-US" sz="145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450" b="0" i="0" noProof="0" dirty="0" err="1">
                <a:solidFill>
                  <a:srgbClr val="5A6B75"/>
                </a:solidFill>
                <a:latin typeface="Segoe UI"/>
              </a:rPr>
              <a:t>כהודעת</a:t>
            </a:r>
            <a:r>
              <a:rPr lang="en-US" sz="1450" b="0" i="0" noProof="0" dirty="0">
                <a:solidFill>
                  <a:srgbClr val="5A6B75"/>
                </a:solidFill>
                <a:latin typeface="Segoe UI"/>
              </a:rPr>
              <a:t> ‏SOAP‏</a:t>
            </a:r>
          </a:p>
        </p:txBody>
      </p:sp>
      <p:sp>
        <p:nvSpPr>
          <p:cNvPr id="7" name="Rectangle 6"/>
          <p:cNvSpPr/>
          <p:nvPr/>
        </p:nvSpPr>
        <p:spPr>
          <a:xfrm>
            <a:off x="11014214" y="512064"/>
            <a:ext cx="630270" cy="62876"/>
          </a:xfrm>
          <a:prstGeom prst="rect">
            <a:avLst/>
          </a:prstGeom>
          <a:solidFill>
            <a:srgbClr val="C4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11" name="TextBox 10"/>
          <p:cNvSpPr txBox="1"/>
          <p:nvPr/>
        </p:nvSpPr>
        <p:spPr>
          <a:xfrm>
            <a:off x="6144768" y="1682496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/>
            <a:r>
              <a:rPr lang="en-US" sz="1350" b="1" i="0" noProof="0" dirty="0">
                <a:solidFill>
                  <a:srgbClr val="0D4A5C"/>
                </a:solidFill>
                <a:latin typeface="Segoe UI"/>
              </a:rPr>
              <a:t>‏REST‏ — </a:t>
            </a:r>
            <a:r>
              <a:rPr lang="en-US" sz="1350" b="1" i="0" noProof="0" dirty="0" err="1">
                <a:solidFill>
                  <a:srgbClr val="0D4A5C"/>
                </a:solidFill>
                <a:latin typeface="Segoe UI"/>
              </a:rPr>
              <a:t>משאב</a:t>
            </a:r>
            <a:r>
              <a:rPr lang="en-US" sz="1350" b="1" i="0" noProof="0" dirty="0">
                <a:solidFill>
                  <a:srgbClr val="0D4A5C"/>
                </a:solidFill>
                <a:latin typeface="Segoe UI"/>
              </a:rPr>
              <a:t>, </a:t>
            </a:r>
            <a:r>
              <a:rPr lang="en-US" sz="1350" b="1" i="0" noProof="0" dirty="0" err="1">
                <a:solidFill>
                  <a:srgbClr val="0D4A5C"/>
                </a:solidFill>
                <a:latin typeface="Segoe UI"/>
              </a:rPr>
              <a:t>פועל</a:t>
            </a:r>
            <a:r>
              <a:rPr lang="en-US" sz="1350" b="1" i="0" noProof="0" dirty="0">
                <a:solidFill>
                  <a:srgbClr val="0D4A5C"/>
                </a:solidFill>
                <a:latin typeface="Segoe UI"/>
              </a:rPr>
              <a:t> ‏HTTP‏, </a:t>
            </a:r>
            <a:r>
              <a:rPr lang="en-US" sz="1350" b="1" i="0" noProof="0" dirty="0" err="1">
                <a:solidFill>
                  <a:srgbClr val="0D4A5C"/>
                </a:solidFill>
                <a:latin typeface="Segoe UI"/>
              </a:rPr>
              <a:t>גוף</a:t>
            </a:r>
            <a:r>
              <a:rPr lang="en-US" sz="1350" b="1" i="0" noProof="0" dirty="0">
                <a:solidFill>
                  <a:srgbClr val="0D4A5C"/>
                </a:solidFill>
                <a:latin typeface="Segoe UI"/>
              </a:rPr>
              <a:t> </a:t>
            </a:r>
            <a:r>
              <a:rPr lang="en-US" sz="1350" b="1" i="0" noProof="0" dirty="0" err="1">
                <a:solidFill>
                  <a:srgbClr val="0D4A5C"/>
                </a:solidFill>
                <a:latin typeface="Segoe UI"/>
              </a:rPr>
              <a:t>קצר</a:t>
            </a:r>
            <a:endParaRPr lang="en-US" sz="1350" b="1" i="0" noProof="0" dirty="0">
              <a:solidFill>
                <a:srgbClr val="0D4A5C"/>
              </a:solidFill>
              <a:latin typeface="Segoe UI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144768" y="1975104"/>
            <a:ext cx="5486400" cy="2642616"/>
          </a:xfrm>
          <a:prstGeom prst="roundRect">
            <a:avLst>
              <a:gd name="adj" fmla="val 3500"/>
            </a:avLst>
          </a:prstGeom>
          <a:solidFill>
            <a:srgbClr val="0B2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13" name="Rounded Rectangle 12"/>
          <p:cNvSpPr/>
          <p:nvPr/>
        </p:nvSpPr>
        <p:spPr>
          <a:xfrm>
            <a:off x="6144768" y="1975104"/>
            <a:ext cx="5486400" cy="274320"/>
          </a:xfrm>
          <a:prstGeom prst="roundRect">
            <a:avLst>
              <a:gd name="adj" fmla="val 9000"/>
            </a:avLst>
          </a:prstGeom>
          <a:solidFill>
            <a:srgbClr val="1139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14" name="Rectangle 13"/>
          <p:cNvSpPr/>
          <p:nvPr/>
        </p:nvSpPr>
        <p:spPr>
          <a:xfrm>
            <a:off x="6144768" y="2139696"/>
            <a:ext cx="5486400" cy="109728"/>
          </a:xfrm>
          <a:prstGeom prst="rect">
            <a:avLst/>
          </a:prstGeom>
          <a:solidFill>
            <a:srgbClr val="1139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15" name="TextBox 14"/>
          <p:cNvSpPr txBox="1"/>
          <p:nvPr/>
        </p:nvSpPr>
        <p:spPr>
          <a:xfrm>
            <a:off x="6291072" y="2025396"/>
            <a:ext cx="47548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rtl="0"/>
            <a:r>
              <a:rPr lang="en-US" sz="950" b="1" i="0" noProof="0" dirty="0">
                <a:solidFill>
                  <a:srgbClr val="6FA8B8"/>
                </a:solidFill>
                <a:latin typeface="Consolas"/>
              </a:rPr>
              <a:t>REST over HTTP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228832" y="2080260"/>
            <a:ext cx="256032" cy="68580"/>
          </a:xfrm>
          <a:prstGeom prst="roundRect">
            <a:avLst>
              <a:gd name="adj" fmla="val 50000"/>
            </a:avLst>
          </a:prstGeom>
          <a:solidFill>
            <a:srgbClr val="C4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17" name="TextBox 16"/>
          <p:cNvSpPr txBox="1"/>
          <p:nvPr/>
        </p:nvSpPr>
        <p:spPr>
          <a:xfrm>
            <a:off x="6291072" y="2368296"/>
            <a:ext cx="5193792" cy="19568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rtl="0">
              <a:lnSpc>
                <a:spcPts val="1512"/>
              </a:lnSpc>
            </a:pPr>
            <a:r>
              <a:rPr lang="en-US" sz="1050" b="1" noProof="0" dirty="0">
                <a:solidFill>
                  <a:srgbClr val="F0A06A"/>
                </a:solidFill>
                <a:latin typeface="Consolas"/>
              </a:rPr>
              <a:t>GET</a:t>
            </a:r>
            <a:r>
              <a:rPr lang="en-US" sz="1050" b="0" noProof="0" dirty="0">
                <a:solidFill>
                  <a:srgbClr val="DCE8ED"/>
                </a:solidFill>
                <a:latin typeface="Consolas"/>
              </a:rPr>
              <a:t> /</a:t>
            </a:r>
            <a:r>
              <a:rPr lang="en-US" sz="1050" b="0" noProof="0" dirty="0" err="1">
                <a:solidFill>
                  <a:srgbClr val="DCE8ED"/>
                </a:solidFill>
                <a:latin typeface="Consolas"/>
              </a:rPr>
              <a:t>api</a:t>
            </a:r>
            <a:r>
              <a:rPr lang="en-US" sz="1050" b="0" noProof="0" dirty="0">
                <a:solidFill>
                  <a:srgbClr val="DCE8ED"/>
                </a:solidFill>
                <a:latin typeface="Consolas"/>
              </a:rPr>
              <a:t>/movies/42 HTTP/1.1</a:t>
            </a:r>
          </a:p>
          <a:p>
            <a:pPr algn="l" rtl="0">
              <a:lnSpc>
                <a:spcPts val="1512"/>
              </a:lnSpc>
            </a:pPr>
            <a:r>
              <a:rPr lang="en-US" sz="1050" b="0" noProof="0" dirty="0">
                <a:solidFill>
                  <a:srgbClr val="7FC7DE"/>
                </a:solidFill>
                <a:latin typeface="Consolas"/>
              </a:rPr>
              <a:t>Host:</a:t>
            </a:r>
            <a:r>
              <a:rPr lang="en-US" sz="1050" b="0" noProof="0" dirty="0">
                <a:solidFill>
                  <a:srgbClr val="DCE8ED"/>
                </a:solidFill>
                <a:latin typeface="Consolas"/>
              </a:rPr>
              <a:t> api.example.com</a:t>
            </a:r>
          </a:p>
          <a:p>
            <a:pPr algn="l" rtl="0">
              <a:lnSpc>
                <a:spcPts val="1512"/>
              </a:lnSpc>
            </a:pPr>
            <a:r>
              <a:rPr lang="en-US" sz="1050" b="0" noProof="0" dirty="0">
                <a:solidFill>
                  <a:srgbClr val="7FC7DE"/>
                </a:solidFill>
                <a:latin typeface="Consolas"/>
              </a:rPr>
              <a:t>Accept:</a:t>
            </a:r>
            <a:r>
              <a:rPr lang="en-US" sz="1050" b="0" noProof="0" dirty="0">
                <a:solidFill>
                  <a:srgbClr val="DCE8ED"/>
                </a:solidFill>
                <a:latin typeface="Consolas"/>
              </a:rPr>
              <a:t> application/</a:t>
            </a:r>
            <a:r>
              <a:rPr lang="en-US" sz="1050" b="0" noProof="0" dirty="0" err="1">
                <a:solidFill>
                  <a:srgbClr val="DCE8ED"/>
                </a:solidFill>
                <a:latin typeface="Consolas"/>
              </a:rPr>
              <a:t>json</a:t>
            </a:r>
            <a:endParaRPr lang="en-US" sz="1050" b="0" noProof="0" dirty="0">
              <a:solidFill>
                <a:srgbClr val="DCE8ED"/>
              </a:solidFill>
              <a:latin typeface="Consolas"/>
            </a:endParaRPr>
          </a:p>
          <a:p>
            <a:pPr algn="l" rtl="0">
              <a:lnSpc>
                <a:spcPts val="1512"/>
              </a:lnSpc>
            </a:pPr>
            <a:r>
              <a:rPr lang="en-US" sz="1050" noProof="0" dirty="0">
                <a:latin typeface="Consolas"/>
              </a:rPr>
              <a:t> </a:t>
            </a:r>
          </a:p>
          <a:p>
            <a:pPr algn="l" rtl="0">
              <a:lnSpc>
                <a:spcPts val="1512"/>
              </a:lnSpc>
            </a:pPr>
            <a:r>
              <a:rPr lang="en-US" sz="1050" b="1" noProof="0" dirty="0">
                <a:solidFill>
                  <a:srgbClr val="7FC7DE"/>
                </a:solidFill>
                <a:latin typeface="Consolas"/>
              </a:rPr>
              <a:t>HTTP/1.1 200 OK</a:t>
            </a:r>
          </a:p>
          <a:p>
            <a:pPr algn="l" rtl="0">
              <a:lnSpc>
                <a:spcPts val="1512"/>
              </a:lnSpc>
            </a:pPr>
            <a:r>
              <a:rPr lang="en-US" sz="1050" b="0" noProof="0" dirty="0">
                <a:solidFill>
                  <a:srgbClr val="7FC7DE"/>
                </a:solidFill>
                <a:latin typeface="Consolas"/>
              </a:rPr>
              <a:t>Content-Type:</a:t>
            </a:r>
            <a:r>
              <a:rPr lang="en-US" sz="1050" b="0" noProof="0" dirty="0">
                <a:solidFill>
                  <a:srgbClr val="DCE8ED"/>
                </a:solidFill>
                <a:latin typeface="Consolas"/>
              </a:rPr>
              <a:t> application/</a:t>
            </a:r>
            <a:r>
              <a:rPr lang="en-US" sz="1050" b="0" noProof="0" dirty="0" err="1">
                <a:solidFill>
                  <a:srgbClr val="DCE8ED"/>
                </a:solidFill>
                <a:latin typeface="Consolas"/>
              </a:rPr>
              <a:t>json</a:t>
            </a:r>
            <a:endParaRPr lang="en-US" sz="1050" b="0" noProof="0" dirty="0">
              <a:solidFill>
                <a:srgbClr val="DCE8ED"/>
              </a:solidFill>
              <a:latin typeface="Consolas"/>
            </a:endParaRPr>
          </a:p>
          <a:p>
            <a:pPr algn="l" rtl="0">
              <a:lnSpc>
                <a:spcPts val="1512"/>
              </a:lnSpc>
            </a:pPr>
            <a:r>
              <a:rPr lang="en-US" sz="1050" b="0" noProof="0" dirty="0">
                <a:solidFill>
                  <a:srgbClr val="7FC7DE"/>
                </a:solidFill>
                <a:latin typeface="Consolas"/>
              </a:rPr>
              <a:t>Content-Length:</a:t>
            </a:r>
            <a:r>
              <a:rPr lang="en-US" sz="1050" b="0" noProof="0" dirty="0">
                <a:solidFill>
                  <a:srgbClr val="DCE8ED"/>
                </a:solidFill>
                <a:latin typeface="Consolas"/>
              </a:rPr>
              <a:t> 84</a:t>
            </a:r>
          </a:p>
          <a:p>
            <a:pPr algn="l" rtl="0">
              <a:lnSpc>
                <a:spcPts val="1512"/>
              </a:lnSpc>
            </a:pPr>
            <a:r>
              <a:rPr lang="en-US" sz="1050" noProof="0" dirty="0">
                <a:latin typeface="Consolas"/>
              </a:rPr>
              <a:t> </a:t>
            </a:r>
          </a:p>
          <a:p>
            <a:pPr algn="l" rtl="0">
              <a:lnSpc>
                <a:spcPts val="1512"/>
              </a:lnSpc>
            </a:pPr>
            <a:r>
              <a:rPr lang="en-US" sz="1050" b="0" noProof="0" dirty="0">
                <a:solidFill>
                  <a:srgbClr val="DCE8ED"/>
                </a:solidFill>
                <a:latin typeface="Consolas"/>
              </a:rPr>
              <a:t>{ "id": 42, "title": "Inception",</a:t>
            </a:r>
          </a:p>
          <a:p>
            <a:pPr algn="l" rtl="0">
              <a:lnSpc>
                <a:spcPts val="1512"/>
              </a:lnSpc>
            </a:pPr>
            <a:r>
              <a:rPr lang="en-US" sz="1050" b="0" noProof="0" dirty="0">
                <a:solidFill>
                  <a:srgbClr val="DCE8ED"/>
                </a:solidFill>
                <a:latin typeface="Consolas"/>
              </a:rPr>
              <a:t>  "year": 2010, "available": true }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1682496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/>
            <a:r>
              <a:rPr lang="en-US" sz="1350" b="1" i="0" noProof="0" dirty="0">
                <a:solidFill>
                  <a:srgbClr val="0D4A5C"/>
                </a:solidFill>
                <a:latin typeface="Segoe UI"/>
              </a:rPr>
              <a:t>‏SOAP‏ — </a:t>
            </a:r>
            <a:r>
              <a:rPr lang="en-US" sz="1350" b="1" i="0" noProof="0" dirty="0" err="1">
                <a:solidFill>
                  <a:srgbClr val="0D4A5C"/>
                </a:solidFill>
                <a:latin typeface="Segoe UI"/>
              </a:rPr>
              <a:t>מעטפת</a:t>
            </a:r>
            <a:r>
              <a:rPr lang="en-US" sz="1350" b="1" i="0" noProof="0" dirty="0">
                <a:solidFill>
                  <a:srgbClr val="0D4A5C"/>
                </a:solidFill>
                <a:latin typeface="Segoe UI"/>
              </a:rPr>
              <a:t> ‏XML‏, </a:t>
            </a:r>
            <a:r>
              <a:rPr lang="en-US" sz="1350" b="1" i="0" noProof="0" dirty="0" err="1">
                <a:solidFill>
                  <a:srgbClr val="0D4A5C"/>
                </a:solidFill>
                <a:latin typeface="Segoe UI"/>
              </a:rPr>
              <a:t>הפעולה</a:t>
            </a:r>
            <a:r>
              <a:rPr lang="en-US" sz="1350" b="1" i="0" noProof="0" dirty="0">
                <a:solidFill>
                  <a:srgbClr val="0D4A5C"/>
                </a:solidFill>
                <a:latin typeface="Segoe UI"/>
              </a:rPr>
              <a:t> </a:t>
            </a:r>
            <a:r>
              <a:rPr lang="en-US" sz="1350" b="1" i="0" noProof="0" dirty="0" err="1">
                <a:solidFill>
                  <a:srgbClr val="0D4A5C"/>
                </a:solidFill>
                <a:latin typeface="Segoe UI"/>
              </a:rPr>
              <a:t>בתוך</a:t>
            </a:r>
            <a:r>
              <a:rPr lang="en-US" sz="1350" b="1" i="0" noProof="0" dirty="0">
                <a:solidFill>
                  <a:srgbClr val="0D4A5C"/>
                </a:solidFill>
                <a:latin typeface="Segoe UI"/>
              </a:rPr>
              <a:t> </a:t>
            </a:r>
            <a:r>
              <a:rPr lang="en-US" sz="1350" b="1" i="0" noProof="0" dirty="0" err="1">
                <a:solidFill>
                  <a:srgbClr val="0D4A5C"/>
                </a:solidFill>
                <a:latin typeface="Segoe UI"/>
              </a:rPr>
              <a:t>הגוף</a:t>
            </a:r>
            <a:endParaRPr lang="en-US" sz="1350" b="1" i="0" noProof="0" dirty="0">
              <a:solidFill>
                <a:srgbClr val="0D4A5C"/>
              </a:solidFill>
              <a:latin typeface="Segoe UI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566928" y="1975104"/>
            <a:ext cx="5486400" cy="2633471"/>
          </a:xfrm>
          <a:prstGeom prst="roundRect">
            <a:avLst>
              <a:gd name="adj" fmla="val 3500"/>
            </a:avLst>
          </a:prstGeom>
          <a:solidFill>
            <a:srgbClr val="0B2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20" name="Rounded Rectangle 19"/>
          <p:cNvSpPr/>
          <p:nvPr/>
        </p:nvSpPr>
        <p:spPr>
          <a:xfrm>
            <a:off x="566928" y="1975104"/>
            <a:ext cx="5486400" cy="274320"/>
          </a:xfrm>
          <a:prstGeom prst="roundRect">
            <a:avLst>
              <a:gd name="adj" fmla="val 9000"/>
            </a:avLst>
          </a:prstGeom>
          <a:solidFill>
            <a:srgbClr val="1139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21" name="Rectangle 20"/>
          <p:cNvSpPr/>
          <p:nvPr/>
        </p:nvSpPr>
        <p:spPr>
          <a:xfrm>
            <a:off x="566928" y="2139696"/>
            <a:ext cx="5486400" cy="109728"/>
          </a:xfrm>
          <a:prstGeom prst="rect">
            <a:avLst/>
          </a:prstGeom>
          <a:solidFill>
            <a:srgbClr val="1139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22" name="TextBox 21"/>
          <p:cNvSpPr txBox="1"/>
          <p:nvPr/>
        </p:nvSpPr>
        <p:spPr>
          <a:xfrm>
            <a:off x="713232" y="2025396"/>
            <a:ext cx="47548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rtl="0"/>
            <a:r>
              <a:rPr lang="en-US" sz="950" b="1" i="0" noProof="0" dirty="0">
                <a:solidFill>
                  <a:srgbClr val="6FA8B8"/>
                </a:solidFill>
                <a:latin typeface="Consolas"/>
              </a:rPr>
              <a:t>SOAP over HTTP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50992" y="2080260"/>
            <a:ext cx="256032" cy="68580"/>
          </a:xfrm>
          <a:prstGeom prst="roundRect">
            <a:avLst>
              <a:gd name="adj" fmla="val 50000"/>
            </a:avLst>
          </a:prstGeom>
          <a:solidFill>
            <a:srgbClr val="C4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24" name="TextBox 23"/>
          <p:cNvSpPr txBox="1"/>
          <p:nvPr/>
        </p:nvSpPr>
        <p:spPr>
          <a:xfrm>
            <a:off x="713232" y="2368296"/>
            <a:ext cx="5193792" cy="21214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rtl="0">
              <a:lnSpc>
                <a:spcPts val="1368"/>
              </a:lnSpc>
            </a:pPr>
            <a:r>
              <a:rPr lang="en-US" sz="950" b="0" noProof="0" dirty="0">
                <a:solidFill>
                  <a:srgbClr val="DCE8ED"/>
                </a:solidFill>
                <a:latin typeface="Consolas"/>
              </a:rPr>
              <a:t>POST /</a:t>
            </a:r>
            <a:r>
              <a:rPr lang="en-US" sz="950" b="0" noProof="0" dirty="0" err="1">
                <a:solidFill>
                  <a:srgbClr val="DCE8ED"/>
                </a:solidFill>
                <a:latin typeface="Consolas"/>
              </a:rPr>
              <a:t>WelcomeSOAP</a:t>
            </a:r>
            <a:r>
              <a:rPr lang="en-US" sz="950" b="0" noProof="0" dirty="0">
                <a:solidFill>
                  <a:srgbClr val="DCE8ED"/>
                </a:solidFill>
                <a:latin typeface="Consolas"/>
              </a:rPr>
              <a:t>/</a:t>
            </a:r>
            <a:r>
              <a:rPr lang="en-US" sz="950" b="0" noProof="0" dirty="0" err="1">
                <a:solidFill>
                  <a:srgbClr val="DCE8ED"/>
                </a:solidFill>
                <a:latin typeface="Consolas"/>
              </a:rPr>
              <a:t>WelcomeSOAPService</a:t>
            </a:r>
            <a:r>
              <a:rPr lang="en-US" sz="950" b="0" noProof="0" dirty="0">
                <a:solidFill>
                  <a:srgbClr val="DCE8ED"/>
                </a:solidFill>
                <a:latin typeface="Consolas"/>
              </a:rPr>
              <a:t> HTTP/1.1</a:t>
            </a:r>
          </a:p>
          <a:p>
            <a:pPr algn="l" rtl="0">
              <a:lnSpc>
                <a:spcPts val="1368"/>
              </a:lnSpc>
            </a:pPr>
            <a:r>
              <a:rPr lang="en-US" sz="950" b="0" noProof="0" dirty="0">
                <a:solidFill>
                  <a:srgbClr val="DCE8ED"/>
                </a:solidFill>
                <a:latin typeface="Consolas"/>
              </a:rPr>
              <a:t>Content-Type: text/xml; </a:t>
            </a:r>
            <a:r>
              <a:rPr lang="en-US" sz="950" b="0" noProof="0" dirty="0">
                <a:solidFill>
                  <a:srgbClr val="F0A06A"/>
                </a:solidFill>
                <a:latin typeface="Consolas"/>
              </a:rPr>
              <a:t>charset</a:t>
            </a:r>
            <a:r>
              <a:rPr lang="en-US" sz="950" b="0" noProof="0" dirty="0">
                <a:solidFill>
                  <a:srgbClr val="DCE8ED"/>
                </a:solidFill>
                <a:latin typeface="Consolas"/>
              </a:rPr>
              <a:t>=utf-8</a:t>
            </a:r>
          </a:p>
          <a:p>
            <a:pPr algn="l" rtl="0">
              <a:lnSpc>
                <a:spcPts val="1368"/>
              </a:lnSpc>
            </a:pPr>
            <a:r>
              <a:rPr lang="en-US" sz="950" b="0" noProof="0" dirty="0" err="1">
                <a:solidFill>
                  <a:srgbClr val="DCE8ED"/>
                </a:solidFill>
                <a:latin typeface="Consolas"/>
              </a:rPr>
              <a:t>SOAPAction</a:t>
            </a:r>
            <a:r>
              <a:rPr lang="en-US" sz="950" b="0" noProof="0" dirty="0">
                <a:solidFill>
                  <a:srgbClr val="DCE8ED"/>
                </a:solidFill>
                <a:latin typeface="Consolas"/>
              </a:rPr>
              <a:t>: </a:t>
            </a:r>
            <a:r>
              <a:rPr lang="en-US" sz="950" b="0" noProof="0" dirty="0">
                <a:solidFill>
                  <a:srgbClr val="9FD1A0"/>
                </a:solidFill>
                <a:latin typeface="Consolas"/>
              </a:rPr>
              <a:t>""</a:t>
            </a:r>
          </a:p>
          <a:p>
            <a:pPr algn="l" rtl="0">
              <a:lnSpc>
                <a:spcPts val="1368"/>
              </a:lnSpc>
            </a:pPr>
            <a:r>
              <a:rPr lang="en-US" sz="950" noProof="0" dirty="0">
                <a:latin typeface="Consolas"/>
              </a:rPr>
              <a:t> </a:t>
            </a:r>
          </a:p>
          <a:p>
            <a:pPr algn="l" rtl="0">
              <a:lnSpc>
                <a:spcPts val="1368"/>
              </a:lnSpc>
            </a:pPr>
            <a:r>
              <a:rPr lang="en-US" sz="950" b="1" noProof="0" dirty="0">
                <a:solidFill>
                  <a:srgbClr val="7FC7DE"/>
                </a:solidFill>
                <a:latin typeface="Consolas"/>
              </a:rPr>
              <a:t>&lt;</a:t>
            </a:r>
            <a:r>
              <a:rPr lang="en-US" sz="950" b="1" noProof="0" dirty="0" err="1">
                <a:solidFill>
                  <a:srgbClr val="7FC7DE"/>
                </a:solidFill>
                <a:latin typeface="Consolas"/>
              </a:rPr>
              <a:t>soap:Envelope</a:t>
            </a:r>
            <a:r>
              <a:rPr lang="en-US" sz="950" b="0" noProof="0" dirty="0">
                <a:solidFill>
                  <a:srgbClr val="DCE8ED"/>
                </a:solidFill>
                <a:latin typeface="Consolas"/>
              </a:rPr>
              <a:t> </a:t>
            </a:r>
            <a:r>
              <a:rPr lang="en-US" sz="950" b="0" noProof="0" dirty="0" err="1">
                <a:solidFill>
                  <a:srgbClr val="F0A06A"/>
                </a:solidFill>
                <a:latin typeface="Consolas"/>
              </a:rPr>
              <a:t>xmlns:soap</a:t>
            </a:r>
            <a:r>
              <a:rPr lang="en-US" sz="950" b="0" noProof="0" dirty="0">
                <a:solidFill>
                  <a:srgbClr val="DCE8ED"/>
                </a:solidFill>
                <a:latin typeface="Consolas"/>
              </a:rPr>
              <a:t>=</a:t>
            </a:r>
          </a:p>
          <a:p>
            <a:pPr algn="l" rtl="0">
              <a:lnSpc>
                <a:spcPts val="1368"/>
              </a:lnSpc>
            </a:pPr>
            <a:r>
              <a:rPr lang="en-US" sz="950" b="0" noProof="0" dirty="0">
                <a:solidFill>
                  <a:srgbClr val="DCE8ED"/>
                </a:solidFill>
                <a:latin typeface="Consolas"/>
              </a:rPr>
              <a:t>    </a:t>
            </a:r>
            <a:r>
              <a:rPr lang="en-US" sz="950" b="0" noProof="0" dirty="0">
                <a:solidFill>
                  <a:srgbClr val="9FD1A0"/>
                </a:solidFill>
                <a:latin typeface="Consolas"/>
              </a:rPr>
              <a:t>"http://schemas.xmlsoap.org/soap/envelope/"</a:t>
            </a:r>
            <a:r>
              <a:rPr lang="en-US" sz="950" b="0" noProof="0" dirty="0">
                <a:solidFill>
                  <a:srgbClr val="8AA4B0"/>
                </a:solidFill>
                <a:latin typeface="Consolas"/>
              </a:rPr>
              <a:t>&gt;</a:t>
            </a:r>
          </a:p>
          <a:p>
            <a:pPr algn="l" rtl="0">
              <a:lnSpc>
                <a:spcPts val="1368"/>
              </a:lnSpc>
            </a:pPr>
            <a:r>
              <a:rPr lang="en-US" sz="950" b="0" noProof="0" dirty="0">
                <a:solidFill>
                  <a:srgbClr val="DCE8ED"/>
                </a:solidFill>
                <a:latin typeface="Consolas"/>
              </a:rPr>
              <a:t>  </a:t>
            </a:r>
            <a:r>
              <a:rPr lang="en-US" sz="950" b="1" noProof="0" dirty="0">
                <a:solidFill>
                  <a:srgbClr val="7FC7DE"/>
                </a:solidFill>
                <a:latin typeface="Consolas"/>
              </a:rPr>
              <a:t>&lt;</a:t>
            </a:r>
            <a:r>
              <a:rPr lang="en-US" sz="950" b="1" noProof="0" dirty="0" err="1">
                <a:solidFill>
                  <a:srgbClr val="7FC7DE"/>
                </a:solidFill>
                <a:latin typeface="Consolas"/>
              </a:rPr>
              <a:t>soap:Body</a:t>
            </a:r>
            <a:r>
              <a:rPr lang="en-US" sz="950" b="0" noProof="0" dirty="0">
                <a:solidFill>
                  <a:srgbClr val="8AA4B0"/>
                </a:solidFill>
                <a:latin typeface="Consolas"/>
              </a:rPr>
              <a:t>&gt;</a:t>
            </a:r>
          </a:p>
          <a:p>
            <a:pPr algn="l" rtl="0">
              <a:lnSpc>
                <a:spcPts val="1368"/>
              </a:lnSpc>
            </a:pPr>
            <a:r>
              <a:rPr lang="en-US" sz="950" b="0" noProof="0" dirty="0">
                <a:solidFill>
                  <a:srgbClr val="DCE8ED"/>
                </a:solidFill>
                <a:latin typeface="Consolas"/>
              </a:rPr>
              <a:t>    </a:t>
            </a:r>
            <a:r>
              <a:rPr lang="en-US" sz="950" b="1" noProof="0" dirty="0">
                <a:solidFill>
                  <a:srgbClr val="7FC7DE"/>
                </a:solidFill>
                <a:latin typeface="Consolas"/>
              </a:rPr>
              <a:t>&lt;</a:t>
            </a:r>
            <a:r>
              <a:rPr lang="en-US" sz="950" b="1" noProof="0" dirty="0" err="1">
                <a:solidFill>
                  <a:srgbClr val="7FC7DE"/>
                </a:solidFill>
                <a:latin typeface="Consolas"/>
              </a:rPr>
              <a:t>ns:welcome</a:t>
            </a:r>
            <a:r>
              <a:rPr lang="en-US" sz="950" b="0" noProof="0" dirty="0">
                <a:solidFill>
                  <a:srgbClr val="DCE8ED"/>
                </a:solidFill>
                <a:latin typeface="Consolas"/>
              </a:rPr>
              <a:t> </a:t>
            </a:r>
            <a:r>
              <a:rPr lang="en-US" sz="950" b="0" noProof="0" dirty="0" err="1">
                <a:solidFill>
                  <a:srgbClr val="F0A06A"/>
                </a:solidFill>
                <a:latin typeface="Consolas"/>
              </a:rPr>
              <a:t>xmlns:ns</a:t>
            </a:r>
            <a:r>
              <a:rPr lang="en-US" sz="950" b="0" noProof="0" dirty="0">
                <a:solidFill>
                  <a:srgbClr val="DCE8ED"/>
                </a:solidFill>
                <a:latin typeface="Consolas"/>
              </a:rPr>
              <a:t>=</a:t>
            </a:r>
            <a:r>
              <a:rPr lang="en-US" sz="950" b="0" noProof="0" dirty="0">
                <a:solidFill>
                  <a:srgbClr val="9FD1A0"/>
                </a:solidFill>
                <a:latin typeface="Consolas"/>
              </a:rPr>
              <a:t>"http://welcomesoap/"</a:t>
            </a:r>
            <a:r>
              <a:rPr lang="en-US" sz="950" b="0" noProof="0" dirty="0">
                <a:solidFill>
                  <a:srgbClr val="8AA4B0"/>
                </a:solidFill>
                <a:latin typeface="Consolas"/>
              </a:rPr>
              <a:t>&gt;</a:t>
            </a:r>
          </a:p>
          <a:p>
            <a:pPr algn="l" rtl="0">
              <a:lnSpc>
                <a:spcPts val="1368"/>
              </a:lnSpc>
            </a:pPr>
            <a:r>
              <a:rPr lang="en-US" sz="950" b="0" noProof="0" dirty="0">
                <a:solidFill>
                  <a:srgbClr val="DCE8ED"/>
                </a:solidFill>
                <a:latin typeface="Consolas"/>
              </a:rPr>
              <a:t>      </a:t>
            </a:r>
            <a:r>
              <a:rPr lang="en-US" sz="950" b="1" noProof="0" dirty="0">
                <a:solidFill>
                  <a:srgbClr val="7FC7DE"/>
                </a:solidFill>
                <a:latin typeface="Consolas"/>
              </a:rPr>
              <a:t>&lt;name</a:t>
            </a:r>
            <a:r>
              <a:rPr lang="en-US" sz="950" b="0" noProof="0" dirty="0">
                <a:solidFill>
                  <a:srgbClr val="8AA4B0"/>
                </a:solidFill>
                <a:latin typeface="Consolas"/>
              </a:rPr>
              <a:t>&gt;</a:t>
            </a:r>
            <a:r>
              <a:rPr lang="en-US" sz="950" b="0" noProof="0" dirty="0">
                <a:solidFill>
                  <a:srgbClr val="DCE8ED"/>
                </a:solidFill>
                <a:latin typeface="Consolas"/>
              </a:rPr>
              <a:t>Paul</a:t>
            </a:r>
            <a:r>
              <a:rPr lang="en-US" sz="950" b="1" noProof="0" dirty="0">
                <a:solidFill>
                  <a:srgbClr val="7FC7DE"/>
                </a:solidFill>
                <a:latin typeface="Consolas"/>
              </a:rPr>
              <a:t>&lt;/name</a:t>
            </a:r>
            <a:r>
              <a:rPr lang="en-US" sz="950" b="0" noProof="0" dirty="0">
                <a:solidFill>
                  <a:srgbClr val="8AA4B0"/>
                </a:solidFill>
                <a:latin typeface="Consolas"/>
              </a:rPr>
              <a:t>&gt;</a:t>
            </a:r>
          </a:p>
          <a:p>
            <a:pPr algn="l" rtl="0">
              <a:lnSpc>
                <a:spcPts val="1368"/>
              </a:lnSpc>
            </a:pPr>
            <a:r>
              <a:rPr lang="en-US" sz="950" b="0" noProof="0" dirty="0">
                <a:solidFill>
                  <a:srgbClr val="DCE8ED"/>
                </a:solidFill>
                <a:latin typeface="Consolas"/>
              </a:rPr>
              <a:t>    </a:t>
            </a:r>
            <a:r>
              <a:rPr lang="en-US" sz="950" b="1" noProof="0" dirty="0">
                <a:solidFill>
                  <a:srgbClr val="7FC7DE"/>
                </a:solidFill>
                <a:latin typeface="Consolas"/>
              </a:rPr>
              <a:t>&lt;/</a:t>
            </a:r>
            <a:r>
              <a:rPr lang="en-US" sz="950" b="1" noProof="0" dirty="0" err="1">
                <a:solidFill>
                  <a:srgbClr val="7FC7DE"/>
                </a:solidFill>
                <a:latin typeface="Consolas"/>
              </a:rPr>
              <a:t>ns:welcome</a:t>
            </a:r>
            <a:r>
              <a:rPr lang="en-US" sz="950" b="0" noProof="0" dirty="0">
                <a:solidFill>
                  <a:srgbClr val="8AA4B0"/>
                </a:solidFill>
                <a:latin typeface="Consolas"/>
              </a:rPr>
              <a:t>&gt;</a:t>
            </a:r>
          </a:p>
          <a:p>
            <a:pPr algn="l" rtl="0">
              <a:lnSpc>
                <a:spcPts val="1368"/>
              </a:lnSpc>
            </a:pPr>
            <a:r>
              <a:rPr lang="en-US" sz="950" b="0" noProof="0" dirty="0">
                <a:solidFill>
                  <a:srgbClr val="DCE8ED"/>
                </a:solidFill>
                <a:latin typeface="Consolas"/>
              </a:rPr>
              <a:t>  </a:t>
            </a:r>
            <a:r>
              <a:rPr lang="en-US" sz="950" b="1" noProof="0" dirty="0">
                <a:solidFill>
                  <a:srgbClr val="7FC7DE"/>
                </a:solidFill>
                <a:latin typeface="Consolas"/>
              </a:rPr>
              <a:t>&lt;/</a:t>
            </a:r>
            <a:r>
              <a:rPr lang="en-US" sz="950" b="1" noProof="0" dirty="0" err="1">
                <a:solidFill>
                  <a:srgbClr val="7FC7DE"/>
                </a:solidFill>
                <a:latin typeface="Consolas"/>
              </a:rPr>
              <a:t>soap:Body</a:t>
            </a:r>
            <a:r>
              <a:rPr lang="en-US" sz="950" b="0" noProof="0" dirty="0">
                <a:solidFill>
                  <a:srgbClr val="8AA4B0"/>
                </a:solidFill>
                <a:latin typeface="Consolas"/>
              </a:rPr>
              <a:t>&gt;</a:t>
            </a:r>
          </a:p>
          <a:p>
            <a:pPr algn="l" rtl="0">
              <a:lnSpc>
                <a:spcPts val="1368"/>
              </a:lnSpc>
            </a:pPr>
            <a:r>
              <a:rPr lang="en-US" sz="950" b="1" noProof="0" dirty="0">
                <a:solidFill>
                  <a:srgbClr val="7FC7DE"/>
                </a:solidFill>
                <a:latin typeface="Consolas"/>
              </a:rPr>
              <a:t>&lt;/</a:t>
            </a:r>
            <a:r>
              <a:rPr lang="en-US" sz="950" b="1" noProof="0" dirty="0" err="1">
                <a:solidFill>
                  <a:srgbClr val="7FC7DE"/>
                </a:solidFill>
                <a:latin typeface="Consolas"/>
              </a:rPr>
              <a:t>soap:Envelope</a:t>
            </a:r>
            <a:r>
              <a:rPr lang="en-US" sz="950" b="0" noProof="0" dirty="0">
                <a:solidFill>
                  <a:srgbClr val="8AA4B0"/>
                </a:solidFill>
                <a:latin typeface="Consolas"/>
              </a:rPr>
              <a:t>&gt;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13776" y="4773168"/>
            <a:ext cx="3517391" cy="9875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1430">
            <a:solidFill>
              <a:srgbClr val="E3EA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26" name="Rectangle 25"/>
          <p:cNvSpPr/>
          <p:nvPr/>
        </p:nvSpPr>
        <p:spPr>
          <a:xfrm>
            <a:off x="11580876" y="4901183"/>
            <a:ext cx="50292" cy="731520"/>
          </a:xfrm>
          <a:prstGeom prst="rect">
            <a:avLst/>
          </a:prstGeom>
          <a:solidFill>
            <a:srgbClr val="C4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27" name="TextBox 26"/>
          <p:cNvSpPr txBox="1"/>
          <p:nvPr/>
        </p:nvSpPr>
        <p:spPr>
          <a:xfrm>
            <a:off x="8296656" y="4937759"/>
            <a:ext cx="3133343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/>
            <a:r>
              <a:rPr lang="en-US" sz="1300" b="1" i="0" noProof="0" dirty="0" err="1">
                <a:solidFill>
                  <a:srgbClr val="0D4A5C"/>
                </a:solidFill>
                <a:latin typeface="Segoe UI"/>
              </a:rPr>
              <a:t>אותו</a:t>
            </a:r>
            <a:r>
              <a:rPr lang="en-US" sz="1300" b="1" i="0" noProof="0" dirty="0">
                <a:solidFill>
                  <a:srgbClr val="0D4A5C"/>
                </a:solidFill>
                <a:latin typeface="Segoe UI"/>
              </a:rPr>
              <a:t> </a:t>
            </a:r>
            <a:r>
              <a:rPr lang="en-US" sz="1300" b="1" i="0" noProof="0" dirty="0" err="1">
                <a:solidFill>
                  <a:srgbClr val="0D4A5C"/>
                </a:solidFill>
                <a:latin typeface="Segoe UI"/>
              </a:rPr>
              <a:t>שלד</a:t>
            </a:r>
            <a:endParaRPr lang="en-US" sz="1300" b="1" i="0" noProof="0" dirty="0">
              <a:solidFill>
                <a:srgbClr val="0D4A5C"/>
              </a:solidFill>
              <a:latin typeface="Segoe UI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8296656" y="5221731"/>
            <a:ext cx="3133343" cy="4109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09000"/>
              </a:lnSpc>
            </a:pPr>
            <a:r>
              <a:rPr lang="en-US" sz="1050" b="0" i="0" noProof="0" dirty="0" err="1">
                <a:solidFill>
                  <a:srgbClr val="5A6B75"/>
                </a:solidFill>
                <a:latin typeface="Segoe UI"/>
              </a:rPr>
              <a:t>בשתי</a:t>
            </a:r>
            <a:r>
              <a:rPr lang="en-US" sz="105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5A6B75"/>
                </a:solidFill>
                <a:latin typeface="Segoe UI"/>
              </a:rPr>
              <a:t>הגישות</a:t>
            </a:r>
            <a:r>
              <a:rPr lang="en-US" sz="105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5A6B75"/>
                </a:solidFill>
                <a:latin typeface="Segoe UI"/>
              </a:rPr>
              <a:t>המודל</a:t>
            </a:r>
            <a:r>
              <a:rPr lang="en-US" sz="105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5A6B75"/>
                </a:solidFill>
                <a:latin typeface="Segoe UI"/>
              </a:rPr>
              <a:t>זהה</a:t>
            </a:r>
            <a:r>
              <a:rPr lang="en-US" sz="1050" b="0" i="0" noProof="0" dirty="0">
                <a:solidFill>
                  <a:srgbClr val="5A6B75"/>
                </a:solidFill>
                <a:latin typeface="Segoe UI"/>
              </a:rPr>
              <a:t>: </a:t>
            </a:r>
            <a:r>
              <a:rPr lang="en-US" sz="1050" b="0" i="0" noProof="0" dirty="0" err="1">
                <a:solidFill>
                  <a:srgbClr val="5A6B75"/>
                </a:solidFill>
                <a:latin typeface="Segoe UI"/>
              </a:rPr>
              <a:t>הלקוח</a:t>
            </a:r>
            <a:r>
              <a:rPr lang="en-US" sz="105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5A6B75"/>
                </a:solidFill>
                <a:latin typeface="Segoe UI"/>
              </a:rPr>
              <a:t>שולח</a:t>
            </a:r>
            <a:r>
              <a:rPr lang="en-US" sz="105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5A6B75"/>
                </a:solidFill>
                <a:latin typeface="Segoe UI"/>
              </a:rPr>
              <a:t>בקשה</a:t>
            </a:r>
            <a:r>
              <a:rPr lang="en-US" sz="1050" b="0" i="0" noProof="0" dirty="0">
                <a:solidFill>
                  <a:srgbClr val="5A6B75"/>
                </a:solidFill>
                <a:latin typeface="Segoe UI"/>
              </a:rPr>
              <a:t>, </a:t>
            </a:r>
            <a:r>
              <a:rPr lang="en-US" sz="1050" b="0" i="0" noProof="0" dirty="0" err="1">
                <a:solidFill>
                  <a:srgbClr val="5A6B75"/>
                </a:solidFill>
                <a:latin typeface="Segoe UI"/>
              </a:rPr>
              <a:t>השרת</a:t>
            </a:r>
            <a:r>
              <a:rPr lang="en-US" sz="105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5A6B75"/>
                </a:solidFill>
                <a:latin typeface="Segoe UI"/>
              </a:rPr>
              <a:t>מעבד</a:t>
            </a:r>
            <a:r>
              <a:rPr lang="en-US" sz="105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5A6B75"/>
                </a:solidFill>
                <a:latin typeface="Segoe UI"/>
              </a:rPr>
              <a:t>ומחזיר</a:t>
            </a:r>
            <a:r>
              <a:rPr lang="en-US" sz="105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5A6B75"/>
                </a:solidFill>
                <a:latin typeface="Segoe UI"/>
              </a:rPr>
              <a:t>תשובה</a:t>
            </a:r>
            <a:r>
              <a:rPr lang="en-US" sz="1050" b="0" i="0" noProof="0" dirty="0">
                <a:solidFill>
                  <a:srgbClr val="5A6B75"/>
                </a:solidFill>
                <a:latin typeface="Segoe UI"/>
              </a:rPr>
              <a:t> — </a:t>
            </a:r>
            <a:r>
              <a:rPr lang="en-US" sz="1050" b="0" i="0" noProof="0" dirty="0" err="1">
                <a:solidFill>
                  <a:srgbClr val="5A6B75"/>
                </a:solidFill>
                <a:latin typeface="Segoe UI"/>
              </a:rPr>
              <a:t>הכול</a:t>
            </a:r>
            <a:r>
              <a:rPr lang="en-US" sz="105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5A6B75"/>
                </a:solidFill>
                <a:latin typeface="Segoe UI"/>
              </a:rPr>
              <a:t>מעל</a:t>
            </a:r>
            <a:r>
              <a:rPr lang="en-US" sz="1050" b="0" i="0" noProof="0" dirty="0">
                <a:solidFill>
                  <a:srgbClr val="5A6B75"/>
                </a:solidFill>
                <a:latin typeface="Segoe UI"/>
              </a:rPr>
              <a:t> ‏HTTP‏.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340352" y="4773168"/>
            <a:ext cx="3517391" cy="9875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1430">
            <a:solidFill>
              <a:srgbClr val="E3EA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30" name="Rectangle 29"/>
          <p:cNvSpPr/>
          <p:nvPr/>
        </p:nvSpPr>
        <p:spPr>
          <a:xfrm>
            <a:off x="7807452" y="4901183"/>
            <a:ext cx="50292" cy="731520"/>
          </a:xfrm>
          <a:prstGeom prst="rect">
            <a:avLst/>
          </a:prstGeom>
          <a:solidFill>
            <a:srgbClr val="C4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31" name="TextBox 30"/>
          <p:cNvSpPr txBox="1"/>
          <p:nvPr/>
        </p:nvSpPr>
        <p:spPr>
          <a:xfrm>
            <a:off x="4523232" y="4937759"/>
            <a:ext cx="3133343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/>
            <a:r>
              <a:rPr lang="en-US" sz="1300" b="1" i="0" noProof="0" dirty="0" err="1">
                <a:solidFill>
                  <a:srgbClr val="0D4A5C"/>
                </a:solidFill>
                <a:latin typeface="Segoe UI"/>
              </a:rPr>
              <a:t>ההבדל</a:t>
            </a:r>
            <a:r>
              <a:rPr lang="en-US" sz="1300" b="1" i="0" noProof="0" dirty="0">
                <a:solidFill>
                  <a:srgbClr val="0D4A5C"/>
                </a:solidFill>
                <a:latin typeface="Segoe UI"/>
              </a:rPr>
              <a:t> </a:t>
            </a:r>
            <a:r>
              <a:rPr lang="en-US" sz="1300" b="1" i="0" noProof="0" dirty="0" err="1">
                <a:solidFill>
                  <a:srgbClr val="0D4A5C"/>
                </a:solidFill>
                <a:latin typeface="Segoe UI"/>
              </a:rPr>
              <a:t>האמיתי</a:t>
            </a:r>
            <a:endParaRPr lang="en-US" sz="1300" b="1" i="0" noProof="0" dirty="0">
              <a:solidFill>
                <a:srgbClr val="0D4A5C"/>
              </a:solidFill>
              <a:latin typeface="Segoe UI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4523232" y="5221731"/>
            <a:ext cx="3133343" cy="4109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09000"/>
              </a:lnSpc>
            </a:pPr>
            <a:r>
              <a:rPr lang="en-US" sz="1050" b="0" i="0" noProof="0" dirty="0" err="1">
                <a:solidFill>
                  <a:srgbClr val="5A6B75"/>
                </a:solidFill>
                <a:latin typeface="Segoe UI"/>
              </a:rPr>
              <a:t>היכן</a:t>
            </a:r>
            <a:r>
              <a:rPr lang="en-US" sz="105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5A6B75"/>
                </a:solidFill>
                <a:latin typeface="Segoe UI"/>
              </a:rPr>
              <a:t>נמצא</a:t>
            </a:r>
            <a:r>
              <a:rPr lang="en-US" sz="1050" b="0" i="0" noProof="0" dirty="0">
                <a:solidFill>
                  <a:srgbClr val="5A6B75"/>
                </a:solidFill>
                <a:latin typeface="Segoe UI"/>
              </a:rPr>
              <a:t> שם </a:t>
            </a:r>
            <a:r>
              <a:rPr lang="en-US" sz="1050" b="0" i="0" noProof="0" dirty="0" err="1">
                <a:solidFill>
                  <a:srgbClr val="5A6B75"/>
                </a:solidFill>
                <a:latin typeface="Segoe UI"/>
              </a:rPr>
              <a:t>הפעולה</a:t>
            </a:r>
            <a:r>
              <a:rPr lang="en-US" sz="1050" b="0" i="0" noProof="0" dirty="0">
                <a:solidFill>
                  <a:srgbClr val="5A6B75"/>
                </a:solidFill>
                <a:latin typeface="Segoe UI"/>
              </a:rPr>
              <a:t>. ב-‏REST‏ </a:t>
            </a:r>
            <a:r>
              <a:rPr lang="en-US" sz="1050" b="0" i="0" noProof="0" dirty="0" err="1">
                <a:solidFill>
                  <a:srgbClr val="5A6B75"/>
                </a:solidFill>
                <a:latin typeface="Segoe UI"/>
              </a:rPr>
              <a:t>הוא</a:t>
            </a:r>
            <a:r>
              <a:rPr lang="en-US" sz="105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5A6B75"/>
                </a:solidFill>
                <a:latin typeface="Segoe UI"/>
              </a:rPr>
              <a:t>מקודד</a:t>
            </a:r>
            <a:r>
              <a:rPr lang="en-US" sz="105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5A6B75"/>
                </a:solidFill>
                <a:latin typeface="Segoe UI"/>
              </a:rPr>
              <a:t>בפועל</a:t>
            </a:r>
            <a:r>
              <a:rPr lang="en-US" sz="105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5A6B75"/>
                </a:solidFill>
                <a:latin typeface="Segoe UI"/>
              </a:rPr>
              <a:t>ובנתיב</a:t>
            </a:r>
            <a:r>
              <a:rPr lang="en-US" sz="1050" b="0" i="0" noProof="0" dirty="0">
                <a:solidFill>
                  <a:srgbClr val="5A6B75"/>
                </a:solidFill>
                <a:latin typeface="Segoe UI"/>
              </a:rPr>
              <a:t>; ב-‏SOAP‏ </a:t>
            </a:r>
            <a:r>
              <a:rPr lang="en-US" sz="1050" b="0" i="0" noProof="0" dirty="0" err="1">
                <a:solidFill>
                  <a:srgbClr val="5A6B75"/>
                </a:solidFill>
                <a:latin typeface="Segoe UI"/>
              </a:rPr>
              <a:t>הוא</a:t>
            </a:r>
            <a:r>
              <a:rPr lang="en-US" sz="105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5A6B75"/>
                </a:solidFill>
                <a:latin typeface="Segoe UI"/>
              </a:rPr>
              <a:t>אלמנט</a:t>
            </a:r>
            <a:r>
              <a:rPr lang="en-US" sz="1050" b="0" i="0" noProof="0" dirty="0">
                <a:solidFill>
                  <a:srgbClr val="5A6B75"/>
                </a:solidFill>
                <a:latin typeface="Segoe UI"/>
              </a:rPr>
              <a:t> ‏XML‏ </a:t>
            </a:r>
            <a:r>
              <a:rPr lang="en-US" sz="1050" b="0" i="0" noProof="0" dirty="0" err="1">
                <a:solidFill>
                  <a:srgbClr val="5A6B75"/>
                </a:solidFill>
                <a:latin typeface="Segoe UI"/>
              </a:rPr>
              <a:t>בתוך</a:t>
            </a:r>
            <a:r>
              <a:rPr lang="en-US" sz="105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5A6B75"/>
                </a:solidFill>
                <a:latin typeface="Segoe UI"/>
              </a:rPr>
              <a:t>הגוף</a:t>
            </a:r>
            <a:r>
              <a:rPr lang="en-US" sz="1050" b="0" i="0" noProof="0" dirty="0">
                <a:solidFill>
                  <a:srgbClr val="5A6B75"/>
                </a:solidFill>
                <a:latin typeface="Segoe UI"/>
              </a:rPr>
              <a:t>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66928" y="4773168"/>
            <a:ext cx="3517391" cy="9875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1430">
            <a:solidFill>
              <a:srgbClr val="E3EA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34" name="Rectangle 33"/>
          <p:cNvSpPr/>
          <p:nvPr/>
        </p:nvSpPr>
        <p:spPr>
          <a:xfrm>
            <a:off x="4034028" y="4901183"/>
            <a:ext cx="50292" cy="731520"/>
          </a:xfrm>
          <a:prstGeom prst="rect">
            <a:avLst/>
          </a:prstGeom>
          <a:solidFill>
            <a:srgbClr val="C4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35" name="TextBox 34"/>
          <p:cNvSpPr txBox="1"/>
          <p:nvPr/>
        </p:nvSpPr>
        <p:spPr>
          <a:xfrm>
            <a:off x="749808" y="4937759"/>
            <a:ext cx="3133343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/>
            <a:r>
              <a:rPr lang="en-US" sz="1300" b="1" i="0" noProof="0" dirty="0" err="1">
                <a:solidFill>
                  <a:srgbClr val="0D4A5C"/>
                </a:solidFill>
                <a:latin typeface="Segoe UI"/>
              </a:rPr>
              <a:t>מחיר</a:t>
            </a:r>
            <a:r>
              <a:rPr lang="en-US" sz="1300" b="1" i="0" noProof="0" dirty="0">
                <a:solidFill>
                  <a:srgbClr val="0D4A5C"/>
                </a:solidFill>
                <a:latin typeface="Segoe UI"/>
              </a:rPr>
              <a:t> </a:t>
            </a:r>
            <a:r>
              <a:rPr lang="en-US" sz="1300" b="1" i="0" noProof="0" dirty="0" err="1">
                <a:solidFill>
                  <a:srgbClr val="0D4A5C"/>
                </a:solidFill>
                <a:latin typeface="Segoe UI"/>
              </a:rPr>
              <a:t>המעטפת</a:t>
            </a:r>
            <a:endParaRPr lang="en-US" sz="1300" b="1" i="0" noProof="0" dirty="0">
              <a:solidFill>
                <a:srgbClr val="0D4A5C"/>
              </a:solidFill>
              <a:latin typeface="Segoe UI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749808" y="5221731"/>
            <a:ext cx="3133343" cy="4109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09000"/>
              </a:lnSpc>
            </a:pPr>
            <a:r>
              <a:rPr lang="en-US" sz="1050" b="0" i="0" noProof="0" dirty="0" err="1">
                <a:solidFill>
                  <a:srgbClr val="5A6B75"/>
                </a:solidFill>
                <a:latin typeface="Segoe UI"/>
              </a:rPr>
              <a:t>בקשת</a:t>
            </a:r>
            <a:r>
              <a:rPr lang="en-US" sz="1050" b="0" i="0" noProof="0" dirty="0">
                <a:solidFill>
                  <a:srgbClr val="5A6B75"/>
                </a:solidFill>
                <a:latin typeface="Segoe UI"/>
              </a:rPr>
              <a:t> ‏REST‏ </a:t>
            </a:r>
            <a:r>
              <a:rPr lang="en-US" sz="1050" b="0" i="0" noProof="0" dirty="0" err="1">
                <a:solidFill>
                  <a:srgbClr val="5A6B75"/>
                </a:solidFill>
                <a:latin typeface="Segoe UI"/>
              </a:rPr>
              <a:t>כאן</a:t>
            </a:r>
            <a:r>
              <a:rPr lang="en-US" sz="105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5A6B75"/>
                </a:solidFill>
                <a:latin typeface="Segoe UI"/>
              </a:rPr>
              <a:t>היא</a:t>
            </a:r>
            <a:r>
              <a:rPr lang="en-US" sz="105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5A6B75"/>
                </a:solidFill>
                <a:latin typeface="Segoe UI"/>
              </a:rPr>
              <a:t>כמאה</a:t>
            </a:r>
            <a:r>
              <a:rPr lang="en-US" sz="105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5A6B75"/>
                </a:solidFill>
                <a:latin typeface="Segoe UI"/>
              </a:rPr>
              <a:t>בתים</a:t>
            </a:r>
            <a:r>
              <a:rPr lang="en-US" sz="1050" b="0" i="0" noProof="0" dirty="0">
                <a:solidFill>
                  <a:srgbClr val="5A6B75"/>
                </a:solidFill>
                <a:latin typeface="Segoe UI"/>
              </a:rPr>
              <a:t>; </a:t>
            </a:r>
            <a:r>
              <a:rPr lang="en-US" sz="1050" b="0" i="0" noProof="0" dirty="0" err="1">
                <a:solidFill>
                  <a:srgbClr val="5A6B75"/>
                </a:solidFill>
                <a:latin typeface="Segoe UI"/>
              </a:rPr>
              <a:t>הודעת</a:t>
            </a:r>
            <a:r>
              <a:rPr lang="en-US" sz="1050" b="0" i="0" noProof="0" dirty="0">
                <a:solidFill>
                  <a:srgbClr val="5A6B75"/>
                </a:solidFill>
                <a:latin typeface="Segoe UI"/>
              </a:rPr>
              <a:t> ‏SOAP‏ </a:t>
            </a:r>
            <a:r>
              <a:rPr lang="en-US" sz="1050" b="0" i="0" noProof="0" dirty="0" err="1">
                <a:solidFill>
                  <a:srgbClr val="5A6B75"/>
                </a:solidFill>
                <a:latin typeface="Segoe UI"/>
              </a:rPr>
              <a:t>מקבילה</a:t>
            </a:r>
            <a:r>
              <a:rPr lang="en-US" sz="105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5A6B75"/>
                </a:solidFill>
                <a:latin typeface="Segoe UI"/>
              </a:rPr>
              <a:t>חוצה</a:t>
            </a:r>
            <a:r>
              <a:rPr lang="en-US" sz="105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5A6B75"/>
                </a:solidFill>
                <a:latin typeface="Segoe UI"/>
              </a:rPr>
              <a:t>בקלות</a:t>
            </a:r>
            <a:r>
              <a:rPr lang="en-US" sz="1050" b="0" i="0" noProof="0" dirty="0">
                <a:solidFill>
                  <a:srgbClr val="5A6B75"/>
                </a:solidFill>
                <a:latin typeface="Segoe UI"/>
              </a:rPr>
              <a:t> 500 — </a:t>
            </a:r>
            <a:r>
              <a:rPr lang="en-US" sz="1050" b="0" i="0" noProof="0" dirty="0" err="1">
                <a:solidFill>
                  <a:srgbClr val="5A6B75"/>
                </a:solidFill>
                <a:latin typeface="Segoe UI"/>
              </a:rPr>
              <a:t>לפני</a:t>
            </a:r>
            <a:r>
              <a:rPr lang="en-US" sz="105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5A6B75"/>
                </a:solidFill>
                <a:latin typeface="Segoe UI"/>
              </a:rPr>
              <a:t>שנגענו</a:t>
            </a:r>
            <a:r>
              <a:rPr lang="en-US" sz="105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5A6B75"/>
                </a:solidFill>
                <a:latin typeface="Segoe UI"/>
              </a:rPr>
              <a:t>בנתונים</a:t>
            </a:r>
            <a:r>
              <a:rPr lang="en-US" sz="1050" b="0" i="0" noProof="0" dirty="0">
                <a:solidFill>
                  <a:srgbClr val="5A6B75"/>
                </a:solidFill>
                <a:latin typeface="Segoe UI"/>
              </a:rPr>
              <a:t>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66928" y="5760720"/>
            <a:ext cx="11064240" cy="502920"/>
          </a:xfrm>
          <a:prstGeom prst="roundRect">
            <a:avLst>
              <a:gd name="adj" fmla="val 5000"/>
            </a:avLst>
          </a:prstGeom>
          <a:solidFill>
            <a:srgbClr val="F1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38" name="Rectangle 37"/>
          <p:cNvSpPr/>
          <p:nvPr/>
        </p:nvSpPr>
        <p:spPr>
          <a:xfrm>
            <a:off x="11576303" y="5760720"/>
            <a:ext cx="54864" cy="502920"/>
          </a:xfrm>
          <a:prstGeom prst="rect">
            <a:avLst/>
          </a:prstGeom>
          <a:solidFill>
            <a:srgbClr val="C4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39" name="TextBox 38"/>
          <p:cNvSpPr txBox="1"/>
          <p:nvPr/>
        </p:nvSpPr>
        <p:spPr>
          <a:xfrm>
            <a:off x="768096" y="5879592"/>
            <a:ext cx="1062532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08000"/>
              </a:lnSpc>
            </a:pP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שימו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לב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לשורה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הראשונה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: ב-‏REST‏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הפועל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 ‏GET‏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והנתיב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 ‏‎/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api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/movies/42‏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מספרים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 את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כל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הסיפור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. ב-‏SOAP‏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השורה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הראשונה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תמיד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 ‏POST‏ —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ולכן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שום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שרת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ביניים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אינו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יכול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לנחש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מה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הבקשה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מבקשת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,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ולא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לשמור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אותה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במטמון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.</a:t>
            </a:r>
          </a:p>
        </p:txBody>
      </p:sp>
      <p:sp>
        <p:nvSpPr>
          <p:cNvPr id="40" name="Rectangle 7 footer40"/>
          <p:cNvSpPr/>
          <p:nvPr/>
        </p:nvSpPr>
        <p:spPr>
          <a:xfrm>
            <a:off x="566928" y="6382512"/>
            <a:ext cx="11064240" cy="10972"/>
          </a:xfrm>
          <a:prstGeom prst="rect">
            <a:avLst/>
          </a:prstGeom>
          <a:solidFill>
            <a:srgbClr val="E3EA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41" name="TextBox 8 footer41"/>
          <p:cNvSpPr txBox="1"/>
          <p:nvPr/>
        </p:nvSpPr>
        <p:spPr>
          <a:xfrm>
            <a:off x="10424160" y="6473952"/>
            <a:ext cx="1207008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/>
            <a:r>
              <a:rPr lang="en-US" sz="1050" b="0" i="0" noProof="0" dirty="0">
                <a:solidFill>
                  <a:srgbClr val="8D9EA8"/>
                </a:solidFill>
                <a:latin typeface="Segoe UI"/>
              </a:rPr>
              <a:t>‏השוואה‏</a:t>
            </a:r>
          </a:p>
        </p:txBody>
      </p:sp>
      <p:sp>
        <p:nvSpPr>
          <p:cNvPr id="42" name="TextBox 9 footer42"/>
          <p:cNvSpPr txBox="1"/>
          <p:nvPr/>
        </p:nvSpPr>
        <p:spPr>
          <a:xfrm>
            <a:off x="566928" y="6473952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rtl="0"/>
            <a:r>
              <a:rPr lang="en-US" sz="1050" b="0" i="0" noProof="0" dirty="0">
                <a:solidFill>
                  <a:srgbClr val="8D9EA8"/>
                </a:solidFill>
                <a:latin typeface="Segoe UI"/>
              </a:rPr>
              <a:t>12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91440"/>
          </a:xfrm>
          <a:prstGeom prst="rect">
            <a:avLst/>
          </a:prstGeom>
          <a:solidFill>
            <a:srgbClr val="0D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5" name="TextBox 4"/>
          <p:cNvSpPr txBox="1"/>
          <p:nvPr/>
        </p:nvSpPr>
        <p:spPr>
          <a:xfrm>
            <a:off x="566928" y="548640"/>
            <a:ext cx="1106424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/>
            <a:r>
              <a:rPr lang="en-US" sz="2800" b="1" i="0" noProof="0" dirty="0">
                <a:solidFill>
                  <a:srgbClr val="0D4A5C"/>
                </a:solidFill>
                <a:latin typeface="Segoe UI"/>
              </a:rPr>
              <a:t>‏SOAP‏ </a:t>
            </a:r>
            <a:r>
              <a:rPr lang="en-US" sz="2800" b="1" i="0" noProof="0" dirty="0" err="1">
                <a:solidFill>
                  <a:srgbClr val="0D4A5C"/>
                </a:solidFill>
                <a:latin typeface="Segoe UI"/>
              </a:rPr>
              <a:t>מול</a:t>
            </a:r>
            <a:r>
              <a:rPr lang="en-US" sz="2800" b="1" i="0" noProof="0" dirty="0">
                <a:solidFill>
                  <a:srgbClr val="0D4A5C"/>
                </a:solidFill>
                <a:latin typeface="Segoe UI"/>
              </a:rPr>
              <a:t> ‏REST‏ — </a:t>
            </a:r>
            <a:r>
              <a:rPr lang="en-US" sz="2800" b="1" i="0" noProof="0" dirty="0" err="1">
                <a:solidFill>
                  <a:srgbClr val="0D4A5C"/>
                </a:solidFill>
                <a:latin typeface="Segoe UI"/>
              </a:rPr>
              <a:t>מבט</a:t>
            </a:r>
            <a:r>
              <a:rPr lang="en-US" sz="2800" b="1" i="0" noProof="0" dirty="0">
                <a:solidFill>
                  <a:srgbClr val="0D4A5C"/>
                </a:solidFill>
                <a:latin typeface="Segoe UI"/>
              </a:rPr>
              <a:t> </a:t>
            </a:r>
            <a:r>
              <a:rPr lang="en-US" sz="2800" b="1" i="0" noProof="0" dirty="0" err="1">
                <a:solidFill>
                  <a:srgbClr val="0D4A5C"/>
                </a:solidFill>
                <a:latin typeface="Segoe UI"/>
              </a:rPr>
              <a:t>כללי</a:t>
            </a:r>
            <a:endParaRPr lang="en-US" sz="2800" b="1" i="0" noProof="0" dirty="0">
              <a:solidFill>
                <a:srgbClr val="0D4A5C"/>
              </a:solidFill>
              <a:latin typeface="Segoe U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66928" y="1097280"/>
            <a:ext cx="110642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/>
            <a:r>
              <a:rPr lang="en-US" sz="1450" b="0" i="0" noProof="0" dirty="0" err="1">
                <a:solidFill>
                  <a:srgbClr val="5A6B75"/>
                </a:solidFill>
                <a:latin typeface="Segoe UI"/>
              </a:rPr>
              <a:t>שתי</a:t>
            </a:r>
            <a:r>
              <a:rPr lang="en-US" sz="145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450" b="0" i="0" noProof="0" dirty="0" err="1">
                <a:solidFill>
                  <a:srgbClr val="5A6B75"/>
                </a:solidFill>
                <a:latin typeface="Segoe UI"/>
              </a:rPr>
              <a:t>גישות</a:t>
            </a:r>
            <a:r>
              <a:rPr lang="en-US" sz="145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450" b="0" i="0" noProof="0" dirty="0" err="1">
                <a:solidFill>
                  <a:srgbClr val="5A6B75"/>
                </a:solidFill>
                <a:latin typeface="Segoe UI"/>
              </a:rPr>
              <a:t>שונות</a:t>
            </a:r>
            <a:r>
              <a:rPr lang="en-US" sz="145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450" b="0" i="0" noProof="0" dirty="0" err="1">
                <a:solidFill>
                  <a:srgbClr val="5A6B75"/>
                </a:solidFill>
                <a:latin typeface="Segoe UI"/>
              </a:rPr>
              <a:t>לאותה</a:t>
            </a:r>
            <a:r>
              <a:rPr lang="en-US" sz="145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450" b="0" i="0" noProof="0" dirty="0" err="1">
                <a:solidFill>
                  <a:srgbClr val="5A6B75"/>
                </a:solidFill>
                <a:latin typeface="Segoe UI"/>
              </a:rPr>
              <a:t>בעיה</a:t>
            </a:r>
            <a:r>
              <a:rPr lang="en-US" sz="1450" b="0" i="0" noProof="0" dirty="0">
                <a:solidFill>
                  <a:srgbClr val="5A6B75"/>
                </a:solidFill>
                <a:latin typeface="Segoe UI"/>
              </a:rPr>
              <a:t>: </a:t>
            </a:r>
            <a:r>
              <a:rPr lang="en-US" sz="1450" b="0" i="0" noProof="0" dirty="0" err="1">
                <a:solidFill>
                  <a:srgbClr val="5A6B75"/>
                </a:solidFill>
                <a:latin typeface="Segoe UI"/>
              </a:rPr>
              <a:t>איך</a:t>
            </a:r>
            <a:r>
              <a:rPr lang="en-US" sz="145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450" b="0" i="0" noProof="0" dirty="0" err="1">
                <a:solidFill>
                  <a:srgbClr val="5A6B75"/>
                </a:solidFill>
                <a:latin typeface="Segoe UI"/>
              </a:rPr>
              <a:t>שתי</a:t>
            </a:r>
            <a:r>
              <a:rPr lang="en-US" sz="145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450" b="0" i="0" noProof="0" dirty="0" err="1">
                <a:solidFill>
                  <a:srgbClr val="5A6B75"/>
                </a:solidFill>
                <a:latin typeface="Segoe UI"/>
              </a:rPr>
              <a:t>מערכות</a:t>
            </a:r>
            <a:r>
              <a:rPr lang="en-US" sz="145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450" b="0" i="0" noProof="0" dirty="0" err="1">
                <a:solidFill>
                  <a:srgbClr val="5A6B75"/>
                </a:solidFill>
                <a:latin typeface="Segoe UI"/>
              </a:rPr>
              <a:t>זרות</a:t>
            </a:r>
            <a:r>
              <a:rPr lang="en-US" sz="145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450" b="0" i="0" noProof="0" dirty="0" err="1">
                <a:solidFill>
                  <a:srgbClr val="5A6B75"/>
                </a:solidFill>
                <a:latin typeface="Segoe UI"/>
              </a:rPr>
              <a:t>יסכימו</a:t>
            </a:r>
            <a:r>
              <a:rPr lang="en-US" sz="145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450" b="0" i="0" noProof="0" dirty="0" err="1">
                <a:solidFill>
                  <a:srgbClr val="5A6B75"/>
                </a:solidFill>
                <a:latin typeface="Segoe UI"/>
              </a:rPr>
              <a:t>על</a:t>
            </a:r>
            <a:r>
              <a:rPr lang="en-US" sz="145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450" b="0" i="0" noProof="0" dirty="0" err="1">
                <a:solidFill>
                  <a:srgbClr val="5A6B75"/>
                </a:solidFill>
                <a:latin typeface="Segoe UI"/>
              </a:rPr>
              <a:t>שיחה</a:t>
            </a:r>
            <a:endParaRPr lang="en-US" sz="1450" b="0" i="0" noProof="0" dirty="0">
              <a:solidFill>
                <a:srgbClr val="5A6B75"/>
              </a:solidFill>
              <a:latin typeface="Segoe UI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0898197" y="319603"/>
            <a:ext cx="705538" cy="63675"/>
          </a:xfrm>
          <a:prstGeom prst="rect">
            <a:avLst/>
          </a:prstGeom>
          <a:solidFill>
            <a:srgbClr val="C4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8" name="Rectangle 7"/>
          <p:cNvSpPr/>
          <p:nvPr/>
        </p:nvSpPr>
        <p:spPr>
          <a:xfrm>
            <a:off x="566928" y="6382512"/>
            <a:ext cx="11064240" cy="10972"/>
          </a:xfrm>
          <a:prstGeom prst="rect">
            <a:avLst/>
          </a:prstGeom>
          <a:solidFill>
            <a:srgbClr val="E3EA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9" name="TextBox 8"/>
          <p:cNvSpPr txBox="1"/>
          <p:nvPr/>
        </p:nvSpPr>
        <p:spPr>
          <a:xfrm>
            <a:off x="10424160" y="6473952"/>
            <a:ext cx="1207008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/>
            <a:r>
              <a:rPr lang="en-US" sz="1050" b="0" i="0" noProof="0" dirty="0" err="1">
                <a:solidFill>
                  <a:srgbClr val="8D9EA8"/>
                </a:solidFill>
                <a:latin typeface="Segoe UI"/>
              </a:rPr>
              <a:t>‏השוואה‏</a:t>
            </a:r>
            <a:endParaRPr lang="en-US" sz="1050" b="0" i="0" noProof="0" dirty="0">
              <a:solidFill>
                <a:srgbClr val="8D9EA8"/>
              </a:solidFill>
              <a:latin typeface="Segoe U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66928" y="6473952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rtl="0"/>
            <a:r>
              <a:rPr lang="en-US" sz="1050" b="0" i="0" noProof="0" dirty="0">
                <a:solidFill>
                  <a:srgbClr val="8D9EA8"/>
                </a:solidFill>
                <a:latin typeface="Segoe UI"/>
              </a:rPr>
              <a:t>13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1700784"/>
            <a:ext cx="11064240" cy="365760"/>
          </a:xfrm>
          <a:prstGeom prst="rect">
            <a:avLst/>
          </a:prstGeom>
          <a:solidFill>
            <a:srgbClr val="0D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12" name="TextBox 11"/>
          <p:cNvSpPr txBox="1"/>
          <p:nvPr/>
        </p:nvSpPr>
        <p:spPr>
          <a:xfrm>
            <a:off x="9528048" y="1746504"/>
            <a:ext cx="1993391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 rtl="1"/>
            <a:r>
              <a:rPr lang="en-US" sz="1150" b="1" i="0" noProof="0" dirty="0" err="1">
                <a:solidFill>
                  <a:srgbClr val="FFFFFF"/>
                </a:solidFill>
                <a:latin typeface="Segoe UI"/>
              </a:rPr>
              <a:t>קריטריון</a:t>
            </a:r>
            <a:endParaRPr lang="en-US" sz="1150" b="1" i="0" noProof="0" dirty="0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102352" y="1746504"/>
            <a:ext cx="420624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 rtl="1"/>
            <a:r>
              <a:rPr lang="en-US" sz="1150" b="1" i="0" noProof="0" dirty="0">
                <a:solidFill>
                  <a:srgbClr val="FFFFFF"/>
                </a:solidFill>
                <a:latin typeface="Segoe UI"/>
              </a:rPr>
              <a:t>‏SOAP‏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" y="1746504"/>
            <a:ext cx="420624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 rtl="1"/>
            <a:r>
              <a:rPr lang="en-US" sz="1150" b="1" i="0" noProof="0" dirty="0">
                <a:solidFill>
                  <a:srgbClr val="FFFFFF"/>
                </a:solidFill>
                <a:latin typeface="Segoe UI"/>
              </a:rPr>
              <a:t>‏REST‏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2066544"/>
            <a:ext cx="11064240" cy="3063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16" name="Rectangle 15"/>
          <p:cNvSpPr/>
          <p:nvPr/>
        </p:nvSpPr>
        <p:spPr>
          <a:xfrm>
            <a:off x="566928" y="2066544"/>
            <a:ext cx="11064240" cy="7315"/>
          </a:xfrm>
          <a:prstGeom prst="rect">
            <a:avLst/>
          </a:prstGeom>
          <a:solidFill>
            <a:srgbClr val="E3EA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17" name="TextBox 16"/>
          <p:cNvSpPr txBox="1"/>
          <p:nvPr/>
        </p:nvSpPr>
        <p:spPr>
          <a:xfrm>
            <a:off x="9528048" y="2084832"/>
            <a:ext cx="1993391" cy="2697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 rtl="1"/>
            <a:r>
              <a:rPr lang="en-US" sz="1150" b="1" i="0" noProof="0" dirty="0" err="1">
                <a:solidFill>
                  <a:srgbClr val="0F1B24"/>
                </a:solidFill>
                <a:latin typeface="Segoe UI"/>
              </a:rPr>
              <a:t>מהות</a:t>
            </a:r>
            <a:endParaRPr lang="en-US" sz="1150" b="1" i="0" noProof="0" dirty="0">
              <a:solidFill>
                <a:srgbClr val="0F1B24"/>
              </a:solidFill>
              <a:latin typeface="Segoe UI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102352" y="2084832"/>
            <a:ext cx="4206240" cy="2697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 rtl="1"/>
            <a:r>
              <a:rPr lang="en-US" sz="1150" b="0" i="0" noProof="0" dirty="0" err="1">
                <a:solidFill>
                  <a:srgbClr val="0F1B24"/>
                </a:solidFill>
                <a:latin typeface="Segoe UI"/>
              </a:rPr>
              <a:t>פרוטוקול</a:t>
            </a:r>
            <a:r>
              <a:rPr lang="en-US" sz="11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150" b="0" i="0" noProof="0" dirty="0" err="1">
                <a:solidFill>
                  <a:srgbClr val="0F1B24"/>
                </a:solidFill>
                <a:latin typeface="Segoe UI"/>
              </a:rPr>
              <a:t>תקני</a:t>
            </a:r>
            <a:r>
              <a:rPr lang="en-US" sz="11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150" b="0" i="0" noProof="0" dirty="0" err="1">
                <a:solidFill>
                  <a:srgbClr val="0F1B24"/>
                </a:solidFill>
                <a:latin typeface="Segoe UI"/>
              </a:rPr>
              <a:t>של</a:t>
            </a:r>
            <a:r>
              <a:rPr lang="en-US" sz="1150" b="0" i="0" noProof="0" dirty="0">
                <a:solidFill>
                  <a:srgbClr val="0F1B24"/>
                </a:solidFill>
                <a:latin typeface="Segoe UI"/>
              </a:rPr>
              <a:t> ‏W3C‏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6" y="2084832"/>
            <a:ext cx="4206240" cy="2697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 rtl="1"/>
            <a:r>
              <a:rPr lang="en-US" sz="1150" b="0" i="0" noProof="0" dirty="0" err="1">
                <a:solidFill>
                  <a:srgbClr val="0F1B24"/>
                </a:solidFill>
                <a:latin typeface="Segoe UI"/>
              </a:rPr>
              <a:t>סגנון</a:t>
            </a:r>
            <a:r>
              <a:rPr lang="en-US" sz="11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150" b="0" i="0" noProof="0" dirty="0" err="1">
                <a:solidFill>
                  <a:srgbClr val="0F1B24"/>
                </a:solidFill>
                <a:latin typeface="Segoe UI"/>
              </a:rPr>
              <a:t>ארכיטקטוני</a:t>
            </a:r>
            <a:r>
              <a:rPr lang="en-US" sz="1150" b="0" i="0" noProof="0" dirty="0">
                <a:solidFill>
                  <a:srgbClr val="0F1B24"/>
                </a:solidFill>
                <a:latin typeface="Segoe UI"/>
              </a:rPr>
              <a:t> ‏‎(Fielding, 2000)‎‏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2372868"/>
            <a:ext cx="11064240" cy="306324"/>
          </a:xfrm>
          <a:prstGeom prst="rect">
            <a:avLst/>
          </a:prstGeom>
          <a:solidFill>
            <a:srgbClr val="F1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21" name="Rectangle 20"/>
          <p:cNvSpPr/>
          <p:nvPr/>
        </p:nvSpPr>
        <p:spPr>
          <a:xfrm>
            <a:off x="566928" y="2372868"/>
            <a:ext cx="11064240" cy="7315"/>
          </a:xfrm>
          <a:prstGeom prst="rect">
            <a:avLst/>
          </a:prstGeom>
          <a:solidFill>
            <a:srgbClr val="E3EA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22" name="TextBox 21"/>
          <p:cNvSpPr txBox="1"/>
          <p:nvPr/>
        </p:nvSpPr>
        <p:spPr>
          <a:xfrm>
            <a:off x="9528048" y="2391156"/>
            <a:ext cx="1993391" cy="2697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 rtl="1"/>
            <a:r>
              <a:rPr lang="en-US" sz="1150" b="1" i="0" noProof="0" dirty="0" err="1">
                <a:solidFill>
                  <a:srgbClr val="0F1B24"/>
                </a:solidFill>
                <a:latin typeface="Segoe UI"/>
              </a:rPr>
              <a:t>יחידת</a:t>
            </a:r>
            <a:r>
              <a:rPr lang="en-US" sz="1150" b="1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150" b="1" i="0" noProof="0" dirty="0" err="1">
                <a:solidFill>
                  <a:srgbClr val="0F1B24"/>
                </a:solidFill>
                <a:latin typeface="Segoe UI"/>
              </a:rPr>
              <a:t>העבודה</a:t>
            </a:r>
            <a:endParaRPr lang="en-US" sz="1150" b="1" i="0" noProof="0" dirty="0">
              <a:solidFill>
                <a:srgbClr val="0F1B24"/>
              </a:solidFill>
              <a:latin typeface="Segoe UI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102352" y="2391156"/>
            <a:ext cx="4206240" cy="2697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 rtl="1"/>
            <a:r>
              <a:rPr lang="en-US" sz="1150" b="0" i="0" noProof="0" dirty="0" err="1">
                <a:solidFill>
                  <a:srgbClr val="0F1B24"/>
                </a:solidFill>
                <a:latin typeface="Segoe UI"/>
              </a:rPr>
              <a:t>פעולה</a:t>
            </a:r>
            <a:r>
              <a:rPr lang="en-US" sz="1150" b="0" i="0" noProof="0" dirty="0">
                <a:solidFill>
                  <a:srgbClr val="0F1B24"/>
                </a:solidFill>
                <a:latin typeface="Segoe UI"/>
              </a:rPr>
              <a:t> / </a:t>
            </a:r>
            <a:r>
              <a:rPr lang="en-US" sz="1150" b="0" i="0" noProof="0" dirty="0" err="1">
                <a:solidFill>
                  <a:srgbClr val="0F1B24"/>
                </a:solidFill>
                <a:latin typeface="Segoe UI"/>
              </a:rPr>
              <a:t>מתודה</a:t>
            </a:r>
            <a:r>
              <a:rPr lang="en-US" sz="11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150" b="0" i="0" noProof="0" dirty="0" err="1">
                <a:solidFill>
                  <a:srgbClr val="0F1B24"/>
                </a:solidFill>
                <a:latin typeface="Segoe UI"/>
              </a:rPr>
              <a:t>מרוחקת</a:t>
            </a:r>
            <a:endParaRPr lang="en-US" sz="1150" b="0" i="0" noProof="0" dirty="0">
              <a:solidFill>
                <a:srgbClr val="0F1B24"/>
              </a:solidFill>
              <a:latin typeface="Segoe UI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76656" y="2391156"/>
            <a:ext cx="4206240" cy="2697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 rtl="1"/>
            <a:r>
              <a:rPr lang="en-US" sz="1150" b="0" i="0" noProof="0" dirty="0" err="1">
                <a:solidFill>
                  <a:srgbClr val="0F1B24"/>
                </a:solidFill>
                <a:latin typeface="Segoe UI"/>
              </a:rPr>
              <a:t>משאב</a:t>
            </a:r>
            <a:r>
              <a:rPr lang="en-US" sz="11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150" b="0" i="0" noProof="0" dirty="0" err="1">
                <a:solidFill>
                  <a:srgbClr val="0F1B24"/>
                </a:solidFill>
                <a:latin typeface="Segoe UI"/>
              </a:rPr>
              <a:t>המזוהה</a:t>
            </a:r>
            <a:r>
              <a:rPr lang="en-US" sz="11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150" b="0" i="0" noProof="0" dirty="0" err="1">
                <a:solidFill>
                  <a:srgbClr val="0F1B24"/>
                </a:solidFill>
                <a:latin typeface="Segoe UI"/>
              </a:rPr>
              <a:t>על</a:t>
            </a:r>
            <a:r>
              <a:rPr lang="en-US" sz="11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150" b="0" i="0" noProof="0" dirty="0" err="1">
                <a:solidFill>
                  <a:srgbClr val="0F1B24"/>
                </a:solidFill>
                <a:latin typeface="Segoe UI"/>
              </a:rPr>
              <a:t>ידי</a:t>
            </a:r>
            <a:r>
              <a:rPr lang="en-US" sz="1150" b="0" i="0" noProof="0" dirty="0">
                <a:solidFill>
                  <a:srgbClr val="0F1B24"/>
                </a:solidFill>
                <a:latin typeface="Segoe UI"/>
              </a:rPr>
              <a:t> ‏URI‏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6928" y="2679192"/>
            <a:ext cx="11064240" cy="3063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26" name="Rectangle 25"/>
          <p:cNvSpPr/>
          <p:nvPr/>
        </p:nvSpPr>
        <p:spPr>
          <a:xfrm>
            <a:off x="566928" y="2679192"/>
            <a:ext cx="11064240" cy="7315"/>
          </a:xfrm>
          <a:prstGeom prst="rect">
            <a:avLst/>
          </a:prstGeom>
          <a:solidFill>
            <a:srgbClr val="E3EA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27" name="TextBox 26"/>
          <p:cNvSpPr txBox="1"/>
          <p:nvPr/>
        </p:nvSpPr>
        <p:spPr>
          <a:xfrm>
            <a:off x="9528048" y="2697480"/>
            <a:ext cx="1993391" cy="2697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 rtl="1"/>
            <a:r>
              <a:rPr lang="en-US" sz="1150" b="1" i="0" noProof="0" dirty="0" err="1">
                <a:solidFill>
                  <a:srgbClr val="0F1B24"/>
                </a:solidFill>
                <a:latin typeface="Segoe UI"/>
              </a:rPr>
              <a:t>פורמט</a:t>
            </a:r>
            <a:r>
              <a:rPr lang="en-US" sz="1150" b="1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150" b="1" i="0" noProof="0" dirty="0" err="1">
                <a:solidFill>
                  <a:srgbClr val="0F1B24"/>
                </a:solidFill>
                <a:latin typeface="Segoe UI"/>
              </a:rPr>
              <a:t>ההודעה</a:t>
            </a:r>
            <a:endParaRPr lang="en-US" sz="1150" b="1" i="0" noProof="0" dirty="0">
              <a:solidFill>
                <a:srgbClr val="0F1B24"/>
              </a:solidFill>
              <a:latin typeface="Segoe UI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5102352" y="2697480"/>
            <a:ext cx="4206240" cy="2697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 rtl="1"/>
            <a:r>
              <a:rPr lang="en-US" sz="1150" b="0" i="0" noProof="0" dirty="0">
                <a:solidFill>
                  <a:srgbClr val="0F1B24"/>
                </a:solidFill>
                <a:latin typeface="Segoe UI"/>
              </a:rPr>
              <a:t>‏XML‏ </a:t>
            </a:r>
            <a:r>
              <a:rPr lang="en-US" sz="1150" b="0" i="0" noProof="0" dirty="0" err="1">
                <a:solidFill>
                  <a:srgbClr val="0F1B24"/>
                </a:solidFill>
                <a:latin typeface="Segoe UI"/>
              </a:rPr>
              <a:t>בלבד</a:t>
            </a:r>
            <a:r>
              <a:rPr lang="en-US" sz="1150" b="0" i="0" noProof="0" dirty="0">
                <a:solidFill>
                  <a:srgbClr val="0F1B24"/>
                </a:solidFill>
                <a:latin typeface="Segoe UI"/>
              </a:rPr>
              <a:t>, </a:t>
            </a:r>
            <a:r>
              <a:rPr lang="en-US" sz="1150" b="0" i="0" noProof="0" dirty="0" err="1">
                <a:solidFill>
                  <a:srgbClr val="0F1B24"/>
                </a:solidFill>
                <a:latin typeface="Segoe UI"/>
              </a:rPr>
              <a:t>בתוך</a:t>
            </a:r>
            <a:r>
              <a:rPr lang="en-US" sz="1150" b="0" i="0" noProof="0" dirty="0">
                <a:solidFill>
                  <a:srgbClr val="0F1B24"/>
                </a:solidFill>
                <a:latin typeface="Segoe UI"/>
              </a:rPr>
              <a:t> ‏SOAP Envelope‏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6656" y="2697480"/>
            <a:ext cx="4206240" cy="2697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 rtl="1"/>
            <a:r>
              <a:rPr lang="en-US" sz="1150" b="0" i="0" noProof="0" dirty="0">
                <a:solidFill>
                  <a:srgbClr val="0F1B24"/>
                </a:solidFill>
                <a:latin typeface="Segoe UI"/>
              </a:rPr>
              <a:t>‏JSON, XML‏, </a:t>
            </a:r>
            <a:r>
              <a:rPr lang="en-US" sz="1150" b="0" i="0" noProof="0" dirty="0" err="1">
                <a:solidFill>
                  <a:srgbClr val="0F1B24"/>
                </a:solidFill>
                <a:latin typeface="Segoe UI"/>
              </a:rPr>
              <a:t>טקסט</a:t>
            </a:r>
            <a:r>
              <a:rPr lang="en-US" sz="1150" b="0" i="0" noProof="0" dirty="0">
                <a:solidFill>
                  <a:srgbClr val="0F1B24"/>
                </a:solidFill>
                <a:latin typeface="Segoe UI"/>
              </a:rPr>
              <a:t>, ‏HTML‏, </a:t>
            </a:r>
            <a:r>
              <a:rPr lang="en-US" sz="1150" b="0" i="0" noProof="0" dirty="0" err="1">
                <a:solidFill>
                  <a:srgbClr val="0F1B24"/>
                </a:solidFill>
                <a:latin typeface="Segoe UI"/>
              </a:rPr>
              <a:t>מדיה</a:t>
            </a:r>
            <a:endParaRPr lang="en-US" sz="1150" b="0" i="0" noProof="0" dirty="0">
              <a:solidFill>
                <a:srgbClr val="0F1B24"/>
              </a:solidFill>
              <a:latin typeface="Segoe UI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566928" y="2985516"/>
            <a:ext cx="11064240" cy="306324"/>
          </a:xfrm>
          <a:prstGeom prst="rect">
            <a:avLst/>
          </a:prstGeom>
          <a:solidFill>
            <a:srgbClr val="F1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31" name="Rectangle 30"/>
          <p:cNvSpPr/>
          <p:nvPr/>
        </p:nvSpPr>
        <p:spPr>
          <a:xfrm>
            <a:off x="566928" y="2985516"/>
            <a:ext cx="11064240" cy="7315"/>
          </a:xfrm>
          <a:prstGeom prst="rect">
            <a:avLst/>
          </a:prstGeom>
          <a:solidFill>
            <a:srgbClr val="E3EA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32" name="TextBox 31"/>
          <p:cNvSpPr txBox="1"/>
          <p:nvPr/>
        </p:nvSpPr>
        <p:spPr>
          <a:xfrm>
            <a:off x="9528048" y="3003804"/>
            <a:ext cx="1993391" cy="2697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 rtl="1"/>
            <a:r>
              <a:rPr lang="en-US" sz="1150" b="1" i="0" noProof="0" dirty="0" err="1">
                <a:solidFill>
                  <a:srgbClr val="0F1B24"/>
                </a:solidFill>
                <a:latin typeface="Segoe UI"/>
              </a:rPr>
              <a:t>החוזה</a:t>
            </a:r>
            <a:endParaRPr lang="en-US" sz="1150" b="1" i="0" noProof="0" dirty="0">
              <a:solidFill>
                <a:srgbClr val="0F1B24"/>
              </a:solidFill>
              <a:latin typeface="Segoe UI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5102352" y="3003804"/>
            <a:ext cx="4206240" cy="2697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 rtl="1"/>
            <a:r>
              <a:rPr lang="en-US" sz="1150" b="0" i="0" noProof="0" dirty="0">
                <a:solidFill>
                  <a:srgbClr val="0F1B24"/>
                </a:solidFill>
                <a:latin typeface="Segoe UI"/>
              </a:rPr>
              <a:t>‏WSDL‏ — </a:t>
            </a:r>
            <a:r>
              <a:rPr lang="en-US" sz="1150" b="0" i="0" noProof="0" dirty="0" err="1">
                <a:solidFill>
                  <a:srgbClr val="0F1B24"/>
                </a:solidFill>
                <a:latin typeface="Segoe UI"/>
              </a:rPr>
              <a:t>פורמלי</a:t>
            </a:r>
            <a:r>
              <a:rPr lang="en-US" sz="1150" b="0" i="0" noProof="0" dirty="0">
                <a:solidFill>
                  <a:srgbClr val="0F1B24"/>
                </a:solidFill>
                <a:latin typeface="Segoe UI"/>
              </a:rPr>
              <a:t>, </a:t>
            </a:r>
            <a:r>
              <a:rPr lang="en-US" sz="1150" b="0" i="0" noProof="0" dirty="0" err="1">
                <a:solidFill>
                  <a:srgbClr val="0F1B24"/>
                </a:solidFill>
                <a:latin typeface="Segoe UI"/>
              </a:rPr>
              <a:t>מחייב</a:t>
            </a:r>
            <a:r>
              <a:rPr lang="en-US" sz="11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150" b="0" i="0" noProof="0" dirty="0" err="1">
                <a:solidFill>
                  <a:srgbClr val="0F1B24"/>
                </a:solidFill>
                <a:latin typeface="Segoe UI"/>
              </a:rPr>
              <a:t>ונוצר</a:t>
            </a:r>
            <a:r>
              <a:rPr lang="en-US" sz="11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150" b="0" i="0" noProof="0" dirty="0" err="1">
                <a:solidFill>
                  <a:srgbClr val="0F1B24"/>
                </a:solidFill>
                <a:latin typeface="Segoe UI"/>
              </a:rPr>
              <a:t>אוטומטית</a:t>
            </a:r>
            <a:endParaRPr lang="en-US" sz="1150" b="0" i="0" noProof="0" dirty="0">
              <a:solidFill>
                <a:srgbClr val="0F1B24"/>
              </a:solidFill>
              <a:latin typeface="Segoe UI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676656" y="3003804"/>
            <a:ext cx="4206240" cy="2697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 rtl="1"/>
            <a:r>
              <a:rPr lang="en-US" sz="1150" b="0" i="0" noProof="0" dirty="0">
                <a:solidFill>
                  <a:srgbClr val="0F1B24"/>
                </a:solidFill>
                <a:latin typeface="Segoe UI"/>
              </a:rPr>
              <a:t>‏</a:t>
            </a:r>
            <a:r>
              <a:rPr lang="en-US" sz="1150" b="0" i="0" noProof="0" dirty="0" err="1">
                <a:solidFill>
                  <a:srgbClr val="0F1B24"/>
                </a:solidFill>
                <a:latin typeface="Segoe UI"/>
              </a:rPr>
              <a:t>OpenAPI</a:t>
            </a:r>
            <a:r>
              <a:rPr lang="en-US" sz="1150" b="0" i="0" noProof="0" dirty="0">
                <a:solidFill>
                  <a:srgbClr val="0F1B24"/>
                </a:solidFill>
                <a:latin typeface="Segoe UI"/>
              </a:rPr>
              <a:t> / WADL‏ — </a:t>
            </a:r>
            <a:r>
              <a:rPr lang="en-US" sz="1150" b="0" i="0" noProof="0" dirty="0" err="1">
                <a:solidFill>
                  <a:srgbClr val="0F1B24"/>
                </a:solidFill>
                <a:latin typeface="Segoe UI"/>
              </a:rPr>
              <a:t>מומלץ</a:t>
            </a:r>
            <a:r>
              <a:rPr lang="en-US" sz="1150" b="0" i="0" noProof="0" dirty="0">
                <a:solidFill>
                  <a:srgbClr val="0F1B24"/>
                </a:solidFill>
                <a:latin typeface="Segoe UI"/>
              </a:rPr>
              <a:t>, </a:t>
            </a:r>
            <a:r>
              <a:rPr lang="en-US" sz="1150" b="0" i="0" noProof="0" dirty="0" err="1">
                <a:solidFill>
                  <a:srgbClr val="0F1B24"/>
                </a:solidFill>
                <a:latin typeface="Segoe UI"/>
              </a:rPr>
              <a:t>אינו</a:t>
            </a:r>
            <a:r>
              <a:rPr lang="en-US" sz="11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150" b="0" i="0" noProof="0" dirty="0" err="1">
                <a:solidFill>
                  <a:srgbClr val="0F1B24"/>
                </a:solidFill>
                <a:latin typeface="Segoe UI"/>
              </a:rPr>
              <a:t>חובה</a:t>
            </a:r>
            <a:endParaRPr lang="en-US" sz="1150" b="0" i="0" noProof="0" dirty="0">
              <a:solidFill>
                <a:srgbClr val="0F1B24"/>
              </a:solidFill>
              <a:latin typeface="Segoe UI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566928" y="3291840"/>
            <a:ext cx="11064240" cy="3063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36" name="Rectangle 35"/>
          <p:cNvSpPr/>
          <p:nvPr/>
        </p:nvSpPr>
        <p:spPr>
          <a:xfrm>
            <a:off x="566928" y="3291840"/>
            <a:ext cx="11064240" cy="7315"/>
          </a:xfrm>
          <a:prstGeom prst="rect">
            <a:avLst/>
          </a:prstGeom>
          <a:solidFill>
            <a:srgbClr val="E3EA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37" name="TextBox 36"/>
          <p:cNvSpPr txBox="1"/>
          <p:nvPr/>
        </p:nvSpPr>
        <p:spPr>
          <a:xfrm>
            <a:off x="9528048" y="3310128"/>
            <a:ext cx="1993391" cy="2697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 rtl="1"/>
            <a:r>
              <a:rPr lang="en-US" sz="1150" b="1" i="0" noProof="0" dirty="0" err="1">
                <a:solidFill>
                  <a:srgbClr val="0F1B24"/>
                </a:solidFill>
                <a:latin typeface="Segoe UI"/>
              </a:rPr>
              <a:t>תחבורה</a:t>
            </a:r>
            <a:endParaRPr lang="en-US" sz="1150" b="1" i="0" noProof="0" dirty="0">
              <a:solidFill>
                <a:srgbClr val="0F1B24"/>
              </a:solidFill>
              <a:latin typeface="Segoe UI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5102352" y="3310128"/>
            <a:ext cx="4206240" cy="2697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 rtl="1"/>
            <a:r>
              <a:rPr lang="en-US" sz="1150" b="0" i="0" noProof="0" dirty="0">
                <a:solidFill>
                  <a:srgbClr val="0F1B24"/>
                </a:solidFill>
                <a:latin typeface="Segoe UI"/>
              </a:rPr>
              <a:t>‏HTTP, SMTP, JMS, TCP‏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6656" y="3310128"/>
            <a:ext cx="4206240" cy="2697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 rtl="1"/>
            <a:r>
              <a:rPr lang="en-US" sz="1150" b="0" i="0" noProof="0" dirty="0">
                <a:solidFill>
                  <a:srgbClr val="0F1B24"/>
                </a:solidFill>
                <a:latin typeface="Segoe UI"/>
              </a:rPr>
              <a:t>‏HTTP‏ </a:t>
            </a:r>
            <a:r>
              <a:rPr lang="en-US" sz="1150" b="0" i="0" noProof="0" dirty="0" err="1">
                <a:solidFill>
                  <a:srgbClr val="0F1B24"/>
                </a:solidFill>
                <a:latin typeface="Segoe UI"/>
              </a:rPr>
              <a:t>בלבד</a:t>
            </a:r>
            <a:endParaRPr lang="en-US" sz="1150" b="0" i="0" noProof="0" dirty="0">
              <a:solidFill>
                <a:srgbClr val="0F1B24"/>
              </a:solidFill>
              <a:latin typeface="Segoe UI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566928" y="3598164"/>
            <a:ext cx="11064240" cy="306324"/>
          </a:xfrm>
          <a:prstGeom prst="rect">
            <a:avLst/>
          </a:prstGeom>
          <a:solidFill>
            <a:srgbClr val="F1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41" name="Rectangle 40"/>
          <p:cNvSpPr/>
          <p:nvPr/>
        </p:nvSpPr>
        <p:spPr>
          <a:xfrm>
            <a:off x="566928" y="3598164"/>
            <a:ext cx="11064240" cy="7315"/>
          </a:xfrm>
          <a:prstGeom prst="rect">
            <a:avLst/>
          </a:prstGeom>
          <a:solidFill>
            <a:srgbClr val="E3EA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42" name="TextBox 41"/>
          <p:cNvSpPr txBox="1"/>
          <p:nvPr/>
        </p:nvSpPr>
        <p:spPr>
          <a:xfrm>
            <a:off x="9528048" y="3616452"/>
            <a:ext cx="1993391" cy="2697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 rtl="1"/>
            <a:r>
              <a:rPr lang="en-US" sz="1150" b="1" i="0" noProof="0" dirty="0" err="1">
                <a:solidFill>
                  <a:srgbClr val="0F1B24"/>
                </a:solidFill>
                <a:latin typeface="Segoe UI"/>
              </a:rPr>
              <a:t>זיהוי</a:t>
            </a:r>
            <a:r>
              <a:rPr lang="en-US" sz="1150" b="1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150" b="1" i="0" noProof="0" dirty="0" err="1">
                <a:solidFill>
                  <a:srgbClr val="0F1B24"/>
                </a:solidFill>
                <a:latin typeface="Segoe UI"/>
              </a:rPr>
              <a:t>הפעולה</a:t>
            </a:r>
            <a:endParaRPr lang="en-US" sz="1150" b="1" i="0" noProof="0" dirty="0">
              <a:solidFill>
                <a:srgbClr val="0F1B24"/>
              </a:solidFill>
              <a:latin typeface="Segoe UI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5102352" y="3616452"/>
            <a:ext cx="4206240" cy="2697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 rtl="1"/>
            <a:r>
              <a:rPr lang="en-US" sz="1150" b="0" i="0" noProof="0" dirty="0">
                <a:solidFill>
                  <a:srgbClr val="0F1B24"/>
                </a:solidFill>
                <a:latin typeface="Segoe UI"/>
              </a:rPr>
              <a:t>שם </a:t>
            </a:r>
            <a:r>
              <a:rPr lang="en-US" sz="1150" b="0" i="0" noProof="0" dirty="0" err="1">
                <a:solidFill>
                  <a:srgbClr val="0F1B24"/>
                </a:solidFill>
                <a:latin typeface="Segoe UI"/>
              </a:rPr>
              <a:t>המתודה</a:t>
            </a:r>
            <a:r>
              <a:rPr lang="en-US" sz="11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150" b="0" i="0" noProof="0" dirty="0" err="1">
                <a:solidFill>
                  <a:srgbClr val="0F1B24"/>
                </a:solidFill>
                <a:latin typeface="Segoe UI"/>
              </a:rPr>
              <a:t>בתוך</a:t>
            </a:r>
            <a:r>
              <a:rPr lang="en-US" sz="11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150" b="0" i="0" noProof="0" dirty="0" err="1">
                <a:solidFill>
                  <a:srgbClr val="0F1B24"/>
                </a:solidFill>
                <a:latin typeface="Segoe UI"/>
              </a:rPr>
              <a:t>גוף</a:t>
            </a:r>
            <a:r>
              <a:rPr lang="en-US" sz="11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150" b="0" i="0" noProof="0" dirty="0" err="1">
                <a:solidFill>
                  <a:srgbClr val="0F1B24"/>
                </a:solidFill>
                <a:latin typeface="Segoe UI"/>
              </a:rPr>
              <a:t>ההודעה</a:t>
            </a:r>
            <a:endParaRPr lang="en-US" sz="1150" b="0" i="0" noProof="0" dirty="0">
              <a:solidFill>
                <a:srgbClr val="0F1B24"/>
              </a:solidFill>
              <a:latin typeface="Segoe UI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676656" y="3616452"/>
            <a:ext cx="4206240" cy="2697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 rtl="1"/>
            <a:r>
              <a:rPr lang="en-US" sz="1150" b="0" i="0" noProof="0" dirty="0" err="1">
                <a:solidFill>
                  <a:srgbClr val="0F1B24"/>
                </a:solidFill>
                <a:latin typeface="Segoe UI"/>
              </a:rPr>
              <a:t>פועל</a:t>
            </a:r>
            <a:r>
              <a:rPr lang="en-US" sz="1150" b="0" i="0" noProof="0" dirty="0">
                <a:solidFill>
                  <a:srgbClr val="0F1B24"/>
                </a:solidFill>
                <a:latin typeface="Segoe UI"/>
              </a:rPr>
              <a:t> ‏HTTP‏ </a:t>
            </a:r>
            <a:r>
              <a:rPr lang="en-US" sz="1150" b="0" i="0" noProof="0" dirty="0" err="1">
                <a:solidFill>
                  <a:srgbClr val="0F1B24"/>
                </a:solidFill>
                <a:latin typeface="Segoe UI"/>
              </a:rPr>
              <a:t>יחד</a:t>
            </a:r>
            <a:r>
              <a:rPr lang="en-US" sz="11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150" b="0" i="0" noProof="0" dirty="0" err="1">
                <a:solidFill>
                  <a:srgbClr val="0F1B24"/>
                </a:solidFill>
                <a:latin typeface="Segoe UI"/>
              </a:rPr>
              <a:t>עם</a:t>
            </a:r>
            <a:r>
              <a:rPr lang="en-US" sz="11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150" b="0" i="0" noProof="0" dirty="0" err="1">
                <a:solidFill>
                  <a:srgbClr val="0F1B24"/>
                </a:solidFill>
                <a:latin typeface="Segoe UI"/>
              </a:rPr>
              <a:t>נתיב</a:t>
            </a:r>
            <a:r>
              <a:rPr lang="en-US" sz="1150" b="0" i="0" noProof="0" dirty="0">
                <a:solidFill>
                  <a:srgbClr val="0F1B24"/>
                </a:solidFill>
                <a:latin typeface="Segoe UI"/>
              </a:rPr>
              <a:t> ה-‏URI‏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66928" y="3904488"/>
            <a:ext cx="11064240" cy="3063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46" name="Rectangle 45"/>
          <p:cNvSpPr/>
          <p:nvPr/>
        </p:nvSpPr>
        <p:spPr>
          <a:xfrm>
            <a:off x="566928" y="3904488"/>
            <a:ext cx="11064240" cy="7315"/>
          </a:xfrm>
          <a:prstGeom prst="rect">
            <a:avLst/>
          </a:prstGeom>
          <a:solidFill>
            <a:srgbClr val="E3EA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47" name="TextBox 46"/>
          <p:cNvSpPr txBox="1"/>
          <p:nvPr/>
        </p:nvSpPr>
        <p:spPr>
          <a:xfrm>
            <a:off x="9528048" y="3922776"/>
            <a:ext cx="1993391" cy="2697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 rtl="1"/>
            <a:r>
              <a:rPr lang="en-US" sz="1150" b="1" i="0" noProof="0" dirty="0" err="1">
                <a:solidFill>
                  <a:srgbClr val="0F1B24"/>
                </a:solidFill>
                <a:latin typeface="Segoe UI"/>
              </a:rPr>
              <a:t>ניהול</a:t>
            </a:r>
            <a:r>
              <a:rPr lang="en-US" sz="1150" b="1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150" b="1" i="0" noProof="0" dirty="0" err="1">
                <a:solidFill>
                  <a:srgbClr val="0F1B24"/>
                </a:solidFill>
                <a:latin typeface="Segoe UI"/>
              </a:rPr>
              <a:t>מצב</a:t>
            </a:r>
            <a:endParaRPr lang="en-US" sz="1150" b="1" i="0" noProof="0" dirty="0">
              <a:solidFill>
                <a:srgbClr val="0F1B24"/>
              </a:solidFill>
              <a:latin typeface="Segoe UI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5102352" y="3922776"/>
            <a:ext cx="4206240" cy="2697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 rtl="1"/>
            <a:r>
              <a:rPr lang="en-US" sz="1150" b="0" i="0" noProof="0" dirty="0" err="1">
                <a:solidFill>
                  <a:srgbClr val="0F1B24"/>
                </a:solidFill>
                <a:latin typeface="Segoe UI"/>
              </a:rPr>
              <a:t>יכול</a:t>
            </a:r>
            <a:r>
              <a:rPr lang="en-US" sz="11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150" b="0" i="0" noProof="0" dirty="0" err="1">
                <a:solidFill>
                  <a:srgbClr val="0F1B24"/>
                </a:solidFill>
                <a:latin typeface="Segoe UI"/>
              </a:rPr>
              <a:t>לשמור</a:t>
            </a:r>
            <a:r>
              <a:rPr lang="en-US" sz="1150" b="0" i="0" noProof="0" dirty="0">
                <a:solidFill>
                  <a:srgbClr val="0F1B24"/>
                </a:solidFill>
                <a:latin typeface="Segoe UI"/>
              </a:rPr>
              <a:t> ‏session‏ </a:t>
            </a:r>
            <a:r>
              <a:rPr lang="en-US" sz="1150" b="0" i="0" noProof="0" dirty="0" err="1">
                <a:solidFill>
                  <a:srgbClr val="0F1B24"/>
                </a:solidFill>
                <a:latin typeface="Segoe UI"/>
              </a:rPr>
              <a:t>בצד</a:t>
            </a:r>
            <a:r>
              <a:rPr lang="en-US" sz="11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150" b="0" i="0" noProof="0" dirty="0" err="1">
                <a:solidFill>
                  <a:srgbClr val="0F1B24"/>
                </a:solidFill>
                <a:latin typeface="Segoe UI"/>
              </a:rPr>
              <a:t>השרת</a:t>
            </a:r>
            <a:endParaRPr lang="en-US" sz="1150" b="0" i="0" noProof="0" dirty="0">
              <a:solidFill>
                <a:srgbClr val="0F1B24"/>
              </a:solidFill>
              <a:latin typeface="Segoe UI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676656" y="3922776"/>
            <a:ext cx="4206240" cy="2697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 rtl="1"/>
            <a:r>
              <a:rPr lang="en-US" sz="1150" b="0" i="0" noProof="0" dirty="0" err="1">
                <a:solidFill>
                  <a:srgbClr val="0F1B24"/>
                </a:solidFill>
                <a:latin typeface="Segoe UI"/>
              </a:rPr>
              <a:t>חסר-מצב</a:t>
            </a:r>
            <a:r>
              <a:rPr lang="en-US" sz="11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150" b="0" i="0" noProof="0" dirty="0" err="1">
                <a:solidFill>
                  <a:srgbClr val="0F1B24"/>
                </a:solidFill>
                <a:latin typeface="Segoe UI"/>
              </a:rPr>
              <a:t>לפי</a:t>
            </a:r>
            <a:r>
              <a:rPr lang="en-US" sz="11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150" b="0" i="0" noProof="0" dirty="0" err="1">
                <a:solidFill>
                  <a:srgbClr val="0F1B24"/>
                </a:solidFill>
                <a:latin typeface="Segoe UI"/>
              </a:rPr>
              <a:t>אילוץ</a:t>
            </a:r>
            <a:r>
              <a:rPr lang="en-US" sz="11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150" b="0" i="0" noProof="0" dirty="0" err="1">
                <a:solidFill>
                  <a:srgbClr val="0F1B24"/>
                </a:solidFill>
                <a:latin typeface="Segoe UI"/>
              </a:rPr>
              <a:t>ארכיטקטוני</a:t>
            </a:r>
            <a:endParaRPr lang="en-US" sz="1150" b="0" i="0" noProof="0" dirty="0">
              <a:solidFill>
                <a:srgbClr val="0F1B24"/>
              </a:solidFill>
              <a:latin typeface="Segoe UI"/>
            </a:endParaRPr>
          </a:p>
        </p:txBody>
      </p:sp>
      <p:sp>
        <p:nvSpPr>
          <p:cNvPr id="50" name="Rectangle 49"/>
          <p:cNvSpPr/>
          <p:nvPr/>
        </p:nvSpPr>
        <p:spPr>
          <a:xfrm>
            <a:off x="566928" y="4210812"/>
            <a:ext cx="11064240" cy="306324"/>
          </a:xfrm>
          <a:prstGeom prst="rect">
            <a:avLst/>
          </a:prstGeom>
          <a:solidFill>
            <a:srgbClr val="F1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51" name="Rectangle 50"/>
          <p:cNvSpPr/>
          <p:nvPr/>
        </p:nvSpPr>
        <p:spPr>
          <a:xfrm>
            <a:off x="566928" y="4210812"/>
            <a:ext cx="11064240" cy="7315"/>
          </a:xfrm>
          <a:prstGeom prst="rect">
            <a:avLst/>
          </a:prstGeom>
          <a:solidFill>
            <a:srgbClr val="E3EA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52" name="TextBox 51"/>
          <p:cNvSpPr txBox="1"/>
          <p:nvPr/>
        </p:nvSpPr>
        <p:spPr>
          <a:xfrm>
            <a:off x="9528048" y="4229100"/>
            <a:ext cx="1993391" cy="2697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 rtl="1"/>
            <a:r>
              <a:rPr lang="en-US" sz="1150" b="1" i="0" noProof="0" dirty="0" err="1">
                <a:solidFill>
                  <a:srgbClr val="0F1B24"/>
                </a:solidFill>
                <a:latin typeface="Segoe UI"/>
              </a:rPr>
              <a:t>מטמון</a:t>
            </a:r>
            <a:endParaRPr lang="en-US" sz="1150" b="1" i="0" noProof="0" dirty="0">
              <a:solidFill>
                <a:srgbClr val="0F1B24"/>
              </a:solidFill>
              <a:latin typeface="Segoe UI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5102352" y="4229100"/>
            <a:ext cx="4206240" cy="2697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 rtl="1"/>
            <a:r>
              <a:rPr lang="en-US" sz="1150" b="0" i="0" noProof="0" dirty="0" err="1">
                <a:solidFill>
                  <a:srgbClr val="0F1B24"/>
                </a:solidFill>
                <a:latin typeface="Segoe UI"/>
              </a:rPr>
              <a:t>כמעט</a:t>
            </a:r>
            <a:r>
              <a:rPr lang="en-US" sz="11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150" b="0" i="0" noProof="0" dirty="0" err="1">
                <a:solidFill>
                  <a:srgbClr val="0F1B24"/>
                </a:solidFill>
                <a:latin typeface="Segoe UI"/>
              </a:rPr>
              <a:t>בלתי</a:t>
            </a:r>
            <a:r>
              <a:rPr lang="en-US" sz="11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150" b="0" i="0" noProof="0" dirty="0" err="1">
                <a:solidFill>
                  <a:srgbClr val="0F1B24"/>
                </a:solidFill>
                <a:latin typeface="Segoe UI"/>
              </a:rPr>
              <a:t>אפשרי</a:t>
            </a:r>
            <a:r>
              <a:rPr lang="en-US" sz="1150" b="0" i="0" noProof="0" dirty="0">
                <a:solidFill>
                  <a:srgbClr val="0F1B24"/>
                </a:solidFill>
                <a:latin typeface="Segoe UI"/>
              </a:rPr>
              <a:t> — </a:t>
            </a:r>
            <a:r>
              <a:rPr lang="en-US" sz="1150" b="0" i="0" noProof="0" dirty="0" err="1">
                <a:solidFill>
                  <a:srgbClr val="0F1B24"/>
                </a:solidFill>
                <a:latin typeface="Segoe UI"/>
              </a:rPr>
              <a:t>הכול</a:t>
            </a:r>
            <a:r>
              <a:rPr lang="en-US" sz="1150" b="0" i="0" noProof="0" dirty="0">
                <a:solidFill>
                  <a:srgbClr val="0F1B24"/>
                </a:solidFill>
                <a:latin typeface="Segoe UI"/>
              </a:rPr>
              <a:t> ‏POST‏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76656" y="4229100"/>
            <a:ext cx="4206240" cy="2697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 rtl="1"/>
            <a:r>
              <a:rPr lang="en-US" sz="1150" b="0" i="0" noProof="0" dirty="0" err="1">
                <a:solidFill>
                  <a:srgbClr val="0F1B24"/>
                </a:solidFill>
                <a:latin typeface="Segoe UI"/>
              </a:rPr>
              <a:t>מובנה</a:t>
            </a:r>
            <a:r>
              <a:rPr lang="en-US" sz="1150" b="0" i="0" noProof="0" dirty="0">
                <a:solidFill>
                  <a:srgbClr val="0F1B24"/>
                </a:solidFill>
                <a:latin typeface="Segoe UI"/>
              </a:rPr>
              <a:t> ב-‏HTTP‏ </a:t>
            </a:r>
            <a:r>
              <a:rPr lang="en-US" sz="1150" b="0" i="0" noProof="0" dirty="0" err="1">
                <a:solidFill>
                  <a:srgbClr val="0F1B24"/>
                </a:solidFill>
                <a:latin typeface="Segoe UI"/>
              </a:rPr>
              <a:t>עבור</a:t>
            </a:r>
            <a:r>
              <a:rPr lang="en-US" sz="11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150" b="0" i="0" noProof="0" dirty="0" err="1">
                <a:solidFill>
                  <a:srgbClr val="0F1B24"/>
                </a:solidFill>
                <a:latin typeface="Segoe UI"/>
              </a:rPr>
              <a:t>בקשות</a:t>
            </a:r>
            <a:r>
              <a:rPr lang="en-US" sz="1150" b="0" i="0" noProof="0" dirty="0">
                <a:solidFill>
                  <a:srgbClr val="0F1B24"/>
                </a:solidFill>
                <a:latin typeface="Segoe UI"/>
              </a:rPr>
              <a:t> ‏GET‏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66928" y="4517136"/>
            <a:ext cx="11064240" cy="3063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56" name="Rectangle 55"/>
          <p:cNvSpPr/>
          <p:nvPr/>
        </p:nvSpPr>
        <p:spPr>
          <a:xfrm>
            <a:off x="566928" y="4517136"/>
            <a:ext cx="11064240" cy="7315"/>
          </a:xfrm>
          <a:prstGeom prst="rect">
            <a:avLst/>
          </a:prstGeom>
          <a:solidFill>
            <a:srgbClr val="E3EA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57" name="TextBox 56"/>
          <p:cNvSpPr txBox="1"/>
          <p:nvPr/>
        </p:nvSpPr>
        <p:spPr>
          <a:xfrm>
            <a:off x="9528048" y="4535424"/>
            <a:ext cx="1993391" cy="2697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 rtl="1"/>
            <a:r>
              <a:rPr lang="en-US" sz="1150" b="1" i="0" noProof="0" dirty="0" err="1">
                <a:solidFill>
                  <a:srgbClr val="0F1B24"/>
                </a:solidFill>
                <a:latin typeface="Segoe UI"/>
              </a:rPr>
              <a:t>אבטחה</a:t>
            </a:r>
            <a:endParaRPr lang="en-US" sz="1150" b="1" i="0" noProof="0" dirty="0">
              <a:solidFill>
                <a:srgbClr val="0F1B24"/>
              </a:solidFill>
              <a:latin typeface="Segoe UI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5102352" y="4535424"/>
            <a:ext cx="4206240" cy="2697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 rtl="1"/>
            <a:r>
              <a:rPr lang="en-US" sz="1150" b="0" i="0" noProof="0" dirty="0">
                <a:solidFill>
                  <a:srgbClr val="0F1B24"/>
                </a:solidFill>
                <a:latin typeface="Segoe UI"/>
              </a:rPr>
              <a:t>‏WS-Security‏ </a:t>
            </a:r>
            <a:r>
              <a:rPr lang="en-US" sz="1150" b="0" i="0" noProof="0" dirty="0" err="1">
                <a:solidFill>
                  <a:srgbClr val="0F1B24"/>
                </a:solidFill>
                <a:latin typeface="Segoe UI"/>
              </a:rPr>
              <a:t>ברמת</a:t>
            </a:r>
            <a:r>
              <a:rPr lang="en-US" sz="11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150" b="0" i="0" noProof="0" dirty="0" err="1">
                <a:solidFill>
                  <a:srgbClr val="0F1B24"/>
                </a:solidFill>
                <a:latin typeface="Segoe UI"/>
              </a:rPr>
              <a:t>ההודעה</a:t>
            </a:r>
            <a:r>
              <a:rPr lang="en-US" sz="1150" b="0" i="0" noProof="0" dirty="0">
                <a:solidFill>
                  <a:srgbClr val="0F1B24"/>
                </a:solidFill>
                <a:latin typeface="Segoe UI"/>
              </a:rPr>
              <a:t>, </a:t>
            </a:r>
            <a:r>
              <a:rPr lang="en-US" sz="1150" b="0" i="0" noProof="0" dirty="0" err="1">
                <a:solidFill>
                  <a:srgbClr val="0F1B24"/>
                </a:solidFill>
                <a:latin typeface="Segoe UI"/>
              </a:rPr>
              <a:t>יחד</a:t>
            </a:r>
            <a:r>
              <a:rPr lang="en-US" sz="11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150" b="0" i="0" noProof="0" dirty="0" err="1">
                <a:solidFill>
                  <a:srgbClr val="0F1B24"/>
                </a:solidFill>
                <a:latin typeface="Segoe UI"/>
              </a:rPr>
              <a:t>עם</a:t>
            </a:r>
            <a:r>
              <a:rPr lang="en-US" sz="1150" b="0" i="0" noProof="0" dirty="0">
                <a:solidFill>
                  <a:srgbClr val="0F1B24"/>
                </a:solidFill>
                <a:latin typeface="Segoe UI"/>
              </a:rPr>
              <a:t> ‏TLS‏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76656" y="4535424"/>
            <a:ext cx="4206240" cy="2697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 rtl="1"/>
            <a:r>
              <a:rPr lang="en-US" sz="1150" b="0" i="0" noProof="0" dirty="0">
                <a:solidFill>
                  <a:srgbClr val="0F1B24"/>
                </a:solidFill>
                <a:latin typeface="Segoe UI"/>
              </a:rPr>
              <a:t>‏HTTPS/TLS, OAuth 2.0‏, </a:t>
            </a:r>
            <a:r>
              <a:rPr lang="en-US" sz="1150" b="0" i="0" noProof="0" dirty="0" err="1">
                <a:solidFill>
                  <a:srgbClr val="0F1B24"/>
                </a:solidFill>
                <a:latin typeface="Segoe UI"/>
              </a:rPr>
              <a:t>מפתחות</a:t>
            </a:r>
            <a:r>
              <a:rPr lang="en-US" sz="1150" b="0" i="0" noProof="0" dirty="0">
                <a:solidFill>
                  <a:srgbClr val="0F1B24"/>
                </a:solidFill>
                <a:latin typeface="Segoe UI"/>
              </a:rPr>
              <a:t> ‏API‏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66928" y="4823460"/>
            <a:ext cx="11064240" cy="306324"/>
          </a:xfrm>
          <a:prstGeom prst="rect">
            <a:avLst/>
          </a:prstGeom>
          <a:solidFill>
            <a:srgbClr val="F1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61" name="Rectangle 60"/>
          <p:cNvSpPr/>
          <p:nvPr/>
        </p:nvSpPr>
        <p:spPr>
          <a:xfrm>
            <a:off x="566928" y="4823460"/>
            <a:ext cx="11064240" cy="7315"/>
          </a:xfrm>
          <a:prstGeom prst="rect">
            <a:avLst/>
          </a:prstGeom>
          <a:solidFill>
            <a:srgbClr val="E3EA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62" name="TextBox 61"/>
          <p:cNvSpPr txBox="1"/>
          <p:nvPr/>
        </p:nvSpPr>
        <p:spPr>
          <a:xfrm>
            <a:off x="9528048" y="4841748"/>
            <a:ext cx="1993391" cy="2697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 rtl="1"/>
            <a:r>
              <a:rPr lang="en-US" sz="1150" b="1" i="0" noProof="0" dirty="0" err="1">
                <a:solidFill>
                  <a:srgbClr val="0F1B24"/>
                </a:solidFill>
                <a:latin typeface="Segoe UI"/>
              </a:rPr>
              <a:t>טיפול</a:t>
            </a:r>
            <a:r>
              <a:rPr lang="en-US" sz="1150" b="1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150" b="1" i="0" noProof="0" dirty="0" err="1">
                <a:solidFill>
                  <a:srgbClr val="0F1B24"/>
                </a:solidFill>
                <a:latin typeface="Segoe UI"/>
              </a:rPr>
              <a:t>בשגיאות</a:t>
            </a:r>
            <a:endParaRPr lang="en-US" sz="1150" b="1" i="0" noProof="0" dirty="0">
              <a:solidFill>
                <a:srgbClr val="0F1B24"/>
              </a:solidFill>
              <a:latin typeface="Segoe UI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5102352" y="4841748"/>
            <a:ext cx="4206240" cy="2697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 rtl="1"/>
            <a:r>
              <a:rPr lang="en-US" sz="1150" b="0" i="0" noProof="0" dirty="0">
                <a:solidFill>
                  <a:srgbClr val="0F1B24"/>
                </a:solidFill>
                <a:latin typeface="Segoe UI"/>
              </a:rPr>
              <a:t>‏SOAP Fault‏ — </a:t>
            </a:r>
            <a:r>
              <a:rPr lang="en-US" sz="1150" b="0" i="0" noProof="0" dirty="0" err="1">
                <a:solidFill>
                  <a:srgbClr val="0F1B24"/>
                </a:solidFill>
                <a:latin typeface="Segoe UI"/>
              </a:rPr>
              <a:t>מבנה</a:t>
            </a:r>
            <a:r>
              <a:rPr lang="en-US" sz="11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150" b="0" i="0" noProof="0" dirty="0" err="1">
                <a:solidFill>
                  <a:srgbClr val="0F1B24"/>
                </a:solidFill>
                <a:latin typeface="Segoe UI"/>
              </a:rPr>
              <a:t>אחיד</a:t>
            </a:r>
            <a:r>
              <a:rPr lang="en-US" sz="11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150" b="0" i="0" noProof="0" dirty="0" err="1">
                <a:solidFill>
                  <a:srgbClr val="0F1B24"/>
                </a:solidFill>
                <a:latin typeface="Segoe UI"/>
              </a:rPr>
              <a:t>ומוגדר</a:t>
            </a:r>
            <a:endParaRPr lang="en-US" sz="1150" b="0" i="0" noProof="0" dirty="0">
              <a:solidFill>
                <a:srgbClr val="0F1B24"/>
              </a:solidFill>
              <a:latin typeface="Segoe UI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676656" y="4841748"/>
            <a:ext cx="4206240" cy="2697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 rtl="1"/>
            <a:r>
              <a:rPr lang="en-US" sz="1150" b="0" i="0" noProof="0" dirty="0" err="1">
                <a:solidFill>
                  <a:srgbClr val="0F1B24"/>
                </a:solidFill>
                <a:latin typeface="Segoe UI"/>
              </a:rPr>
              <a:t>קודי</a:t>
            </a:r>
            <a:r>
              <a:rPr lang="en-US" sz="11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150" b="0" i="0" noProof="0" dirty="0" err="1">
                <a:solidFill>
                  <a:srgbClr val="0F1B24"/>
                </a:solidFill>
                <a:latin typeface="Segoe UI"/>
              </a:rPr>
              <a:t>הסטטוס</a:t>
            </a:r>
            <a:r>
              <a:rPr lang="en-US" sz="11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150" b="0" i="0" noProof="0" dirty="0" err="1">
                <a:solidFill>
                  <a:srgbClr val="0F1B24"/>
                </a:solidFill>
                <a:latin typeface="Segoe UI"/>
              </a:rPr>
              <a:t>של</a:t>
            </a:r>
            <a:r>
              <a:rPr lang="en-US" sz="1150" b="0" i="0" noProof="0" dirty="0">
                <a:solidFill>
                  <a:srgbClr val="0F1B24"/>
                </a:solidFill>
                <a:latin typeface="Segoe UI"/>
              </a:rPr>
              <a:t> ‏HTTP‏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66928" y="5129784"/>
            <a:ext cx="11064240" cy="3063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66" name="Rectangle 65"/>
          <p:cNvSpPr/>
          <p:nvPr/>
        </p:nvSpPr>
        <p:spPr>
          <a:xfrm>
            <a:off x="566928" y="5129784"/>
            <a:ext cx="11064240" cy="7315"/>
          </a:xfrm>
          <a:prstGeom prst="rect">
            <a:avLst/>
          </a:prstGeom>
          <a:solidFill>
            <a:srgbClr val="E3EA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67" name="TextBox 66"/>
          <p:cNvSpPr txBox="1"/>
          <p:nvPr/>
        </p:nvSpPr>
        <p:spPr>
          <a:xfrm>
            <a:off x="9528048" y="5148072"/>
            <a:ext cx="1993391" cy="2697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 rtl="1"/>
            <a:r>
              <a:rPr lang="en-US" sz="1150" b="1" i="0" noProof="0" dirty="0" err="1">
                <a:solidFill>
                  <a:srgbClr val="0F1B24"/>
                </a:solidFill>
                <a:latin typeface="Segoe UI"/>
              </a:rPr>
              <a:t>נפח</a:t>
            </a:r>
            <a:r>
              <a:rPr lang="en-US" sz="1150" b="1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150" b="1" i="0" noProof="0" dirty="0" err="1">
                <a:solidFill>
                  <a:srgbClr val="0F1B24"/>
                </a:solidFill>
                <a:latin typeface="Segoe UI"/>
              </a:rPr>
              <a:t>ומהירות</a:t>
            </a:r>
            <a:endParaRPr lang="en-US" sz="1150" b="1" i="0" noProof="0" dirty="0">
              <a:solidFill>
                <a:srgbClr val="0F1B24"/>
              </a:solidFill>
              <a:latin typeface="Segoe UI"/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5102352" y="5148072"/>
            <a:ext cx="4206240" cy="2697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 rtl="1"/>
            <a:r>
              <a:rPr lang="en-US" sz="1150" b="0" i="0" noProof="0" dirty="0" err="1">
                <a:solidFill>
                  <a:srgbClr val="0F1B24"/>
                </a:solidFill>
                <a:latin typeface="Segoe UI"/>
              </a:rPr>
              <a:t>מלל</a:t>
            </a:r>
            <a:r>
              <a:rPr lang="en-US" sz="11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150" b="0" i="0" noProof="0" dirty="0" err="1">
                <a:solidFill>
                  <a:srgbClr val="0F1B24"/>
                </a:solidFill>
                <a:latin typeface="Segoe UI"/>
              </a:rPr>
              <a:t>רב</a:t>
            </a:r>
            <a:r>
              <a:rPr lang="en-US" sz="1150" b="0" i="0" noProof="0" dirty="0">
                <a:solidFill>
                  <a:srgbClr val="0F1B24"/>
                </a:solidFill>
                <a:latin typeface="Segoe UI"/>
              </a:rPr>
              <a:t>, </a:t>
            </a:r>
            <a:r>
              <a:rPr lang="en-US" sz="1150" b="0" i="0" noProof="0" dirty="0" err="1">
                <a:solidFill>
                  <a:srgbClr val="0F1B24"/>
                </a:solidFill>
                <a:latin typeface="Segoe UI"/>
              </a:rPr>
              <a:t>מעטפת</a:t>
            </a:r>
            <a:r>
              <a:rPr lang="en-US" sz="11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150" b="0" i="0" noProof="0" dirty="0" err="1">
                <a:solidFill>
                  <a:srgbClr val="0F1B24"/>
                </a:solidFill>
                <a:latin typeface="Segoe UI"/>
              </a:rPr>
              <a:t>כבדה</a:t>
            </a:r>
            <a:r>
              <a:rPr lang="en-US" sz="1150" b="0" i="0" noProof="0" dirty="0">
                <a:solidFill>
                  <a:srgbClr val="0F1B24"/>
                </a:solidFill>
                <a:latin typeface="Segoe UI"/>
              </a:rPr>
              <a:t>, </a:t>
            </a:r>
            <a:r>
              <a:rPr lang="en-US" sz="1150" b="0" i="0" noProof="0" dirty="0" err="1">
                <a:solidFill>
                  <a:srgbClr val="0F1B24"/>
                </a:solidFill>
                <a:latin typeface="Segoe UI"/>
              </a:rPr>
              <a:t>ניתוח</a:t>
            </a:r>
            <a:r>
              <a:rPr lang="en-US" sz="1150" b="0" i="0" noProof="0" dirty="0">
                <a:solidFill>
                  <a:srgbClr val="0F1B24"/>
                </a:solidFill>
                <a:latin typeface="Segoe UI"/>
              </a:rPr>
              <a:t> ‏XML‏ </a:t>
            </a:r>
            <a:r>
              <a:rPr lang="en-US" sz="1150" b="0" i="0" noProof="0" dirty="0" err="1">
                <a:solidFill>
                  <a:srgbClr val="0F1B24"/>
                </a:solidFill>
                <a:latin typeface="Segoe UI"/>
              </a:rPr>
              <a:t>יקר</a:t>
            </a:r>
            <a:endParaRPr lang="en-US" sz="1150" b="0" i="0" noProof="0" dirty="0">
              <a:solidFill>
                <a:srgbClr val="0F1B24"/>
              </a:solidFill>
              <a:latin typeface="Segoe UI"/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676656" y="5148072"/>
            <a:ext cx="4206240" cy="2697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 rtl="1"/>
            <a:r>
              <a:rPr lang="en-US" sz="1150" b="0" i="0" noProof="0" dirty="0" err="1">
                <a:solidFill>
                  <a:srgbClr val="0F1B24"/>
                </a:solidFill>
                <a:latin typeface="Segoe UI"/>
              </a:rPr>
              <a:t>תמציתי</a:t>
            </a:r>
            <a:r>
              <a:rPr lang="en-US" sz="1150" b="0" i="0" noProof="0" dirty="0">
                <a:solidFill>
                  <a:srgbClr val="0F1B24"/>
                </a:solidFill>
                <a:latin typeface="Segoe UI"/>
              </a:rPr>
              <a:t>, </a:t>
            </a:r>
            <a:r>
              <a:rPr lang="en-US" sz="1150" b="0" i="0" noProof="0" dirty="0" err="1">
                <a:solidFill>
                  <a:srgbClr val="0F1B24"/>
                </a:solidFill>
                <a:latin typeface="Segoe UI"/>
              </a:rPr>
              <a:t>קל</a:t>
            </a:r>
            <a:r>
              <a:rPr lang="en-US" sz="11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150" b="0" i="0" noProof="0" dirty="0" err="1">
                <a:solidFill>
                  <a:srgbClr val="0F1B24"/>
                </a:solidFill>
                <a:latin typeface="Segoe UI"/>
              </a:rPr>
              <a:t>לניתוח</a:t>
            </a:r>
            <a:r>
              <a:rPr lang="en-US" sz="1150" b="0" i="0" noProof="0" dirty="0">
                <a:solidFill>
                  <a:srgbClr val="0F1B24"/>
                </a:solidFill>
                <a:latin typeface="Segoe UI"/>
              </a:rPr>
              <a:t>, </a:t>
            </a:r>
            <a:r>
              <a:rPr lang="en-US" sz="1150" b="0" i="0" noProof="0" dirty="0" err="1">
                <a:solidFill>
                  <a:srgbClr val="0F1B24"/>
                </a:solidFill>
                <a:latin typeface="Segoe UI"/>
              </a:rPr>
              <a:t>מהיר</a:t>
            </a:r>
            <a:endParaRPr lang="en-US" sz="1150" b="0" i="0" noProof="0" dirty="0">
              <a:solidFill>
                <a:srgbClr val="0F1B24"/>
              </a:solidFill>
              <a:latin typeface="Segoe UI"/>
            </a:endParaRPr>
          </a:p>
        </p:txBody>
      </p:sp>
      <p:sp>
        <p:nvSpPr>
          <p:cNvPr id="70" name="Rectangle 69"/>
          <p:cNvSpPr/>
          <p:nvPr/>
        </p:nvSpPr>
        <p:spPr>
          <a:xfrm>
            <a:off x="566928" y="5436108"/>
            <a:ext cx="11064240" cy="306324"/>
          </a:xfrm>
          <a:prstGeom prst="rect">
            <a:avLst/>
          </a:prstGeom>
          <a:solidFill>
            <a:srgbClr val="F1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71" name="Rectangle 70"/>
          <p:cNvSpPr/>
          <p:nvPr/>
        </p:nvSpPr>
        <p:spPr>
          <a:xfrm>
            <a:off x="566928" y="5436108"/>
            <a:ext cx="11064240" cy="7315"/>
          </a:xfrm>
          <a:prstGeom prst="rect">
            <a:avLst/>
          </a:prstGeom>
          <a:solidFill>
            <a:srgbClr val="E3EA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72" name="TextBox 71"/>
          <p:cNvSpPr txBox="1"/>
          <p:nvPr/>
        </p:nvSpPr>
        <p:spPr>
          <a:xfrm>
            <a:off x="9528048" y="5454396"/>
            <a:ext cx="1993391" cy="2697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 rtl="1"/>
            <a:r>
              <a:rPr lang="en-US" sz="1150" b="1" i="0" noProof="0" dirty="0">
                <a:solidFill>
                  <a:srgbClr val="0F1B24"/>
                </a:solidFill>
                <a:latin typeface="Segoe UI"/>
              </a:rPr>
              <a:t>ב-‏Java‏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102352" y="5454396"/>
            <a:ext cx="4206240" cy="2697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 rtl="1"/>
            <a:r>
              <a:rPr lang="en-US" sz="1150" b="0" i="0" noProof="0" dirty="0">
                <a:solidFill>
                  <a:srgbClr val="0F1B24"/>
                </a:solidFill>
                <a:latin typeface="Segoe UI"/>
              </a:rPr>
              <a:t>‏JAX-WS‏ </a:t>
            </a:r>
            <a:r>
              <a:rPr lang="en-US" sz="1150" b="0" i="0" noProof="0" dirty="0" err="1">
                <a:solidFill>
                  <a:srgbClr val="0F1B24"/>
                </a:solidFill>
                <a:latin typeface="Segoe UI"/>
              </a:rPr>
              <a:t>יחד</a:t>
            </a:r>
            <a:r>
              <a:rPr lang="en-US" sz="11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150" b="0" i="0" noProof="0" dirty="0" err="1">
                <a:solidFill>
                  <a:srgbClr val="0F1B24"/>
                </a:solidFill>
                <a:latin typeface="Segoe UI"/>
              </a:rPr>
              <a:t>עם</a:t>
            </a:r>
            <a:r>
              <a:rPr lang="en-US" sz="1150" b="0" i="0" noProof="0" dirty="0">
                <a:solidFill>
                  <a:srgbClr val="0F1B24"/>
                </a:solidFill>
                <a:latin typeface="Segoe UI"/>
              </a:rPr>
              <a:t> ‏</a:t>
            </a:r>
            <a:r>
              <a:rPr lang="en-US" sz="1150" b="0" i="0" noProof="0" dirty="0" err="1">
                <a:solidFill>
                  <a:srgbClr val="0F1B24"/>
                </a:solidFill>
                <a:latin typeface="Segoe UI"/>
              </a:rPr>
              <a:t>wsimport</a:t>
            </a:r>
            <a:r>
              <a:rPr lang="en-US" sz="1150" b="0" i="0" noProof="0" dirty="0">
                <a:solidFill>
                  <a:srgbClr val="0F1B24"/>
                </a:solidFill>
                <a:latin typeface="Segoe UI"/>
              </a:rPr>
              <a:t>‏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76656" y="5454396"/>
            <a:ext cx="4206240" cy="2697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 rtl="1"/>
            <a:r>
              <a:rPr lang="en-US" sz="1150" b="0" i="0" noProof="0" dirty="0">
                <a:solidFill>
                  <a:srgbClr val="0F1B24"/>
                </a:solidFill>
                <a:latin typeface="Segoe UI"/>
              </a:rPr>
              <a:t>‏JAX-RS‏ </a:t>
            </a:r>
            <a:r>
              <a:rPr lang="en-US" sz="1150" b="0" i="0" noProof="0" dirty="0" err="1">
                <a:solidFill>
                  <a:srgbClr val="0F1B24"/>
                </a:solidFill>
                <a:latin typeface="Segoe UI"/>
              </a:rPr>
              <a:t>יחד</a:t>
            </a:r>
            <a:r>
              <a:rPr lang="en-US" sz="11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150" b="0" i="0" noProof="0" dirty="0" err="1">
                <a:solidFill>
                  <a:srgbClr val="0F1B24"/>
                </a:solidFill>
                <a:latin typeface="Segoe UI"/>
              </a:rPr>
              <a:t>עם</a:t>
            </a:r>
            <a:r>
              <a:rPr lang="en-US" sz="1150" b="0" i="0" noProof="0" dirty="0">
                <a:solidFill>
                  <a:srgbClr val="0F1B24"/>
                </a:solidFill>
                <a:latin typeface="Segoe UI"/>
              </a:rPr>
              <a:t> ‏Jersey‏</a:t>
            </a:r>
          </a:p>
        </p:txBody>
      </p:sp>
      <p:sp>
        <p:nvSpPr>
          <p:cNvPr id="75" name="Rectangle 74"/>
          <p:cNvSpPr/>
          <p:nvPr/>
        </p:nvSpPr>
        <p:spPr>
          <a:xfrm>
            <a:off x="566928" y="1700784"/>
            <a:ext cx="11064240" cy="4041648"/>
          </a:xfrm>
          <a:prstGeom prst="rect">
            <a:avLst/>
          </a:prstGeom>
          <a:noFill/>
          <a:ln w="9525">
            <a:solidFill>
              <a:srgbClr val="E3EA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76" name="Rounded Rectangle 75"/>
          <p:cNvSpPr/>
          <p:nvPr/>
        </p:nvSpPr>
        <p:spPr>
          <a:xfrm>
            <a:off x="566928" y="5815584"/>
            <a:ext cx="11064240" cy="429768"/>
          </a:xfrm>
          <a:prstGeom prst="roundRect">
            <a:avLst>
              <a:gd name="adj" fmla="val 5000"/>
            </a:avLst>
          </a:prstGeom>
          <a:solidFill>
            <a:srgbClr val="F1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77" name="Rectangle 76"/>
          <p:cNvSpPr/>
          <p:nvPr/>
        </p:nvSpPr>
        <p:spPr>
          <a:xfrm>
            <a:off x="11576303" y="5815584"/>
            <a:ext cx="54864" cy="429768"/>
          </a:xfrm>
          <a:prstGeom prst="rect">
            <a:avLst/>
          </a:prstGeom>
          <a:solidFill>
            <a:srgbClr val="C4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78" name="TextBox 77"/>
          <p:cNvSpPr txBox="1"/>
          <p:nvPr/>
        </p:nvSpPr>
        <p:spPr>
          <a:xfrm>
            <a:off x="768096" y="5934456"/>
            <a:ext cx="1062532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08000"/>
              </a:lnSpc>
            </a:pP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אין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כאן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מנצח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מוחלט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: ‏SOAP‏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הוא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מעטפת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תקנית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עם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כללים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נוקשים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, ‏REST‏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הוא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שימוש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ממושמע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במה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 ש-‏HTTP‏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ממילא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יודע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לעשות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.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הבחירה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נגזרת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מהדרישות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 —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ולזה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נחזור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בהמשך.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91440"/>
          </a:xfrm>
          <a:prstGeom prst="rect">
            <a:avLst/>
          </a:prstGeom>
          <a:solidFill>
            <a:srgbClr val="0D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5" name="TextBox 4"/>
          <p:cNvSpPr txBox="1"/>
          <p:nvPr/>
        </p:nvSpPr>
        <p:spPr>
          <a:xfrm>
            <a:off x="566928" y="548640"/>
            <a:ext cx="1106424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/>
            <a:r>
              <a:rPr lang="en-US" sz="2800" b="1" i="0" noProof="0" dirty="0" err="1">
                <a:solidFill>
                  <a:srgbClr val="0D4A5C"/>
                </a:solidFill>
                <a:latin typeface="Segoe UI"/>
              </a:rPr>
              <a:t>ניהול</a:t>
            </a:r>
            <a:r>
              <a:rPr lang="en-US" sz="2800" b="1" i="0" noProof="0" dirty="0">
                <a:solidFill>
                  <a:srgbClr val="0D4A5C"/>
                </a:solidFill>
                <a:latin typeface="Segoe UI"/>
              </a:rPr>
              <a:t> </a:t>
            </a:r>
            <a:r>
              <a:rPr lang="en-US" sz="2800" b="1" i="0" noProof="0" dirty="0" err="1">
                <a:solidFill>
                  <a:srgbClr val="0D4A5C"/>
                </a:solidFill>
                <a:latin typeface="Segoe UI"/>
              </a:rPr>
              <a:t>מצב</a:t>
            </a:r>
            <a:r>
              <a:rPr lang="en-US" sz="2800" b="1" i="0" noProof="0" dirty="0">
                <a:solidFill>
                  <a:srgbClr val="0D4A5C"/>
                </a:solidFill>
                <a:latin typeface="Segoe UI"/>
              </a:rPr>
              <a:t> — ‏SOAP‏ </a:t>
            </a:r>
            <a:r>
              <a:rPr lang="en-US" sz="2800" b="1" i="0" noProof="0" dirty="0" err="1">
                <a:solidFill>
                  <a:srgbClr val="0D4A5C"/>
                </a:solidFill>
                <a:latin typeface="Segoe UI"/>
              </a:rPr>
              <a:t>מול</a:t>
            </a:r>
            <a:r>
              <a:rPr lang="en-US" sz="2800" b="1" i="0" noProof="0" dirty="0">
                <a:solidFill>
                  <a:srgbClr val="0D4A5C"/>
                </a:solidFill>
                <a:latin typeface="Segoe UI"/>
              </a:rPr>
              <a:t> ‏REST‏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097280"/>
            <a:ext cx="110642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/>
            <a:r>
              <a:rPr lang="en-US" sz="1450" b="0" i="0" noProof="0" dirty="0" err="1">
                <a:solidFill>
                  <a:srgbClr val="5A6B75"/>
                </a:solidFill>
                <a:latin typeface="Segoe UI"/>
              </a:rPr>
              <a:t>האם</a:t>
            </a:r>
            <a:r>
              <a:rPr lang="en-US" sz="145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450" b="0" i="0" noProof="0" dirty="0" err="1">
                <a:solidFill>
                  <a:srgbClr val="5A6B75"/>
                </a:solidFill>
                <a:latin typeface="Segoe UI"/>
              </a:rPr>
              <a:t>השרת</a:t>
            </a:r>
            <a:r>
              <a:rPr lang="en-US" sz="145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450" b="0" i="0" noProof="0" dirty="0" err="1">
                <a:solidFill>
                  <a:srgbClr val="5A6B75"/>
                </a:solidFill>
                <a:latin typeface="Segoe UI"/>
              </a:rPr>
              <a:t>זוכר</a:t>
            </a:r>
            <a:r>
              <a:rPr lang="en-US" sz="145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450" b="0" i="0" noProof="0" dirty="0" err="1">
                <a:solidFill>
                  <a:srgbClr val="5A6B75"/>
                </a:solidFill>
                <a:latin typeface="Segoe UI"/>
              </a:rPr>
              <a:t>מי</a:t>
            </a:r>
            <a:r>
              <a:rPr lang="en-US" sz="145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450" b="0" i="0" noProof="0" dirty="0" err="1">
                <a:solidFill>
                  <a:srgbClr val="5A6B75"/>
                </a:solidFill>
                <a:latin typeface="Segoe UI"/>
              </a:rPr>
              <a:t>אתה</a:t>
            </a:r>
            <a:r>
              <a:rPr lang="en-US" sz="145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450" b="0" i="0" noProof="0" dirty="0" err="1">
                <a:solidFill>
                  <a:srgbClr val="5A6B75"/>
                </a:solidFill>
                <a:latin typeface="Segoe UI"/>
              </a:rPr>
              <a:t>בין</a:t>
            </a:r>
            <a:r>
              <a:rPr lang="en-US" sz="145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450" b="0" i="0" noProof="0" dirty="0" err="1">
                <a:solidFill>
                  <a:srgbClr val="5A6B75"/>
                </a:solidFill>
                <a:latin typeface="Segoe UI"/>
              </a:rPr>
              <a:t>קריאה</a:t>
            </a:r>
            <a:r>
              <a:rPr lang="en-US" sz="145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450" b="0" i="0" noProof="0" dirty="0" err="1">
                <a:solidFill>
                  <a:srgbClr val="5A6B75"/>
                </a:solidFill>
                <a:latin typeface="Segoe UI"/>
              </a:rPr>
              <a:t>לקריאה</a:t>
            </a:r>
            <a:r>
              <a:rPr lang="en-US" sz="1450" b="0" i="0" noProof="0" dirty="0">
                <a:solidFill>
                  <a:srgbClr val="5A6B75"/>
                </a:solidFill>
                <a:latin typeface="Segoe UI"/>
              </a:rPr>
              <a:t>? </a:t>
            </a:r>
            <a:r>
              <a:rPr lang="en-US" sz="1450" b="0" i="0" noProof="0" dirty="0" err="1">
                <a:solidFill>
                  <a:srgbClr val="5A6B75"/>
                </a:solidFill>
                <a:latin typeface="Segoe UI"/>
              </a:rPr>
              <a:t>כאן</a:t>
            </a:r>
            <a:r>
              <a:rPr lang="en-US" sz="145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450" b="0" i="0" noProof="0" dirty="0" err="1">
                <a:solidFill>
                  <a:srgbClr val="5A6B75"/>
                </a:solidFill>
                <a:latin typeface="Segoe UI"/>
              </a:rPr>
              <a:t>עובר</a:t>
            </a:r>
            <a:r>
              <a:rPr lang="en-US" sz="145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450" b="0" i="0" noProof="0" dirty="0" err="1">
                <a:solidFill>
                  <a:srgbClr val="5A6B75"/>
                </a:solidFill>
                <a:latin typeface="Segoe UI"/>
              </a:rPr>
              <a:t>קו</a:t>
            </a:r>
            <a:r>
              <a:rPr lang="en-US" sz="145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450" b="0" i="0" noProof="0" dirty="0" err="1">
                <a:solidFill>
                  <a:srgbClr val="5A6B75"/>
                </a:solidFill>
                <a:latin typeface="Segoe UI"/>
              </a:rPr>
              <a:t>השבר</a:t>
            </a:r>
            <a:r>
              <a:rPr lang="en-US" sz="145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450" b="0" i="0" noProof="0" dirty="0" err="1">
                <a:solidFill>
                  <a:srgbClr val="5A6B75"/>
                </a:solidFill>
                <a:latin typeface="Segoe UI"/>
              </a:rPr>
              <a:t>האמיתי</a:t>
            </a:r>
            <a:endParaRPr lang="en-US" sz="1450" b="0" i="0" noProof="0" dirty="0">
              <a:solidFill>
                <a:srgbClr val="5A6B75"/>
              </a:solidFill>
              <a:latin typeface="Segoe UI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0910656" y="475488"/>
            <a:ext cx="720512" cy="64008"/>
          </a:xfrm>
          <a:prstGeom prst="rect">
            <a:avLst/>
          </a:prstGeom>
          <a:solidFill>
            <a:srgbClr val="C4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11" name="Rounded Rectangle 10"/>
          <p:cNvSpPr/>
          <p:nvPr/>
        </p:nvSpPr>
        <p:spPr>
          <a:xfrm>
            <a:off x="6144768" y="1700784"/>
            <a:ext cx="5486400" cy="420624"/>
          </a:xfrm>
          <a:prstGeom prst="roundRect">
            <a:avLst>
              <a:gd name="adj" fmla="val 4000"/>
            </a:avLst>
          </a:prstGeom>
          <a:solidFill>
            <a:srgbClr val="0D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12" name="TextBox 11"/>
          <p:cNvSpPr txBox="1"/>
          <p:nvPr/>
        </p:nvSpPr>
        <p:spPr>
          <a:xfrm>
            <a:off x="6327648" y="1773936"/>
            <a:ext cx="5120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/>
            <a:r>
              <a:rPr lang="en-US" sz="1400" b="1" i="0" noProof="0" dirty="0">
                <a:solidFill>
                  <a:srgbClr val="FFFFFF"/>
                </a:solidFill>
                <a:latin typeface="Segoe UI"/>
              </a:rPr>
              <a:t>‏REST‏ — </a:t>
            </a:r>
            <a:r>
              <a:rPr lang="en-US" sz="1400" b="1" i="0" noProof="0" dirty="0" err="1">
                <a:solidFill>
                  <a:srgbClr val="FFFFFF"/>
                </a:solidFill>
                <a:latin typeface="Segoe UI"/>
              </a:rPr>
              <a:t>חסר</a:t>
            </a:r>
            <a:r>
              <a:rPr lang="en-US" sz="1400" b="1" i="0" noProof="0" dirty="0">
                <a:solidFill>
                  <a:srgbClr val="FFFFFF"/>
                </a:solidFill>
                <a:latin typeface="Segoe UI"/>
              </a:rPr>
              <a:t> </a:t>
            </a:r>
            <a:r>
              <a:rPr lang="en-US" sz="1400" b="1" i="0" noProof="0" dirty="0" err="1">
                <a:solidFill>
                  <a:srgbClr val="FFFFFF"/>
                </a:solidFill>
                <a:latin typeface="Segoe UI"/>
              </a:rPr>
              <a:t>מצב</a:t>
            </a:r>
            <a:r>
              <a:rPr lang="en-US" sz="1400" b="1" i="0" noProof="0" dirty="0">
                <a:solidFill>
                  <a:srgbClr val="FFFFFF"/>
                </a:solidFill>
                <a:latin typeface="Segoe UI"/>
              </a:rPr>
              <a:t> </a:t>
            </a:r>
            <a:r>
              <a:rPr lang="en-US" sz="1400" b="1" i="0" noProof="0" dirty="0" err="1">
                <a:solidFill>
                  <a:srgbClr val="FFFFFF"/>
                </a:solidFill>
                <a:latin typeface="Segoe UI"/>
              </a:rPr>
              <a:t>לפי</a:t>
            </a:r>
            <a:r>
              <a:rPr lang="en-US" sz="1400" b="1" i="0" noProof="0" dirty="0">
                <a:solidFill>
                  <a:srgbClr val="FFFFFF"/>
                </a:solidFill>
                <a:latin typeface="Segoe UI"/>
              </a:rPr>
              <a:t> </a:t>
            </a:r>
            <a:r>
              <a:rPr lang="en-US" sz="1400" b="1" i="0" noProof="0" dirty="0" err="1">
                <a:solidFill>
                  <a:srgbClr val="FFFFFF"/>
                </a:solidFill>
                <a:latin typeface="Segoe UI"/>
              </a:rPr>
              <a:t>הגדרה</a:t>
            </a:r>
            <a:endParaRPr lang="en-US" sz="1400" b="1" i="0" noProof="0" dirty="0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190488" y="2231136"/>
            <a:ext cx="5440680" cy="14684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06000"/>
              </a:lnSpc>
              <a:spcAft>
                <a:spcPts val="600"/>
              </a:spcAft>
            </a:pPr>
            <a:r>
              <a:rPr lang="en-US" sz="1000" b="1" i="0" noProof="0" dirty="0">
                <a:solidFill>
                  <a:srgbClr val="C4622D"/>
                </a:solidFill>
                <a:latin typeface="Segoe UI"/>
              </a:rPr>
              <a:t>● 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אילוץ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 ה-‏statelessness‏: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כל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בקשה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נושאת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בתוכה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 את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כל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המידע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הדרוש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לטיפול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בה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.</a:t>
            </a:r>
          </a:p>
          <a:p>
            <a:pPr algn="r" rtl="1">
              <a:lnSpc>
                <a:spcPct val="106000"/>
              </a:lnSpc>
              <a:spcAft>
                <a:spcPts val="600"/>
              </a:spcAft>
            </a:pPr>
            <a:r>
              <a:rPr lang="en-US" sz="1000" b="1" i="0" noProof="0" dirty="0">
                <a:solidFill>
                  <a:srgbClr val="C4622D"/>
                </a:solidFill>
                <a:latin typeface="Segoe UI"/>
              </a:rPr>
              <a:t>● 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הדיוק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החשוב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: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האילוץ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נוגע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למצב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השיחה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,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לא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למצב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המשאב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 —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הנתונים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נשמרים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במסד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כרגיל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.</a:t>
            </a:r>
          </a:p>
          <a:p>
            <a:pPr algn="r" rtl="1">
              <a:lnSpc>
                <a:spcPct val="106000"/>
              </a:lnSpc>
              <a:spcAft>
                <a:spcPts val="600"/>
              </a:spcAft>
            </a:pPr>
            <a:r>
              <a:rPr lang="en-US" sz="1000" b="1" i="0" noProof="0" dirty="0">
                <a:solidFill>
                  <a:srgbClr val="C4622D"/>
                </a:solidFill>
                <a:latin typeface="Segoe UI"/>
              </a:rPr>
              <a:t>● 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כל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שרת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יכול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לענות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לכל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בקשה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: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התרחבות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אופקית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טריוויאלית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,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בלי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 ‏sticky sessions‏.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44768" y="4059936"/>
            <a:ext cx="5486400" cy="1371600"/>
          </a:xfrm>
          <a:prstGeom prst="roundRect">
            <a:avLst>
              <a:gd name="adj" fmla="val 3500"/>
            </a:avLst>
          </a:prstGeom>
          <a:solidFill>
            <a:srgbClr val="0B2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15" name="Rounded Rectangle 14"/>
          <p:cNvSpPr/>
          <p:nvPr/>
        </p:nvSpPr>
        <p:spPr>
          <a:xfrm>
            <a:off x="6144768" y="4059936"/>
            <a:ext cx="5486400" cy="274320"/>
          </a:xfrm>
          <a:prstGeom prst="roundRect">
            <a:avLst>
              <a:gd name="adj" fmla="val 9000"/>
            </a:avLst>
          </a:prstGeom>
          <a:solidFill>
            <a:srgbClr val="1139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16" name="Rectangle 15"/>
          <p:cNvSpPr/>
          <p:nvPr/>
        </p:nvSpPr>
        <p:spPr>
          <a:xfrm>
            <a:off x="6144768" y="4224528"/>
            <a:ext cx="5486400" cy="109728"/>
          </a:xfrm>
          <a:prstGeom prst="rect">
            <a:avLst/>
          </a:prstGeom>
          <a:solidFill>
            <a:srgbClr val="1139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17" name="TextBox 16"/>
          <p:cNvSpPr txBox="1"/>
          <p:nvPr/>
        </p:nvSpPr>
        <p:spPr>
          <a:xfrm>
            <a:off x="6291072" y="4110228"/>
            <a:ext cx="47548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rtl="0"/>
            <a:r>
              <a:rPr lang="en-US" sz="950" b="1" i="0" noProof="0" dirty="0" err="1">
                <a:solidFill>
                  <a:srgbClr val="6FA8B8"/>
                </a:solidFill>
                <a:latin typeface="Consolas"/>
              </a:rPr>
              <a:t>כל</a:t>
            </a:r>
            <a:r>
              <a:rPr lang="en-US" sz="950" b="1" i="0" noProof="0" dirty="0">
                <a:solidFill>
                  <a:srgbClr val="6FA8B8"/>
                </a:solidFill>
                <a:latin typeface="Consolas"/>
              </a:rPr>
              <a:t> </a:t>
            </a:r>
            <a:r>
              <a:rPr lang="en-US" sz="950" b="1" i="0" noProof="0" dirty="0" err="1">
                <a:solidFill>
                  <a:srgbClr val="6FA8B8"/>
                </a:solidFill>
                <a:latin typeface="Consolas"/>
              </a:rPr>
              <a:t>בקשה</a:t>
            </a:r>
            <a:r>
              <a:rPr lang="en-US" sz="950" b="1" i="0" noProof="0" dirty="0">
                <a:solidFill>
                  <a:srgbClr val="6FA8B8"/>
                </a:solidFill>
                <a:latin typeface="Consolas"/>
              </a:rPr>
              <a:t> </a:t>
            </a:r>
            <a:r>
              <a:rPr lang="en-US" sz="950" b="1" i="0" noProof="0" dirty="0" err="1">
                <a:solidFill>
                  <a:srgbClr val="6FA8B8"/>
                </a:solidFill>
                <a:latin typeface="Consolas"/>
              </a:rPr>
              <a:t>עומדת</a:t>
            </a:r>
            <a:r>
              <a:rPr lang="en-US" sz="950" b="1" i="0" noProof="0" dirty="0">
                <a:solidFill>
                  <a:srgbClr val="6FA8B8"/>
                </a:solidFill>
                <a:latin typeface="Consolas"/>
              </a:rPr>
              <a:t> </a:t>
            </a:r>
            <a:r>
              <a:rPr lang="en-US" sz="950" b="1" i="0" noProof="0" dirty="0" err="1">
                <a:solidFill>
                  <a:srgbClr val="6FA8B8"/>
                </a:solidFill>
                <a:latin typeface="Consolas"/>
              </a:rPr>
              <a:t>בפני</a:t>
            </a:r>
            <a:r>
              <a:rPr lang="en-US" sz="950" b="1" i="0" noProof="0" dirty="0">
                <a:solidFill>
                  <a:srgbClr val="6FA8B8"/>
                </a:solidFill>
                <a:latin typeface="Consolas"/>
              </a:rPr>
              <a:t> </a:t>
            </a:r>
            <a:r>
              <a:rPr lang="en-US" sz="950" b="1" i="0" noProof="0" dirty="0" err="1">
                <a:solidFill>
                  <a:srgbClr val="6FA8B8"/>
                </a:solidFill>
                <a:latin typeface="Consolas"/>
              </a:rPr>
              <a:t>עצמה</a:t>
            </a:r>
            <a:endParaRPr lang="en-US" sz="950" b="1" i="0" noProof="0" dirty="0">
              <a:solidFill>
                <a:srgbClr val="6FA8B8"/>
              </a:solidFill>
              <a:latin typeface="Consolas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11228832" y="4165092"/>
            <a:ext cx="256032" cy="68580"/>
          </a:xfrm>
          <a:prstGeom prst="roundRect">
            <a:avLst>
              <a:gd name="adj" fmla="val 50000"/>
            </a:avLst>
          </a:prstGeom>
          <a:solidFill>
            <a:srgbClr val="C4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19" name="TextBox 18"/>
          <p:cNvSpPr txBox="1"/>
          <p:nvPr/>
        </p:nvSpPr>
        <p:spPr>
          <a:xfrm>
            <a:off x="6291072" y="4453128"/>
            <a:ext cx="5193792" cy="8595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rtl="0">
              <a:lnSpc>
                <a:spcPts val="1296"/>
              </a:lnSpc>
            </a:pPr>
            <a:r>
              <a:rPr lang="en-US" sz="900" b="1" noProof="0" dirty="0">
                <a:solidFill>
                  <a:srgbClr val="F0A06A"/>
                </a:solidFill>
                <a:latin typeface="Consolas"/>
              </a:rPr>
              <a:t>GET</a:t>
            </a:r>
            <a:r>
              <a:rPr lang="en-US" sz="900" b="0" noProof="0" dirty="0">
                <a:solidFill>
                  <a:srgbClr val="DCE8ED"/>
                </a:solidFill>
                <a:latin typeface="Consolas"/>
              </a:rPr>
              <a:t> /</a:t>
            </a:r>
            <a:r>
              <a:rPr lang="en-US" sz="900" b="0" noProof="0" dirty="0" err="1">
                <a:solidFill>
                  <a:srgbClr val="DCE8ED"/>
                </a:solidFill>
                <a:latin typeface="Consolas"/>
              </a:rPr>
              <a:t>api</a:t>
            </a:r>
            <a:r>
              <a:rPr lang="en-US" sz="900" b="0" noProof="0" dirty="0">
                <a:solidFill>
                  <a:srgbClr val="DCE8ED"/>
                </a:solidFill>
                <a:latin typeface="Consolas"/>
              </a:rPr>
              <a:t>/games/8fa3/hand HTTP/1.1</a:t>
            </a:r>
          </a:p>
          <a:p>
            <a:pPr algn="l" rtl="0">
              <a:lnSpc>
                <a:spcPts val="1296"/>
              </a:lnSpc>
            </a:pPr>
            <a:r>
              <a:rPr lang="en-US" sz="900" b="0" noProof="0" dirty="0">
                <a:solidFill>
                  <a:srgbClr val="7FC7DE"/>
                </a:solidFill>
                <a:latin typeface="Consolas"/>
              </a:rPr>
              <a:t>Authorization:</a:t>
            </a:r>
            <a:r>
              <a:rPr lang="en-US" sz="900" b="0" noProof="0" dirty="0">
                <a:solidFill>
                  <a:srgbClr val="DCE8ED"/>
                </a:solidFill>
                <a:latin typeface="Consolas"/>
              </a:rPr>
              <a:t> Bearer eyJhbGciOiJIUzI1NiIs...</a:t>
            </a:r>
          </a:p>
          <a:p>
            <a:pPr algn="l" rtl="0">
              <a:lnSpc>
                <a:spcPts val="1296"/>
              </a:lnSpc>
            </a:pPr>
            <a:r>
              <a:rPr lang="en-US" sz="900" noProof="0" dirty="0">
                <a:latin typeface="Consolas"/>
              </a:rPr>
              <a:t> </a:t>
            </a:r>
          </a:p>
          <a:p>
            <a:pPr algn="l" rtl="0">
              <a:lnSpc>
                <a:spcPts val="1296"/>
              </a:lnSpc>
            </a:pPr>
            <a:r>
              <a:rPr lang="en-US" sz="900" b="0" noProof="0" dirty="0">
                <a:solidFill>
                  <a:srgbClr val="DCE8ED"/>
                </a:solidFill>
                <a:latin typeface="Consolas"/>
              </a:rPr>
              <a:t># </a:t>
            </a:r>
            <a:r>
              <a:rPr lang="en-US" sz="900" b="0" noProof="0" dirty="0" err="1">
                <a:solidFill>
                  <a:srgbClr val="DCE8ED"/>
                </a:solidFill>
                <a:latin typeface="Consolas"/>
              </a:rPr>
              <a:t>מזהה</a:t>
            </a:r>
            <a:r>
              <a:rPr lang="en-US" sz="900" b="0" noProof="0" dirty="0">
                <a:solidFill>
                  <a:srgbClr val="DCE8ED"/>
                </a:solidFill>
                <a:latin typeface="Consolas"/>
              </a:rPr>
              <a:t> </a:t>
            </a:r>
            <a:r>
              <a:rPr lang="en-US" sz="900" b="0" noProof="0" dirty="0" err="1">
                <a:solidFill>
                  <a:srgbClr val="DCE8ED"/>
                </a:solidFill>
                <a:latin typeface="Consolas"/>
              </a:rPr>
              <a:t>המשחק</a:t>
            </a:r>
            <a:r>
              <a:rPr lang="en-US" sz="900" b="0" noProof="0" dirty="0">
                <a:solidFill>
                  <a:srgbClr val="DCE8ED"/>
                </a:solidFill>
                <a:latin typeface="Consolas"/>
              </a:rPr>
              <a:t> </a:t>
            </a:r>
            <a:r>
              <a:rPr lang="en-US" sz="900" b="0" noProof="0" dirty="0" err="1">
                <a:solidFill>
                  <a:srgbClr val="DCE8ED"/>
                </a:solidFill>
                <a:latin typeface="Consolas"/>
              </a:rPr>
              <a:t>בנתיב</a:t>
            </a:r>
            <a:r>
              <a:rPr lang="en-US" sz="900" b="0" noProof="0" dirty="0">
                <a:solidFill>
                  <a:srgbClr val="DCE8ED"/>
                </a:solidFill>
                <a:latin typeface="Consolas"/>
              </a:rPr>
              <a:t>, </a:t>
            </a:r>
            <a:r>
              <a:rPr lang="en-US" sz="900" b="0" noProof="0" dirty="0" err="1">
                <a:solidFill>
                  <a:srgbClr val="DCE8ED"/>
                </a:solidFill>
                <a:latin typeface="Consolas"/>
              </a:rPr>
              <a:t>זהות</a:t>
            </a:r>
            <a:r>
              <a:rPr lang="en-US" sz="900" b="0" noProof="0" dirty="0">
                <a:solidFill>
                  <a:srgbClr val="DCE8ED"/>
                </a:solidFill>
                <a:latin typeface="Consolas"/>
              </a:rPr>
              <a:t> </a:t>
            </a:r>
            <a:r>
              <a:rPr lang="en-US" sz="900" b="0" noProof="0" dirty="0" err="1">
                <a:solidFill>
                  <a:srgbClr val="DCE8ED"/>
                </a:solidFill>
                <a:latin typeface="Consolas"/>
              </a:rPr>
              <a:t>המשתמש</a:t>
            </a:r>
            <a:r>
              <a:rPr lang="en-US" sz="900" b="0" noProof="0" dirty="0">
                <a:solidFill>
                  <a:srgbClr val="DCE8ED"/>
                </a:solidFill>
                <a:latin typeface="Consolas"/>
              </a:rPr>
              <a:t> </a:t>
            </a:r>
            <a:r>
              <a:rPr lang="en-US" sz="900" b="0" noProof="0" dirty="0" err="1">
                <a:solidFill>
                  <a:srgbClr val="DCE8ED"/>
                </a:solidFill>
                <a:latin typeface="Consolas"/>
              </a:rPr>
              <a:t>בכותרת</a:t>
            </a:r>
            <a:endParaRPr lang="en-US" sz="900" b="0" noProof="0" dirty="0">
              <a:solidFill>
                <a:srgbClr val="DCE8ED"/>
              </a:solidFill>
              <a:latin typeface="Consolas"/>
            </a:endParaRPr>
          </a:p>
          <a:p>
            <a:pPr algn="l" rtl="0">
              <a:lnSpc>
                <a:spcPts val="1296"/>
              </a:lnSpc>
            </a:pPr>
            <a:r>
              <a:rPr lang="en-US" sz="900" b="0" noProof="0" dirty="0">
                <a:solidFill>
                  <a:srgbClr val="DCE8ED"/>
                </a:solidFill>
                <a:latin typeface="Consolas"/>
              </a:rPr>
              <a:t># </a:t>
            </a:r>
            <a:r>
              <a:rPr lang="en-US" sz="900" b="0" noProof="0" dirty="0" err="1">
                <a:solidFill>
                  <a:srgbClr val="DCE8ED"/>
                </a:solidFill>
                <a:latin typeface="Consolas"/>
              </a:rPr>
              <a:t>השרת</a:t>
            </a:r>
            <a:r>
              <a:rPr lang="en-US" sz="900" b="0" noProof="0" dirty="0">
                <a:solidFill>
                  <a:srgbClr val="DCE8ED"/>
                </a:solidFill>
                <a:latin typeface="Consolas"/>
              </a:rPr>
              <a:t> </a:t>
            </a:r>
            <a:r>
              <a:rPr lang="en-US" sz="900" b="0" noProof="0" dirty="0" err="1">
                <a:solidFill>
                  <a:srgbClr val="DCE8ED"/>
                </a:solidFill>
                <a:latin typeface="Consolas"/>
              </a:rPr>
              <a:t>לא</a:t>
            </a:r>
            <a:r>
              <a:rPr lang="en-US" sz="900" b="0" noProof="0" dirty="0">
                <a:solidFill>
                  <a:srgbClr val="DCE8ED"/>
                </a:solidFill>
                <a:latin typeface="Consolas"/>
              </a:rPr>
              <a:t> </a:t>
            </a:r>
            <a:r>
              <a:rPr lang="en-US" sz="900" b="0" noProof="0" dirty="0" err="1">
                <a:solidFill>
                  <a:srgbClr val="DCE8ED"/>
                </a:solidFill>
                <a:latin typeface="Consolas"/>
              </a:rPr>
              <a:t>זקוק</a:t>
            </a:r>
            <a:r>
              <a:rPr lang="en-US" sz="900" b="0" noProof="0" dirty="0">
                <a:solidFill>
                  <a:srgbClr val="DCE8ED"/>
                </a:solidFill>
                <a:latin typeface="Consolas"/>
              </a:rPr>
              <a:t> </a:t>
            </a:r>
            <a:r>
              <a:rPr lang="en-US" sz="900" b="0" noProof="0" dirty="0" err="1">
                <a:solidFill>
                  <a:srgbClr val="DCE8ED"/>
                </a:solidFill>
                <a:latin typeface="Consolas"/>
              </a:rPr>
              <a:t>לשום</a:t>
            </a:r>
            <a:r>
              <a:rPr lang="en-US" sz="900" b="0" noProof="0" dirty="0">
                <a:solidFill>
                  <a:srgbClr val="DCE8ED"/>
                </a:solidFill>
                <a:latin typeface="Consolas"/>
              </a:rPr>
              <a:t> </a:t>
            </a:r>
            <a:r>
              <a:rPr lang="en-US" sz="900" b="0" noProof="0" dirty="0" err="1">
                <a:solidFill>
                  <a:srgbClr val="DCE8ED"/>
                </a:solidFill>
                <a:latin typeface="Consolas"/>
              </a:rPr>
              <a:t>זיכרון</a:t>
            </a:r>
            <a:r>
              <a:rPr lang="en-US" sz="900" b="0" noProof="0" dirty="0">
                <a:solidFill>
                  <a:srgbClr val="DCE8ED"/>
                </a:solidFill>
                <a:latin typeface="Consolas"/>
              </a:rPr>
              <a:t> </a:t>
            </a:r>
            <a:r>
              <a:rPr lang="en-US" sz="900" b="0" noProof="0" dirty="0" err="1">
                <a:solidFill>
                  <a:srgbClr val="DCE8ED"/>
                </a:solidFill>
                <a:latin typeface="Consolas"/>
              </a:rPr>
              <a:t>מהבקשה</a:t>
            </a:r>
            <a:r>
              <a:rPr lang="en-US" sz="900" b="0" noProof="0" dirty="0">
                <a:solidFill>
                  <a:srgbClr val="DCE8ED"/>
                </a:solidFill>
                <a:latin typeface="Consolas"/>
              </a:rPr>
              <a:t> </a:t>
            </a:r>
            <a:r>
              <a:rPr lang="en-US" sz="900" b="0" noProof="0" dirty="0" err="1">
                <a:solidFill>
                  <a:srgbClr val="DCE8ED"/>
                </a:solidFill>
                <a:latin typeface="Consolas"/>
              </a:rPr>
              <a:t>הקודמת</a:t>
            </a:r>
            <a:endParaRPr lang="en-US" sz="900" b="0" noProof="0" dirty="0">
              <a:solidFill>
                <a:srgbClr val="DCE8ED"/>
              </a:solidFill>
              <a:latin typeface="Consolas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566928" y="1700784"/>
            <a:ext cx="5486400" cy="420624"/>
          </a:xfrm>
          <a:prstGeom prst="roundRect">
            <a:avLst>
              <a:gd name="adj" fmla="val 4000"/>
            </a:avLst>
          </a:prstGeom>
          <a:solidFill>
            <a:srgbClr val="C4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21" name="TextBox 20"/>
          <p:cNvSpPr txBox="1"/>
          <p:nvPr/>
        </p:nvSpPr>
        <p:spPr>
          <a:xfrm>
            <a:off x="749808" y="1773936"/>
            <a:ext cx="5120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/>
            <a:r>
              <a:rPr lang="en-US" sz="1400" b="1" i="0" noProof="0" dirty="0">
                <a:solidFill>
                  <a:srgbClr val="FFFFFF"/>
                </a:solidFill>
                <a:latin typeface="Segoe UI"/>
              </a:rPr>
              <a:t>‏SOAP‏ — </a:t>
            </a:r>
            <a:r>
              <a:rPr lang="en-US" sz="1400" b="1" i="0" noProof="0" dirty="0" err="1">
                <a:solidFill>
                  <a:srgbClr val="FFFFFF"/>
                </a:solidFill>
                <a:latin typeface="Segoe UI"/>
              </a:rPr>
              <a:t>יכול</a:t>
            </a:r>
            <a:r>
              <a:rPr lang="en-US" sz="1400" b="1" i="0" noProof="0" dirty="0">
                <a:solidFill>
                  <a:srgbClr val="FFFFFF"/>
                </a:solidFill>
                <a:latin typeface="Segoe UI"/>
              </a:rPr>
              <a:t> </a:t>
            </a:r>
            <a:r>
              <a:rPr lang="en-US" sz="1400" b="1" i="0" noProof="0" dirty="0" err="1">
                <a:solidFill>
                  <a:srgbClr val="FFFFFF"/>
                </a:solidFill>
                <a:latin typeface="Segoe UI"/>
              </a:rPr>
              <a:t>לזכור</a:t>
            </a:r>
            <a:r>
              <a:rPr lang="en-US" sz="1400" b="1" i="0" noProof="0" dirty="0">
                <a:solidFill>
                  <a:srgbClr val="FFFFFF"/>
                </a:solidFill>
                <a:latin typeface="Segoe UI"/>
              </a:rPr>
              <a:t> </a:t>
            </a:r>
            <a:r>
              <a:rPr lang="en-US" sz="1400" b="1" i="0" noProof="0" dirty="0" err="1">
                <a:solidFill>
                  <a:srgbClr val="FFFFFF"/>
                </a:solidFill>
                <a:latin typeface="Segoe UI"/>
              </a:rPr>
              <a:t>אותך</a:t>
            </a:r>
            <a:endParaRPr lang="en-US" sz="1400" b="1" i="0" noProof="0" dirty="0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12648" y="2231136"/>
            <a:ext cx="5394960" cy="12650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06000"/>
              </a:lnSpc>
              <a:spcAft>
                <a:spcPts val="600"/>
              </a:spcAft>
            </a:pPr>
            <a:r>
              <a:rPr lang="en-US" sz="1000" b="1" i="0" noProof="0" dirty="0">
                <a:solidFill>
                  <a:srgbClr val="C4622D"/>
                </a:solidFill>
                <a:latin typeface="Segoe UI"/>
              </a:rPr>
              <a:t>● 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כשלקוח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קורא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לכמה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מתודות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של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אותו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שירות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,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כדאי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שהשירות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ישמור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מידע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ביניהן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.</a:t>
            </a:r>
          </a:p>
          <a:p>
            <a:pPr algn="r" rtl="1">
              <a:lnSpc>
                <a:spcPct val="106000"/>
              </a:lnSpc>
              <a:spcAft>
                <a:spcPts val="600"/>
              </a:spcAft>
            </a:pPr>
            <a:r>
              <a:rPr lang="en-US" sz="1000" b="1" i="0" noProof="0" dirty="0">
                <a:solidFill>
                  <a:srgbClr val="C4622D"/>
                </a:solidFill>
                <a:latin typeface="Segoe UI"/>
              </a:rPr>
              <a:t>● 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בדוגמת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 ה-‏Blackjack‏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מהספר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,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השירות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מחזיק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חפיסת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קלפים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נפרדת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לכל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 ‏session‏.</a:t>
            </a:r>
          </a:p>
          <a:p>
            <a:pPr algn="r" rtl="1">
              <a:lnSpc>
                <a:spcPct val="106000"/>
              </a:lnSpc>
              <a:spcAft>
                <a:spcPts val="600"/>
              </a:spcAft>
            </a:pPr>
            <a:r>
              <a:rPr lang="en-US" sz="1000" b="1" i="0" noProof="0" dirty="0">
                <a:solidFill>
                  <a:srgbClr val="C4622D"/>
                </a:solidFill>
                <a:latin typeface="Segoe UI"/>
              </a:rPr>
              <a:t>● 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הלקוח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מצידו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חייב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לבקש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במפורש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לשמר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 את ה-‏session‏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בין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הקריאות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.</a:t>
            </a:r>
          </a:p>
          <a:p>
            <a:pPr algn="r" rtl="1">
              <a:lnSpc>
                <a:spcPct val="106000"/>
              </a:lnSpc>
              <a:spcAft>
                <a:spcPts val="600"/>
              </a:spcAft>
            </a:pPr>
            <a:r>
              <a:rPr lang="en-US" sz="1000" b="1" i="0" noProof="0" dirty="0">
                <a:solidFill>
                  <a:srgbClr val="C4622D"/>
                </a:solidFill>
                <a:latin typeface="Segoe UI"/>
              </a:rPr>
              <a:t>● 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המחיר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: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השרת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מחזיק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זיכרון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לכל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לקוח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,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וההתרחבות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נעשית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מסובכת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" y="4059936"/>
            <a:ext cx="5486400" cy="1636776"/>
          </a:xfrm>
          <a:prstGeom prst="roundRect">
            <a:avLst>
              <a:gd name="adj" fmla="val 3500"/>
            </a:avLst>
          </a:prstGeom>
          <a:solidFill>
            <a:srgbClr val="0B2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24" name="Rounded Rectangle 23"/>
          <p:cNvSpPr/>
          <p:nvPr/>
        </p:nvSpPr>
        <p:spPr>
          <a:xfrm>
            <a:off x="566928" y="4059936"/>
            <a:ext cx="5486400" cy="274320"/>
          </a:xfrm>
          <a:prstGeom prst="roundRect">
            <a:avLst>
              <a:gd name="adj" fmla="val 9000"/>
            </a:avLst>
          </a:prstGeom>
          <a:solidFill>
            <a:srgbClr val="1139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25" name="Rectangle 24"/>
          <p:cNvSpPr/>
          <p:nvPr/>
        </p:nvSpPr>
        <p:spPr>
          <a:xfrm>
            <a:off x="566928" y="4224528"/>
            <a:ext cx="5486400" cy="109728"/>
          </a:xfrm>
          <a:prstGeom prst="rect">
            <a:avLst/>
          </a:prstGeom>
          <a:solidFill>
            <a:srgbClr val="1139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26" name="TextBox 25"/>
          <p:cNvSpPr txBox="1"/>
          <p:nvPr/>
        </p:nvSpPr>
        <p:spPr>
          <a:xfrm>
            <a:off x="713232" y="4110228"/>
            <a:ext cx="47548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rtl="0"/>
            <a:r>
              <a:rPr lang="en-US" sz="950" b="1" i="0" noProof="0" dirty="0">
                <a:solidFill>
                  <a:srgbClr val="6FA8B8"/>
                </a:solidFill>
                <a:latin typeface="Consolas"/>
              </a:rPr>
              <a:t>Blackjack.java — Deitel, Fig. 32.17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50992" y="4165092"/>
            <a:ext cx="256032" cy="68580"/>
          </a:xfrm>
          <a:prstGeom prst="roundRect">
            <a:avLst>
              <a:gd name="adj" fmla="val 50000"/>
            </a:avLst>
          </a:prstGeom>
          <a:solidFill>
            <a:srgbClr val="C4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28" name="TextBox 27"/>
          <p:cNvSpPr txBox="1"/>
          <p:nvPr/>
        </p:nvSpPr>
        <p:spPr>
          <a:xfrm>
            <a:off x="713232" y="4453128"/>
            <a:ext cx="5193792" cy="11247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rtl="0">
              <a:lnSpc>
                <a:spcPts val="1224"/>
              </a:lnSpc>
            </a:pPr>
            <a:r>
              <a:rPr lang="en-US" sz="850" b="1" noProof="0" dirty="0">
                <a:solidFill>
                  <a:srgbClr val="F0A06A"/>
                </a:solidFill>
                <a:latin typeface="Consolas"/>
              </a:rPr>
              <a:t>@HttpSessionScope</a:t>
            </a:r>
            <a:r>
              <a:rPr lang="en-US" sz="850" b="0" noProof="0" dirty="0">
                <a:solidFill>
                  <a:srgbClr val="DCE8ED"/>
                </a:solidFill>
                <a:latin typeface="Consolas"/>
              </a:rPr>
              <a:t>   </a:t>
            </a:r>
            <a:r>
              <a:rPr lang="en-US" sz="850" b="0" noProof="0" dirty="0">
                <a:solidFill>
                  <a:srgbClr val="6F8894"/>
                </a:solidFill>
                <a:latin typeface="Consolas"/>
              </a:rPr>
              <a:t>// </a:t>
            </a:r>
            <a:r>
              <a:rPr lang="en-US" sz="850" b="0" noProof="0" dirty="0" err="1">
                <a:solidFill>
                  <a:srgbClr val="6F8894"/>
                </a:solidFill>
                <a:latin typeface="Consolas"/>
              </a:rPr>
              <a:t>שומר</a:t>
            </a:r>
            <a:r>
              <a:rPr lang="en-US" sz="850" b="0" noProof="0" dirty="0">
                <a:solidFill>
                  <a:srgbClr val="6F8894"/>
                </a:solidFill>
                <a:latin typeface="Consolas"/>
              </a:rPr>
              <a:t> </a:t>
            </a:r>
            <a:r>
              <a:rPr lang="en-US" sz="850" b="0" noProof="0" dirty="0" err="1">
                <a:solidFill>
                  <a:srgbClr val="6F8894"/>
                </a:solidFill>
                <a:latin typeface="Consolas"/>
              </a:rPr>
              <a:t>מצב</a:t>
            </a:r>
            <a:r>
              <a:rPr lang="en-US" sz="850" b="0" noProof="0" dirty="0">
                <a:solidFill>
                  <a:srgbClr val="6F8894"/>
                </a:solidFill>
                <a:latin typeface="Consolas"/>
              </a:rPr>
              <a:t> </a:t>
            </a:r>
            <a:r>
              <a:rPr lang="en-US" sz="850" b="0" noProof="0" dirty="0" err="1">
                <a:solidFill>
                  <a:srgbClr val="6F8894"/>
                </a:solidFill>
                <a:latin typeface="Consolas"/>
              </a:rPr>
              <a:t>לכל</a:t>
            </a:r>
            <a:r>
              <a:rPr lang="en-US" sz="850" b="0" noProof="0" dirty="0">
                <a:solidFill>
                  <a:srgbClr val="6F8894"/>
                </a:solidFill>
                <a:latin typeface="Consolas"/>
              </a:rPr>
              <a:t> </a:t>
            </a:r>
            <a:r>
              <a:rPr lang="en-US" sz="850" b="0" noProof="0" dirty="0" err="1">
                <a:solidFill>
                  <a:srgbClr val="6F8894"/>
                </a:solidFill>
                <a:latin typeface="Consolas"/>
              </a:rPr>
              <a:t>לקוח</a:t>
            </a:r>
            <a:endParaRPr lang="en-US" sz="850" b="0" noProof="0" dirty="0">
              <a:solidFill>
                <a:srgbClr val="6F8894"/>
              </a:solidFill>
              <a:latin typeface="Consolas"/>
            </a:endParaRPr>
          </a:p>
          <a:p>
            <a:pPr algn="l" rtl="0">
              <a:lnSpc>
                <a:spcPts val="1224"/>
              </a:lnSpc>
            </a:pPr>
            <a:r>
              <a:rPr lang="en-US" sz="850" b="1" noProof="0" dirty="0">
                <a:solidFill>
                  <a:srgbClr val="F0A06A"/>
                </a:solidFill>
                <a:latin typeface="Consolas"/>
              </a:rPr>
              <a:t>@WebService</a:t>
            </a:r>
            <a:r>
              <a:rPr lang="en-US" sz="850" b="0" noProof="0" dirty="0">
                <a:solidFill>
                  <a:srgbClr val="DCE8ED"/>
                </a:solidFill>
                <a:latin typeface="Consolas"/>
              </a:rPr>
              <a:t>()</a:t>
            </a:r>
          </a:p>
          <a:p>
            <a:pPr algn="l" rtl="0">
              <a:lnSpc>
                <a:spcPts val="1224"/>
              </a:lnSpc>
            </a:pPr>
            <a:r>
              <a:rPr lang="en-US" sz="850" b="0" noProof="0" dirty="0">
                <a:solidFill>
                  <a:srgbClr val="7FC7DE"/>
                </a:solidFill>
                <a:latin typeface="Consolas"/>
              </a:rPr>
              <a:t>public</a:t>
            </a:r>
            <a:r>
              <a:rPr lang="en-US" sz="850" b="0" noProof="0" dirty="0">
                <a:solidFill>
                  <a:srgbClr val="DCE8ED"/>
                </a:solidFill>
                <a:latin typeface="Consolas"/>
              </a:rPr>
              <a:t> </a:t>
            </a:r>
            <a:r>
              <a:rPr lang="en-US" sz="850" b="0" noProof="0" dirty="0">
                <a:solidFill>
                  <a:srgbClr val="7FC7DE"/>
                </a:solidFill>
                <a:latin typeface="Consolas"/>
              </a:rPr>
              <a:t>class</a:t>
            </a:r>
            <a:r>
              <a:rPr lang="en-US" sz="850" b="0" noProof="0" dirty="0">
                <a:solidFill>
                  <a:srgbClr val="DCE8ED"/>
                </a:solidFill>
                <a:latin typeface="Consolas"/>
              </a:rPr>
              <a:t> </a:t>
            </a:r>
            <a:r>
              <a:rPr lang="en-US" sz="850" b="0" noProof="0" dirty="0">
                <a:solidFill>
                  <a:srgbClr val="C9B6E8"/>
                </a:solidFill>
                <a:latin typeface="Consolas"/>
              </a:rPr>
              <a:t>Blackjack</a:t>
            </a:r>
            <a:r>
              <a:rPr lang="en-US" sz="850" b="0" noProof="0" dirty="0">
                <a:solidFill>
                  <a:srgbClr val="DCE8ED"/>
                </a:solidFill>
                <a:latin typeface="Consolas"/>
              </a:rPr>
              <a:t> {</a:t>
            </a:r>
          </a:p>
          <a:p>
            <a:pPr algn="l" rtl="0">
              <a:lnSpc>
                <a:spcPts val="1224"/>
              </a:lnSpc>
            </a:pPr>
            <a:r>
              <a:rPr lang="en-US" sz="850" b="0" noProof="0" dirty="0">
                <a:solidFill>
                  <a:srgbClr val="DCE8ED"/>
                </a:solidFill>
                <a:latin typeface="Consolas"/>
              </a:rPr>
              <a:t>   </a:t>
            </a:r>
            <a:r>
              <a:rPr lang="en-US" sz="850" b="0" noProof="0" dirty="0">
                <a:solidFill>
                  <a:srgbClr val="7FC7DE"/>
                </a:solidFill>
                <a:latin typeface="Consolas"/>
              </a:rPr>
              <a:t>private</a:t>
            </a:r>
            <a:r>
              <a:rPr lang="en-US" sz="850" b="0" noProof="0" dirty="0">
                <a:solidFill>
                  <a:srgbClr val="DCE8ED"/>
                </a:solidFill>
                <a:latin typeface="Consolas"/>
              </a:rPr>
              <a:t> </a:t>
            </a:r>
            <a:r>
              <a:rPr lang="en-US" sz="850" b="0" noProof="0" dirty="0" err="1">
                <a:solidFill>
                  <a:srgbClr val="C9B6E8"/>
                </a:solidFill>
                <a:latin typeface="Consolas"/>
              </a:rPr>
              <a:t>ArrayList</a:t>
            </a:r>
            <a:r>
              <a:rPr lang="en-US" sz="850" b="0" noProof="0" dirty="0">
                <a:solidFill>
                  <a:srgbClr val="DCE8ED"/>
                </a:solidFill>
                <a:latin typeface="Consolas"/>
              </a:rPr>
              <a:t>&lt;</a:t>
            </a:r>
            <a:r>
              <a:rPr lang="en-US" sz="850" b="0" noProof="0" dirty="0">
                <a:solidFill>
                  <a:srgbClr val="C9B6E8"/>
                </a:solidFill>
                <a:latin typeface="Consolas"/>
              </a:rPr>
              <a:t>String</a:t>
            </a:r>
            <a:r>
              <a:rPr lang="en-US" sz="850" b="0" noProof="0" dirty="0">
                <a:solidFill>
                  <a:srgbClr val="DCE8ED"/>
                </a:solidFill>
                <a:latin typeface="Consolas"/>
              </a:rPr>
              <a:t>&gt; deck;  </a:t>
            </a:r>
            <a:r>
              <a:rPr lang="en-US" sz="850" b="0" noProof="0" dirty="0">
                <a:solidFill>
                  <a:srgbClr val="6F8894"/>
                </a:solidFill>
                <a:latin typeface="Consolas"/>
              </a:rPr>
              <a:t>// </a:t>
            </a:r>
            <a:r>
              <a:rPr lang="en-US" sz="850" b="0" noProof="0" dirty="0" err="1">
                <a:solidFill>
                  <a:srgbClr val="6F8894"/>
                </a:solidFill>
                <a:latin typeface="Consolas"/>
              </a:rPr>
              <a:t>חפיסה</a:t>
            </a:r>
            <a:r>
              <a:rPr lang="en-US" sz="850" b="0" noProof="0" dirty="0">
                <a:solidFill>
                  <a:srgbClr val="6F8894"/>
                </a:solidFill>
                <a:latin typeface="Consolas"/>
              </a:rPr>
              <a:t> </a:t>
            </a:r>
            <a:r>
              <a:rPr lang="en-US" sz="850" b="0" noProof="0" dirty="0" err="1">
                <a:solidFill>
                  <a:srgbClr val="6F8894"/>
                </a:solidFill>
                <a:latin typeface="Consolas"/>
              </a:rPr>
              <a:t>לכל</a:t>
            </a:r>
            <a:r>
              <a:rPr lang="en-US" sz="850" b="0" noProof="0" dirty="0">
                <a:solidFill>
                  <a:srgbClr val="6F8894"/>
                </a:solidFill>
                <a:latin typeface="Consolas"/>
              </a:rPr>
              <a:t> session</a:t>
            </a:r>
          </a:p>
          <a:p>
            <a:pPr algn="l" rtl="0">
              <a:lnSpc>
                <a:spcPts val="1224"/>
              </a:lnSpc>
            </a:pPr>
            <a:r>
              <a:rPr lang="en-US" sz="850" b="0" noProof="0" dirty="0">
                <a:solidFill>
                  <a:srgbClr val="DCE8ED"/>
                </a:solidFill>
                <a:latin typeface="Consolas"/>
              </a:rPr>
              <a:t>   </a:t>
            </a:r>
            <a:r>
              <a:rPr lang="en-US" sz="850" b="1" noProof="0" dirty="0">
                <a:solidFill>
                  <a:srgbClr val="F0A06A"/>
                </a:solidFill>
                <a:latin typeface="Consolas"/>
              </a:rPr>
              <a:t>@WebMethod</a:t>
            </a:r>
            <a:r>
              <a:rPr lang="en-US" sz="850" b="0" noProof="0" dirty="0">
                <a:solidFill>
                  <a:srgbClr val="DCE8ED"/>
                </a:solidFill>
                <a:latin typeface="Consolas"/>
              </a:rPr>
              <a:t>(operationName = </a:t>
            </a:r>
            <a:r>
              <a:rPr lang="en-US" sz="850" b="0" noProof="0" dirty="0">
                <a:solidFill>
                  <a:srgbClr val="9FD1A0"/>
                </a:solidFill>
                <a:latin typeface="Consolas"/>
              </a:rPr>
              <a:t>"</a:t>
            </a:r>
            <a:r>
              <a:rPr lang="en-US" sz="850" b="0" noProof="0" dirty="0" err="1">
                <a:solidFill>
                  <a:srgbClr val="9FD1A0"/>
                </a:solidFill>
                <a:latin typeface="Consolas"/>
              </a:rPr>
              <a:t>dealCard</a:t>
            </a:r>
            <a:r>
              <a:rPr lang="en-US" sz="850" b="0" noProof="0" dirty="0">
                <a:solidFill>
                  <a:srgbClr val="9FD1A0"/>
                </a:solidFill>
                <a:latin typeface="Consolas"/>
              </a:rPr>
              <a:t>"</a:t>
            </a:r>
            <a:r>
              <a:rPr lang="en-US" sz="850" b="0" noProof="0" dirty="0">
                <a:solidFill>
                  <a:srgbClr val="DCE8ED"/>
                </a:solidFill>
                <a:latin typeface="Consolas"/>
              </a:rPr>
              <a:t>)</a:t>
            </a:r>
          </a:p>
          <a:p>
            <a:pPr algn="l" rtl="0">
              <a:lnSpc>
                <a:spcPts val="1224"/>
              </a:lnSpc>
            </a:pPr>
            <a:r>
              <a:rPr lang="en-US" sz="850" b="0" noProof="0" dirty="0">
                <a:solidFill>
                  <a:srgbClr val="DCE8ED"/>
                </a:solidFill>
                <a:latin typeface="Consolas"/>
              </a:rPr>
              <a:t>   </a:t>
            </a:r>
            <a:r>
              <a:rPr lang="en-US" sz="850" b="0" noProof="0" dirty="0">
                <a:solidFill>
                  <a:srgbClr val="7FC7DE"/>
                </a:solidFill>
                <a:latin typeface="Consolas"/>
              </a:rPr>
              <a:t>public</a:t>
            </a:r>
            <a:r>
              <a:rPr lang="en-US" sz="850" b="0" noProof="0" dirty="0">
                <a:solidFill>
                  <a:srgbClr val="DCE8ED"/>
                </a:solidFill>
                <a:latin typeface="Consolas"/>
              </a:rPr>
              <a:t> </a:t>
            </a:r>
            <a:r>
              <a:rPr lang="en-US" sz="850" b="0" noProof="0" dirty="0">
                <a:solidFill>
                  <a:srgbClr val="C9B6E8"/>
                </a:solidFill>
                <a:latin typeface="Consolas"/>
              </a:rPr>
              <a:t>String</a:t>
            </a:r>
            <a:r>
              <a:rPr lang="en-US" sz="850" b="0" noProof="0" dirty="0">
                <a:solidFill>
                  <a:srgbClr val="DCE8ED"/>
                </a:solidFill>
                <a:latin typeface="Consolas"/>
              </a:rPr>
              <a:t> </a:t>
            </a:r>
            <a:r>
              <a:rPr lang="en-US" sz="850" b="0" noProof="0" dirty="0" err="1">
                <a:solidFill>
                  <a:srgbClr val="DCE8ED"/>
                </a:solidFill>
                <a:latin typeface="Consolas"/>
              </a:rPr>
              <a:t>dealCard</a:t>
            </a:r>
            <a:r>
              <a:rPr lang="en-US" sz="850" b="0" noProof="0" dirty="0">
                <a:solidFill>
                  <a:srgbClr val="DCE8ED"/>
                </a:solidFill>
                <a:latin typeface="Consolas"/>
              </a:rPr>
              <a:t>() { </a:t>
            </a:r>
            <a:r>
              <a:rPr lang="en-US" sz="850" b="0" noProof="0" dirty="0">
                <a:solidFill>
                  <a:srgbClr val="7FC7DE"/>
                </a:solidFill>
                <a:latin typeface="Consolas"/>
              </a:rPr>
              <a:t>return</a:t>
            </a:r>
            <a:r>
              <a:rPr lang="en-US" sz="850" b="0" noProof="0" dirty="0">
                <a:solidFill>
                  <a:srgbClr val="DCE8ED"/>
                </a:solidFill>
                <a:latin typeface="Consolas"/>
              </a:rPr>
              <a:t> </a:t>
            </a:r>
            <a:r>
              <a:rPr lang="en-US" sz="850" b="0" noProof="0" dirty="0" err="1">
                <a:solidFill>
                  <a:srgbClr val="DCE8ED"/>
                </a:solidFill>
                <a:latin typeface="Consolas"/>
              </a:rPr>
              <a:t>deck.remove</a:t>
            </a:r>
            <a:r>
              <a:rPr lang="en-US" sz="850" b="0" noProof="0" dirty="0">
                <a:solidFill>
                  <a:srgbClr val="DCE8ED"/>
                </a:solidFill>
                <a:latin typeface="Consolas"/>
              </a:rPr>
              <a:t>(</a:t>
            </a:r>
            <a:r>
              <a:rPr lang="en-US" sz="850" b="0" noProof="0" dirty="0">
                <a:solidFill>
                  <a:srgbClr val="E8B87C"/>
                </a:solidFill>
                <a:latin typeface="Consolas"/>
              </a:rPr>
              <a:t>0</a:t>
            </a:r>
            <a:r>
              <a:rPr lang="en-US" sz="850" b="0" noProof="0" dirty="0">
                <a:solidFill>
                  <a:srgbClr val="DCE8ED"/>
                </a:solidFill>
                <a:latin typeface="Consolas"/>
              </a:rPr>
              <a:t>); }</a:t>
            </a:r>
          </a:p>
          <a:p>
            <a:pPr algn="l" rtl="0">
              <a:lnSpc>
                <a:spcPts val="1224"/>
              </a:lnSpc>
            </a:pPr>
            <a:r>
              <a:rPr lang="en-US" sz="850" b="0" noProof="0" dirty="0">
                <a:solidFill>
                  <a:srgbClr val="DCE8ED"/>
                </a:solidFill>
                <a:latin typeface="Consolas"/>
              </a:rPr>
              <a:t>}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66928" y="5715000"/>
            <a:ext cx="11064240" cy="502920"/>
          </a:xfrm>
          <a:prstGeom prst="roundRect">
            <a:avLst>
              <a:gd name="adj" fmla="val 4000"/>
            </a:avLst>
          </a:prstGeom>
          <a:solidFill>
            <a:srgbClr val="F1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30" name="Rectangle 29"/>
          <p:cNvSpPr/>
          <p:nvPr/>
        </p:nvSpPr>
        <p:spPr>
          <a:xfrm>
            <a:off x="11576304" y="5715000"/>
            <a:ext cx="54864" cy="502920"/>
          </a:xfrm>
          <a:prstGeom prst="rect">
            <a:avLst/>
          </a:prstGeom>
          <a:solidFill>
            <a:srgbClr val="C4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31" name="TextBox 30"/>
          <p:cNvSpPr txBox="1"/>
          <p:nvPr/>
        </p:nvSpPr>
        <p:spPr>
          <a:xfrm>
            <a:off x="6949440" y="5843016"/>
            <a:ext cx="45262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/>
            <a:r>
              <a:rPr lang="en-US" sz="1050" b="1" i="0" noProof="0" dirty="0" err="1">
                <a:solidFill>
                  <a:srgbClr val="0D4A5C"/>
                </a:solidFill>
                <a:latin typeface="Segoe UI"/>
              </a:rPr>
              <a:t>ובצד</a:t>
            </a:r>
            <a:r>
              <a:rPr lang="en-US" sz="1050" b="1" i="0" noProof="0" dirty="0">
                <a:solidFill>
                  <a:srgbClr val="0D4A5C"/>
                </a:solidFill>
                <a:latin typeface="Segoe UI"/>
              </a:rPr>
              <a:t> </a:t>
            </a:r>
            <a:r>
              <a:rPr lang="en-US" sz="1050" b="1" i="0" noProof="0" dirty="0" err="1">
                <a:solidFill>
                  <a:srgbClr val="0D4A5C"/>
                </a:solidFill>
                <a:latin typeface="Segoe UI"/>
              </a:rPr>
              <a:t>הלקוח</a:t>
            </a:r>
            <a:r>
              <a:rPr lang="en-US" sz="1050" b="1" i="0" noProof="0" dirty="0">
                <a:solidFill>
                  <a:srgbClr val="0D4A5C"/>
                </a:solidFill>
                <a:latin typeface="Segoe UI"/>
              </a:rPr>
              <a:t> ב-‏JAX-WS‏ </a:t>
            </a:r>
            <a:r>
              <a:rPr lang="en-US" sz="1050" b="1" i="0" noProof="0" dirty="0" err="1">
                <a:solidFill>
                  <a:srgbClr val="0D4A5C"/>
                </a:solidFill>
                <a:latin typeface="Segoe UI"/>
              </a:rPr>
              <a:t>מפעילים</a:t>
            </a:r>
            <a:r>
              <a:rPr lang="en-US" sz="1050" b="1" i="0" noProof="0" dirty="0">
                <a:solidFill>
                  <a:srgbClr val="0D4A5C"/>
                </a:solidFill>
                <a:latin typeface="Segoe UI"/>
              </a:rPr>
              <a:t> את </a:t>
            </a:r>
            <a:r>
              <a:rPr lang="en-US" sz="1050" b="1" i="0" noProof="0" dirty="0" err="1">
                <a:solidFill>
                  <a:srgbClr val="0D4A5C"/>
                </a:solidFill>
                <a:latin typeface="Segoe UI"/>
              </a:rPr>
              <a:t>השמירה</a:t>
            </a:r>
            <a:r>
              <a:rPr lang="en-US" sz="1050" b="1" i="0" noProof="0" dirty="0">
                <a:solidFill>
                  <a:srgbClr val="0D4A5C"/>
                </a:solidFill>
                <a:latin typeface="Segoe UI"/>
              </a:rPr>
              <a:t> </a:t>
            </a:r>
            <a:r>
              <a:rPr lang="en-US" sz="1050" b="1" i="0" noProof="0" dirty="0" err="1">
                <a:solidFill>
                  <a:srgbClr val="0D4A5C"/>
                </a:solidFill>
                <a:latin typeface="Segoe UI"/>
              </a:rPr>
              <a:t>במפורש</a:t>
            </a:r>
            <a:r>
              <a:rPr lang="en-US" sz="1050" b="1" i="0" noProof="0" dirty="0">
                <a:solidFill>
                  <a:srgbClr val="0D4A5C"/>
                </a:solidFill>
                <a:latin typeface="Segoe UI"/>
              </a:rPr>
              <a:t>: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8096" y="5806440"/>
            <a:ext cx="6035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rtl="0"/>
            <a:r>
              <a:rPr lang="en-US" sz="850" b="0" i="0" noProof="0" dirty="0">
                <a:solidFill>
                  <a:srgbClr val="0D4A5C"/>
                </a:solidFill>
                <a:latin typeface="Consolas"/>
              </a:rPr>
              <a:t>((</a:t>
            </a:r>
            <a:r>
              <a:rPr lang="en-US" sz="850" b="0" i="0" noProof="0" dirty="0" err="1">
                <a:solidFill>
                  <a:srgbClr val="0D4A5C"/>
                </a:solidFill>
                <a:latin typeface="Consolas"/>
              </a:rPr>
              <a:t>BindingProvider</a:t>
            </a:r>
            <a:r>
              <a:rPr lang="en-US" sz="850" b="0" i="0" noProof="0" dirty="0">
                <a:solidFill>
                  <a:srgbClr val="0D4A5C"/>
                </a:solidFill>
                <a:latin typeface="Consolas"/>
              </a:rPr>
              <a:t>) proxy).</a:t>
            </a:r>
            <a:r>
              <a:rPr lang="en-US" sz="850" b="0" i="0" noProof="0" dirty="0" err="1">
                <a:solidFill>
                  <a:srgbClr val="0D4A5C"/>
                </a:solidFill>
                <a:latin typeface="Consolas"/>
              </a:rPr>
              <a:t>getRequestContext</a:t>
            </a:r>
            <a:r>
              <a:rPr lang="en-US" sz="850" b="0" i="0" noProof="0" dirty="0">
                <a:solidFill>
                  <a:srgbClr val="0D4A5C"/>
                </a:solidFill>
                <a:latin typeface="Consolas"/>
              </a:rPr>
              <a:t>()
    .put(</a:t>
            </a:r>
            <a:r>
              <a:rPr lang="en-US" sz="850" b="0" i="0" noProof="0" dirty="0" err="1">
                <a:solidFill>
                  <a:srgbClr val="0D4A5C"/>
                </a:solidFill>
                <a:latin typeface="Consolas"/>
              </a:rPr>
              <a:t>BindingProvider.SESSION_MAINTAIN_PROPERTY</a:t>
            </a:r>
            <a:r>
              <a:rPr lang="en-US" sz="850" b="0" i="0" noProof="0" dirty="0">
                <a:solidFill>
                  <a:srgbClr val="0D4A5C"/>
                </a:solidFill>
                <a:latin typeface="Consolas"/>
              </a:rPr>
              <a:t>, true);</a:t>
            </a:r>
          </a:p>
        </p:txBody>
      </p:sp>
      <p:sp>
        <p:nvSpPr>
          <p:cNvPr id="33" name="Rectangle 7 footer33"/>
          <p:cNvSpPr/>
          <p:nvPr/>
        </p:nvSpPr>
        <p:spPr>
          <a:xfrm>
            <a:off x="566928" y="6382512"/>
            <a:ext cx="11064240" cy="10972"/>
          </a:xfrm>
          <a:prstGeom prst="rect">
            <a:avLst/>
          </a:prstGeom>
          <a:solidFill>
            <a:srgbClr val="E3EA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34" name="TextBox 8 footer34"/>
          <p:cNvSpPr txBox="1"/>
          <p:nvPr/>
        </p:nvSpPr>
        <p:spPr>
          <a:xfrm>
            <a:off x="10424160" y="6473952"/>
            <a:ext cx="1207008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/>
            <a:r>
              <a:rPr lang="en-US" sz="1050" b="0" i="0" noProof="0" dirty="0">
                <a:solidFill>
                  <a:srgbClr val="8D9EA8"/>
                </a:solidFill>
                <a:latin typeface="Segoe UI"/>
              </a:rPr>
              <a:t>‏ניהול מצב‏</a:t>
            </a:r>
          </a:p>
        </p:txBody>
      </p:sp>
      <p:sp>
        <p:nvSpPr>
          <p:cNvPr id="35" name="TextBox 9 footer35"/>
          <p:cNvSpPr txBox="1"/>
          <p:nvPr/>
        </p:nvSpPr>
        <p:spPr>
          <a:xfrm>
            <a:off x="566928" y="6473952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rtl="0"/>
            <a:r>
              <a:rPr lang="en-US" sz="1050" b="0" i="0" noProof="0" dirty="0">
                <a:solidFill>
                  <a:srgbClr val="8D9EA8"/>
                </a:solidFill>
                <a:latin typeface="Segoe UI"/>
              </a:rPr>
              <a:t>14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207" y="-20447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91440"/>
          </a:xfrm>
          <a:prstGeom prst="rect">
            <a:avLst/>
          </a:prstGeom>
          <a:solidFill>
            <a:srgbClr val="0D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5" name="TextBox 4"/>
          <p:cNvSpPr txBox="1"/>
          <p:nvPr/>
        </p:nvSpPr>
        <p:spPr>
          <a:xfrm>
            <a:off x="566928" y="548640"/>
            <a:ext cx="1106424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/>
            <a:r>
              <a:rPr lang="en-US" sz="2800" b="1" i="0" noProof="0" dirty="0" err="1">
                <a:solidFill>
                  <a:srgbClr val="0D4A5C"/>
                </a:solidFill>
                <a:latin typeface="Segoe UI"/>
              </a:rPr>
              <a:t>אז</a:t>
            </a:r>
            <a:r>
              <a:rPr lang="en-US" sz="2800" b="1" i="0" noProof="0" dirty="0">
                <a:solidFill>
                  <a:srgbClr val="0D4A5C"/>
                </a:solidFill>
                <a:latin typeface="Segoe UI"/>
              </a:rPr>
              <a:t> </a:t>
            </a:r>
            <a:r>
              <a:rPr lang="en-US" sz="2800" b="1" i="0" noProof="0" dirty="0" err="1">
                <a:solidFill>
                  <a:srgbClr val="0D4A5C"/>
                </a:solidFill>
                <a:latin typeface="Segoe UI"/>
              </a:rPr>
              <a:t>מי</a:t>
            </a:r>
            <a:r>
              <a:rPr lang="en-US" sz="2800" b="1" i="0" noProof="0" dirty="0">
                <a:solidFill>
                  <a:srgbClr val="0D4A5C"/>
                </a:solidFill>
                <a:latin typeface="Segoe UI"/>
              </a:rPr>
              <a:t> </a:t>
            </a:r>
            <a:r>
              <a:rPr lang="en-US" sz="2800" b="1" i="0" noProof="0" dirty="0" err="1">
                <a:solidFill>
                  <a:srgbClr val="0D4A5C"/>
                </a:solidFill>
                <a:latin typeface="Segoe UI"/>
              </a:rPr>
              <a:t>עדיף</a:t>
            </a:r>
            <a:r>
              <a:rPr lang="en-US" sz="2800" b="1" i="0" noProof="0" dirty="0">
                <a:solidFill>
                  <a:srgbClr val="0D4A5C"/>
                </a:solidFill>
                <a:latin typeface="Segoe UI"/>
              </a:rPr>
              <a:t>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097280"/>
            <a:ext cx="110642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/>
            <a:r>
              <a:rPr lang="en-US" sz="1450" b="0" i="0" noProof="0" dirty="0" err="1">
                <a:solidFill>
                  <a:srgbClr val="5A6B75"/>
                </a:solidFill>
                <a:latin typeface="Segoe UI"/>
              </a:rPr>
              <a:t>השאלה</a:t>
            </a:r>
            <a:r>
              <a:rPr lang="en-US" sz="145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450" b="0" i="0" noProof="0" dirty="0" err="1">
                <a:solidFill>
                  <a:srgbClr val="5A6B75"/>
                </a:solidFill>
                <a:latin typeface="Segoe UI"/>
              </a:rPr>
              <a:t>הנכונה</a:t>
            </a:r>
            <a:r>
              <a:rPr lang="en-US" sz="145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450" b="0" i="0" noProof="0" dirty="0" err="1">
                <a:solidFill>
                  <a:srgbClr val="5A6B75"/>
                </a:solidFill>
                <a:latin typeface="Segoe UI"/>
              </a:rPr>
              <a:t>אינה</a:t>
            </a:r>
            <a:r>
              <a:rPr lang="en-US" sz="1450" b="0" i="0" noProof="0" dirty="0">
                <a:solidFill>
                  <a:srgbClr val="5A6B75"/>
                </a:solidFill>
                <a:latin typeface="Segoe UI"/>
              </a:rPr>
              <a:t> "</a:t>
            </a:r>
            <a:r>
              <a:rPr lang="en-US" sz="1450" b="0" i="0" noProof="0" dirty="0" err="1">
                <a:solidFill>
                  <a:srgbClr val="5A6B75"/>
                </a:solidFill>
                <a:latin typeface="Segoe UI"/>
              </a:rPr>
              <a:t>מה</a:t>
            </a:r>
            <a:r>
              <a:rPr lang="en-US" sz="145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450" b="0" i="0" noProof="0" dirty="0" err="1">
                <a:solidFill>
                  <a:srgbClr val="5A6B75"/>
                </a:solidFill>
                <a:latin typeface="Segoe UI"/>
              </a:rPr>
              <a:t>טוב</a:t>
            </a:r>
            <a:r>
              <a:rPr lang="en-US" sz="145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450" b="0" i="0" noProof="0" dirty="0" err="1">
                <a:solidFill>
                  <a:srgbClr val="5A6B75"/>
                </a:solidFill>
                <a:latin typeface="Segoe UI"/>
              </a:rPr>
              <a:t>יותר</a:t>
            </a:r>
            <a:r>
              <a:rPr lang="en-US" sz="1450" b="0" i="0" noProof="0" dirty="0">
                <a:solidFill>
                  <a:srgbClr val="5A6B75"/>
                </a:solidFill>
                <a:latin typeface="Segoe UI"/>
              </a:rPr>
              <a:t>" </a:t>
            </a:r>
            <a:r>
              <a:rPr lang="en-US" sz="1450" b="0" i="0" noProof="0" dirty="0" err="1">
                <a:solidFill>
                  <a:srgbClr val="5A6B75"/>
                </a:solidFill>
                <a:latin typeface="Segoe UI"/>
              </a:rPr>
              <a:t>אלא</a:t>
            </a:r>
            <a:r>
              <a:rPr lang="en-US" sz="1450" b="0" i="0" noProof="0" dirty="0">
                <a:solidFill>
                  <a:srgbClr val="5A6B75"/>
                </a:solidFill>
                <a:latin typeface="Segoe UI"/>
              </a:rPr>
              <a:t> "</a:t>
            </a:r>
            <a:r>
              <a:rPr lang="en-US" sz="1450" b="0" i="0" noProof="0" dirty="0" err="1">
                <a:solidFill>
                  <a:srgbClr val="5A6B75"/>
                </a:solidFill>
                <a:latin typeface="Segoe UI"/>
              </a:rPr>
              <a:t>מה</a:t>
            </a:r>
            <a:r>
              <a:rPr lang="en-US" sz="145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450" b="0" i="0" noProof="0" dirty="0" err="1">
                <a:solidFill>
                  <a:srgbClr val="5A6B75"/>
                </a:solidFill>
                <a:latin typeface="Segoe UI"/>
              </a:rPr>
              <a:t>מתאים</a:t>
            </a:r>
            <a:r>
              <a:rPr lang="en-US" sz="145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450" b="0" i="0" noProof="0" dirty="0" err="1">
                <a:solidFill>
                  <a:srgbClr val="5A6B75"/>
                </a:solidFill>
                <a:latin typeface="Segoe UI"/>
              </a:rPr>
              <a:t>לדרישה</a:t>
            </a:r>
            <a:r>
              <a:rPr lang="en-US" sz="145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450" b="0" i="0" noProof="0" dirty="0" err="1">
                <a:solidFill>
                  <a:srgbClr val="5A6B75"/>
                </a:solidFill>
                <a:latin typeface="Segoe UI"/>
              </a:rPr>
              <a:t>שלי</a:t>
            </a:r>
            <a:r>
              <a:rPr lang="en-US" sz="1450" b="0" i="0" noProof="0" dirty="0">
                <a:solidFill>
                  <a:srgbClr val="5A6B75"/>
                </a:solidFill>
                <a:latin typeface="Segoe UI"/>
              </a:rPr>
              <a:t>"</a:t>
            </a:r>
          </a:p>
        </p:txBody>
      </p:sp>
      <p:sp>
        <p:nvSpPr>
          <p:cNvPr id="7" name="Rectangle 6"/>
          <p:cNvSpPr/>
          <p:nvPr/>
        </p:nvSpPr>
        <p:spPr>
          <a:xfrm>
            <a:off x="10901779" y="498348"/>
            <a:ext cx="720245" cy="50292"/>
          </a:xfrm>
          <a:prstGeom prst="rect">
            <a:avLst/>
          </a:prstGeom>
          <a:solidFill>
            <a:srgbClr val="C4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11" name="Rounded Rectangle 10"/>
          <p:cNvSpPr/>
          <p:nvPr/>
        </p:nvSpPr>
        <p:spPr>
          <a:xfrm>
            <a:off x="640080" y="1394460"/>
            <a:ext cx="5486400" cy="475488"/>
          </a:xfrm>
          <a:prstGeom prst="roundRect">
            <a:avLst>
              <a:gd name="adj" fmla="val 4000"/>
            </a:avLst>
          </a:prstGeom>
          <a:solidFill>
            <a:srgbClr val="C4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12" name="TextBox 11"/>
          <p:cNvSpPr txBox="1"/>
          <p:nvPr/>
        </p:nvSpPr>
        <p:spPr>
          <a:xfrm>
            <a:off x="739805" y="1508760"/>
            <a:ext cx="5084064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/>
            <a:r>
              <a:rPr lang="en-US" sz="1600" b="1" i="0" noProof="0" dirty="0" err="1">
                <a:solidFill>
                  <a:srgbClr val="FFFFFF"/>
                </a:solidFill>
                <a:latin typeface="Segoe UI"/>
              </a:rPr>
              <a:t>בחרו</a:t>
            </a:r>
            <a:r>
              <a:rPr lang="en-US" sz="1600" b="1" i="0" noProof="0" dirty="0">
                <a:solidFill>
                  <a:srgbClr val="FFFFFF"/>
                </a:solidFill>
                <a:latin typeface="Segoe UI"/>
              </a:rPr>
              <a:t> ‏SOAP‏ </a:t>
            </a:r>
            <a:r>
              <a:rPr lang="en-US" sz="1600" b="1" i="0" noProof="0" dirty="0" err="1">
                <a:solidFill>
                  <a:srgbClr val="FFFFFF"/>
                </a:solidFill>
                <a:latin typeface="Segoe UI"/>
              </a:rPr>
              <a:t>כאשר</a:t>
            </a:r>
            <a:r>
              <a:rPr lang="en-US" sz="1600" b="1" i="0" noProof="0" dirty="0">
                <a:solidFill>
                  <a:srgbClr val="FFFFFF"/>
                </a:solidFill>
                <a:latin typeface="Segoe UI"/>
              </a:rPr>
              <a:t>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1888235"/>
            <a:ext cx="5547344" cy="25778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06000"/>
              </a:lnSpc>
              <a:spcAft>
                <a:spcPts val="700"/>
              </a:spcAft>
            </a:pPr>
            <a:r>
              <a:rPr lang="en-US" sz="1050" b="1" i="0" noProof="0" dirty="0">
                <a:solidFill>
                  <a:srgbClr val="C4622D"/>
                </a:solidFill>
                <a:latin typeface="Segoe UI"/>
              </a:rPr>
              <a:t>◆  </a:t>
            </a:r>
            <a:r>
              <a:rPr lang="en-US" sz="1400" b="0" i="0" noProof="0" dirty="0" err="1">
                <a:solidFill>
                  <a:srgbClr val="0F1B24"/>
                </a:solidFill>
                <a:latin typeface="Segoe UI"/>
              </a:rPr>
              <a:t>נדרש</a:t>
            </a:r>
            <a:r>
              <a:rPr lang="en-US" sz="14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0F1B24"/>
                </a:solidFill>
                <a:latin typeface="Segoe UI"/>
              </a:rPr>
              <a:t>חוזה</a:t>
            </a:r>
            <a:r>
              <a:rPr lang="en-US" sz="14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0F1B24"/>
                </a:solidFill>
                <a:latin typeface="Segoe UI"/>
              </a:rPr>
              <a:t>פורמלי</a:t>
            </a:r>
            <a:r>
              <a:rPr lang="en-US" sz="14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0F1B24"/>
                </a:solidFill>
                <a:latin typeface="Segoe UI"/>
              </a:rPr>
              <a:t>ומחייב</a:t>
            </a:r>
            <a:r>
              <a:rPr lang="en-US" sz="14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0F1B24"/>
                </a:solidFill>
                <a:latin typeface="Segoe UI"/>
              </a:rPr>
              <a:t>בין</a:t>
            </a:r>
            <a:r>
              <a:rPr lang="en-US" sz="14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0F1B24"/>
                </a:solidFill>
                <a:latin typeface="Segoe UI"/>
              </a:rPr>
              <a:t>שני</a:t>
            </a:r>
            <a:r>
              <a:rPr lang="en-US" sz="14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0F1B24"/>
                </a:solidFill>
                <a:latin typeface="Segoe UI"/>
              </a:rPr>
              <a:t>ארגונים</a:t>
            </a:r>
            <a:r>
              <a:rPr lang="en-US" sz="1400" b="0" i="0" noProof="0" dirty="0">
                <a:solidFill>
                  <a:srgbClr val="0F1B24"/>
                </a:solidFill>
                <a:latin typeface="Segoe UI"/>
              </a:rPr>
              <a:t>, </a:t>
            </a:r>
            <a:r>
              <a:rPr lang="en-US" sz="1400" b="0" i="0" noProof="0" dirty="0" err="1">
                <a:solidFill>
                  <a:srgbClr val="0F1B24"/>
                </a:solidFill>
                <a:latin typeface="Segoe UI"/>
              </a:rPr>
              <a:t>שאפשר</a:t>
            </a:r>
            <a:r>
              <a:rPr lang="en-US" sz="14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0F1B24"/>
                </a:solidFill>
                <a:latin typeface="Segoe UI"/>
              </a:rPr>
              <a:t>לאמת</a:t>
            </a:r>
            <a:r>
              <a:rPr lang="en-US" sz="14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0F1B24"/>
                </a:solidFill>
                <a:latin typeface="Segoe UI"/>
              </a:rPr>
              <a:t>מולו</a:t>
            </a:r>
            <a:r>
              <a:rPr lang="en-US" sz="14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0F1B24"/>
                </a:solidFill>
                <a:latin typeface="Segoe UI"/>
              </a:rPr>
              <a:t>אוטומטית</a:t>
            </a:r>
            <a:r>
              <a:rPr lang="en-US" sz="1400" b="0" i="0" noProof="0" dirty="0">
                <a:solidFill>
                  <a:srgbClr val="0F1B24"/>
                </a:solidFill>
                <a:latin typeface="Segoe UI"/>
              </a:rPr>
              <a:t>.</a:t>
            </a:r>
          </a:p>
          <a:p>
            <a:pPr algn="r" rtl="1">
              <a:lnSpc>
                <a:spcPct val="106000"/>
              </a:lnSpc>
              <a:spcAft>
                <a:spcPts val="700"/>
              </a:spcAft>
            </a:pPr>
            <a:r>
              <a:rPr lang="en-US" sz="1050" b="1" i="0" noProof="0" dirty="0">
                <a:solidFill>
                  <a:srgbClr val="C4622D"/>
                </a:solidFill>
                <a:latin typeface="Segoe UI"/>
              </a:rPr>
              <a:t>◆  </a:t>
            </a:r>
            <a:r>
              <a:rPr lang="en-US" sz="1400" b="0" i="0" noProof="0" dirty="0" err="1">
                <a:solidFill>
                  <a:srgbClr val="0F1B24"/>
                </a:solidFill>
                <a:latin typeface="Segoe UI"/>
              </a:rPr>
              <a:t>האבטחה</a:t>
            </a:r>
            <a:r>
              <a:rPr lang="en-US" sz="14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0F1B24"/>
                </a:solidFill>
                <a:latin typeface="Segoe UI"/>
              </a:rPr>
              <a:t>חייבת</a:t>
            </a:r>
            <a:r>
              <a:rPr lang="en-US" sz="14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0F1B24"/>
                </a:solidFill>
                <a:latin typeface="Segoe UI"/>
              </a:rPr>
              <a:t>לחול</a:t>
            </a:r>
            <a:r>
              <a:rPr lang="en-US" sz="14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0F1B24"/>
                </a:solidFill>
                <a:latin typeface="Segoe UI"/>
              </a:rPr>
              <a:t>על</a:t>
            </a:r>
            <a:r>
              <a:rPr lang="en-US" sz="14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0F1B24"/>
                </a:solidFill>
                <a:latin typeface="Segoe UI"/>
              </a:rPr>
              <a:t>ההודעה</a:t>
            </a:r>
            <a:r>
              <a:rPr lang="en-US" sz="14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0F1B24"/>
                </a:solidFill>
                <a:latin typeface="Segoe UI"/>
              </a:rPr>
              <a:t>עצמה</a:t>
            </a:r>
            <a:r>
              <a:rPr lang="en-US" sz="1400" b="0" i="0" noProof="0" dirty="0">
                <a:solidFill>
                  <a:srgbClr val="0F1B24"/>
                </a:solidFill>
                <a:latin typeface="Segoe UI"/>
              </a:rPr>
              <a:t> — </a:t>
            </a:r>
            <a:r>
              <a:rPr lang="en-US" sz="1400" b="0" i="0" noProof="0" dirty="0" err="1">
                <a:solidFill>
                  <a:srgbClr val="0F1B24"/>
                </a:solidFill>
                <a:latin typeface="Segoe UI"/>
              </a:rPr>
              <a:t>חתימה</a:t>
            </a:r>
            <a:r>
              <a:rPr lang="en-US" sz="14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0F1B24"/>
                </a:solidFill>
                <a:latin typeface="Segoe UI"/>
              </a:rPr>
              <a:t>והצפנה</a:t>
            </a:r>
            <a:r>
              <a:rPr lang="en-US" sz="14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0F1B24"/>
                </a:solidFill>
                <a:latin typeface="Segoe UI"/>
              </a:rPr>
              <a:t>שנשמרות</a:t>
            </a:r>
            <a:r>
              <a:rPr lang="en-US" sz="14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0F1B24"/>
                </a:solidFill>
                <a:latin typeface="Segoe UI"/>
              </a:rPr>
              <a:t>גם</a:t>
            </a:r>
            <a:r>
              <a:rPr lang="en-US" sz="14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0F1B24"/>
                </a:solidFill>
                <a:latin typeface="Segoe UI"/>
              </a:rPr>
              <a:t>מעבר</a:t>
            </a:r>
            <a:r>
              <a:rPr lang="en-US" sz="14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0F1B24"/>
                </a:solidFill>
                <a:latin typeface="Segoe UI"/>
              </a:rPr>
              <a:t>לצינור</a:t>
            </a:r>
            <a:r>
              <a:rPr lang="en-US" sz="1400" b="0" i="0" noProof="0" dirty="0">
                <a:solidFill>
                  <a:srgbClr val="0F1B24"/>
                </a:solidFill>
                <a:latin typeface="Segoe UI"/>
              </a:rPr>
              <a:t>.</a:t>
            </a:r>
          </a:p>
          <a:p>
            <a:pPr algn="r" rtl="1">
              <a:lnSpc>
                <a:spcPct val="106000"/>
              </a:lnSpc>
              <a:spcAft>
                <a:spcPts val="700"/>
              </a:spcAft>
            </a:pPr>
            <a:r>
              <a:rPr lang="en-US" sz="1050" b="1" i="0" noProof="0" dirty="0">
                <a:solidFill>
                  <a:srgbClr val="C4622D"/>
                </a:solidFill>
                <a:latin typeface="Segoe UI"/>
              </a:rPr>
              <a:t>◆  </a:t>
            </a:r>
            <a:r>
              <a:rPr lang="en-US" sz="1400" b="0" i="0" noProof="0" dirty="0" err="1">
                <a:solidFill>
                  <a:srgbClr val="0F1B24"/>
                </a:solidFill>
                <a:latin typeface="Segoe UI"/>
              </a:rPr>
              <a:t>יש</a:t>
            </a:r>
            <a:r>
              <a:rPr lang="en-US" sz="14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0F1B24"/>
                </a:solidFill>
                <a:latin typeface="Segoe UI"/>
              </a:rPr>
              <a:t>טרנזקציה</a:t>
            </a:r>
            <a:r>
              <a:rPr lang="en-US" sz="14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0F1B24"/>
                </a:solidFill>
                <a:latin typeface="Segoe UI"/>
              </a:rPr>
              <a:t>מבוזרת</a:t>
            </a:r>
            <a:r>
              <a:rPr lang="en-US" sz="14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0F1B24"/>
                </a:solidFill>
                <a:latin typeface="Segoe UI"/>
              </a:rPr>
              <a:t>שחייבת</a:t>
            </a:r>
            <a:r>
              <a:rPr lang="en-US" sz="14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0F1B24"/>
                </a:solidFill>
                <a:latin typeface="Segoe UI"/>
              </a:rPr>
              <a:t>להצליח</a:t>
            </a:r>
            <a:r>
              <a:rPr lang="en-US" sz="14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0F1B24"/>
                </a:solidFill>
                <a:latin typeface="Segoe UI"/>
              </a:rPr>
              <a:t>או</a:t>
            </a:r>
            <a:r>
              <a:rPr lang="en-US" sz="14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0F1B24"/>
                </a:solidFill>
                <a:latin typeface="Segoe UI"/>
              </a:rPr>
              <a:t>להיכשל</a:t>
            </a:r>
            <a:r>
              <a:rPr lang="en-US" sz="14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0F1B24"/>
                </a:solidFill>
                <a:latin typeface="Segoe UI"/>
              </a:rPr>
              <a:t>בשלמותה</a:t>
            </a:r>
            <a:r>
              <a:rPr lang="en-US" sz="14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0F1B24"/>
                </a:solidFill>
                <a:latin typeface="Segoe UI"/>
              </a:rPr>
              <a:t>על</a:t>
            </a:r>
            <a:r>
              <a:rPr lang="en-US" sz="14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0F1B24"/>
                </a:solidFill>
                <a:latin typeface="Segoe UI"/>
              </a:rPr>
              <a:t>פני</a:t>
            </a:r>
            <a:r>
              <a:rPr lang="en-US" sz="14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0F1B24"/>
                </a:solidFill>
                <a:latin typeface="Segoe UI"/>
              </a:rPr>
              <a:t>כמה</a:t>
            </a:r>
            <a:r>
              <a:rPr lang="en-US" sz="14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0F1B24"/>
                </a:solidFill>
                <a:latin typeface="Segoe UI"/>
              </a:rPr>
              <a:t>שירותים</a:t>
            </a:r>
            <a:r>
              <a:rPr lang="en-US" sz="1400" b="0" i="0" noProof="0" dirty="0">
                <a:solidFill>
                  <a:srgbClr val="0F1B24"/>
                </a:solidFill>
                <a:latin typeface="Segoe UI"/>
              </a:rPr>
              <a:t>.</a:t>
            </a:r>
          </a:p>
          <a:p>
            <a:pPr algn="r" rtl="1">
              <a:lnSpc>
                <a:spcPct val="106000"/>
              </a:lnSpc>
              <a:spcAft>
                <a:spcPts val="700"/>
              </a:spcAft>
            </a:pPr>
            <a:r>
              <a:rPr lang="en-US" sz="1050" b="1" i="0" noProof="0" dirty="0">
                <a:solidFill>
                  <a:srgbClr val="C4622D"/>
                </a:solidFill>
                <a:latin typeface="Segoe UI"/>
              </a:rPr>
              <a:t>◆  </a:t>
            </a:r>
            <a:r>
              <a:rPr lang="en-US" sz="1400" b="0" i="0" noProof="0" dirty="0" err="1">
                <a:solidFill>
                  <a:srgbClr val="0F1B24"/>
                </a:solidFill>
                <a:latin typeface="Segoe UI"/>
              </a:rPr>
              <a:t>נדרשת</a:t>
            </a:r>
            <a:r>
              <a:rPr lang="en-US" sz="14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0F1B24"/>
                </a:solidFill>
                <a:latin typeface="Segoe UI"/>
              </a:rPr>
              <a:t>אמינות</a:t>
            </a:r>
            <a:r>
              <a:rPr lang="en-US" sz="14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0F1B24"/>
                </a:solidFill>
                <a:latin typeface="Segoe UI"/>
              </a:rPr>
              <a:t>מובטחת</a:t>
            </a:r>
            <a:r>
              <a:rPr lang="en-US" sz="1400" b="0" i="0" noProof="0" dirty="0">
                <a:solidFill>
                  <a:srgbClr val="0F1B24"/>
                </a:solidFill>
                <a:latin typeface="Segoe UI"/>
              </a:rPr>
              <a:t>: </a:t>
            </a:r>
            <a:r>
              <a:rPr lang="en-US" sz="1400" b="0" i="0" noProof="0" dirty="0" err="1">
                <a:solidFill>
                  <a:srgbClr val="0F1B24"/>
                </a:solidFill>
                <a:latin typeface="Segoe UI"/>
              </a:rPr>
              <a:t>ההודעה</a:t>
            </a:r>
            <a:r>
              <a:rPr lang="en-US" sz="14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0F1B24"/>
                </a:solidFill>
                <a:latin typeface="Segoe UI"/>
              </a:rPr>
              <a:t>תגיע</a:t>
            </a:r>
            <a:r>
              <a:rPr lang="en-US" sz="14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0F1B24"/>
                </a:solidFill>
                <a:latin typeface="Segoe UI"/>
              </a:rPr>
              <a:t>בדיוק</a:t>
            </a:r>
            <a:r>
              <a:rPr lang="en-US" sz="14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0F1B24"/>
                </a:solidFill>
                <a:latin typeface="Segoe UI"/>
              </a:rPr>
              <a:t>פעם</a:t>
            </a:r>
            <a:r>
              <a:rPr lang="en-US" sz="14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0F1B24"/>
                </a:solidFill>
                <a:latin typeface="Segoe UI"/>
              </a:rPr>
              <a:t>אחת</a:t>
            </a:r>
            <a:r>
              <a:rPr lang="en-US" sz="1400" b="0" i="0" noProof="0" dirty="0">
                <a:solidFill>
                  <a:srgbClr val="0F1B24"/>
                </a:solidFill>
                <a:latin typeface="Segoe UI"/>
              </a:rPr>
              <a:t>, </a:t>
            </a:r>
            <a:r>
              <a:rPr lang="en-US" sz="1400" b="0" i="0" noProof="0" dirty="0" err="1">
                <a:solidFill>
                  <a:srgbClr val="0F1B24"/>
                </a:solidFill>
                <a:latin typeface="Segoe UI"/>
              </a:rPr>
              <a:t>גם</a:t>
            </a:r>
            <a:r>
              <a:rPr lang="en-US" sz="14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0F1B24"/>
                </a:solidFill>
                <a:latin typeface="Segoe UI"/>
              </a:rPr>
              <a:t>אם</a:t>
            </a:r>
            <a:r>
              <a:rPr lang="en-US" sz="14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0F1B24"/>
                </a:solidFill>
                <a:latin typeface="Segoe UI"/>
              </a:rPr>
              <a:t>הרשת</a:t>
            </a:r>
            <a:r>
              <a:rPr lang="en-US" sz="14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0F1B24"/>
                </a:solidFill>
                <a:latin typeface="Segoe UI"/>
              </a:rPr>
              <a:t>נופלת</a:t>
            </a:r>
            <a:r>
              <a:rPr lang="en-US" sz="1400" b="0" i="0" noProof="0" dirty="0">
                <a:solidFill>
                  <a:srgbClr val="0F1B24"/>
                </a:solidFill>
                <a:latin typeface="Segoe UI"/>
              </a:rPr>
              <a:t>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79448" y="1408176"/>
            <a:ext cx="5486400" cy="475488"/>
          </a:xfrm>
          <a:prstGeom prst="roundRect">
            <a:avLst>
              <a:gd name="adj" fmla="val 4000"/>
            </a:avLst>
          </a:prstGeom>
          <a:solidFill>
            <a:srgbClr val="0D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15" name="TextBox 14"/>
          <p:cNvSpPr txBox="1"/>
          <p:nvPr/>
        </p:nvSpPr>
        <p:spPr>
          <a:xfrm>
            <a:off x="6604437" y="1508760"/>
            <a:ext cx="5084064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/>
            <a:r>
              <a:rPr lang="en-US" sz="1600" b="1" i="0" noProof="0" dirty="0" err="1">
                <a:solidFill>
                  <a:srgbClr val="FFFFFF"/>
                </a:solidFill>
                <a:latin typeface="Segoe UI"/>
              </a:rPr>
              <a:t>בחרו</a:t>
            </a:r>
            <a:r>
              <a:rPr lang="en-US" sz="1600" b="1" i="0" noProof="0" dirty="0">
                <a:solidFill>
                  <a:srgbClr val="FFFFFF"/>
                </a:solidFill>
                <a:latin typeface="Segoe UI"/>
              </a:rPr>
              <a:t> ‏REST‏ </a:t>
            </a:r>
            <a:r>
              <a:rPr lang="en-US" sz="1600" b="1" i="0" noProof="0" dirty="0" err="1">
                <a:solidFill>
                  <a:srgbClr val="FFFFFF"/>
                </a:solidFill>
                <a:latin typeface="Segoe UI"/>
              </a:rPr>
              <a:t>כאשר</a:t>
            </a:r>
            <a:r>
              <a:rPr lang="en-US" sz="1600" b="1" i="0" noProof="0" dirty="0">
                <a:solidFill>
                  <a:srgbClr val="FFFFFF"/>
                </a:solidFill>
                <a:latin typeface="Segoe UI"/>
              </a:rPr>
              <a:t>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25752" y="1922145"/>
            <a:ext cx="5340096" cy="2153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06000"/>
              </a:lnSpc>
              <a:spcAft>
                <a:spcPts val="700"/>
              </a:spcAft>
            </a:pPr>
            <a:r>
              <a:rPr lang="en-US" sz="920" b="1" i="0" noProof="0" dirty="0">
                <a:solidFill>
                  <a:srgbClr val="C4622D"/>
                </a:solidFill>
                <a:latin typeface="Segoe UI"/>
              </a:rPr>
              <a:t>◆  </a:t>
            </a:r>
            <a:r>
              <a:rPr lang="en-US" sz="1400" b="0" i="0" noProof="0" dirty="0" err="1">
                <a:solidFill>
                  <a:srgbClr val="0F1B24"/>
                </a:solidFill>
                <a:latin typeface="Segoe UI"/>
              </a:rPr>
              <a:t>בונים</a:t>
            </a:r>
            <a:r>
              <a:rPr lang="en-US" sz="1400" b="0" i="0" noProof="0" dirty="0">
                <a:solidFill>
                  <a:srgbClr val="0F1B24"/>
                </a:solidFill>
                <a:latin typeface="Segoe UI"/>
              </a:rPr>
              <a:t> ‏API‏ </a:t>
            </a:r>
            <a:r>
              <a:rPr lang="en-US" sz="1400" b="0" i="0" noProof="0" dirty="0" err="1">
                <a:solidFill>
                  <a:srgbClr val="0F1B24"/>
                </a:solidFill>
                <a:latin typeface="Segoe UI"/>
              </a:rPr>
              <a:t>ציבורי</a:t>
            </a:r>
            <a:r>
              <a:rPr lang="en-US" sz="14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0F1B24"/>
                </a:solidFill>
                <a:latin typeface="Segoe UI"/>
              </a:rPr>
              <a:t>שמפתחים</a:t>
            </a:r>
            <a:r>
              <a:rPr lang="en-US" sz="14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0F1B24"/>
                </a:solidFill>
                <a:latin typeface="Segoe UI"/>
              </a:rPr>
              <a:t>חיצוניים</a:t>
            </a:r>
            <a:r>
              <a:rPr lang="en-US" sz="14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0F1B24"/>
                </a:solidFill>
                <a:latin typeface="Segoe UI"/>
              </a:rPr>
              <a:t>אמורים</a:t>
            </a:r>
            <a:r>
              <a:rPr lang="en-US" sz="14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0F1B24"/>
                </a:solidFill>
                <a:latin typeface="Segoe UI"/>
              </a:rPr>
              <a:t>לאמץ</a:t>
            </a:r>
            <a:r>
              <a:rPr lang="en-US" sz="14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0F1B24"/>
                </a:solidFill>
                <a:latin typeface="Segoe UI"/>
              </a:rPr>
              <a:t>במהירות</a:t>
            </a:r>
            <a:r>
              <a:rPr lang="en-US" sz="1400" b="0" i="0" noProof="0" dirty="0">
                <a:solidFill>
                  <a:srgbClr val="0F1B24"/>
                </a:solidFill>
                <a:latin typeface="Segoe UI"/>
              </a:rPr>
              <a:t>.</a:t>
            </a:r>
          </a:p>
          <a:p>
            <a:pPr algn="r" rtl="1">
              <a:lnSpc>
                <a:spcPct val="106000"/>
              </a:lnSpc>
              <a:spcAft>
                <a:spcPts val="700"/>
              </a:spcAft>
            </a:pPr>
            <a:r>
              <a:rPr lang="en-US" sz="1050" b="1" i="0" noProof="0" dirty="0">
                <a:solidFill>
                  <a:srgbClr val="C4622D"/>
                </a:solidFill>
                <a:latin typeface="Segoe UI"/>
              </a:rPr>
              <a:t>◆  </a:t>
            </a:r>
            <a:r>
              <a:rPr lang="en-US" sz="1400" b="0" i="0" noProof="0" dirty="0" err="1">
                <a:solidFill>
                  <a:srgbClr val="0F1B24"/>
                </a:solidFill>
                <a:latin typeface="Segoe UI"/>
              </a:rPr>
              <a:t>הצרכן</a:t>
            </a:r>
            <a:r>
              <a:rPr lang="en-US" sz="14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0F1B24"/>
                </a:solidFill>
                <a:latin typeface="Segoe UI"/>
              </a:rPr>
              <a:t>הוא</a:t>
            </a:r>
            <a:r>
              <a:rPr lang="en-US" sz="14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0F1B24"/>
                </a:solidFill>
                <a:latin typeface="Segoe UI"/>
              </a:rPr>
              <a:t>דפדפן</a:t>
            </a:r>
            <a:r>
              <a:rPr lang="en-US" sz="1400" b="0" i="0" noProof="0" dirty="0">
                <a:solidFill>
                  <a:srgbClr val="0F1B24"/>
                </a:solidFill>
                <a:latin typeface="Segoe UI"/>
              </a:rPr>
              <a:t>, </a:t>
            </a:r>
            <a:r>
              <a:rPr lang="en-US" sz="1400" b="0" i="0" noProof="0" dirty="0" err="1">
                <a:solidFill>
                  <a:srgbClr val="0F1B24"/>
                </a:solidFill>
                <a:latin typeface="Segoe UI"/>
              </a:rPr>
              <a:t>יישום</a:t>
            </a:r>
            <a:r>
              <a:rPr lang="en-US" sz="14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0F1B24"/>
                </a:solidFill>
                <a:latin typeface="Segoe UI"/>
              </a:rPr>
              <a:t>מובייל</a:t>
            </a:r>
            <a:r>
              <a:rPr lang="en-US" sz="14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0F1B24"/>
                </a:solidFill>
                <a:latin typeface="Segoe UI"/>
              </a:rPr>
              <a:t>או</a:t>
            </a:r>
            <a:r>
              <a:rPr lang="en-US" sz="1400" b="0" i="0" noProof="0" dirty="0">
                <a:solidFill>
                  <a:srgbClr val="0F1B24"/>
                </a:solidFill>
                <a:latin typeface="Segoe UI"/>
              </a:rPr>
              <a:t> ‏SPA‏ </a:t>
            </a:r>
            <a:r>
              <a:rPr lang="en-US" sz="1400" b="0" i="0" noProof="0" dirty="0" err="1">
                <a:solidFill>
                  <a:srgbClr val="0F1B24"/>
                </a:solidFill>
                <a:latin typeface="Segoe UI"/>
              </a:rPr>
              <a:t>שכתוב</a:t>
            </a:r>
            <a:r>
              <a:rPr lang="en-US" sz="1400" b="0" i="0" noProof="0" dirty="0">
                <a:solidFill>
                  <a:srgbClr val="0F1B24"/>
                </a:solidFill>
                <a:latin typeface="Segoe UI"/>
              </a:rPr>
              <a:t> ב-‏JavaScript‏.</a:t>
            </a:r>
          </a:p>
          <a:p>
            <a:pPr algn="r" rtl="1">
              <a:lnSpc>
                <a:spcPct val="106000"/>
              </a:lnSpc>
              <a:spcAft>
                <a:spcPts val="700"/>
              </a:spcAft>
            </a:pPr>
            <a:r>
              <a:rPr lang="en-US" sz="1050" b="1" i="0" noProof="0" dirty="0">
                <a:solidFill>
                  <a:srgbClr val="C4622D"/>
                </a:solidFill>
                <a:latin typeface="Segoe UI"/>
              </a:rPr>
              <a:t>◆  </a:t>
            </a:r>
            <a:r>
              <a:rPr lang="en-US" sz="1400" b="0" i="0" noProof="0" dirty="0" err="1">
                <a:solidFill>
                  <a:srgbClr val="0F1B24"/>
                </a:solidFill>
                <a:latin typeface="Segoe UI"/>
              </a:rPr>
              <a:t>נדרשת</a:t>
            </a:r>
            <a:r>
              <a:rPr lang="en-US" sz="14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0F1B24"/>
                </a:solidFill>
                <a:latin typeface="Segoe UI"/>
              </a:rPr>
              <a:t>מדרגיות</a:t>
            </a:r>
            <a:r>
              <a:rPr lang="en-US" sz="14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0F1B24"/>
                </a:solidFill>
                <a:latin typeface="Segoe UI"/>
              </a:rPr>
              <a:t>גבוהה</a:t>
            </a:r>
            <a:r>
              <a:rPr lang="en-US" sz="1400" b="0" i="0" noProof="0" dirty="0">
                <a:solidFill>
                  <a:srgbClr val="0F1B24"/>
                </a:solidFill>
                <a:latin typeface="Segoe UI"/>
              </a:rPr>
              <a:t> — </a:t>
            </a:r>
            <a:r>
              <a:rPr lang="en-US" sz="1400" b="0" i="0" noProof="0" dirty="0" err="1">
                <a:solidFill>
                  <a:srgbClr val="0F1B24"/>
                </a:solidFill>
                <a:latin typeface="Segoe UI"/>
              </a:rPr>
              <a:t>מיליוני</a:t>
            </a:r>
            <a:r>
              <a:rPr lang="en-US" sz="14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0F1B24"/>
                </a:solidFill>
                <a:latin typeface="Segoe UI"/>
              </a:rPr>
              <a:t>בקשות</a:t>
            </a:r>
            <a:r>
              <a:rPr lang="en-US" sz="1400" b="0" i="0" noProof="0" dirty="0">
                <a:solidFill>
                  <a:srgbClr val="0F1B24"/>
                </a:solidFill>
                <a:latin typeface="Segoe UI"/>
              </a:rPr>
              <a:t>, </a:t>
            </a:r>
            <a:r>
              <a:rPr lang="en-US" sz="1400" b="0" i="0" noProof="0" dirty="0" err="1">
                <a:solidFill>
                  <a:srgbClr val="0F1B24"/>
                </a:solidFill>
                <a:latin typeface="Segoe UI"/>
              </a:rPr>
              <a:t>שרתים</a:t>
            </a:r>
            <a:r>
              <a:rPr lang="en-US" sz="14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0F1B24"/>
                </a:solidFill>
                <a:latin typeface="Segoe UI"/>
              </a:rPr>
              <a:t>חסרי</a:t>
            </a:r>
            <a:r>
              <a:rPr lang="en-US" sz="14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0F1B24"/>
                </a:solidFill>
                <a:latin typeface="Segoe UI"/>
              </a:rPr>
              <a:t>מצב</a:t>
            </a:r>
            <a:r>
              <a:rPr lang="en-US" sz="14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0F1B24"/>
                </a:solidFill>
                <a:latin typeface="Segoe UI"/>
              </a:rPr>
              <a:t>ומטמון</a:t>
            </a:r>
            <a:r>
              <a:rPr lang="en-US" sz="1400" b="0" i="0" noProof="0" dirty="0">
                <a:solidFill>
                  <a:srgbClr val="0F1B24"/>
                </a:solidFill>
                <a:latin typeface="Segoe UI"/>
              </a:rPr>
              <a:t>.</a:t>
            </a:r>
          </a:p>
          <a:p>
            <a:pPr algn="r" rtl="1">
              <a:lnSpc>
                <a:spcPct val="106000"/>
              </a:lnSpc>
              <a:spcAft>
                <a:spcPts val="700"/>
              </a:spcAft>
            </a:pPr>
            <a:r>
              <a:rPr lang="en-US" sz="1050" b="1" i="0" noProof="0" dirty="0">
                <a:solidFill>
                  <a:srgbClr val="C4622D"/>
                </a:solidFill>
                <a:latin typeface="Segoe UI"/>
              </a:rPr>
              <a:t>◆  </a:t>
            </a:r>
            <a:r>
              <a:rPr lang="en-US" sz="1400" b="0" i="0" noProof="0" dirty="0" err="1">
                <a:solidFill>
                  <a:srgbClr val="0F1B24"/>
                </a:solidFill>
                <a:latin typeface="Segoe UI"/>
              </a:rPr>
              <a:t>רוחב</a:t>
            </a:r>
            <a:r>
              <a:rPr lang="en-US" sz="14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0F1B24"/>
                </a:solidFill>
                <a:latin typeface="Segoe UI"/>
              </a:rPr>
              <a:t>הפס</a:t>
            </a:r>
            <a:r>
              <a:rPr lang="en-US" sz="14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0F1B24"/>
                </a:solidFill>
                <a:latin typeface="Segoe UI"/>
              </a:rPr>
              <a:t>יקר</a:t>
            </a:r>
            <a:r>
              <a:rPr lang="en-US" sz="1400" b="0" i="0" noProof="0" dirty="0">
                <a:solidFill>
                  <a:srgbClr val="0F1B24"/>
                </a:solidFill>
                <a:latin typeface="Segoe UI"/>
              </a:rPr>
              <a:t>: </a:t>
            </a:r>
            <a:r>
              <a:rPr lang="en-US" sz="1400" b="0" i="0" noProof="0" dirty="0" err="1">
                <a:solidFill>
                  <a:srgbClr val="0F1B24"/>
                </a:solidFill>
                <a:latin typeface="Segoe UI"/>
              </a:rPr>
              <a:t>רשת</a:t>
            </a:r>
            <a:r>
              <a:rPr lang="en-US" sz="14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0F1B24"/>
                </a:solidFill>
                <a:latin typeface="Segoe UI"/>
              </a:rPr>
              <a:t>סלולרית</a:t>
            </a:r>
            <a:r>
              <a:rPr lang="en-US" sz="1400" b="0" i="0" noProof="0" dirty="0">
                <a:solidFill>
                  <a:srgbClr val="0F1B24"/>
                </a:solidFill>
                <a:latin typeface="Segoe UI"/>
              </a:rPr>
              <a:t>, </a:t>
            </a:r>
            <a:r>
              <a:rPr lang="en-US" sz="1400" b="0" i="0" noProof="0" dirty="0" err="1">
                <a:solidFill>
                  <a:srgbClr val="0F1B24"/>
                </a:solidFill>
                <a:latin typeface="Segoe UI"/>
              </a:rPr>
              <a:t>מכשירי</a:t>
            </a:r>
            <a:r>
              <a:rPr lang="en-US" sz="1400" b="0" i="0" noProof="0" dirty="0">
                <a:solidFill>
                  <a:srgbClr val="0F1B24"/>
                </a:solidFill>
                <a:latin typeface="Segoe UI"/>
              </a:rPr>
              <a:t> ‏IoT‏, </a:t>
            </a:r>
            <a:r>
              <a:rPr lang="en-US" sz="1400" b="0" i="0" noProof="0" dirty="0" err="1">
                <a:solidFill>
                  <a:srgbClr val="0F1B24"/>
                </a:solidFill>
                <a:latin typeface="Segoe UI"/>
              </a:rPr>
              <a:t>קצוות</a:t>
            </a:r>
            <a:r>
              <a:rPr lang="en-US" sz="14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0F1B24"/>
                </a:solidFill>
                <a:latin typeface="Segoe UI"/>
              </a:rPr>
              <a:t>איטיים</a:t>
            </a:r>
            <a:r>
              <a:rPr lang="en-US" sz="1400" b="0" i="0" noProof="0" dirty="0">
                <a:solidFill>
                  <a:srgbClr val="0F1B24"/>
                </a:solidFill>
                <a:latin typeface="Segoe UI"/>
              </a:rPr>
              <a:t>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4626864"/>
            <a:ext cx="1106424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/>
            <a:r>
              <a:rPr lang="en-US" sz="1400" b="1" i="0" noProof="0" dirty="0" err="1">
                <a:solidFill>
                  <a:srgbClr val="0D4A5C"/>
                </a:solidFill>
                <a:latin typeface="Segoe UI"/>
              </a:rPr>
              <a:t>עץ</a:t>
            </a:r>
            <a:r>
              <a:rPr lang="en-US" sz="1400" b="1" i="0" noProof="0" dirty="0">
                <a:solidFill>
                  <a:srgbClr val="0D4A5C"/>
                </a:solidFill>
                <a:latin typeface="Segoe UI"/>
              </a:rPr>
              <a:t> </a:t>
            </a:r>
            <a:r>
              <a:rPr lang="en-US" sz="1400" b="1" i="0" noProof="0" dirty="0" err="1">
                <a:solidFill>
                  <a:srgbClr val="0D4A5C"/>
                </a:solidFill>
                <a:latin typeface="Segoe UI"/>
              </a:rPr>
              <a:t>החלטה</a:t>
            </a:r>
            <a:r>
              <a:rPr lang="en-US" sz="1400" b="1" i="0" noProof="0" dirty="0">
                <a:solidFill>
                  <a:srgbClr val="0D4A5C"/>
                </a:solidFill>
                <a:latin typeface="Segoe UI"/>
              </a:rPr>
              <a:t> </a:t>
            </a:r>
            <a:r>
              <a:rPr lang="en-US" sz="1400" b="1" i="0" noProof="0" dirty="0" err="1">
                <a:solidFill>
                  <a:srgbClr val="0D4A5C"/>
                </a:solidFill>
                <a:latin typeface="Segoe UI"/>
              </a:rPr>
              <a:t>מהיר</a:t>
            </a:r>
            <a:r>
              <a:rPr lang="en-US" sz="1400" b="1" i="0" noProof="0" dirty="0">
                <a:solidFill>
                  <a:srgbClr val="0D4A5C"/>
                </a:solidFill>
                <a:latin typeface="Segoe UI"/>
              </a:rPr>
              <a:t> — </a:t>
            </a:r>
            <a:r>
              <a:rPr lang="en-US" sz="1400" b="1" i="0" noProof="0" dirty="0" err="1">
                <a:solidFill>
                  <a:srgbClr val="0D4A5C"/>
                </a:solidFill>
                <a:latin typeface="Segoe UI"/>
              </a:rPr>
              <a:t>שלוש</a:t>
            </a:r>
            <a:r>
              <a:rPr lang="en-US" sz="1400" b="1" i="0" noProof="0" dirty="0">
                <a:solidFill>
                  <a:srgbClr val="0D4A5C"/>
                </a:solidFill>
                <a:latin typeface="Segoe UI"/>
              </a:rPr>
              <a:t> </a:t>
            </a:r>
            <a:r>
              <a:rPr lang="en-US" sz="1400" b="1" i="0" noProof="0" dirty="0" err="1">
                <a:solidFill>
                  <a:srgbClr val="0D4A5C"/>
                </a:solidFill>
                <a:latin typeface="Segoe UI"/>
              </a:rPr>
              <a:t>שאלות</a:t>
            </a:r>
            <a:endParaRPr lang="en-US" sz="1400" b="1" i="0" noProof="0" dirty="0">
              <a:solidFill>
                <a:srgbClr val="0D4A5C"/>
              </a:solidFill>
              <a:latin typeface="Segoe UI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8089392" y="4919472"/>
            <a:ext cx="3541775" cy="731520"/>
          </a:xfrm>
          <a:prstGeom prst="roundRect">
            <a:avLst>
              <a:gd name="adj" fmla="val 4000"/>
            </a:avLst>
          </a:prstGeom>
          <a:solidFill>
            <a:srgbClr val="F1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19" name="Rounded Rectangle 18"/>
          <p:cNvSpPr/>
          <p:nvPr/>
        </p:nvSpPr>
        <p:spPr>
          <a:xfrm>
            <a:off x="11192256" y="5010912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0D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20" name="TextBox 19"/>
          <p:cNvSpPr txBox="1"/>
          <p:nvPr/>
        </p:nvSpPr>
        <p:spPr>
          <a:xfrm>
            <a:off x="11192256" y="5029199"/>
            <a:ext cx="292608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 rtl="1"/>
            <a:r>
              <a:rPr lang="en-US" sz="1100" b="1" i="0" noProof="0" dirty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35696" y="4992624"/>
            <a:ext cx="2883408" cy="3431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05000"/>
              </a:lnSpc>
            </a:pPr>
            <a:r>
              <a:rPr lang="en-US" sz="1100" b="1" i="0" noProof="0" dirty="0" err="1">
                <a:solidFill>
                  <a:srgbClr val="0D4A5C"/>
                </a:solidFill>
                <a:latin typeface="Segoe UI"/>
              </a:rPr>
              <a:t>האם</a:t>
            </a:r>
            <a:r>
              <a:rPr lang="en-US" sz="1100" b="1" i="0" noProof="0" dirty="0">
                <a:solidFill>
                  <a:srgbClr val="0D4A5C"/>
                </a:solidFill>
                <a:latin typeface="Segoe UI"/>
              </a:rPr>
              <a:t> </a:t>
            </a:r>
            <a:r>
              <a:rPr lang="en-US" sz="1100" b="1" i="0" noProof="0" dirty="0" err="1">
                <a:solidFill>
                  <a:srgbClr val="0D4A5C"/>
                </a:solidFill>
                <a:latin typeface="Segoe UI"/>
              </a:rPr>
              <a:t>ההודעה</a:t>
            </a:r>
            <a:r>
              <a:rPr lang="en-US" sz="1100" b="1" i="0" noProof="0" dirty="0">
                <a:solidFill>
                  <a:srgbClr val="0D4A5C"/>
                </a:solidFill>
                <a:latin typeface="Segoe UI"/>
              </a:rPr>
              <a:t> </a:t>
            </a:r>
            <a:r>
              <a:rPr lang="en-US" sz="1100" b="1" i="0" noProof="0" dirty="0" err="1">
                <a:solidFill>
                  <a:srgbClr val="0D4A5C"/>
                </a:solidFill>
                <a:latin typeface="Segoe UI"/>
              </a:rPr>
              <a:t>עצמה</a:t>
            </a:r>
            <a:r>
              <a:rPr lang="en-US" sz="1100" b="1" i="0" noProof="0" dirty="0">
                <a:solidFill>
                  <a:srgbClr val="0D4A5C"/>
                </a:solidFill>
                <a:latin typeface="Segoe UI"/>
              </a:rPr>
              <a:t> </a:t>
            </a:r>
            <a:r>
              <a:rPr lang="en-US" sz="1100" b="1" i="0" noProof="0" dirty="0" err="1">
                <a:solidFill>
                  <a:srgbClr val="0D4A5C"/>
                </a:solidFill>
                <a:latin typeface="Segoe UI"/>
              </a:rPr>
              <a:t>חייבת</a:t>
            </a:r>
            <a:r>
              <a:rPr lang="en-US" sz="1100" b="1" i="0" noProof="0" dirty="0">
                <a:solidFill>
                  <a:srgbClr val="0D4A5C"/>
                </a:solidFill>
                <a:latin typeface="Segoe UI"/>
              </a:rPr>
              <a:t> </a:t>
            </a:r>
            <a:r>
              <a:rPr lang="en-US" sz="1100" b="1" i="0" noProof="0" dirty="0" err="1">
                <a:solidFill>
                  <a:srgbClr val="0D4A5C"/>
                </a:solidFill>
                <a:latin typeface="Segoe UI"/>
              </a:rPr>
              <a:t>להיות</a:t>
            </a:r>
            <a:r>
              <a:rPr lang="en-US" sz="1100" b="1" i="0" noProof="0" dirty="0">
                <a:solidFill>
                  <a:srgbClr val="0D4A5C"/>
                </a:solidFill>
                <a:latin typeface="Segoe UI"/>
              </a:rPr>
              <a:t> </a:t>
            </a:r>
            <a:r>
              <a:rPr lang="en-US" sz="1100" b="1" i="0" noProof="0" dirty="0" err="1">
                <a:solidFill>
                  <a:srgbClr val="0D4A5C"/>
                </a:solidFill>
                <a:latin typeface="Segoe UI"/>
              </a:rPr>
              <a:t>מוצפנת</a:t>
            </a:r>
            <a:r>
              <a:rPr lang="en-US" sz="1100" b="1" i="0" noProof="0" dirty="0">
                <a:solidFill>
                  <a:srgbClr val="0D4A5C"/>
                </a:solidFill>
                <a:latin typeface="Segoe UI"/>
              </a:rPr>
              <a:t> </a:t>
            </a:r>
            <a:r>
              <a:rPr lang="en-US" sz="1100" b="1" i="0" noProof="0" dirty="0" err="1">
                <a:solidFill>
                  <a:srgbClr val="0D4A5C"/>
                </a:solidFill>
                <a:latin typeface="Segoe UI"/>
              </a:rPr>
              <a:t>או</a:t>
            </a:r>
            <a:r>
              <a:rPr lang="en-US" sz="1100" b="1" i="0" noProof="0" dirty="0">
                <a:solidFill>
                  <a:srgbClr val="0D4A5C"/>
                </a:solidFill>
                <a:latin typeface="Segoe UI"/>
              </a:rPr>
              <a:t> </a:t>
            </a:r>
            <a:r>
              <a:rPr lang="en-US" sz="1100" b="1" i="0" noProof="0" dirty="0" err="1">
                <a:solidFill>
                  <a:srgbClr val="0D4A5C"/>
                </a:solidFill>
                <a:latin typeface="Segoe UI"/>
              </a:rPr>
              <a:t>חתומה</a:t>
            </a:r>
            <a:r>
              <a:rPr lang="en-US" sz="1100" b="1" i="0" noProof="0" dirty="0">
                <a:solidFill>
                  <a:srgbClr val="0D4A5C"/>
                </a:solidFill>
                <a:latin typeface="Segoe UI"/>
              </a:rPr>
              <a:t>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35696" y="5385816"/>
            <a:ext cx="3267456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/>
            <a:r>
              <a:rPr lang="en-US" sz="1100" b="0" i="0" noProof="0" dirty="0" err="1">
                <a:solidFill>
                  <a:srgbClr val="C4622D"/>
                </a:solidFill>
                <a:latin typeface="Segoe UI"/>
              </a:rPr>
              <a:t>כן</a:t>
            </a:r>
            <a:r>
              <a:rPr lang="en-US" sz="1100" b="0" i="0" noProof="0" dirty="0">
                <a:solidFill>
                  <a:srgbClr val="C4622D"/>
                </a:solidFill>
                <a:latin typeface="Segoe UI"/>
              </a:rPr>
              <a:t>: ‏SOAP‏ · </a:t>
            </a:r>
            <a:r>
              <a:rPr lang="en-US" sz="1100" b="0" i="0" noProof="0" dirty="0" err="1">
                <a:solidFill>
                  <a:srgbClr val="C4622D"/>
                </a:solidFill>
                <a:latin typeface="Segoe UI"/>
              </a:rPr>
              <a:t>לא</a:t>
            </a:r>
            <a:r>
              <a:rPr lang="en-US" sz="1100" b="0" i="0" noProof="0" dirty="0">
                <a:solidFill>
                  <a:srgbClr val="C4622D"/>
                </a:solidFill>
                <a:latin typeface="Segoe UI"/>
              </a:rPr>
              <a:t>: </a:t>
            </a:r>
            <a:r>
              <a:rPr lang="en-US" sz="1100" b="0" i="0" noProof="0" dirty="0" err="1">
                <a:solidFill>
                  <a:srgbClr val="C4622D"/>
                </a:solidFill>
                <a:latin typeface="Segoe UI"/>
              </a:rPr>
              <a:t>המשיכו</a:t>
            </a:r>
            <a:endParaRPr lang="en-US" sz="1100" b="0" i="0" noProof="0" dirty="0">
              <a:solidFill>
                <a:srgbClr val="C4622D"/>
              </a:solidFill>
              <a:latin typeface="Segoe UI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4328160" y="4919472"/>
            <a:ext cx="3541775" cy="731520"/>
          </a:xfrm>
          <a:prstGeom prst="roundRect">
            <a:avLst>
              <a:gd name="adj" fmla="val 4000"/>
            </a:avLst>
          </a:prstGeom>
          <a:solidFill>
            <a:srgbClr val="F1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24" name="Rounded Rectangle 23"/>
          <p:cNvSpPr/>
          <p:nvPr/>
        </p:nvSpPr>
        <p:spPr>
          <a:xfrm>
            <a:off x="7431024" y="5010912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0D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25" name="TextBox 24"/>
          <p:cNvSpPr txBox="1"/>
          <p:nvPr/>
        </p:nvSpPr>
        <p:spPr>
          <a:xfrm>
            <a:off x="7431024" y="5029199"/>
            <a:ext cx="292608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 rtl="1"/>
            <a:r>
              <a:rPr lang="en-US" sz="1100" b="1" i="0" noProof="0" dirty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74464" y="4992624"/>
            <a:ext cx="2883408" cy="1653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05000"/>
              </a:lnSpc>
            </a:pPr>
            <a:r>
              <a:rPr lang="en-US" sz="1100" b="1" i="0" noProof="0" dirty="0" err="1">
                <a:solidFill>
                  <a:srgbClr val="0D4A5C"/>
                </a:solidFill>
                <a:latin typeface="Segoe UI"/>
              </a:rPr>
              <a:t>האם</a:t>
            </a:r>
            <a:r>
              <a:rPr lang="en-US" sz="1100" b="1" i="0" noProof="0" dirty="0">
                <a:solidFill>
                  <a:srgbClr val="0D4A5C"/>
                </a:solidFill>
                <a:latin typeface="Segoe UI"/>
              </a:rPr>
              <a:t> </a:t>
            </a:r>
            <a:r>
              <a:rPr lang="en-US" sz="1100" b="1" i="0" noProof="0" dirty="0" err="1">
                <a:solidFill>
                  <a:srgbClr val="0D4A5C"/>
                </a:solidFill>
                <a:latin typeface="Segoe UI"/>
              </a:rPr>
              <a:t>נדרשת</a:t>
            </a:r>
            <a:r>
              <a:rPr lang="en-US" sz="1100" b="1" i="0" noProof="0" dirty="0">
                <a:solidFill>
                  <a:srgbClr val="0D4A5C"/>
                </a:solidFill>
                <a:latin typeface="Segoe UI"/>
              </a:rPr>
              <a:t> </a:t>
            </a:r>
            <a:r>
              <a:rPr lang="en-US" sz="1100" b="1" i="0" noProof="0" dirty="0" err="1">
                <a:solidFill>
                  <a:srgbClr val="0D4A5C"/>
                </a:solidFill>
                <a:latin typeface="Segoe UI"/>
              </a:rPr>
              <a:t>טרנזקציה</a:t>
            </a:r>
            <a:r>
              <a:rPr lang="en-US" sz="1100" b="1" i="0" noProof="0" dirty="0">
                <a:solidFill>
                  <a:srgbClr val="0D4A5C"/>
                </a:solidFill>
                <a:latin typeface="Segoe UI"/>
              </a:rPr>
              <a:t> </a:t>
            </a:r>
            <a:r>
              <a:rPr lang="en-US" sz="1100" b="1" i="0" noProof="0" dirty="0" err="1">
                <a:solidFill>
                  <a:srgbClr val="0D4A5C"/>
                </a:solidFill>
                <a:latin typeface="Segoe UI"/>
              </a:rPr>
              <a:t>מבוזרת</a:t>
            </a:r>
            <a:r>
              <a:rPr lang="en-US" sz="1100" b="1" i="0" noProof="0" dirty="0">
                <a:solidFill>
                  <a:srgbClr val="0D4A5C"/>
                </a:solidFill>
                <a:latin typeface="Segoe UI"/>
              </a:rPr>
              <a:t> </a:t>
            </a:r>
            <a:r>
              <a:rPr lang="en-US" sz="1100" b="1" i="0" noProof="0" dirty="0" err="1">
                <a:solidFill>
                  <a:srgbClr val="0D4A5C"/>
                </a:solidFill>
                <a:latin typeface="Segoe UI"/>
              </a:rPr>
              <a:t>או</a:t>
            </a:r>
            <a:r>
              <a:rPr lang="en-US" sz="1100" b="1" i="0" noProof="0" dirty="0">
                <a:solidFill>
                  <a:srgbClr val="0D4A5C"/>
                </a:solidFill>
                <a:latin typeface="Segoe UI"/>
              </a:rPr>
              <a:t> </a:t>
            </a:r>
            <a:r>
              <a:rPr lang="en-US" sz="1100" b="1" i="0" noProof="0" dirty="0" err="1">
                <a:solidFill>
                  <a:srgbClr val="0D4A5C"/>
                </a:solidFill>
                <a:latin typeface="Segoe UI"/>
              </a:rPr>
              <a:t>הבטחת</a:t>
            </a:r>
            <a:r>
              <a:rPr lang="en-US" sz="1100" b="1" i="0" noProof="0" dirty="0">
                <a:solidFill>
                  <a:srgbClr val="0D4A5C"/>
                </a:solidFill>
                <a:latin typeface="Segoe UI"/>
              </a:rPr>
              <a:t> </a:t>
            </a:r>
            <a:r>
              <a:rPr lang="en-US" sz="1100" b="1" i="0" noProof="0" dirty="0" err="1">
                <a:solidFill>
                  <a:srgbClr val="0D4A5C"/>
                </a:solidFill>
                <a:latin typeface="Segoe UI"/>
              </a:rPr>
              <a:t>הגעה</a:t>
            </a:r>
            <a:r>
              <a:rPr lang="en-US" sz="1100" b="1" i="0" noProof="0" dirty="0">
                <a:solidFill>
                  <a:srgbClr val="0D4A5C"/>
                </a:solidFill>
                <a:latin typeface="Segoe UI"/>
              </a:rPr>
              <a:t>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74464" y="5385816"/>
            <a:ext cx="3267456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/>
            <a:r>
              <a:rPr lang="en-US" sz="1100" b="0" i="0" noProof="0" dirty="0" err="1">
                <a:solidFill>
                  <a:srgbClr val="C4622D"/>
                </a:solidFill>
                <a:latin typeface="Segoe UI"/>
              </a:rPr>
              <a:t>כן</a:t>
            </a:r>
            <a:r>
              <a:rPr lang="en-US" sz="1100" b="0" i="0" noProof="0" dirty="0">
                <a:solidFill>
                  <a:srgbClr val="C4622D"/>
                </a:solidFill>
                <a:latin typeface="Segoe UI"/>
              </a:rPr>
              <a:t>: ‏SOAP‏ · </a:t>
            </a:r>
            <a:r>
              <a:rPr lang="en-US" sz="1100" b="0" i="0" noProof="0" dirty="0" err="1">
                <a:solidFill>
                  <a:srgbClr val="C4622D"/>
                </a:solidFill>
                <a:latin typeface="Segoe UI"/>
              </a:rPr>
              <a:t>לא</a:t>
            </a:r>
            <a:r>
              <a:rPr lang="en-US" sz="1100" b="0" i="0" noProof="0" dirty="0">
                <a:solidFill>
                  <a:srgbClr val="C4622D"/>
                </a:solidFill>
                <a:latin typeface="Segoe UI"/>
              </a:rPr>
              <a:t>: </a:t>
            </a:r>
            <a:r>
              <a:rPr lang="en-US" sz="1100" b="0" i="0" noProof="0" dirty="0" err="1">
                <a:solidFill>
                  <a:srgbClr val="C4622D"/>
                </a:solidFill>
                <a:latin typeface="Segoe UI"/>
              </a:rPr>
              <a:t>המשיכו</a:t>
            </a:r>
            <a:endParaRPr lang="en-US" sz="1100" b="0" i="0" noProof="0" dirty="0">
              <a:solidFill>
                <a:srgbClr val="C4622D"/>
              </a:solidFill>
              <a:latin typeface="Segoe UI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566928" y="4919472"/>
            <a:ext cx="3541775" cy="731520"/>
          </a:xfrm>
          <a:prstGeom prst="roundRect">
            <a:avLst>
              <a:gd name="adj" fmla="val 4000"/>
            </a:avLst>
          </a:prstGeom>
          <a:solidFill>
            <a:srgbClr val="F1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29" name="Rounded Rectangle 28"/>
          <p:cNvSpPr/>
          <p:nvPr/>
        </p:nvSpPr>
        <p:spPr>
          <a:xfrm>
            <a:off x="3669792" y="5010912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0D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30" name="TextBox 29"/>
          <p:cNvSpPr txBox="1"/>
          <p:nvPr/>
        </p:nvSpPr>
        <p:spPr>
          <a:xfrm>
            <a:off x="3669792" y="5029199"/>
            <a:ext cx="292608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 rtl="1"/>
            <a:r>
              <a:rPr lang="en-US" sz="1100" b="1" i="0" noProof="0" dirty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3232" y="4992624"/>
            <a:ext cx="2883408" cy="1653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05000"/>
              </a:lnSpc>
            </a:pPr>
            <a:r>
              <a:rPr lang="en-US" sz="1100" b="1" i="0" noProof="0" dirty="0" err="1">
                <a:solidFill>
                  <a:srgbClr val="0D4A5C"/>
                </a:solidFill>
                <a:latin typeface="Segoe UI"/>
              </a:rPr>
              <a:t>האם</a:t>
            </a:r>
            <a:r>
              <a:rPr lang="en-US" sz="1100" b="1" i="0" noProof="0" dirty="0">
                <a:solidFill>
                  <a:srgbClr val="0D4A5C"/>
                </a:solidFill>
                <a:latin typeface="Segoe UI"/>
              </a:rPr>
              <a:t> </a:t>
            </a:r>
            <a:r>
              <a:rPr lang="en-US" sz="1100" b="1" i="0" noProof="0" dirty="0" err="1">
                <a:solidFill>
                  <a:srgbClr val="0D4A5C"/>
                </a:solidFill>
                <a:latin typeface="Segoe UI"/>
              </a:rPr>
              <a:t>הצרכן</a:t>
            </a:r>
            <a:r>
              <a:rPr lang="en-US" sz="1100" b="1" i="0" noProof="0" dirty="0">
                <a:solidFill>
                  <a:srgbClr val="0D4A5C"/>
                </a:solidFill>
                <a:latin typeface="Segoe UI"/>
              </a:rPr>
              <a:t> </a:t>
            </a:r>
            <a:r>
              <a:rPr lang="en-US" sz="1100" b="1" i="0" noProof="0" dirty="0" err="1">
                <a:solidFill>
                  <a:srgbClr val="0D4A5C"/>
                </a:solidFill>
                <a:latin typeface="Segoe UI"/>
              </a:rPr>
              <a:t>הוא</a:t>
            </a:r>
            <a:r>
              <a:rPr lang="en-US" sz="1100" b="1" i="0" noProof="0" dirty="0">
                <a:solidFill>
                  <a:srgbClr val="0D4A5C"/>
                </a:solidFill>
                <a:latin typeface="Segoe UI"/>
              </a:rPr>
              <a:t> </a:t>
            </a:r>
            <a:r>
              <a:rPr lang="en-US" sz="1100" b="1" i="0" noProof="0" dirty="0" err="1">
                <a:solidFill>
                  <a:srgbClr val="0D4A5C"/>
                </a:solidFill>
                <a:latin typeface="Segoe UI"/>
              </a:rPr>
              <a:t>דפדפן</a:t>
            </a:r>
            <a:r>
              <a:rPr lang="en-US" sz="1100" b="1" i="0" noProof="0" dirty="0">
                <a:solidFill>
                  <a:srgbClr val="0D4A5C"/>
                </a:solidFill>
                <a:latin typeface="Segoe UI"/>
              </a:rPr>
              <a:t>, </a:t>
            </a:r>
            <a:r>
              <a:rPr lang="en-US" sz="1100" b="1" i="0" noProof="0" dirty="0" err="1">
                <a:solidFill>
                  <a:srgbClr val="0D4A5C"/>
                </a:solidFill>
                <a:latin typeface="Segoe UI"/>
              </a:rPr>
              <a:t>מובייל</a:t>
            </a:r>
            <a:r>
              <a:rPr lang="en-US" sz="1100" b="1" i="0" noProof="0" dirty="0">
                <a:solidFill>
                  <a:srgbClr val="0D4A5C"/>
                </a:solidFill>
                <a:latin typeface="Segoe UI"/>
              </a:rPr>
              <a:t> </a:t>
            </a:r>
            <a:r>
              <a:rPr lang="en-US" sz="1100" b="1" i="0" noProof="0" dirty="0" err="1">
                <a:solidFill>
                  <a:srgbClr val="0D4A5C"/>
                </a:solidFill>
                <a:latin typeface="Segoe UI"/>
              </a:rPr>
              <a:t>או</a:t>
            </a:r>
            <a:r>
              <a:rPr lang="en-US" sz="1100" b="1" i="0" noProof="0" dirty="0">
                <a:solidFill>
                  <a:srgbClr val="0D4A5C"/>
                </a:solidFill>
                <a:latin typeface="Segoe UI"/>
              </a:rPr>
              <a:t> </a:t>
            </a:r>
            <a:r>
              <a:rPr lang="en-US" sz="1100" b="1" i="0" noProof="0" dirty="0" err="1">
                <a:solidFill>
                  <a:srgbClr val="0D4A5C"/>
                </a:solidFill>
                <a:latin typeface="Segoe UI"/>
              </a:rPr>
              <a:t>מפתח</a:t>
            </a:r>
            <a:r>
              <a:rPr lang="en-US" sz="1100" b="1" i="0" noProof="0" dirty="0">
                <a:solidFill>
                  <a:srgbClr val="0D4A5C"/>
                </a:solidFill>
                <a:latin typeface="Segoe UI"/>
              </a:rPr>
              <a:t> </a:t>
            </a:r>
            <a:r>
              <a:rPr lang="en-US" sz="1100" b="1" i="0" noProof="0" dirty="0" err="1">
                <a:solidFill>
                  <a:srgbClr val="0D4A5C"/>
                </a:solidFill>
                <a:latin typeface="Segoe UI"/>
              </a:rPr>
              <a:t>חיצוני</a:t>
            </a:r>
            <a:r>
              <a:rPr lang="en-US" sz="1100" b="1" i="0" noProof="0" dirty="0">
                <a:solidFill>
                  <a:srgbClr val="0D4A5C"/>
                </a:solidFill>
                <a:latin typeface="Segoe UI"/>
              </a:rPr>
              <a:t>?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3232" y="5385816"/>
            <a:ext cx="3267456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/>
            <a:r>
              <a:rPr lang="en-US" sz="1100" b="0" i="0" noProof="0" dirty="0" err="1">
                <a:solidFill>
                  <a:srgbClr val="C4622D"/>
                </a:solidFill>
                <a:latin typeface="Segoe UI"/>
              </a:rPr>
              <a:t>כן</a:t>
            </a:r>
            <a:r>
              <a:rPr lang="en-US" sz="1100" b="0" i="0" noProof="0" dirty="0">
                <a:solidFill>
                  <a:srgbClr val="C4622D"/>
                </a:solidFill>
                <a:latin typeface="Segoe UI"/>
              </a:rPr>
              <a:t>: ‏REST‏ · </a:t>
            </a:r>
            <a:r>
              <a:rPr lang="en-US" sz="1100" b="0" i="0" noProof="0" dirty="0" err="1">
                <a:solidFill>
                  <a:srgbClr val="C4622D"/>
                </a:solidFill>
                <a:latin typeface="Segoe UI"/>
              </a:rPr>
              <a:t>לא</a:t>
            </a:r>
            <a:r>
              <a:rPr lang="en-US" sz="1100" b="0" i="0" noProof="0" dirty="0">
                <a:solidFill>
                  <a:srgbClr val="C4622D"/>
                </a:solidFill>
                <a:latin typeface="Segoe UI"/>
              </a:rPr>
              <a:t>: </a:t>
            </a:r>
            <a:r>
              <a:rPr lang="en-US" sz="1100" b="0" i="0" noProof="0" dirty="0" err="1">
                <a:solidFill>
                  <a:srgbClr val="C4622D"/>
                </a:solidFill>
                <a:latin typeface="Segoe UI"/>
              </a:rPr>
              <a:t>שקלו</a:t>
            </a:r>
            <a:r>
              <a:rPr lang="en-US" sz="1100" b="0" i="0" noProof="0" dirty="0">
                <a:solidFill>
                  <a:srgbClr val="C4622D"/>
                </a:solidFill>
                <a:latin typeface="Segoe UI"/>
              </a:rPr>
              <a:t> את </a:t>
            </a:r>
            <a:r>
              <a:rPr lang="en-US" sz="1100" b="0" i="0" noProof="0" dirty="0" err="1">
                <a:solidFill>
                  <a:srgbClr val="C4622D"/>
                </a:solidFill>
                <a:latin typeface="Segoe UI"/>
              </a:rPr>
              <a:t>שניהם</a:t>
            </a:r>
            <a:endParaRPr lang="en-US" sz="1100" b="0" i="0" noProof="0" dirty="0">
              <a:solidFill>
                <a:srgbClr val="C4622D"/>
              </a:solidFill>
              <a:latin typeface="Segoe UI"/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566928" y="5705856"/>
            <a:ext cx="11064240" cy="557784"/>
          </a:xfrm>
          <a:prstGeom prst="roundRect">
            <a:avLst>
              <a:gd name="adj" fmla="val 3000"/>
            </a:avLst>
          </a:prstGeom>
          <a:solidFill>
            <a:srgbClr val="0D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34" name="Rectangle 33"/>
          <p:cNvSpPr/>
          <p:nvPr/>
        </p:nvSpPr>
        <p:spPr>
          <a:xfrm>
            <a:off x="11576304" y="5797296"/>
            <a:ext cx="54864" cy="374904"/>
          </a:xfrm>
          <a:prstGeom prst="rect">
            <a:avLst/>
          </a:prstGeom>
          <a:solidFill>
            <a:srgbClr val="C4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35" name="TextBox 34"/>
          <p:cNvSpPr txBox="1"/>
          <p:nvPr/>
        </p:nvSpPr>
        <p:spPr>
          <a:xfrm>
            <a:off x="923544" y="5752427"/>
            <a:ext cx="10561320" cy="3904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10000"/>
              </a:lnSpc>
            </a:pPr>
            <a:r>
              <a:rPr lang="en-US" sz="1200" b="1" i="0" noProof="0" dirty="0" err="1">
                <a:solidFill>
                  <a:srgbClr val="E0935E"/>
                </a:solidFill>
                <a:latin typeface="Segoe UI"/>
              </a:rPr>
              <a:t>התשובה</a:t>
            </a:r>
            <a:r>
              <a:rPr lang="en-US" sz="1200" b="1" i="0" noProof="0" dirty="0">
                <a:solidFill>
                  <a:srgbClr val="E0935E"/>
                </a:solidFill>
                <a:latin typeface="Segoe UI"/>
              </a:rPr>
              <a:t> </a:t>
            </a:r>
            <a:r>
              <a:rPr lang="en-US" sz="1200" b="1" i="0" noProof="0" dirty="0" err="1">
                <a:solidFill>
                  <a:srgbClr val="E0935E"/>
                </a:solidFill>
                <a:latin typeface="Segoe UI"/>
              </a:rPr>
              <a:t>הכנה</a:t>
            </a:r>
            <a:r>
              <a:rPr lang="en-US" sz="1200" b="1" i="0" noProof="0" dirty="0">
                <a:solidFill>
                  <a:srgbClr val="E0935E"/>
                </a:solidFill>
                <a:latin typeface="Segoe UI"/>
              </a:rPr>
              <a:t>: </a:t>
            </a:r>
            <a:r>
              <a:rPr lang="en-US" sz="1200" b="0" i="0" noProof="0" dirty="0">
                <a:solidFill>
                  <a:srgbClr val="B9D2DB"/>
                </a:solidFill>
                <a:latin typeface="Segoe UI"/>
              </a:rPr>
              <a:t>‏REST‏ </a:t>
            </a:r>
            <a:r>
              <a:rPr lang="en-US" sz="1200" b="0" i="0" noProof="0" dirty="0" err="1">
                <a:solidFill>
                  <a:srgbClr val="B9D2DB"/>
                </a:solidFill>
                <a:latin typeface="Segoe UI"/>
              </a:rPr>
              <a:t>הוא</a:t>
            </a:r>
            <a:r>
              <a:rPr lang="en-US" sz="1200" b="0" i="0" noProof="0" dirty="0">
                <a:solidFill>
                  <a:srgbClr val="B9D2DB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B9D2DB"/>
                </a:solidFill>
                <a:latin typeface="Segoe UI"/>
              </a:rPr>
              <a:t>ברירת</a:t>
            </a:r>
            <a:r>
              <a:rPr lang="en-US" sz="1200" b="0" i="0" noProof="0" dirty="0">
                <a:solidFill>
                  <a:srgbClr val="B9D2DB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B9D2DB"/>
                </a:solidFill>
                <a:latin typeface="Segoe UI"/>
              </a:rPr>
              <a:t>המחדל</a:t>
            </a:r>
            <a:r>
              <a:rPr lang="en-US" sz="1200" b="0" i="0" noProof="0" dirty="0">
                <a:solidFill>
                  <a:srgbClr val="B9D2DB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B9D2DB"/>
                </a:solidFill>
                <a:latin typeface="Segoe UI"/>
              </a:rPr>
              <a:t>של</a:t>
            </a:r>
            <a:r>
              <a:rPr lang="en-US" sz="1200" b="0" i="0" noProof="0" dirty="0">
                <a:solidFill>
                  <a:srgbClr val="B9D2DB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B9D2DB"/>
                </a:solidFill>
                <a:latin typeface="Segoe UI"/>
              </a:rPr>
              <a:t>רוב</a:t>
            </a:r>
            <a:r>
              <a:rPr lang="en-US" sz="1200" b="0" i="0" noProof="0" dirty="0">
                <a:solidFill>
                  <a:srgbClr val="B9D2DB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B9D2DB"/>
                </a:solidFill>
                <a:latin typeface="Segoe UI"/>
              </a:rPr>
              <a:t>הממשקים</a:t>
            </a:r>
            <a:r>
              <a:rPr lang="en-US" sz="1200" b="0" i="0" noProof="0" dirty="0">
                <a:solidFill>
                  <a:srgbClr val="B9D2DB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B9D2DB"/>
                </a:solidFill>
                <a:latin typeface="Segoe UI"/>
              </a:rPr>
              <a:t>הנבנים</a:t>
            </a:r>
            <a:r>
              <a:rPr lang="en-US" sz="1200" b="0" i="0" noProof="0" dirty="0">
                <a:solidFill>
                  <a:srgbClr val="B9D2DB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B9D2DB"/>
                </a:solidFill>
                <a:latin typeface="Segoe UI"/>
              </a:rPr>
              <a:t>היום</a:t>
            </a:r>
            <a:r>
              <a:rPr lang="en-US" sz="1200" b="0" i="0" noProof="0" dirty="0">
                <a:solidFill>
                  <a:srgbClr val="B9D2DB"/>
                </a:solidFill>
                <a:latin typeface="Segoe UI"/>
              </a:rPr>
              <a:t>, </a:t>
            </a:r>
            <a:r>
              <a:rPr lang="en-US" sz="1200" b="0" i="0" noProof="0" dirty="0" err="1">
                <a:solidFill>
                  <a:srgbClr val="B9D2DB"/>
                </a:solidFill>
                <a:latin typeface="Segoe UI"/>
              </a:rPr>
              <a:t>ובצדק</a:t>
            </a:r>
            <a:r>
              <a:rPr lang="en-US" sz="1200" b="0" i="0" noProof="0" dirty="0">
                <a:solidFill>
                  <a:srgbClr val="B9D2DB"/>
                </a:solidFill>
                <a:latin typeface="Segoe UI"/>
              </a:rPr>
              <a:t>: </a:t>
            </a:r>
            <a:r>
              <a:rPr lang="en-US" sz="1200" b="0" i="0" noProof="0" dirty="0" err="1">
                <a:solidFill>
                  <a:srgbClr val="B9D2DB"/>
                </a:solidFill>
                <a:latin typeface="Segoe UI"/>
              </a:rPr>
              <a:t>זול</a:t>
            </a:r>
            <a:r>
              <a:rPr lang="en-US" sz="1200" b="0" i="0" noProof="0" dirty="0">
                <a:solidFill>
                  <a:srgbClr val="B9D2DB"/>
                </a:solidFill>
                <a:latin typeface="Segoe UI"/>
              </a:rPr>
              <a:t>, </a:t>
            </a:r>
            <a:r>
              <a:rPr lang="en-US" sz="1200" b="0" i="0" noProof="0" dirty="0" err="1">
                <a:solidFill>
                  <a:srgbClr val="B9D2DB"/>
                </a:solidFill>
                <a:latin typeface="Segoe UI"/>
              </a:rPr>
              <a:t>מהיר</a:t>
            </a:r>
            <a:r>
              <a:rPr lang="en-US" sz="1200" b="0" i="0" noProof="0" dirty="0">
                <a:solidFill>
                  <a:srgbClr val="B9D2DB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B9D2DB"/>
                </a:solidFill>
                <a:latin typeface="Segoe UI"/>
              </a:rPr>
              <a:t>וקל</a:t>
            </a:r>
            <a:r>
              <a:rPr lang="en-US" sz="1200" b="0" i="0" noProof="0" dirty="0">
                <a:solidFill>
                  <a:srgbClr val="B9D2DB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B9D2DB"/>
                </a:solidFill>
                <a:latin typeface="Segoe UI"/>
              </a:rPr>
              <a:t>לאימוץ</a:t>
            </a:r>
            <a:r>
              <a:rPr lang="en-US" sz="1200" b="0" i="0" noProof="0" dirty="0">
                <a:solidFill>
                  <a:srgbClr val="B9D2DB"/>
                </a:solidFill>
                <a:latin typeface="Segoe UI"/>
              </a:rPr>
              <a:t>. ‏SOAP‏ </a:t>
            </a:r>
            <a:r>
              <a:rPr lang="en-US" sz="1200" b="0" i="0" noProof="0" dirty="0" err="1">
                <a:solidFill>
                  <a:srgbClr val="B9D2DB"/>
                </a:solidFill>
                <a:latin typeface="Segoe UI"/>
              </a:rPr>
              <a:t>חי</a:t>
            </a:r>
            <a:r>
              <a:rPr lang="en-US" sz="1200" b="0" i="0" noProof="0" dirty="0">
                <a:solidFill>
                  <a:srgbClr val="B9D2DB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B9D2DB"/>
                </a:solidFill>
                <a:latin typeface="Segoe UI"/>
              </a:rPr>
              <a:t>במקומות</a:t>
            </a:r>
            <a:r>
              <a:rPr lang="en-US" sz="1200" b="0" i="0" noProof="0" dirty="0">
                <a:solidFill>
                  <a:srgbClr val="B9D2DB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B9D2DB"/>
                </a:solidFill>
                <a:latin typeface="Segoe UI"/>
              </a:rPr>
              <a:t>שבהם</a:t>
            </a:r>
            <a:r>
              <a:rPr lang="en-US" sz="1200" b="0" i="0" noProof="0" dirty="0">
                <a:solidFill>
                  <a:srgbClr val="B9D2DB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B9D2DB"/>
                </a:solidFill>
                <a:latin typeface="Segoe UI"/>
              </a:rPr>
              <a:t>חוזה</a:t>
            </a:r>
            <a:r>
              <a:rPr lang="en-US" sz="1200" b="0" i="0" noProof="0" dirty="0">
                <a:solidFill>
                  <a:srgbClr val="B9D2DB"/>
                </a:solidFill>
                <a:latin typeface="Segoe UI"/>
              </a:rPr>
              <a:t>, </a:t>
            </a:r>
            <a:r>
              <a:rPr lang="en-US" sz="1200" b="0" i="0" noProof="0" dirty="0" err="1">
                <a:solidFill>
                  <a:srgbClr val="B9D2DB"/>
                </a:solidFill>
                <a:latin typeface="Segoe UI"/>
              </a:rPr>
              <a:t>אבטחה</a:t>
            </a:r>
            <a:r>
              <a:rPr lang="en-US" sz="1200" b="0" i="0" noProof="0" dirty="0">
                <a:solidFill>
                  <a:srgbClr val="B9D2DB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B9D2DB"/>
                </a:solidFill>
                <a:latin typeface="Segoe UI"/>
              </a:rPr>
              <a:t>וטרנזקציה</a:t>
            </a:r>
            <a:r>
              <a:rPr lang="en-US" sz="1200" b="0" i="0" noProof="0" dirty="0">
                <a:solidFill>
                  <a:srgbClr val="B9D2DB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B9D2DB"/>
                </a:solidFill>
                <a:latin typeface="Segoe UI"/>
              </a:rPr>
              <a:t>שווים</a:t>
            </a:r>
            <a:r>
              <a:rPr lang="en-US" sz="1200" b="0" i="0" noProof="0" dirty="0">
                <a:solidFill>
                  <a:srgbClr val="B9D2DB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B9D2DB"/>
                </a:solidFill>
                <a:latin typeface="Segoe UI"/>
              </a:rPr>
              <a:t>יותר</a:t>
            </a:r>
            <a:r>
              <a:rPr lang="en-US" sz="1200" b="0" i="0" noProof="0" dirty="0">
                <a:solidFill>
                  <a:srgbClr val="B9D2DB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B9D2DB"/>
                </a:solidFill>
                <a:latin typeface="Segoe UI"/>
              </a:rPr>
              <a:t>מקלילות</a:t>
            </a:r>
            <a:r>
              <a:rPr lang="en-US" sz="1200" b="0" i="0" noProof="0" dirty="0">
                <a:solidFill>
                  <a:srgbClr val="B9D2DB"/>
                </a:solidFill>
                <a:latin typeface="Segoe UI"/>
              </a:rPr>
              <a:t> — </a:t>
            </a:r>
            <a:r>
              <a:rPr lang="en-US" sz="1200" b="0" i="0" noProof="0" dirty="0" err="1">
                <a:solidFill>
                  <a:srgbClr val="B9D2DB"/>
                </a:solidFill>
                <a:latin typeface="Segoe UI"/>
              </a:rPr>
              <a:t>ולצד</a:t>
            </a:r>
            <a:r>
              <a:rPr lang="en-US" sz="1200" b="0" i="0" noProof="0" dirty="0">
                <a:solidFill>
                  <a:srgbClr val="B9D2DB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B9D2DB"/>
                </a:solidFill>
                <a:latin typeface="Segoe UI"/>
              </a:rPr>
              <a:t>שניהם</a:t>
            </a:r>
            <a:r>
              <a:rPr lang="en-US" sz="1200" b="0" i="0" noProof="0" dirty="0">
                <a:solidFill>
                  <a:srgbClr val="B9D2DB"/>
                </a:solidFill>
                <a:latin typeface="Segoe UI"/>
              </a:rPr>
              <a:t> ‏</a:t>
            </a:r>
            <a:r>
              <a:rPr lang="en-US" sz="1200" b="0" i="0" noProof="0" dirty="0" err="1">
                <a:solidFill>
                  <a:srgbClr val="B9D2DB"/>
                </a:solidFill>
                <a:latin typeface="Segoe UI"/>
              </a:rPr>
              <a:t>GraphQL</a:t>
            </a:r>
            <a:r>
              <a:rPr lang="en-US" sz="1200" b="0" i="0" noProof="0" dirty="0">
                <a:solidFill>
                  <a:srgbClr val="B9D2DB"/>
                </a:solidFill>
                <a:latin typeface="Segoe UI"/>
              </a:rPr>
              <a:t>‏ ו-‏</a:t>
            </a:r>
            <a:r>
              <a:rPr lang="en-US" sz="1200" b="0" i="0" noProof="0" dirty="0" err="1">
                <a:solidFill>
                  <a:srgbClr val="B9D2DB"/>
                </a:solidFill>
                <a:latin typeface="Segoe UI"/>
              </a:rPr>
              <a:t>gRPC</a:t>
            </a:r>
            <a:r>
              <a:rPr lang="en-US" sz="1200" b="0" i="0" noProof="0" dirty="0">
                <a:solidFill>
                  <a:srgbClr val="B9D2DB"/>
                </a:solidFill>
                <a:latin typeface="Segoe UI"/>
              </a:rPr>
              <a:t>‏ </a:t>
            </a:r>
            <a:r>
              <a:rPr lang="en-US" sz="1200" b="0" i="0" noProof="0" dirty="0" err="1">
                <a:solidFill>
                  <a:srgbClr val="B9D2DB"/>
                </a:solidFill>
                <a:latin typeface="Segoe UI"/>
              </a:rPr>
              <a:t>כבר</a:t>
            </a:r>
            <a:r>
              <a:rPr lang="en-US" sz="1200" b="0" i="0" noProof="0" dirty="0">
                <a:solidFill>
                  <a:srgbClr val="B9D2DB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B9D2DB"/>
                </a:solidFill>
                <a:latin typeface="Segoe UI"/>
              </a:rPr>
              <a:t>מציעים</a:t>
            </a:r>
            <a:r>
              <a:rPr lang="en-US" sz="1200" b="0" i="0" noProof="0" dirty="0">
                <a:solidFill>
                  <a:srgbClr val="B9D2DB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B9D2DB"/>
                </a:solidFill>
                <a:latin typeface="Segoe UI"/>
              </a:rPr>
              <a:t>תשובות</a:t>
            </a:r>
            <a:r>
              <a:rPr lang="en-US" sz="1200" b="0" i="0" noProof="0" dirty="0">
                <a:solidFill>
                  <a:srgbClr val="B9D2DB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B9D2DB"/>
                </a:solidFill>
                <a:latin typeface="Segoe UI"/>
              </a:rPr>
              <a:t>אחרות</a:t>
            </a:r>
            <a:r>
              <a:rPr lang="en-US" sz="1200" b="0" i="0" noProof="0" dirty="0">
                <a:solidFill>
                  <a:srgbClr val="B9D2DB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B9D2DB"/>
                </a:solidFill>
                <a:latin typeface="Segoe UI"/>
              </a:rPr>
              <a:t>לאותה</a:t>
            </a:r>
            <a:r>
              <a:rPr lang="en-US" sz="1200" b="0" i="0" noProof="0" dirty="0">
                <a:solidFill>
                  <a:srgbClr val="B9D2DB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B9D2DB"/>
                </a:solidFill>
                <a:latin typeface="Segoe UI"/>
              </a:rPr>
              <a:t>שאלה</a:t>
            </a:r>
            <a:r>
              <a:rPr lang="en-US" sz="1200" b="0" i="0" noProof="0" dirty="0">
                <a:solidFill>
                  <a:srgbClr val="B9D2DB"/>
                </a:solidFill>
                <a:latin typeface="Segoe UI"/>
              </a:rPr>
              <a:t>.</a:t>
            </a:r>
          </a:p>
        </p:txBody>
      </p:sp>
      <p:sp>
        <p:nvSpPr>
          <p:cNvPr id="36" name="Rectangle 7 footer36"/>
          <p:cNvSpPr/>
          <p:nvPr/>
        </p:nvSpPr>
        <p:spPr>
          <a:xfrm>
            <a:off x="566928" y="6382512"/>
            <a:ext cx="11064240" cy="10972"/>
          </a:xfrm>
          <a:prstGeom prst="rect">
            <a:avLst/>
          </a:prstGeom>
          <a:solidFill>
            <a:srgbClr val="E3EA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37" name="TextBox 8 footer37"/>
          <p:cNvSpPr txBox="1"/>
          <p:nvPr/>
        </p:nvSpPr>
        <p:spPr>
          <a:xfrm>
            <a:off x="10424160" y="6473952"/>
            <a:ext cx="1207008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/>
            <a:r>
              <a:rPr lang="en-US" sz="1050" b="0" i="0" noProof="0" dirty="0">
                <a:solidFill>
                  <a:srgbClr val="8D9EA8"/>
                </a:solidFill>
                <a:latin typeface="Segoe UI"/>
              </a:rPr>
              <a:t>‏בחירה‏</a:t>
            </a:r>
          </a:p>
        </p:txBody>
      </p:sp>
      <p:sp>
        <p:nvSpPr>
          <p:cNvPr id="38" name="TextBox 9 footer38"/>
          <p:cNvSpPr txBox="1"/>
          <p:nvPr/>
        </p:nvSpPr>
        <p:spPr>
          <a:xfrm>
            <a:off x="566928" y="6473952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rtl="0"/>
            <a:r>
              <a:rPr lang="en-US" sz="1050" b="0" i="0" noProof="0" dirty="0">
                <a:solidFill>
                  <a:srgbClr val="8D9EA8"/>
                </a:solidFill>
                <a:latin typeface="Segoe UI"/>
              </a:rPr>
              <a:t>15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072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91440"/>
          </a:xfrm>
          <a:prstGeom prst="rect">
            <a:avLst/>
          </a:prstGeom>
          <a:solidFill>
            <a:srgbClr val="0D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4" name="TextBox 3"/>
          <p:cNvSpPr txBox="1"/>
          <p:nvPr/>
        </p:nvSpPr>
        <p:spPr>
          <a:xfrm>
            <a:off x="566928" y="292608"/>
            <a:ext cx="1106424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/>
            <a:r>
              <a:rPr lang="en-US" sz="2800" b="1" i="0" noProof="0" dirty="0" err="1">
                <a:solidFill>
                  <a:srgbClr val="E0935E"/>
                </a:solidFill>
                <a:latin typeface="Segoe UI"/>
              </a:rPr>
              <a:t>סיכום</a:t>
            </a:r>
            <a:endParaRPr lang="en-US" sz="2800" b="1" i="0" noProof="0" dirty="0">
              <a:solidFill>
                <a:srgbClr val="E0935E"/>
              </a:solidFill>
              <a:latin typeface="Segoe U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66928" y="832104"/>
            <a:ext cx="1106424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/>
            <a:r>
              <a:rPr lang="en-US" sz="2800" b="1" i="0" noProof="0" dirty="0" err="1">
                <a:solidFill>
                  <a:srgbClr val="FFFFFF"/>
                </a:solidFill>
                <a:latin typeface="Segoe UI"/>
              </a:rPr>
              <a:t>מה</a:t>
            </a:r>
            <a:r>
              <a:rPr lang="en-US" sz="2800" b="1" i="0" noProof="0" dirty="0">
                <a:solidFill>
                  <a:srgbClr val="FFFFFF"/>
                </a:solidFill>
                <a:latin typeface="Segoe UI"/>
              </a:rPr>
              <a:t> </a:t>
            </a:r>
            <a:r>
              <a:rPr lang="en-US" sz="2800" b="1" i="0" noProof="0" dirty="0" err="1">
                <a:solidFill>
                  <a:srgbClr val="FFFFFF"/>
                </a:solidFill>
                <a:latin typeface="Segoe UI"/>
              </a:rPr>
              <a:t>לוקחים</a:t>
            </a:r>
            <a:r>
              <a:rPr lang="en-US" sz="2800" b="1" i="0" noProof="0" dirty="0">
                <a:solidFill>
                  <a:srgbClr val="FFFFFF"/>
                </a:solidFill>
                <a:latin typeface="Segoe UI"/>
              </a:rPr>
              <a:t> </a:t>
            </a:r>
            <a:r>
              <a:rPr lang="en-US" sz="2800" b="1" i="0" noProof="0" dirty="0" err="1">
                <a:solidFill>
                  <a:srgbClr val="FFFFFF"/>
                </a:solidFill>
                <a:latin typeface="Segoe UI"/>
              </a:rPr>
              <a:t>מכאן</a:t>
            </a:r>
            <a:r>
              <a:rPr lang="en-US" sz="2800" b="1" i="0" noProof="0" dirty="0">
                <a:solidFill>
                  <a:srgbClr val="FFFFFF"/>
                </a:solidFill>
                <a:latin typeface="Segoe UI"/>
              </a:rPr>
              <a:t>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298447"/>
            <a:ext cx="110642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/>
            <a:r>
              <a:rPr lang="en-US" sz="1450" b="0" i="0" noProof="0" dirty="0" err="1">
                <a:solidFill>
                  <a:srgbClr val="B9D2DB"/>
                </a:solidFill>
                <a:latin typeface="Segoe UI"/>
              </a:rPr>
              <a:t>שמונה</a:t>
            </a:r>
            <a:r>
              <a:rPr lang="en-US" sz="1450" b="0" i="0" noProof="0" dirty="0">
                <a:solidFill>
                  <a:srgbClr val="B9D2DB"/>
                </a:solidFill>
                <a:latin typeface="Segoe UI"/>
              </a:rPr>
              <a:t> </a:t>
            </a:r>
            <a:r>
              <a:rPr lang="en-US" sz="1450" b="0" i="0" noProof="0" dirty="0" err="1">
                <a:solidFill>
                  <a:srgbClr val="B9D2DB"/>
                </a:solidFill>
                <a:latin typeface="Segoe UI"/>
              </a:rPr>
              <a:t>משפטים</a:t>
            </a:r>
            <a:r>
              <a:rPr lang="en-US" sz="1450" b="0" i="0" noProof="0" dirty="0">
                <a:solidFill>
                  <a:srgbClr val="B9D2DB"/>
                </a:solidFill>
                <a:latin typeface="Segoe UI"/>
              </a:rPr>
              <a:t> </a:t>
            </a:r>
            <a:r>
              <a:rPr lang="en-US" sz="1450" b="0" i="0" noProof="0" dirty="0" err="1">
                <a:solidFill>
                  <a:srgbClr val="B9D2DB"/>
                </a:solidFill>
                <a:latin typeface="Segoe UI"/>
              </a:rPr>
              <a:t>שמכסים</a:t>
            </a:r>
            <a:r>
              <a:rPr lang="en-US" sz="1450" b="0" i="0" noProof="0" dirty="0">
                <a:solidFill>
                  <a:srgbClr val="B9D2DB"/>
                </a:solidFill>
                <a:latin typeface="Segoe UI"/>
              </a:rPr>
              <a:t> את </a:t>
            </a:r>
            <a:r>
              <a:rPr lang="en-US" sz="1450" b="0" i="0" noProof="0" dirty="0" err="1">
                <a:solidFill>
                  <a:srgbClr val="B9D2DB"/>
                </a:solidFill>
                <a:latin typeface="Segoe UI"/>
              </a:rPr>
              <a:t>כל</a:t>
            </a:r>
            <a:r>
              <a:rPr lang="en-US" sz="1450" b="0" i="0" noProof="0" dirty="0">
                <a:solidFill>
                  <a:srgbClr val="B9D2DB"/>
                </a:solidFill>
                <a:latin typeface="Segoe UI"/>
              </a:rPr>
              <a:t> </a:t>
            </a:r>
            <a:r>
              <a:rPr lang="en-US" sz="1450" b="0" i="0" noProof="0" dirty="0" err="1">
                <a:solidFill>
                  <a:srgbClr val="B9D2DB"/>
                </a:solidFill>
                <a:latin typeface="Segoe UI"/>
              </a:rPr>
              <a:t>מה</a:t>
            </a:r>
            <a:r>
              <a:rPr lang="en-US" sz="1450" b="0" i="0" noProof="0" dirty="0">
                <a:solidFill>
                  <a:srgbClr val="B9D2DB"/>
                </a:solidFill>
                <a:latin typeface="Segoe UI"/>
              </a:rPr>
              <a:t> </a:t>
            </a:r>
            <a:r>
              <a:rPr lang="en-US" sz="1450" b="0" i="0" noProof="0" dirty="0" err="1">
                <a:solidFill>
                  <a:srgbClr val="B9D2DB"/>
                </a:solidFill>
                <a:latin typeface="Segoe UI"/>
              </a:rPr>
              <a:t>שנאמר</a:t>
            </a:r>
            <a:endParaRPr lang="en-US" sz="1450" b="0" i="0" noProof="0" dirty="0">
              <a:solidFill>
                <a:srgbClr val="B9D2DB"/>
              </a:solidFill>
              <a:latin typeface="Segoe UI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0804124" y="723495"/>
            <a:ext cx="827043" cy="62889"/>
          </a:xfrm>
          <a:prstGeom prst="rect">
            <a:avLst/>
          </a:prstGeom>
          <a:solidFill>
            <a:srgbClr val="C4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11" name="Rounded Rectangle 10"/>
          <p:cNvSpPr/>
          <p:nvPr/>
        </p:nvSpPr>
        <p:spPr>
          <a:xfrm>
            <a:off x="6236208" y="1737360"/>
            <a:ext cx="5394959" cy="804672"/>
          </a:xfrm>
          <a:prstGeom prst="roundRect">
            <a:avLst>
              <a:gd name="adj" fmla="val 4000"/>
            </a:avLst>
          </a:prstGeom>
          <a:solidFill>
            <a:srgbClr val="145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12" name="Rounded Rectangle 11"/>
          <p:cNvSpPr/>
          <p:nvPr/>
        </p:nvSpPr>
        <p:spPr>
          <a:xfrm>
            <a:off x="11137392" y="1865376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C4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13" name="TextBox 12"/>
          <p:cNvSpPr txBox="1"/>
          <p:nvPr/>
        </p:nvSpPr>
        <p:spPr>
          <a:xfrm>
            <a:off x="11137392" y="1883664"/>
            <a:ext cx="310896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 rtl="1"/>
            <a:r>
              <a:rPr lang="en-US" sz="1200" b="1" i="0" noProof="0" dirty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9088" y="1856231"/>
            <a:ext cx="4553712" cy="6924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10000"/>
              </a:lnSpc>
            </a:pPr>
            <a:r>
              <a:rPr lang="en-US" sz="1400" b="0" i="0" noProof="0" dirty="0" err="1">
                <a:solidFill>
                  <a:srgbClr val="B9D2DB"/>
                </a:solidFill>
                <a:latin typeface="Segoe UI"/>
              </a:rPr>
              <a:t>שירות</a:t>
            </a:r>
            <a:r>
              <a:rPr lang="en-US" sz="1400" b="0" i="0" noProof="0" dirty="0">
                <a:solidFill>
                  <a:srgbClr val="B9D2DB"/>
                </a:solidFill>
                <a:latin typeface="Segoe UI"/>
              </a:rPr>
              <a:t> ‏</a:t>
            </a:r>
            <a:r>
              <a:rPr lang="en-US" sz="1400" b="0" i="0" noProof="0" dirty="0" err="1">
                <a:solidFill>
                  <a:srgbClr val="B9D2DB"/>
                </a:solidFill>
                <a:latin typeface="Segoe UI"/>
              </a:rPr>
              <a:t>רשת</a:t>
            </a:r>
            <a:r>
              <a:rPr lang="en-US" sz="1400" b="0" i="0" noProof="0" dirty="0">
                <a:solidFill>
                  <a:srgbClr val="B9D2DB"/>
                </a:solidFill>
                <a:latin typeface="Segoe UI"/>
              </a:rPr>
              <a:t>‏ </a:t>
            </a:r>
            <a:r>
              <a:rPr lang="en-US" sz="1400" b="0" i="0" noProof="0" dirty="0" err="1">
                <a:solidFill>
                  <a:srgbClr val="B9D2DB"/>
                </a:solidFill>
                <a:latin typeface="Segoe UI"/>
              </a:rPr>
              <a:t>הוא</a:t>
            </a:r>
            <a:r>
              <a:rPr lang="en-US" sz="1400" b="0" i="0" noProof="0" dirty="0">
                <a:solidFill>
                  <a:srgbClr val="B9D2DB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B9D2DB"/>
                </a:solidFill>
                <a:latin typeface="Segoe UI"/>
              </a:rPr>
              <a:t>רכיב</a:t>
            </a:r>
            <a:r>
              <a:rPr lang="en-US" sz="1400" b="0" i="0" noProof="0" dirty="0">
                <a:solidFill>
                  <a:srgbClr val="B9D2DB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B9D2DB"/>
                </a:solidFill>
                <a:latin typeface="Segoe UI"/>
              </a:rPr>
              <a:t>תוכנה</a:t>
            </a:r>
            <a:r>
              <a:rPr lang="en-US" sz="1400" b="0" i="0" noProof="0" dirty="0">
                <a:solidFill>
                  <a:srgbClr val="B9D2DB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B9D2DB"/>
                </a:solidFill>
                <a:latin typeface="Segoe UI"/>
              </a:rPr>
              <a:t>על</a:t>
            </a:r>
            <a:r>
              <a:rPr lang="en-US" sz="1400" b="0" i="0" noProof="0" dirty="0">
                <a:solidFill>
                  <a:srgbClr val="B9D2DB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B9D2DB"/>
                </a:solidFill>
                <a:latin typeface="Segoe UI"/>
              </a:rPr>
              <a:t>מחשב</a:t>
            </a:r>
            <a:r>
              <a:rPr lang="en-US" sz="1400" b="0" i="0" noProof="0" dirty="0">
                <a:solidFill>
                  <a:srgbClr val="B9D2DB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B9D2DB"/>
                </a:solidFill>
                <a:latin typeface="Segoe UI"/>
              </a:rPr>
              <a:t>אחד</a:t>
            </a:r>
            <a:r>
              <a:rPr lang="en-US" sz="1400" b="0" i="0" noProof="0" dirty="0">
                <a:solidFill>
                  <a:srgbClr val="B9D2DB"/>
                </a:solidFill>
                <a:latin typeface="Segoe UI"/>
              </a:rPr>
              <a:t>, </a:t>
            </a:r>
            <a:r>
              <a:rPr lang="en-US" sz="1400" b="0" i="0" noProof="0" dirty="0" err="1">
                <a:solidFill>
                  <a:srgbClr val="B9D2DB"/>
                </a:solidFill>
                <a:latin typeface="Segoe UI"/>
              </a:rPr>
              <a:t>שיישום</a:t>
            </a:r>
            <a:r>
              <a:rPr lang="en-US" sz="1400" b="0" i="0" noProof="0" dirty="0">
                <a:solidFill>
                  <a:srgbClr val="B9D2DB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B9D2DB"/>
                </a:solidFill>
                <a:latin typeface="Segoe UI"/>
              </a:rPr>
              <a:t>על</a:t>
            </a:r>
            <a:r>
              <a:rPr lang="en-US" sz="1400" b="0" i="0" noProof="0" dirty="0">
                <a:solidFill>
                  <a:srgbClr val="B9D2DB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B9D2DB"/>
                </a:solidFill>
                <a:latin typeface="Segoe UI"/>
              </a:rPr>
              <a:t>מחשב</a:t>
            </a:r>
            <a:r>
              <a:rPr lang="en-US" sz="1400" b="0" i="0" noProof="0" dirty="0">
                <a:solidFill>
                  <a:srgbClr val="B9D2DB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B9D2DB"/>
                </a:solidFill>
                <a:latin typeface="Segoe UI"/>
              </a:rPr>
              <a:t>אחר</a:t>
            </a:r>
            <a:r>
              <a:rPr lang="en-US" sz="1400" b="0" i="0" noProof="0" dirty="0">
                <a:solidFill>
                  <a:srgbClr val="B9D2DB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B9D2DB"/>
                </a:solidFill>
                <a:latin typeface="Segoe UI"/>
              </a:rPr>
              <a:t>קורא</a:t>
            </a:r>
            <a:r>
              <a:rPr lang="en-US" sz="1400" b="0" i="0" noProof="0" dirty="0">
                <a:solidFill>
                  <a:srgbClr val="B9D2DB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B9D2DB"/>
                </a:solidFill>
                <a:latin typeface="Segoe UI"/>
              </a:rPr>
              <a:t>לו</a:t>
            </a:r>
            <a:r>
              <a:rPr lang="en-US" sz="1400" b="0" i="0" noProof="0" dirty="0">
                <a:solidFill>
                  <a:srgbClr val="B9D2DB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B9D2DB"/>
                </a:solidFill>
                <a:latin typeface="Segoe UI"/>
              </a:rPr>
              <a:t>דרך</a:t>
            </a:r>
            <a:r>
              <a:rPr lang="en-US" sz="1400" b="0" i="0" noProof="0" dirty="0">
                <a:solidFill>
                  <a:srgbClr val="B9D2DB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B9D2DB"/>
                </a:solidFill>
                <a:latin typeface="Segoe UI"/>
              </a:rPr>
              <a:t>הרשת</a:t>
            </a:r>
            <a:r>
              <a:rPr lang="en-US" sz="1400" b="0" i="0" noProof="0" dirty="0">
                <a:solidFill>
                  <a:srgbClr val="B9D2DB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B9D2DB"/>
                </a:solidFill>
                <a:latin typeface="Segoe UI"/>
              </a:rPr>
              <a:t>בעזרת</a:t>
            </a:r>
            <a:r>
              <a:rPr lang="en-US" sz="1400" b="0" i="0" noProof="0" dirty="0">
                <a:solidFill>
                  <a:srgbClr val="B9D2DB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B9D2DB"/>
                </a:solidFill>
                <a:latin typeface="Segoe UI"/>
              </a:rPr>
              <a:t>תקנים</a:t>
            </a:r>
            <a:r>
              <a:rPr lang="en-US" sz="1400" b="0" i="0" noProof="0" dirty="0">
                <a:solidFill>
                  <a:srgbClr val="B9D2DB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B9D2DB"/>
                </a:solidFill>
                <a:latin typeface="Segoe UI"/>
              </a:rPr>
              <a:t>פתוחים</a:t>
            </a:r>
            <a:r>
              <a:rPr lang="en-US" sz="1400" b="0" i="0" noProof="0" dirty="0">
                <a:solidFill>
                  <a:srgbClr val="B9D2DB"/>
                </a:solidFill>
                <a:latin typeface="Segoe UI"/>
              </a:rPr>
              <a:t>: ‏HTTP, XML‏ ו-‏JSON‏.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6208" y="2633472"/>
            <a:ext cx="5394959" cy="804672"/>
          </a:xfrm>
          <a:prstGeom prst="roundRect">
            <a:avLst>
              <a:gd name="adj" fmla="val 4000"/>
            </a:avLst>
          </a:prstGeom>
          <a:solidFill>
            <a:srgbClr val="145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16" name="Rounded Rectangle 15"/>
          <p:cNvSpPr/>
          <p:nvPr/>
        </p:nvSpPr>
        <p:spPr>
          <a:xfrm>
            <a:off x="11137392" y="2761488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C4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17" name="TextBox 16"/>
          <p:cNvSpPr txBox="1"/>
          <p:nvPr/>
        </p:nvSpPr>
        <p:spPr>
          <a:xfrm>
            <a:off x="11137392" y="2779776"/>
            <a:ext cx="310896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 rtl="1"/>
            <a:r>
              <a:rPr lang="en-US" sz="1200" b="1" i="0" noProof="0" dirty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9088" y="2752344"/>
            <a:ext cx="4553712" cy="45550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10000"/>
              </a:lnSpc>
            </a:pPr>
            <a:r>
              <a:rPr lang="en-US" sz="1400" b="0" i="0" noProof="0" dirty="0">
                <a:solidFill>
                  <a:srgbClr val="B9D2DB"/>
                </a:solidFill>
                <a:latin typeface="Segoe UI"/>
              </a:rPr>
              <a:t>‏SOAP‏ </a:t>
            </a:r>
            <a:r>
              <a:rPr lang="en-US" sz="1400" b="0" i="0" noProof="0" dirty="0" err="1">
                <a:solidFill>
                  <a:srgbClr val="B9D2DB"/>
                </a:solidFill>
                <a:latin typeface="Segoe UI"/>
              </a:rPr>
              <a:t>הוא</a:t>
            </a:r>
            <a:r>
              <a:rPr lang="en-US" sz="1400" b="0" i="0" noProof="0" dirty="0">
                <a:solidFill>
                  <a:srgbClr val="B9D2DB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B9D2DB"/>
                </a:solidFill>
                <a:latin typeface="Segoe UI"/>
              </a:rPr>
              <a:t>פרוטוקול</a:t>
            </a:r>
            <a:r>
              <a:rPr lang="en-US" sz="1400" b="0" i="0" noProof="0" dirty="0">
                <a:solidFill>
                  <a:srgbClr val="B9D2DB"/>
                </a:solidFill>
                <a:latin typeface="Segoe UI"/>
              </a:rPr>
              <a:t>: </a:t>
            </a:r>
            <a:r>
              <a:rPr lang="en-US" sz="1400" b="0" i="0" noProof="0" dirty="0" err="1">
                <a:solidFill>
                  <a:srgbClr val="B9D2DB"/>
                </a:solidFill>
                <a:latin typeface="Segoe UI"/>
              </a:rPr>
              <a:t>כל</a:t>
            </a:r>
            <a:r>
              <a:rPr lang="en-US" sz="1400" b="0" i="0" noProof="0" dirty="0">
                <a:solidFill>
                  <a:srgbClr val="B9D2DB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B9D2DB"/>
                </a:solidFill>
                <a:latin typeface="Segoe UI"/>
              </a:rPr>
              <a:t>הודעה</a:t>
            </a:r>
            <a:r>
              <a:rPr lang="en-US" sz="1400" b="0" i="0" noProof="0" dirty="0">
                <a:solidFill>
                  <a:srgbClr val="B9D2DB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B9D2DB"/>
                </a:solidFill>
                <a:latin typeface="Segoe UI"/>
              </a:rPr>
              <a:t>עטופה</a:t>
            </a:r>
            <a:r>
              <a:rPr lang="en-US" sz="1400" b="0" i="0" noProof="0" dirty="0">
                <a:solidFill>
                  <a:srgbClr val="B9D2DB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B9D2DB"/>
                </a:solidFill>
                <a:latin typeface="Segoe UI"/>
              </a:rPr>
              <a:t>במעטפת</a:t>
            </a:r>
            <a:r>
              <a:rPr lang="en-US" sz="1400" b="0" i="0" noProof="0" dirty="0">
                <a:solidFill>
                  <a:srgbClr val="B9D2DB"/>
                </a:solidFill>
                <a:latin typeface="Segoe UI"/>
              </a:rPr>
              <a:t> ‏XML‏ </a:t>
            </a:r>
            <a:r>
              <a:rPr lang="en-US" sz="1400" b="0" i="0" noProof="0" dirty="0" err="1">
                <a:solidFill>
                  <a:srgbClr val="B9D2DB"/>
                </a:solidFill>
                <a:latin typeface="Segoe UI"/>
              </a:rPr>
              <a:t>עם</a:t>
            </a:r>
            <a:r>
              <a:rPr lang="en-US" sz="1400" b="0" i="0" noProof="0" dirty="0">
                <a:solidFill>
                  <a:srgbClr val="B9D2DB"/>
                </a:solidFill>
                <a:latin typeface="Segoe UI"/>
              </a:rPr>
              <a:t> ‏Header‏ </a:t>
            </a:r>
            <a:r>
              <a:rPr lang="en-US" sz="1400" b="0" i="0" noProof="0" dirty="0" err="1">
                <a:solidFill>
                  <a:srgbClr val="B9D2DB"/>
                </a:solidFill>
                <a:latin typeface="Segoe UI"/>
              </a:rPr>
              <a:t>אופציונלי</a:t>
            </a:r>
            <a:r>
              <a:rPr lang="en-US" sz="1400" b="0" i="0" noProof="0" dirty="0">
                <a:solidFill>
                  <a:srgbClr val="B9D2DB"/>
                </a:solidFill>
                <a:latin typeface="Segoe UI"/>
              </a:rPr>
              <a:t>, ‏Body‏ </a:t>
            </a:r>
            <a:r>
              <a:rPr lang="en-US" sz="1400" b="0" i="0" noProof="0" dirty="0" err="1">
                <a:solidFill>
                  <a:srgbClr val="B9D2DB"/>
                </a:solidFill>
                <a:latin typeface="Segoe UI"/>
              </a:rPr>
              <a:t>חובה</a:t>
            </a:r>
            <a:r>
              <a:rPr lang="en-US" sz="1400" b="0" i="0" noProof="0" dirty="0">
                <a:solidFill>
                  <a:srgbClr val="B9D2DB"/>
                </a:solidFill>
                <a:latin typeface="Segoe UI"/>
              </a:rPr>
              <a:t> ו-‏Fault‏ </a:t>
            </a:r>
            <a:r>
              <a:rPr lang="en-US" sz="1400" b="0" i="0" noProof="0" dirty="0" err="1">
                <a:solidFill>
                  <a:srgbClr val="B9D2DB"/>
                </a:solidFill>
                <a:latin typeface="Segoe UI"/>
              </a:rPr>
              <a:t>אחיד</a:t>
            </a:r>
            <a:r>
              <a:rPr lang="en-US" sz="1400" b="0" i="0" noProof="0" dirty="0">
                <a:solidFill>
                  <a:srgbClr val="B9D2DB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B9D2DB"/>
                </a:solidFill>
                <a:latin typeface="Segoe UI"/>
              </a:rPr>
              <a:t>לשגיאות</a:t>
            </a:r>
            <a:r>
              <a:rPr lang="en-US" sz="1400" b="0" i="0" noProof="0" dirty="0">
                <a:solidFill>
                  <a:srgbClr val="B9D2DB"/>
                </a:solidFill>
                <a:latin typeface="Segoe UI"/>
              </a:rPr>
              <a:t>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6208" y="3529584"/>
            <a:ext cx="5394959" cy="804672"/>
          </a:xfrm>
          <a:prstGeom prst="roundRect">
            <a:avLst>
              <a:gd name="adj" fmla="val 4000"/>
            </a:avLst>
          </a:prstGeom>
          <a:solidFill>
            <a:srgbClr val="145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20" name="Rounded Rectangle 19"/>
          <p:cNvSpPr/>
          <p:nvPr/>
        </p:nvSpPr>
        <p:spPr>
          <a:xfrm>
            <a:off x="11137392" y="3657600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C4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21" name="TextBox 20"/>
          <p:cNvSpPr txBox="1"/>
          <p:nvPr/>
        </p:nvSpPr>
        <p:spPr>
          <a:xfrm>
            <a:off x="11137392" y="3675887"/>
            <a:ext cx="310896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 rtl="1"/>
            <a:r>
              <a:rPr lang="en-US" sz="1200" b="1" i="0" noProof="0" dirty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19088" y="3648456"/>
            <a:ext cx="4553712" cy="45550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10000"/>
              </a:lnSpc>
            </a:pPr>
            <a:r>
              <a:rPr lang="en-US" sz="1400" b="0" i="0" noProof="0" dirty="0">
                <a:solidFill>
                  <a:srgbClr val="B9D2DB"/>
                </a:solidFill>
                <a:latin typeface="Segoe UI"/>
              </a:rPr>
              <a:t>‏WSDL‏ </a:t>
            </a:r>
            <a:r>
              <a:rPr lang="en-US" sz="1400" b="0" i="0" noProof="0" dirty="0" err="1">
                <a:solidFill>
                  <a:srgbClr val="B9D2DB"/>
                </a:solidFill>
                <a:latin typeface="Segoe UI"/>
              </a:rPr>
              <a:t>הוא</a:t>
            </a:r>
            <a:r>
              <a:rPr lang="en-US" sz="1400" b="0" i="0" noProof="0" dirty="0">
                <a:solidFill>
                  <a:srgbClr val="B9D2DB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B9D2DB"/>
                </a:solidFill>
                <a:latin typeface="Segoe UI"/>
              </a:rPr>
              <a:t>החוזה</a:t>
            </a:r>
            <a:r>
              <a:rPr lang="en-US" sz="1400" b="0" i="0" noProof="0" dirty="0">
                <a:solidFill>
                  <a:srgbClr val="B9D2DB"/>
                </a:solidFill>
                <a:latin typeface="Segoe UI"/>
              </a:rPr>
              <a:t> — </a:t>
            </a:r>
            <a:r>
              <a:rPr lang="en-US" sz="1400" b="0" i="0" noProof="0" dirty="0" err="1">
                <a:solidFill>
                  <a:srgbClr val="B9D2DB"/>
                </a:solidFill>
                <a:latin typeface="Segoe UI"/>
              </a:rPr>
              <a:t>מסמך</a:t>
            </a:r>
            <a:r>
              <a:rPr lang="en-US" sz="1400" b="0" i="0" noProof="0" dirty="0">
                <a:solidFill>
                  <a:srgbClr val="B9D2DB"/>
                </a:solidFill>
                <a:latin typeface="Segoe UI"/>
              </a:rPr>
              <a:t> ‏XML‏ </a:t>
            </a:r>
            <a:r>
              <a:rPr lang="en-US" sz="1400" b="0" i="0" noProof="0" dirty="0" err="1">
                <a:solidFill>
                  <a:srgbClr val="B9D2DB"/>
                </a:solidFill>
                <a:latin typeface="Segoe UI"/>
              </a:rPr>
              <a:t>שנוצר</a:t>
            </a:r>
            <a:r>
              <a:rPr lang="en-US" sz="1400" b="0" i="0" noProof="0" dirty="0">
                <a:solidFill>
                  <a:srgbClr val="B9D2DB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B9D2DB"/>
                </a:solidFill>
                <a:latin typeface="Segoe UI"/>
              </a:rPr>
              <a:t>אוטומטית</a:t>
            </a:r>
            <a:r>
              <a:rPr lang="en-US" sz="1400" b="0" i="0" noProof="0" dirty="0">
                <a:solidFill>
                  <a:srgbClr val="B9D2DB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B9D2DB"/>
                </a:solidFill>
                <a:latin typeface="Segoe UI"/>
              </a:rPr>
              <a:t>ומתאר</a:t>
            </a:r>
            <a:r>
              <a:rPr lang="en-US" sz="1400" b="0" i="0" noProof="0" dirty="0">
                <a:solidFill>
                  <a:srgbClr val="B9D2DB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B9D2DB"/>
                </a:solidFill>
                <a:latin typeface="Segoe UI"/>
              </a:rPr>
              <a:t>כל</a:t>
            </a:r>
            <a:r>
              <a:rPr lang="en-US" sz="1400" b="0" i="0" noProof="0" dirty="0">
                <a:solidFill>
                  <a:srgbClr val="B9D2DB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B9D2DB"/>
                </a:solidFill>
                <a:latin typeface="Segoe UI"/>
              </a:rPr>
              <a:t>פעולה</a:t>
            </a:r>
            <a:r>
              <a:rPr lang="en-US" sz="1400" b="0" i="0" noProof="0" dirty="0">
                <a:solidFill>
                  <a:srgbClr val="B9D2DB"/>
                </a:solidFill>
                <a:latin typeface="Segoe UI"/>
              </a:rPr>
              <a:t>. </a:t>
            </a:r>
            <a:r>
              <a:rPr lang="en-US" sz="1400" b="0" i="0" noProof="0" dirty="0" err="1">
                <a:solidFill>
                  <a:srgbClr val="B9D2DB"/>
                </a:solidFill>
                <a:latin typeface="Segoe UI"/>
              </a:rPr>
              <a:t>ממנו</a:t>
            </a:r>
            <a:r>
              <a:rPr lang="en-US" sz="1400" b="0" i="0" noProof="0" dirty="0">
                <a:solidFill>
                  <a:srgbClr val="B9D2DB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B9D2DB"/>
                </a:solidFill>
                <a:latin typeface="Segoe UI"/>
              </a:rPr>
              <a:t>הכלים</a:t>
            </a:r>
            <a:r>
              <a:rPr lang="en-US" sz="1400" b="0" i="0" noProof="0" dirty="0">
                <a:solidFill>
                  <a:srgbClr val="B9D2DB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B9D2DB"/>
                </a:solidFill>
                <a:latin typeface="Segoe UI"/>
              </a:rPr>
              <a:t>מייצרים</a:t>
            </a:r>
            <a:r>
              <a:rPr lang="en-US" sz="1400" b="0" i="0" noProof="0" dirty="0">
                <a:solidFill>
                  <a:srgbClr val="B9D2DB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B9D2DB"/>
                </a:solidFill>
                <a:latin typeface="Segoe UI"/>
              </a:rPr>
              <a:t>ללקוח</a:t>
            </a:r>
            <a:r>
              <a:rPr lang="en-US" sz="1400" b="0" i="0" noProof="0" dirty="0">
                <a:solidFill>
                  <a:srgbClr val="B9D2DB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B9D2DB"/>
                </a:solidFill>
                <a:latin typeface="Segoe UI"/>
              </a:rPr>
              <a:t>מחלקת</a:t>
            </a:r>
            <a:r>
              <a:rPr lang="en-US" sz="1400" b="0" i="0" noProof="0" dirty="0">
                <a:solidFill>
                  <a:srgbClr val="B9D2DB"/>
                </a:solidFill>
                <a:latin typeface="Segoe UI"/>
              </a:rPr>
              <a:t> ‏proxy‏.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36208" y="4425696"/>
            <a:ext cx="5394959" cy="804672"/>
          </a:xfrm>
          <a:prstGeom prst="roundRect">
            <a:avLst>
              <a:gd name="adj" fmla="val 4000"/>
            </a:avLst>
          </a:prstGeom>
          <a:solidFill>
            <a:srgbClr val="145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24" name="Rounded Rectangle 23"/>
          <p:cNvSpPr/>
          <p:nvPr/>
        </p:nvSpPr>
        <p:spPr>
          <a:xfrm>
            <a:off x="11137392" y="455371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C4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25" name="TextBox 24"/>
          <p:cNvSpPr txBox="1"/>
          <p:nvPr/>
        </p:nvSpPr>
        <p:spPr>
          <a:xfrm>
            <a:off x="11137392" y="4571999"/>
            <a:ext cx="310896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 rtl="1"/>
            <a:r>
              <a:rPr lang="en-US" sz="1200" b="1" i="0" noProof="0" dirty="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19088" y="4544568"/>
            <a:ext cx="4553712" cy="45550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10000"/>
              </a:lnSpc>
            </a:pPr>
            <a:r>
              <a:rPr lang="en-US" sz="1400" b="0" i="0" noProof="0" dirty="0">
                <a:solidFill>
                  <a:srgbClr val="B9D2DB"/>
                </a:solidFill>
                <a:latin typeface="Segoe UI"/>
              </a:rPr>
              <a:t>‏JAX-WS‏ </a:t>
            </a:r>
            <a:r>
              <a:rPr lang="en-US" sz="1400" b="0" i="0" noProof="0" dirty="0" err="1">
                <a:solidFill>
                  <a:srgbClr val="B9D2DB"/>
                </a:solidFill>
                <a:latin typeface="Segoe UI"/>
              </a:rPr>
              <a:t>הופך</a:t>
            </a:r>
            <a:r>
              <a:rPr lang="en-US" sz="1400" b="0" i="0" noProof="0" dirty="0">
                <a:solidFill>
                  <a:srgbClr val="B9D2DB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B9D2DB"/>
                </a:solidFill>
                <a:latin typeface="Segoe UI"/>
              </a:rPr>
              <a:t>מחלקת</a:t>
            </a:r>
            <a:r>
              <a:rPr lang="en-US" sz="1400" b="0" i="0" noProof="0" dirty="0">
                <a:solidFill>
                  <a:srgbClr val="B9D2DB"/>
                </a:solidFill>
                <a:latin typeface="Segoe UI"/>
              </a:rPr>
              <a:t> ‏POJO‏ </a:t>
            </a:r>
            <a:r>
              <a:rPr lang="en-US" sz="1400" b="0" i="0" noProof="0" dirty="0" err="1">
                <a:solidFill>
                  <a:srgbClr val="B9D2DB"/>
                </a:solidFill>
                <a:latin typeface="Segoe UI"/>
              </a:rPr>
              <a:t>לשירות</a:t>
            </a:r>
            <a:r>
              <a:rPr lang="en-US" sz="1400" b="0" i="0" noProof="0" dirty="0">
                <a:solidFill>
                  <a:srgbClr val="B9D2DB"/>
                </a:solidFill>
                <a:latin typeface="Segoe UI"/>
              </a:rPr>
              <a:t> ‏SOAP‏ </a:t>
            </a:r>
            <a:r>
              <a:rPr lang="en-US" sz="1400" b="0" i="0" noProof="0" dirty="0" err="1">
                <a:solidFill>
                  <a:srgbClr val="B9D2DB"/>
                </a:solidFill>
                <a:latin typeface="Segoe UI"/>
              </a:rPr>
              <a:t>בעזרת</a:t>
            </a:r>
            <a:r>
              <a:rPr lang="en-US" sz="1400" b="0" i="0" noProof="0" dirty="0">
                <a:solidFill>
                  <a:srgbClr val="B9D2DB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B9D2DB"/>
                </a:solidFill>
                <a:latin typeface="Segoe UI"/>
              </a:rPr>
              <a:t>שלוש</a:t>
            </a:r>
            <a:r>
              <a:rPr lang="en-US" sz="1400" b="0" i="0" noProof="0" dirty="0">
                <a:solidFill>
                  <a:srgbClr val="B9D2DB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B9D2DB"/>
                </a:solidFill>
                <a:latin typeface="Segoe UI"/>
              </a:rPr>
              <a:t>אנוטציות</a:t>
            </a:r>
            <a:r>
              <a:rPr lang="en-US" sz="1400" b="0" i="0" noProof="0" dirty="0">
                <a:solidFill>
                  <a:srgbClr val="B9D2DB"/>
                </a:solidFill>
                <a:latin typeface="Segoe UI"/>
              </a:rPr>
              <a:t>: ‏‎@WebService, @WebMethod‏ ו-‏‎@</a:t>
            </a:r>
            <a:r>
              <a:rPr lang="en-US" sz="1400" b="0" i="0" noProof="0" dirty="0" err="1">
                <a:solidFill>
                  <a:srgbClr val="B9D2DB"/>
                </a:solidFill>
                <a:latin typeface="Segoe UI"/>
              </a:rPr>
              <a:t>WebParam</a:t>
            </a:r>
            <a:r>
              <a:rPr lang="en-US" sz="1400" b="0" i="0" noProof="0" dirty="0">
                <a:solidFill>
                  <a:srgbClr val="B9D2DB"/>
                </a:solidFill>
                <a:latin typeface="Segoe UI"/>
              </a:rPr>
              <a:t>‏.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6928" y="1737360"/>
            <a:ext cx="5394959" cy="804672"/>
          </a:xfrm>
          <a:prstGeom prst="roundRect">
            <a:avLst>
              <a:gd name="adj" fmla="val 4000"/>
            </a:avLst>
          </a:prstGeom>
          <a:solidFill>
            <a:srgbClr val="145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28" name="Rounded Rectangle 27"/>
          <p:cNvSpPr/>
          <p:nvPr/>
        </p:nvSpPr>
        <p:spPr>
          <a:xfrm>
            <a:off x="5468112" y="1865376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C4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29" name="TextBox 28"/>
          <p:cNvSpPr txBox="1"/>
          <p:nvPr/>
        </p:nvSpPr>
        <p:spPr>
          <a:xfrm>
            <a:off x="5468112" y="1883664"/>
            <a:ext cx="310896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 rtl="1"/>
            <a:r>
              <a:rPr lang="en-US" sz="1200" b="1" i="0" noProof="0" dirty="0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8" y="1856231"/>
            <a:ext cx="4553712" cy="45550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10000"/>
              </a:lnSpc>
            </a:pPr>
            <a:r>
              <a:rPr lang="en-US" sz="1400" b="0" i="0" noProof="0" dirty="0">
                <a:solidFill>
                  <a:srgbClr val="B9D2DB"/>
                </a:solidFill>
                <a:latin typeface="Segoe UI"/>
              </a:rPr>
              <a:t>‏REST‏ </a:t>
            </a:r>
            <a:r>
              <a:rPr lang="en-US" sz="1400" b="0" i="0" noProof="0" dirty="0" err="1">
                <a:solidFill>
                  <a:srgbClr val="B9D2DB"/>
                </a:solidFill>
                <a:latin typeface="Segoe UI"/>
              </a:rPr>
              <a:t>אינו</a:t>
            </a:r>
            <a:r>
              <a:rPr lang="en-US" sz="1400" b="0" i="0" noProof="0" dirty="0">
                <a:solidFill>
                  <a:srgbClr val="B9D2DB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B9D2DB"/>
                </a:solidFill>
                <a:latin typeface="Segoe UI"/>
              </a:rPr>
              <a:t>תקן</a:t>
            </a:r>
            <a:r>
              <a:rPr lang="en-US" sz="1400" b="0" i="0" noProof="0" dirty="0">
                <a:solidFill>
                  <a:srgbClr val="B9D2DB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B9D2DB"/>
                </a:solidFill>
                <a:latin typeface="Segoe UI"/>
              </a:rPr>
              <a:t>אלא</a:t>
            </a:r>
            <a:r>
              <a:rPr lang="en-US" sz="1400" b="0" i="0" noProof="0" dirty="0">
                <a:solidFill>
                  <a:srgbClr val="B9D2DB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B9D2DB"/>
                </a:solidFill>
                <a:latin typeface="Segoe UI"/>
              </a:rPr>
              <a:t>סגנון</a:t>
            </a:r>
            <a:r>
              <a:rPr lang="en-US" sz="1400" b="0" i="0" noProof="0" dirty="0">
                <a:solidFill>
                  <a:srgbClr val="B9D2DB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B9D2DB"/>
                </a:solidFill>
                <a:latin typeface="Segoe UI"/>
              </a:rPr>
              <a:t>ארכיטקטוני</a:t>
            </a:r>
            <a:r>
              <a:rPr lang="en-US" sz="1400" b="0" i="0" noProof="0" dirty="0">
                <a:solidFill>
                  <a:srgbClr val="B9D2DB"/>
                </a:solidFill>
                <a:latin typeface="Segoe UI"/>
              </a:rPr>
              <a:t>: </a:t>
            </a:r>
            <a:r>
              <a:rPr lang="en-US" sz="1400" b="0" i="0" noProof="0" dirty="0" err="1">
                <a:solidFill>
                  <a:srgbClr val="B9D2DB"/>
                </a:solidFill>
                <a:latin typeface="Segoe UI"/>
              </a:rPr>
              <a:t>כל</a:t>
            </a:r>
            <a:r>
              <a:rPr lang="en-US" sz="1400" b="0" i="0" noProof="0" dirty="0">
                <a:solidFill>
                  <a:srgbClr val="B9D2DB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B9D2DB"/>
                </a:solidFill>
                <a:latin typeface="Segoe UI"/>
              </a:rPr>
              <a:t>משאב</a:t>
            </a:r>
            <a:r>
              <a:rPr lang="en-US" sz="1400" b="0" i="0" noProof="0" dirty="0">
                <a:solidFill>
                  <a:srgbClr val="B9D2DB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B9D2DB"/>
                </a:solidFill>
                <a:latin typeface="Segoe UI"/>
              </a:rPr>
              <a:t>מזוהה</a:t>
            </a:r>
            <a:r>
              <a:rPr lang="en-US" sz="1400" b="0" i="0" noProof="0" dirty="0">
                <a:solidFill>
                  <a:srgbClr val="B9D2DB"/>
                </a:solidFill>
                <a:latin typeface="Segoe UI"/>
              </a:rPr>
              <a:t> ב-‏URI‏, </a:t>
            </a:r>
            <a:r>
              <a:rPr lang="en-US" sz="1400" b="0" i="0" noProof="0" dirty="0" err="1">
                <a:solidFill>
                  <a:srgbClr val="B9D2DB"/>
                </a:solidFill>
                <a:latin typeface="Segoe UI"/>
              </a:rPr>
              <a:t>והפועל</a:t>
            </a:r>
            <a:r>
              <a:rPr lang="en-US" sz="1400" b="0" i="0" noProof="0" dirty="0">
                <a:solidFill>
                  <a:srgbClr val="B9D2DB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B9D2DB"/>
                </a:solidFill>
                <a:latin typeface="Segoe UI"/>
              </a:rPr>
              <a:t>של</a:t>
            </a:r>
            <a:r>
              <a:rPr lang="en-US" sz="1400" b="0" i="0" noProof="0" dirty="0">
                <a:solidFill>
                  <a:srgbClr val="B9D2DB"/>
                </a:solidFill>
                <a:latin typeface="Segoe UI"/>
              </a:rPr>
              <a:t> ‏HTTP‏ </a:t>
            </a:r>
            <a:r>
              <a:rPr lang="en-US" sz="1400" b="0" i="0" noProof="0" dirty="0" err="1">
                <a:solidFill>
                  <a:srgbClr val="B9D2DB"/>
                </a:solidFill>
                <a:latin typeface="Segoe UI"/>
              </a:rPr>
              <a:t>הוא</a:t>
            </a:r>
            <a:r>
              <a:rPr lang="en-US" sz="1400" b="0" i="0" noProof="0" dirty="0">
                <a:solidFill>
                  <a:srgbClr val="B9D2DB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B9D2DB"/>
                </a:solidFill>
                <a:latin typeface="Segoe UI"/>
              </a:rPr>
              <a:t>הפעולה</a:t>
            </a:r>
            <a:r>
              <a:rPr lang="en-US" sz="1400" b="0" i="0" noProof="0" dirty="0">
                <a:solidFill>
                  <a:srgbClr val="B9D2DB"/>
                </a:solidFill>
                <a:latin typeface="Segoe UI"/>
              </a:rPr>
              <a:t>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66928" y="2633472"/>
            <a:ext cx="5394959" cy="804672"/>
          </a:xfrm>
          <a:prstGeom prst="roundRect">
            <a:avLst>
              <a:gd name="adj" fmla="val 4000"/>
            </a:avLst>
          </a:prstGeom>
          <a:solidFill>
            <a:srgbClr val="145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32" name="Rounded Rectangle 31"/>
          <p:cNvSpPr/>
          <p:nvPr/>
        </p:nvSpPr>
        <p:spPr>
          <a:xfrm>
            <a:off x="5468112" y="2761488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C4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33" name="TextBox 32"/>
          <p:cNvSpPr txBox="1"/>
          <p:nvPr/>
        </p:nvSpPr>
        <p:spPr>
          <a:xfrm>
            <a:off x="5468112" y="2779776"/>
            <a:ext cx="310896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 rtl="1"/>
            <a:r>
              <a:rPr lang="en-US" sz="1200" b="1" i="0" noProof="0" dirty="0">
                <a:solidFill>
                  <a:srgbClr val="FFFFFF"/>
                </a:solidFill>
                <a:latin typeface="Segoe UI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9808" y="2752344"/>
            <a:ext cx="4553712" cy="6924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10000"/>
              </a:lnSpc>
            </a:pPr>
            <a:r>
              <a:rPr lang="en-US" sz="1400" b="0" i="0" noProof="0" dirty="0" err="1">
                <a:solidFill>
                  <a:srgbClr val="B9D2DB"/>
                </a:solidFill>
                <a:latin typeface="Segoe UI"/>
              </a:rPr>
              <a:t>חוסר</a:t>
            </a:r>
            <a:r>
              <a:rPr lang="en-US" sz="1400" b="0" i="0" noProof="0" dirty="0">
                <a:solidFill>
                  <a:srgbClr val="B9D2DB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B9D2DB"/>
                </a:solidFill>
                <a:latin typeface="Segoe UI"/>
              </a:rPr>
              <a:t>המצב</a:t>
            </a:r>
            <a:r>
              <a:rPr lang="en-US" sz="1400" b="0" i="0" noProof="0" dirty="0">
                <a:solidFill>
                  <a:srgbClr val="B9D2DB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B9D2DB"/>
                </a:solidFill>
                <a:latin typeface="Segoe UI"/>
              </a:rPr>
              <a:t>הוא</a:t>
            </a:r>
            <a:r>
              <a:rPr lang="en-US" sz="1400" b="0" i="0" noProof="0" dirty="0">
                <a:solidFill>
                  <a:srgbClr val="B9D2DB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B9D2DB"/>
                </a:solidFill>
                <a:latin typeface="Segoe UI"/>
              </a:rPr>
              <a:t>אילוץ</a:t>
            </a:r>
            <a:r>
              <a:rPr lang="en-US" sz="1400" b="0" i="0" noProof="0" dirty="0">
                <a:solidFill>
                  <a:srgbClr val="B9D2DB"/>
                </a:solidFill>
                <a:latin typeface="Segoe UI"/>
              </a:rPr>
              <a:t>, </a:t>
            </a:r>
            <a:r>
              <a:rPr lang="en-US" sz="1400" b="0" i="0" noProof="0" dirty="0" err="1">
                <a:solidFill>
                  <a:srgbClr val="B9D2DB"/>
                </a:solidFill>
                <a:latin typeface="Segoe UI"/>
              </a:rPr>
              <a:t>לא</a:t>
            </a:r>
            <a:r>
              <a:rPr lang="en-US" sz="1400" b="0" i="0" noProof="0" dirty="0">
                <a:solidFill>
                  <a:srgbClr val="B9D2DB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B9D2DB"/>
                </a:solidFill>
                <a:latin typeface="Segoe UI"/>
              </a:rPr>
              <a:t>מגבלה</a:t>
            </a:r>
            <a:r>
              <a:rPr lang="en-US" sz="1400" b="0" i="0" noProof="0" dirty="0">
                <a:solidFill>
                  <a:srgbClr val="B9D2DB"/>
                </a:solidFill>
                <a:latin typeface="Segoe UI"/>
              </a:rPr>
              <a:t> — </a:t>
            </a:r>
            <a:r>
              <a:rPr lang="en-US" sz="1400" b="0" i="0" noProof="0" dirty="0" err="1">
                <a:solidFill>
                  <a:srgbClr val="B9D2DB"/>
                </a:solidFill>
                <a:latin typeface="Segoe UI"/>
              </a:rPr>
              <a:t>הוא</a:t>
            </a:r>
            <a:r>
              <a:rPr lang="en-US" sz="1400" b="0" i="0" noProof="0" dirty="0">
                <a:solidFill>
                  <a:srgbClr val="B9D2DB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B9D2DB"/>
                </a:solidFill>
                <a:latin typeface="Segoe UI"/>
              </a:rPr>
              <a:t>מה</a:t>
            </a:r>
            <a:r>
              <a:rPr lang="en-US" sz="1400" b="0" i="0" noProof="0" dirty="0">
                <a:solidFill>
                  <a:srgbClr val="B9D2DB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B9D2DB"/>
                </a:solidFill>
                <a:latin typeface="Segoe UI"/>
              </a:rPr>
              <a:t>שמאפשר</a:t>
            </a:r>
            <a:r>
              <a:rPr lang="en-US" sz="1400" b="0" i="0" noProof="0" dirty="0">
                <a:solidFill>
                  <a:srgbClr val="B9D2DB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B9D2DB"/>
                </a:solidFill>
                <a:latin typeface="Segoe UI"/>
              </a:rPr>
              <a:t>להוסיף</a:t>
            </a:r>
            <a:r>
              <a:rPr lang="en-US" sz="1400" b="0" i="0" noProof="0" dirty="0">
                <a:solidFill>
                  <a:srgbClr val="B9D2DB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B9D2DB"/>
                </a:solidFill>
                <a:latin typeface="Segoe UI"/>
              </a:rPr>
              <a:t>שרתים</a:t>
            </a:r>
            <a:r>
              <a:rPr lang="en-US" sz="1400" b="0" i="0" noProof="0" dirty="0">
                <a:solidFill>
                  <a:srgbClr val="B9D2DB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B9D2DB"/>
                </a:solidFill>
                <a:latin typeface="Segoe UI"/>
              </a:rPr>
              <a:t>בלי</a:t>
            </a:r>
            <a:r>
              <a:rPr lang="en-US" sz="1400" b="0" i="0" noProof="0" dirty="0">
                <a:solidFill>
                  <a:srgbClr val="B9D2DB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B9D2DB"/>
                </a:solidFill>
                <a:latin typeface="Segoe UI"/>
              </a:rPr>
              <a:t>גבול</a:t>
            </a:r>
            <a:r>
              <a:rPr lang="en-US" sz="1400" b="0" i="0" noProof="0" dirty="0">
                <a:solidFill>
                  <a:srgbClr val="B9D2DB"/>
                </a:solidFill>
                <a:latin typeface="Segoe UI"/>
              </a:rPr>
              <a:t>. ‏SOAP‏ </a:t>
            </a:r>
            <a:r>
              <a:rPr lang="en-US" sz="1400" b="0" i="0" noProof="0" dirty="0" err="1">
                <a:solidFill>
                  <a:srgbClr val="B9D2DB"/>
                </a:solidFill>
                <a:latin typeface="Segoe UI"/>
              </a:rPr>
              <a:t>יכול</a:t>
            </a:r>
            <a:r>
              <a:rPr lang="en-US" sz="1400" b="0" i="0" noProof="0" dirty="0">
                <a:solidFill>
                  <a:srgbClr val="B9D2DB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B9D2DB"/>
                </a:solidFill>
                <a:latin typeface="Segoe UI"/>
              </a:rPr>
              <a:t>לשמור</a:t>
            </a:r>
            <a:r>
              <a:rPr lang="en-US" sz="1400" b="0" i="0" noProof="0" dirty="0">
                <a:solidFill>
                  <a:srgbClr val="B9D2DB"/>
                </a:solidFill>
                <a:latin typeface="Segoe UI"/>
              </a:rPr>
              <a:t> ‏session‏, </a:t>
            </a:r>
            <a:r>
              <a:rPr lang="en-US" sz="1400" b="0" i="0" noProof="0" dirty="0" err="1">
                <a:solidFill>
                  <a:srgbClr val="B9D2DB"/>
                </a:solidFill>
                <a:latin typeface="Segoe UI"/>
              </a:rPr>
              <a:t>ומשלם</a:t>
            </a:r>
            <a:r>
              <a:rPr lang="en-US" sz="1400" b="0" i="0" noProof="0" dirty="0">
                <a:solidFill>
                  <a:srgbClr val="B9D2DB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B9D2DB"/>
                </a:solidFill>
                <a:latin typeface="Segoe UI"/>
              </a:rPr>
              <a:t>על</a:t>
            </a:r>
            <a:r>
              <a:rPr lang="en-US" sz="1400" b="0" i="0" noProof="0" dirty="0">
                <a:solidFill>
                  <a:srgbClr val="B9D2DB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B9D2DB"/>
                </a:solidFill>
                <a:latin typeface="Segoe UI"/>
              </a:rPr>
              <a:t>כך</a:t>
            </a:r>
            <a:r>
              <a:rPr lang="en-US" sz="1400" b="0" i="0" noProof="0" dirty="0">
                <a:solidFill>
                  <a:srgbClr val="B9D2DB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B9D2DB"/>
                </a:solidFill>
                <a:latin typeface="Segoe UI"/>
              </a:rPr>
              <a:t>במדרגיות</a:t>
            </a:r>
            <a:r>
              <a:rPr lang="en-US" sz="1400" b="0" i="0" noProof="0" dirty="0">
                <a:solidFill>
                  <a:srgbClr val="B9D2DB"/>
                </a:solidFill>
                <a:latin typeface="Segoe UI"/>
              </a:rPr>
              <a:t>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66928" y="3529584"/>
            <a:ext cx="5394959" cy="804672"/>
          </a:xfrm>
          <a:prstGeom prst="roundRect">
            <a:avLst>
              <a:gd name="adj" fmla="val 4000"/>
            </a:avLst>
          </a:prstGeom>
          <a:solidFill>
            <a:srgbClr val="145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36" name="Rounded Rectangle 35"/>
          <p:cNvSpPr/>
          <p:nvPr/>
        </p:nvSpPr>
        <p:spPr>
          <a:xfrm>
            <a:off x="5468112" y="3657600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C4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37" name="TextBox 36"/>
          <p:cNvSpPr txBox="1"/>
          <p:nvPr/>
        </p:nvSpPr>
        <p:spPr>
          <a:xfrm>
            <a:off x="5468112" y="3675887"/>
            <a:ext cx="310896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 rtl="1"/>
            <a:r>
              <a:rPr lang="en-US" sz="1200" b="1" i="0" noProof="0" dirty="0">
                <a:solidFill>
                  <a:srgbClr val="FFFFFF"/>
                </a:solidFill>
                <a:latin typeface="Segoe UI"/>
              </a:rPr>
              <a:t>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9808" y="3648456"/>
            <a:ext cx="4553712" cy="45550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10000"/>
              </a:lnSpc>
            </a:pPr>
            <a:r>
              <a:rPr lang="en-US" sz="1400" b="0" i="0" noProof="0" dirty="0" err="1">
                <a:solidFill>
                  <a:srgbClr val="B9D2DB"/>
                </a:solidFill>
                <a:latin typeface="Segoe UI"/>
              </a:rPr>
              <a:t>פעולות</a:t>
            </a:r>
            <a:r>
              <a:rPr lang="en-US" sz="1400" b="0" i="0" noProof="0" dirty="0">
                <a:solidFill>
                  <a:srgbClr val="B9D2DB"/>
                </a:solidFill>
                <a:latin typeface="Segoe UI"/>
              </a:rPr>
              <a:t> ‏CRUD‏ </a:t>
            </a:r>
            <a:r>
              <a:rPr lang="en-US" sz="1400" b="0" i="0" noProof="0" dirty="0" err="1">
                <a:solidFill>
                  <a:srgbClr val="B9D2DB"/>
                </a:solidFill>
                <a:latin typeface="Segoe UI"/>
              </a:rPr>
              <a:t>ממופות</a:t>
            </a:r>
            <a:r>
              <a:rPr lang="en-US" sz="1400" b="0" i="0" noProof="0" dirty="0">
                <a:solidFill>
                  <a:srgbClr val="B9D2DB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B9D2DB"/>
                </a:solidFill>
                <a:latin typeface="Segoe UI"/>
              </a:rPr>
              <a:t>ישירות</a:t>
            </a:r>
            <a:r>
              <a:rPr lang="en-US" sz="1400" b="0" i="0" noProof="0" dirty="0">
                <a:solidFill>
                  <a:srgbClr val="B9D2DB"/>
                </a:solidFill>
                <a:latin typeface="Segoe UI"/>
              </a:rPr>
              <a:t> ל-‏POST, GET, PUT‏ ו-‏DELETE‏, </a:t>
            </a:r>
            <a:r>
              <a:rPr lang="en-US" sz="1400" b="0" i="0" noProof="0" dirty="0" err="1">
                <a:solidFill>
                  <a:srgbClr val="B9D2DB"/>
                </a:solidFill>
                <a:latin typeface="Segoe UI"/>
              </a:rPr>
              <a:t>וקודי</a:t>
            </a:r>
            <a:r>
              <a:rPr lang="en-US" sz="1400" b="0" i="0" noProof="0" dirty="0">
                <a:solidFill>
                  <a:srgbClr val="B9D2DB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B9D2DB"/>
                </a:solidFill>
                <a:latin typeface="Segoe UI"/>
              </a:rPr>
              <a:t>הסטטוס</a:t>
            </a:r>
            <a:r>
              <a:rPr lang="en-US" sz="1400" b="0" i="0" noProof="0" dirty="0">
                <a:solidFill>
                  <a:srgbClr val="B9D2DB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B9D2DB"/>
                </a:solidFill>
                <a:latin typeface="Segoe UI"/>
              </a:rPr>
              <a:t>של</a:t>
            </a:r>
            <a:r>
              <a:rPr lang="en-US" sz="1400" b="0" i="0" noProof="0" dirty="0">
                <a:solidFill>
                  <a:srgbClr val="B9D2DB"/>
                </a:solidFill>
                <a:latin typeface="Segoe UI"/>
              </a:rPr>
              <a:t> ‏HTTP‏ </a:t>
            </a:r>
            <a:r>
              <a:rPr lang="en-US" sz="1400" b="0" i="0" noProof="0" dirty="0" err="1">
                <a:solidFill>
                  <a:srgbClr val="B9D2DB"/>
                </a:solidFill>
                <a:latin typeface="Segoe UI"/>
              </a:rPr>
              <a:t>הם</a:t>
            </a:r>
            <a:r>
              <a:rPr lang="en-US" sz="1400" b="0" i="0" noProof="0" dirty="0">
                <a:solidFill>
                  <a:srgbClr val="B9D2DB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B9D2DB"/>
                </a:solidFill>
                <a:latin typeface="Segoe UI"/>
              </a:rPr>
              <a:t>שפת</a:t>
            </a:r>
            <a:r>
              <a:rPr lang="en-US" sz="1400" b="0" i="0" noProof="0" dirty="0">
                <a:solidFill>
                  <a:srgbClr val="B9D2DB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B9D2DB"/>
                </a:solidFill>
                <a:latin typeface="Segoe UI"/>
              </a:rPr>
              <a:t>השגיאות</a:t>
            </a:r>
            <a:r>
              <a:rPr lang="en-US" sz="1400" b="0" i="0" noProof="0" dirty="0">
                <a:solidFill>
                  <a:srgbClr val="B9D2DB"/>
                </a:solidFill>
                <a:latin typeface="Segoe UI"/>
              </a:rPr>
              <a:t>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66928" y="4425696"/>
            <a:ext cx="5394959" cy="804672"/>
          </a:xfrm>
          <a:prstGeom prst="roundRect">
            <a:avLst>
              <a:gd name="adj" fmla="val 4000"/>
            </a:avLst>
          </a:prstGeom>
          <a:solidFill>
            <a:srgbClr val="145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40" name="Rounded Rectangle 39"/>
          <p:cNvSpPr/>
          <p:nvPr/>
        </p:nvSpPr>
        <p:spPr>
          <a:xfrm>
            <a:off x="5468112" y="455371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C4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41" name="TextBox 40"/>
          <p:cNvSpPr txBox="1"/>
          <p:nvPr/>
        </p:nvSpPr>
        <p:spPr>
          <a:xfrm>
            <a:off x="5468112" y="4571999"/>
            <a:ext cx="310896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 rtl="1"/>
            <a:r>
              <a:rPr lang="en-US" sz="1200" b="1" i="0" noProof="0" dirty="0">
                <a:solidFill>
                  <a:srgbClr val="FFFFFF"/>
                </a:solidFill>
                <a:latin typeface="Segoe UI"/>
              </a:rPr>
              <a:t>8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0833" y="4544568"/>
            <a:ext cx="4742687" cy="45550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10000"/>
              </a:lnSpc>
            </a:pPr>
            <a:r>
              <a:rPr lang="en-US" sz="1400" b="0" i="0" noProof="0" dirty="0">
                <a:solidFill>
                  <a:srgbClr val="B9D2DB"/>
                </a:solidFill>
                <a:latin typeface="Segoe UI"/>
              </a:rPr>
              <a:t>‏JAX-RS‏ </a:t>
            </a:r>
            <a:r>
              <a:rPr lang="en-US" sz="1400" b="0" i="0" noProof="0" dirty="0" err="1">
                <a:solidFill>
                  <a:srgbClr val="B9D2DB"/>
                </a:solidFill>
                <a:latin typeface="Segoe UI"/>
              </a:rPr>
              <a:t>נותן</a:t>
            </a:r>
            <a:r>
              <a:rPr lang="en-US" sz="1400" b="0" i="0" noProof="0" dirty="0">
                <a:solidFill>
                  <a:srgbClr val="B9D2DB"/>
                </a:solidFill>
                <a:latin typeface="Segoe UI"/>
              </a:rPr>
              <a:t> את </a:t>
            </a:r>
            <a:r>
              <a:rPr lang="en-US" sz="1400" b="0" i="0" noProof="0" dirty="0" err="1">
                <a:solidFill>
                  <a:srgbClr val="B9D2DB"/>
                </a:solidFill>
                <a:latin typeface="Segoe UI"/>
              </a:rPr>
              <a:t>אותה</a:t>
            </a:r>
            <a:r>
              <a:rPr lang="en-US" sz="1400" b="0" i="0" noProof="0" dirty="0">
                <a:solidFill>
                  <a:srgbClr val="B9D2DB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B9D2DB"/>
                </a:solidFill>
                <a:latin typeface="Segoe UI"/>
              </a:rPr>
              <a:t>עוצמה</a:t>
            </a:r>
            <a:r>
              <a:rPr lang="en-US" sz="1400" b="0" i="0" noProof="0" dirty="0">
                <a:solidFill>
                  <a:srgbClr val="B9D2DB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B9D2DB"/>
                </a:solidFill>
                <a:latin typeface="Segoe UI"/>
              </a:rPr>
              <a:t>בכמה</a:t>
            </a:r>
            <a:r>
              <a:rPr lang="en-US" sz="1400" b="0" i="0" noProof="0" dirty="0">
                <a:solidFill>
                  <a:srgbClr val="B9D2DB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B9D2DB"/>
                </a:solidFill>
                <a:latin typeface="Segoe UI"/>
              </a:rPr>
              <a:t>אנוטציות</a:t>
            </a:r>
            <a:r>
              <a:rPr lang="en-US" sz="1400" b="0" i="0" noProof="0" dirty="0">
                <a:solidFill>
                  <a:srgbClr val="B9D2DB"/>
                </a:solidFill>
                <a:latin typeface="Segoe UI"/>
              </a:rPr>
              <a:t> — ‏‎@Path, @GET, @Produces‏ — </a:t>
            </a:r>
            <a:r>
              <a:rPr lang="en-US" sz="1400" b="0" i="0" noProof="0" dirty="0" err="1">
                <a:solidFill>
                  <a:srgbClr val="B9D2DB"/>
                </a:solidFill>
                <a:latin typeface="Segoe UI"/>
              </a:rPr>
              <a:t>ובלי</a:t>
            </a:r>
            <a:r>
              <a:rPr lang="en-US" sz="1400" b="0" i="0" noProof="0" dirty="0">
                <a:solidFill>
                  <a:srgbClr val="B9D2DB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B9D2DB"/>
                </a:solidFill>
                <a:latin typeface="Segoe UI"/>
              </a:rPr>
              <a:t>מעטפת</a:t>
            </a:r>
            <a:r>
              <a:rPr lang="en-US" sz="1400" b="0" i="0" noProof="0" dirty="0">
                <a:solidFill>
                  <a:srgbClr val="B9D2DB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B9D2DB"/>
                </a:solidFill>
                <a:latin typeface="Segoe UI"/>
              </a:rPr>
              <a:t>ובלי</a:t>
            </a:r>
            <a:r>
              <a:rPr lang="en-US" sz="1400" b="0" i="0" noProof="0" dirty="0">
                <a:solidFill>
                  <a:srgbClr val="B9D2DB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B9D2DB"/>
                </a:solidFill>
                <a:latin typeface="Segoe UI"/>
              </a:rPr>
              <a:t>ייצור</a:t>
            </a:r>
            <a:r>
              <a:rPr lang="en-US" sz="1400" b="0" i="0" noProof="0" dirty="0">
                <a:solidFill>
                  <a:srgbClr val="B9D2DB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B9D2DB"/>
                </a:solidFill>
                <a:latin typeface="Segoe UI"/>
              </a:rPr>
              <a:t>קוד</a:t>
            </a:r>
            <a:r>
              <a:rPr lang="en-US" sz="1400" b="0" i="0" noProof="0" dirty="0">
                <a:solidFill>
                  <a:srgbClr val="B9D2DB"/>
                </a:solidFill>
                <a:latin typeface="Segoe UI"/>
              </a:rPr>
              <a:t>.</a:t>
            </a:r>
          </a:p>
        </p:txBody>
      </p:sp>
      <p:sp>
        <p:nvSpPr>
          <p:cNvPr id="43" name="Rectangle 7 footer43"/>
          <p:cNvSpPr/>
          <p:nvPr/>
        </p:nvSpPr>
        <p:spPr>
          <a:xfrm>
            <a:off x="566928" y="6382512"/>
            <a:ext cx="11064240" cy="10972"/>
          </a:xfrm>
          <a:prstGeom prst="rect">
            <a:avLst/>
          </a:prstGeom>
          <a:solidFill>
            <a:srgbClr val="E3EA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44" name="TextBox 8 footer44"/>
          <p:cNvSpPr txBox="1"/>
          <p:nvPr/>
        </p:nvSpPr>
        <p:spPr>
          <a:xfrm>
            <a:off x="10424160" y="6473952"/>
            <a:ext cx="1207008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/>
            <a:r>
              <a:rPr lang="en-US" sz="1050" b="0" i="0" noProof="0" dirty="0">
                <a:solidFill>
                  <a:srgbClr val="8D9EA8"/>
                </a:solidFill>
                <a:latin typeface="Segoe UI"/>
              </a:rPr>
              <a:t>‏סיכום‏</a:t>
            </a:r>
          </a:p>
        </p:txBody>
      </p:sp>
      <p:sp>
        <p:nvSpPr>
          <p:cNvPr id="45" name="TextBox 9 footer45"/>
          <p:cNvSpPr txBox="1"/>
          <p:nvPr/>
        </p:nvSpPr>
        <p:spPr>
          <a:xfrm>
            <a:off x="566928" y="6473952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rtl="0"/>
            <a:r>
              <a:rPr lang="en-US" sz="1050" b="0" i="0" noProof="0" dirty="0">
                <a:solidFill>
                  <a:srgbClr val="8D9EA8"/>
                </a:solidFill>
                <a:latin typeface="Segoe UI"/>
              </a:rPr>
              <a:t>16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0D53EEB7-01FD-E890-C0AC-F7E96E3520B6}"/>
              </a:ext>
            </a:extLst>
          </p:cNvPr>
          <p:cNvSpPr/>
          <p:nvPr/>
        </p:nvSpPr>
        <p:spPr>
          <a:xfrm>
            <a:off x="31" y="0"/>
            <a:ext cx="12191969" cy="6858000"/>
          </a:xfrm>
          <a:prstGeom prst="rect">
            <a:avLst/>
          </a:prstGeom>
          <a:solidFill>
            <a:srgbClr val="072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r" rtl="1"/>
            <a:endParaRPr lang="en-US" b="1" noProof="0" dirty="0">
              <a:solidFill>
                <a:srgbClr val="E0935E"/>
              </a:solidFill>
              <a:latin typeface="Segoe UI"/>
            </a:endParaRPr>
          </a:p>
        </p:txBody>
      </p:sp>
      <p:sp>
        <p:nvSpPr>
          <p:cNvPr id="7" name="Rounded Rectangle 42">
            <a:extLst>
              <a:ext uri="{FF2B5EF4-FFF2-40B4-BE49-F238E27FC236}">
                <a16:creationId xmlns:a16="http://schemas.microsoft.com/office/drawing/2014/main" id="{16405F79-EDAB-9C63-F102-B8657FD88ED2}"/>
              </a:ext>
            </a:extLst>
          </p:cNvPr>
          <p:cNvSpPr/>
          <p:nvPr/>
        </p:nvSpPr>
        <p:spPr>
          <a:xfrm>
            <a:off x="419928" y="3428999"/>
            <a:ext cx="11352143" cy="3264763"/>
          </a:xfrm>
          <a:prstGeom prst="roundRect">
            <a:avLst>
              <a:gd name="adj" fmla="val 3000"/>
            </a:avLst>
          </a:prstGeom>
          <a:solidFill>
            <a:srgbClr val="072C38"/>
          </a:solidFill>
          <a:ln w="127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he-IL" sz="7200" noProof="0" dirty="0"/>
              <a:t>תודה — שאלות?</a:t>
            </a:r>
          </a:p>
        </p:txBody>
      </p:sp>
      <p:sp>
        <p:nvSpPr>
          <p:cNvPr id="9" name="Rounded Rectangle 42">
            <a:extLst>
              <a:ext uri="{FF2B5EF4-FFF2-40B4-BE49-F238E27FC236}">
                <a16:creationId xmlns:a16="http://schemas.microsoft.com/office/drawing/2014/main" id="{0CF229EC-E419-EA37-126A-4E2F4A040FCE}"/>
              </a:ext>
            </a:extLst>
          </p:cNvPr>
          <p:cNvSpPr/>
          <p:nvPr/>
        </p:nvSpPr>
        <p:spPr>
          <a:xfrm>
            <a:off x="160376" y="1066060"/>
            <a:ext cx="7785139" cy="1437443"/>
          </a:xfrm>
          <a:prstGeom prst="roundRect">
            <a:avLst>
              <a:gd name="adj" fmla="val 3000"/>
            </a:avLst>
          </a:prstGeom>
          <a:solidFill>
            <a:srgbClr val="072C38"/>
          </a:solidFill>
          <a:ln w="127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lvl="1"/>
            <a:r>
              <a:rPr lang="en-US" noProof="0" dirty="0"/>
              <a:t>Deitel &amp; Deitel, Java How to Program — ch.32 : REST Web Services</a:t>
            </a:r>
          </a:p>
          <a:p>
            <a:pPr lvl="1"/>
            <a:r>
              <a:rPr lang="en-US" noProof="0" dirty="0"/>
              <a:t>The Java EE Tutorial — Web Services · JAX-WS (JSR  224).  JAX-RS (JSR 311/339)</a:t>
            </a:r>
          </a:p>
          <a:p>
            <a:pPr lvl="1"/>
            <a:r>
              <a:rPr lang="en-US" noProof="0" dirty="0"/>
              <a:t>W3C: SOAP 1.2(2003) WSDL 1.1 (2001). R. T. Fielding, Architectural Styles (2000)</a:t>
            </a:r>
          </a:p>
        </p:txBody>
      </p:sp>
      <p:sp>
        <p:nvSpPr>
          <p:cNvPr id="11" name="Rounded Rectangle 42">
            <a:extLst>
              <a:ext uri="{FF2B5EF4-FFF2-40B4-BE49-F238E27FC236}">
                <a16:creationId xmlns:a16="http://schemas.microsoft.com/office/drawing/2014/main" id="{0B01BCCA-DEB7-0E31-7929-21F7EE5179F0}"/>
              </a:ext>
            </a:extLst>
          </p:cNvPr>
          <p:cNvSpPr/>
          <p:nvPr/>
        </p:nvSpPr>
        <p:spPr>
          <a:xfrm>
            <a:off x="2036567" y="612233"/>
            <a:ext cx="3873564" cy="435657"/>
          </a:xfrm>
          <a:prstGeom prst="roundRect">
            <a:avLst>
              <a:gd name="adj" fmla="val 3000"/>
            </a:avLst>
          </a:prstGeom>
          <a:solidFill>
            <a:srgbClr val="072C38"/>
          </a:solidFill>
          <a:ln w="127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b="1" noProof="0" dirty="0" err="1">
                <a:solidFill>
                  <a:srgbClr val="E0935E"/>
                </a:solidFill>
                <a:latin typeface="Segoe UI"/>
              </a:rPr>
              <a:t>מקורות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6587652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396</TotalTime>
  <Words>6122</Words>
  <Application>Microsoft Office PowerPoint</Application>
  <PresentationFormat>מסך רחב</PresentationFormat>
  <Paragraphs>691</Paragraphs>
  <Slides>22</Slides>
  <Notes>20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5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22</vt:i4>
      </vt:variant>
    </vt:vector>
  </HeadingPairs>
  <TitlesOfParts>
    <vt:vector size="28" baseType="lpstr">
      <vt:lpstr>Aptos</vt:lpstr>
      <vt:lpstr>Arial</vt:lpstr>
      <vt:lpstr>Calibri</vt:lpstr>
      <vt:lpstr>Consolas</vt:lpstr>
      <vt:lpstr>Segoe UI</vt:lpstr>
      <vt:lpstr>Office Theme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Ahmad Abd Al Haleem</dc:creator>
  <cp:keywords/>
  <dc:description>generated using python-pptx</dc:description>
  <cp:lastModifiedBy>Ahmad Abd Alhalem</cp:lastModifiedBy>
  <cp:revision>5</cp:revision>
  <dcterms:created xsi:type="dcterms:W3CDTF">2013-01-27T09:14:16Z</dcterms:created>
  <dcterms:modified xsi:type="dcterms:W3CDTF">2026-08-22T21:12:15Z</dcterms:modified>
  <cp:category/>
</cp:coreProperties>
</file>