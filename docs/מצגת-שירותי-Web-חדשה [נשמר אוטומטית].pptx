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6163" autoAdjust="0"/>
  </p:normalViewPr>
  <p:slideViewPr>
    <p:cSldViewPr snapToGrid="0" snapToObjects="1">
      <p:cViewPr varScale="1">
        <p:scale>
          <a:sx n="108" d="100"/>
          <a:sy n="108" d="100"/>
        </p:scale>
        <p:origin x="235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588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37E86799-3E11-21CA-1159-CC015A7E97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8E3A415-8355-B3EC-CFBC-B933E04FD4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BF60D315-0899-4BE8-8C5A-DF2D690B829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0CC4308-DC5B-27B4-BD57-80F0B75968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2549343-9BA6-D532-A770-F319775696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F68659BD-E527-4300-BF8A-FBC704FAE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26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239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כ-70 שניות. אל תיתנו תשובה חד-משמעית — זו בדיוק הנקודה. שאלו: לאיזה צד שייך פרויקט הגמר שלנו?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43935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-40452"/>
            <a:ext cx="12191969" cy="11887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31" y="6772411"/>
            <a:ext cx="12191969" cy="118872"/>
          </a:xfrm>
          <a:prstGeom prst="rect">
            <a:avLst/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 descr="hero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8" y="1654541"/>
            <a:ext cx="452628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795247" y="412851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885243" y="863411"/>
            <a:ext cx="8803837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5400" b="1" i="0" noProof="0" dirty="0" err="1">
                <a:solidFill>
                  <a:srgbClr val="FFFFFF"/>
                </a:solidFill>
                <a:latin typeface="Segoe UI"/>
              </a:rPr>
              <a:t>שירותי</a:t>
            </a:r>
            <a:r>
              <a:rPr lang="en-US" sz="5400" b="1" i="0" noProof="0" dirty="0">
                <a:solidFill>
                  <a:srgbClr val="FFFFFF"/>
                </a:solidFill>
                <a:latin typeface="Segoe UI"/>
              </a:rPr>
              <a:t> ‏</a:t>
            </a:r>
            <a:r>
              <a:rPr lang="en-US" sz="5400" b="1" i="0" noProof="0" dirty="0" err="1">
                <a:solidFill>
                  <a:srgbClr val="FFFFFF"/>
                </a:solidFill>
                <a:latin typeface="Segoe UI"/>
              </a:rPr>
              <a:t>רשת</a:t>
            </a:r>
            <a:r>
              <a:rPr lang="en-US" sz="5400" b="1" i="0" noProof="0" dirty="0">
                <a:solidFill>
                  <a:srgbClr val="FFFFFF"/>
                </a:solidFill>
                <a:latin typeface="Segoe UI"/>
              </a:rPr>
              <a:t> –</a:t>
            </a:r>
            <a:r>
              <a:rPr lang="he-IL" sz="5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5400" b="1" noProof="0" dirty="0">
                <a:solidFill>
                  <a:srgbClr val="FFFFFF"/>
                </a:solidFill>
                <a:latin typeface="Segoe UI"/>
              </a:rPr>
              <a:t>Web Services</a:t>
            </a:r>
            <a:r>
              <a:rPr lang="en-US" sz="5400" b="1" i="0" noProof="0" dirty="0">
                <a:solidFill>
                  <a:srgbClr val="FFFFFF"/>
                </a:solidFill>
                <a:latin typeface="Segoe UI"/>
              </a:rPr>
              <a:t>‏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4312" y="1985163"/>
            <a:ext cx="6144768" cy="12801"/>
          </a:xfrm>
          <a:prstGeom prst="rect">
            <a:avLst/>
          </a:prstGeom>
          <a:solidFill>
            <a:srgbClr val="1C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544312" y="3072370"/>
            <a:ext cx="6144768" cy="12801"/>
          </a:xfrm>
          <a:prstGeom prst="rect">
            <a:avLst/>
          </a:prstGeom>
          <a:solidFill>
            <a:srgbClr val="1C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EF5F0013-938D-C3CB-25FA-A340363C3872}"/>
              </a:ext>
            </a:extLst>
          </p:cNvPr>
          <p:cNvSpPr txBox="1"/>
          <p:nvPr/>
        </p:nvSpPr>
        <p:spPr>
          <a:xfrm>
            <a:off x="6716164" y="2116266"/>
            <a:ext cx="4972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noProof="0" dirty="0" err="1">
                <a:solidFill>
                  <a:schemeClr val="bg1"/>
                </a:solidFill>
              </a:rPr>
              <a:t>קורס</a:t>
            </a:r>
            <a:r>
              <a:rPr lang="en-US" noProof="0" dirty="0">
                <a:solidFill>
                  <a:schemeClr val="bg1"/>
                </a:solidFill>
              </a:rPr>
              <a:t>: </a:t>
            </a:r>
            <a:r>
              <a:rPr lang="en-US" noProof="0" dirty="0" err="1">
                <a:solidFill>
                  <a:schemeClr val="bg1"/>
                </a:solidFill>
              </a:rPr>
              <a:t>סדנה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בתכנות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מתקדם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בשפת</a:t>
            </a:r>
            <a:r>
              <a:rPr lang="en-US" noProof="0" dirty="0">
                <a:solidFill>
                  <a:schemeClr val="bg1"/>
                </a:solidFill>
              </a:rPr>
              <a:t> Java </a:t>
            </a:r>
          </a:p>
          <a:p>
            <a:pPr algn="r" rtl="1"/>
            <a:endParaRPr lang="en-US" noProof="0" dirty="0">
              <a:solidFill>
                <a:schemeClr val="bg1"/>
              </a:solidFill>
            </a:endParaRPr>
          </a:p>
          <a:p>
            <a:pPr algn="r" rtl="1"/>
            <a:r>
              <a:rPr lang="en-US" noProof="0" dirty="0" err="1">
                <a:solidFill>
                  <a:schemeClr val="bg1"/>
                </a:solidFill>
              </a:rPr>
              <a:t>מציג</a:t>
            </a:r>
            <a:r>
              <a:rPr lang="en-US" noProof="0" dirty="0">
                <a:solidFill>
                  <a:schemeClr val="bg1"/>
                </a:solidFill>
              </a:rPr>
              <a:t>: </a:t>
            </a:r>
            <a:r>
              <a:rPr lang="en-US" noProof="0" dirty="0" err="1">
                <a:solidFill>
                  <a:schemeClr val="bg1"/>
                </a:solidFill>
              </a:rPr>
              <a:t>אחמד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עבד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אל-חלים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0485A9AA-C912-0B4C-E433-1B19B411939B}"/>
              </a:ext>
            </a:extLst>
          </p:cNvPr>
          <p:cNvSpPr/>
          <p:nvPr/>
        </p:nvSpPr>
        <p:spPr>
          <a:xfrm>
            <a:off x="496439" y="6180821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556219E-68E3-E08A-ECC0-B4C9553D2568}"/>
              </a:ext>
            </a:extLst>
          </p:cNvPr>
          <p:cNvSpPr txBox="1"/>
          <p:nvPr/>
        </p:nvSpPr>
        <p:spPr>
          <a:xfrm>
            <a:off x="5544280" y="5156423"/>
            <a:ext cx="6430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dirty="0">
                <a:solidFill>
                  <a:schemeClr val="bg1"/>
                </a:solidFill>
              </a:rPr>
              <a:t>מבוסס על:</a:t>
            </a:r>
          </a:p>
          <a:p>
            <a:endParaRPr lang="he-IL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Deitel &amp; Deitel — Java How to Program, ch. 32: REST Web Services</a:t>
            </a:r>
          </a:p>
          <a:p>
            <a:r>
              <a:rPr lang="en-US" dirty="0">
                <a:solidFill>
                  <a:schemeClr val="bg1"/>
                </a:solidFill>
              </a:rPr>
              <a:t>The Java EE Tutorial — Web Services, JAX-WS, JAX-RS</a:t>
            </a:r>
          </a:p>
          <a:p>
            <a:r>
              <a:rPr lang="en-US" dirty="0">
                <a:solidFill>
                  <a:schemeClr val="bg1"/>
                </a:solidFill>
              </a:rPr>
              <a:t>W3C SOAP 1.2 · WSDL 1.1 · R. Fielding, Architectural Styles (2000)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36C281B-7AFA-E1F8-847B-53B791ECDCC5}"/>
              </a:ext>
            </a:extLst>
          </p:cNvPr>
          <p:cNvSpPr/>
          <p:nvPr/>
        </p:nvSpPr>
        <p:spPr>
          <a:xfrm>
            <a:off x="31" y="0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6CD813CC-35B5-94D5-5226-DA746E81D760}"/>
              </a:ext>
            </a:extLst>
          </p:cNvPr>
          <p:cNvSpPr txBox="1"/>
          <p:nvPr/>
        </p:nvSpPr>
        <p:spPr>
          <a:xfrm>
            <a:off x="5473290" y="875871"/>
            <a:ext cx="6144768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en-US" sz="1900" b="0" i="0" noProof="0" dirty="0" err="1">
                <a:solidFill>
                  <a:srgbClr val="9FC6D2"/>
                </a:solidFill>
                <a:latin typeface="Segoe UI"/>
              </a:rPr>
              <a:t>תוכן</a:t>
            </a:r>
            <a:r>
              <a:rPr lang="en-US" sz="1900" b="0" i="0" noProof="0" dirty="0">
                <a:solidFill>
                  <a:srgbClr val="9FC6D2"/>
                </a:solidFill>
                <a:latin typeface="Segoe UI"/>
              </a:rPr>
              <a:t> </a:t>
            </a:r>
            <a:r>
              <a:rPr lang="en-US" sz="1900" b="0" i="0" noProof="0" dirty="0" err="1">
                <a:solidFill>
                  <a:srgbClr val="9FC6D2"/>
                </a:solidFill>
                <a:latin typeface="Segoe UI"/>
              </a:rPr>
              <a:t>עניינים</a:t>
            </a:r>
            <a:r>
              <a:rPr lang="en-US" sz="1900" b="0" i="0" noProof="0" dirty="0">
                <a:solidFill>
                  <a:srgbClr val="9FC6D2"/>
                </a:solidFill>
                <a:latin typeface="Segoe UI"/>
              </a:rPr>
              <a:t>: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1EA0A237-663F-D955-0BC7-E11A19BE37AE}"/>
              </a:ext>
            </a:extLst>
          </p:cNvPr>
          <p:cNvSpPr txBox="1"/>
          <p:nvPr/>
        </p:nvSpPr>
        <p:spPr>
          <a:xfrm>
            <a:off x="4350059" y="1376505"/>
            <a:ext cx="7281109" cy="381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he-IL" sz="1600" b="0" i="0" noProof="0" dirty="0">
                <a:solidFill>
                  <a:schemeClr val="bg1"/>
                </a:solidFill>
                <a:latin typeface="Segoe UI"/>
              </a:rPr>
              <a:t>יסודות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—</a:t>
            </a:r>
            <a:r>
              <a:rPr lang="he-IL" sz="1600" b="0" i="0" noProof="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600" b="0" i="0" noProof="0" dirty="0" err="1">
                <a:solidFill>
                  <a:schemeClr val="bg1"/>
                </a:solidFill>
                <a:latin typeface="Segoe UI"/>
              </a:rPr>
              <a:t>מ</a:t>
            </a:r>
            <a:r>
              <a:rPr lang="en-US" sz="1600" noProof="0" dirty="0" err="1">
                <a:solidFill>
                  <a:schemeClr val="bg1"/>
                </a:solidFill>
                <a:latin typeface="Segoe UI"/>
              </a:rPr>
              <a:t>ה</a:t>
            </a:r>
            <a:r>
              <a:rPr lang="en-US" sz="1600" noProof="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600" noProof="0" dirty="0" err="1">
                <a:solidFill>
                  <a:schemeClr val="bg1"/>
                </a:solidFill>
                <a:latin typeface="Segoe UI"/>
              </a:rPr>
              <a:t>זה</a:t>
            </a:r>
            <a:r>
              <a:rPr lang="en-US" sz="1600" noProof="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600" noProof="0" dirty="0" err="1">
                <a:solidFill>
                  <a:schemeClr val="bg1"/>
                </a:solidFill>
                <a:latin typeface="Segoe UI"/>
              </a:rPr>
              <a:t>שירות</a:t>
            </a:r>
            <a:r>
              <a:rPr lang="he-IL" sz="1600" noProof="0" dirty="0">
                <a:solidFill>
                  <a:schemeClr val="bg1"/>
                </a:solidFill>
                <a:latin typeface="Segoe UI"/>
              </a:rPr>
              <a:t>י</a:t>
            </a:r>
            <a:r>
              <a:rPr lang="en-US" sz="1600" noProof="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600" noProof="0" dirty="0" err="1">
                <a:solidFill>
                  <a:schemeClr val="bg1"/>
                </a:solidFill>
                <a:latin typeface="Segoe UI"/>
              </a:rPr>
              <a:t>רשת</a:t>
            </a:r>
            <a:r>
              <a:rPr lang="en-US" sz="1600" noProof="0" dirty="0">
                <a:solidFill>
                  <a:schemeClr val="bg1"/>
                </a:solidFill>
                <a:latin typeface="Segoe UI"/>
              </a:rPr>
              <a:t> </a:t>
            </a:r>
            <a:r>
              <a:rPr lang="he-IL" sz="1600" noProof="0" dirty="0">
                <a:solidFill>
                  <a:schemeClr val="bg1"/>
                </a:solidFill>
                <a:latin typeface="Segoe UI"/>
              </a:rPr>
              <a:t>ולמה צריכים אותם</a:t>
            </a: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‏SOAP‏ 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 — ‏ 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מבנה והגדרה</a:t>
            </a: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‏REST‏ 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—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הסגנון הארכיטקטוני</a:t>
            </a: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r>
              <a:rPr lang="en-US" sz="1600" dirty="0">
                <a:solidFill>
                  <a:schemeClr val="bg1"/>
                </a:solidFill>
                <a:latin typeface="Segoe UI"/>
              </a:rPr>
              <a:t>SOAP vs REST</a:t>
            </a:r>
            <a:r>
              <a:rPr lang="he-IL" sz="1600" dirty="0">
                <a:solidFill>
                  <a:schemeClr val="bg1"/>
                </a:solidFill>
                <a:latin typeface="Segoe UI"/>
              </a:rPr>
              <a:t> — השוואות</a:t>
            </a:r>
            <a:endParaRPr lang="en-US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en-US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he-IL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en-US" sz="1600" dirty="0">
              <a:solidFill>
                <a:schemeClr val="bg1"/>
              </a:solidFill>
              <a:latin typeface="Segoe UI"/>
            </a:endParaRPr>
          </a:p>
          <a:p>
            <a:pPr marL="285750" indent="-285750" algn="r" rtl="1">
              <a:lnSpc>
                <a:spcPct val="120000"/>
              </a:lnSpc>
              <a:buFontTx/>
              <a:buChar char="-"/>
            </a:pPr>
            <a:endParaRPr lang="en-US" sz="1600" b="0" i="0" noProof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91BE2878-E9BE-F856-18A9-82397CB8F17B}"/>
              </a:ext>
            </a:extLst>
          </p:cNvPr>
          <p:cNvSpPr/>
          <p:nvPr/>
        </p:nvSpPr>
        <p:spPr>
          <a:xfrm>
            <a:off x="10795247" y="412851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A942F445-54EC-9F35-31A9-282511EC3C6A}"/>
              </a:ext>
            </a:extLst>
          </p:cNvPr>
          <p:cNvSpPr/>
          <p:nvPr/>
        </p:nvSpPr>
        <p:spPr>
          <a:xfrm>
            <a:off x="889247" y="6406758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37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מהם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שירותי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רשת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? ‎‏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105" y="1007378"/>
            <a:ext cx="5201630" cy="362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he-IL" sz="1600" i="0" noProof="0" dirty="0">
                <a:latin typeface="Segoe UI"/>
              </a:rPr>
              <a:t>שירות רשת (</a:t>
            </a:r>
            <a:r>
              <a:rPr lang="en-US" sz="1600" i="0" noProof="0" dirty="0">
                <a:latin typeface="Segoe UI"/>
              </a:rPr>
              <a:t>Web Service</a:t>
            </a:r>
            <a:r>
              <a:rPr lang="he-IL" sz="1600" i="0" noProof="0" dirty="0">
                <a:latin typeface="Segoe UI"/>
              </a:rPr>
              <a:t>) הוא רכיב תוכנה שמאפשר ליישומים שונים לתקשר ולהחליף מידע דרך רשת, בדרך כלל באמצעות </a:t>
            </a:r>
            <a:r>
              <a:rPr lang="en-US" sz="1600" i="0" noProof="0" dirty="0">
                <a:latin typeface="Segoe UI"/>
              </a:rPr>
              <a:t>HTTP</a:t>
            </a:r>
            <a:r>
              <a:rPr lang="he-IL" sz="1600" i="0" noProof="0" dirty="0">
                <a:latin typeface="Segoe UI"/>
              </a:rPr>
              <a:t>. הלקוח שולח בקשה לשירות, השרת מעבד אותה ומחזיר תשובה בפורמט מוסכם, כגון</a:t>
            </a:r>
            <a:r>
              <a:rPr lang="en-US" sz="1600" dirty="0">
                <a:latin typeface="Segoe UI"/>
              </a:rPr>
              <a:t> </a:t>
            </a:r>
            <a:r>
              <a:rPr lang="ar-SA" sz="1600" dirty="0">
                <a:latin typeface="Segoe UI"/>
              </a:rPr>
              <a:t> </a:t>
            </a:r>
            <a:r>
              <a:rPr lang="he-IL" sz="1600" noProof="0" dirty="0">
                <a:latin typeface="Segoe UI"/>
              </a:rPr>
              <a:t>JSON</a:t>
            </a:r>
            <a:r>
              <a:rPr lang="ar-SA" sz="1600" dirty="0">
                <a:latin typeface="Segoe UI"/>
              </a:rPr>
              <a:t> </a:t>
            </a:r>
            <a:r>
              <a:rPr lang="he-IL" sz="1600" i="0" noProof="0" dirty="0">
                <a:latin typeface="Segoe UI"/>
              </a:rPr>
              <a:t>או </a:t>
            </a:r>
            <a:r>
              <a:rPr lang="en-US" sz="1600" dirty="0">
                <a:latin typeface="Segoe UI"/>
              </a:rPr>
              <a:t>.</a:t>
            </a:r>
            <a:r>
              <a:rPr lang="he-IL" sz="1600" i="0" noProof="0" dirty="0">
                <a:latin typeface="Segoe UI"/>
              </a:rPr>
              <a:t>XML </a:t>
            </a:r>
            <a:endParaRPr lang="en-US" sz="1600" i="0" noProof="0" dirty="0"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he-IL" sz="1600" i="0" noProof="0" dirty="0">
                <a:latin typeface="Segoe UI"/>
              </a:rPr>
              <a:t>מאחר שהתקשורת מבוססת על תקנים משותפים, הלקוח והשרת יכולים להיכתב בשפות שונות ולפעול על מערכות שונות</a:t>
            </a:r>
            <a:r>
              <a:rPr lang="he-IL" sz="1600" b="1" i="0" noProof="0" dirty="0">
                <a:latin typeface="Segoe UI"/>
              </a:rPr>
              <a:t>.</a:t>
            </a:r>
            <a:endParaRPr lang="en-US" sz="1600" b="1" i="0" noProof="0" dirty="0"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תקנים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פתוחים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התקשורת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נשענת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להעברה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‏JSON‏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לייצוג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כולם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קריאים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למחשב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ולאדם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ובלתי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תלויים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בפלטפורמה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שני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מושגי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מפתח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‏publishing‏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הנגשת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לקבלת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מלקוחות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 ‏consuming‏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שימוש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מתוך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10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אי-תלות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בשפה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שנכתב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ב-‏C#‎‏, ב-‏Python‏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ב-‏JavaScript‏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לצרוך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שנכתב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ב-‏Java‏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ההסכם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השפה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5248656"/>
            <a:ext cx="6739128" cy="1024128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11576303" y="5230368"/>
            <a:ext cx="54864" cy="102412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093207" y="5349240"/>
            <a:ext cx="6300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למה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בכלל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לפזר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המערכת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5623559"/>
            <a:ext cx="6300216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שאין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גישה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ישירה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לנתונים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במערכת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אחרת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לשלוף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אותם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דרך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;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שאין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כוח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העיבוד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הדרוש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להישען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משאביה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מכונה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חזקה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יותר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זהו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היתרון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הקלאסי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מחשוב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מבוזר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E8E8BDF4-40AF-84F8-B2B9-93E2A08A51BA}"/>
              </a:ext>
            </a:extLst>
          </p:cNvPr>
          <p:cNvSpPr/>
          <p:nvPr/>
        </p:nvSpPr>
        <p:spPr>
          <a:xfrm>
            <a:off x="10795247" y="483126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4A630CFA-FB9C-AB64-9AFF-ED5256A0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4" y="834652"/>
            <a:ext cx="5649663" cy="3581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היסטוריה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: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איך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הגענו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לכאן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שלושים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שנה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ניסיונות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לגרום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לשתי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מערכות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זרות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לדבר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זו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36208" y="1700784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10863072" y="1801368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863072" y="1829104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1991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679314"/>
            <a:ext cx="4626864" cy="561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HTTP‏ ו-‏WWW‏</a:t>
            </a:r>
            <a:r>
              <a:rPr lang="he-IL" sz="1200" b="1" i="0" noProof="0" dirty="0">
                <a:solidFill>
                  <a:srgbClr val="0D4A5C"/>
                </a:solidFill>
                <a:latin typeface="Segoe UI"/>
              </a:rPr>
              <a:t>: </a:t>
            </a:r>
          </a:p>
          <a:p>
            <a:pPr algn="r" rtl="1"/>
            <a:r>
              <a:rPr lang="en-US" sz="1200" dirty="0" err="1">
                <a:solidFill>
                  <a:srgbClr val="5A6B75"/>
                </a:solidFill>
                <a:latin typeface="Segoe UI"/>
              </a:rPr>
              <a:t>התשתית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נולדת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פרוטוקול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בקשה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/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תשובה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פשוט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מעל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‏TCP‏,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שיהפוך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לימים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לנשא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Segoe UI"/>
              </a:rPr>
              <a:t>שירותי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 ה</a:t>
            </a:r>
            <a:r>
              <a:rPr lang="he-IL" sz="1200" dirty="0">
                <a:solidFill>
                  <a:srgbClr val="5A6B75"/>
                </a:solidFill>
                <a:latin typeface="Segoe UI"/>
              </a:rPr>
              <a:t>רשת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382012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10863072" y="2482596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863072" y="2500884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1998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77387"/>
            <a:ext cx="4626864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XML 1.0‏ ו-‏XML-RPC‏</a:t>
            </a:r>
            <a:endParaRPr lang="en-US" sz="120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‏XML‏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הופך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לתקן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dirty="0">
                <a:solidFill>
                  <a:srgbClr val="5A6B75"/>
                </a:solidFill>
                <a:latin typeface="Segoe UI"/>
              </a:rPr>
              <a:t>W3C</a:t>
            </a:r>
            <a:r>
              <a:rPr lang="he-IL" sz="120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  XML-RPC‏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UserLand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הניסיון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הראשון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קריאה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לפרוצדורה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מרוחקת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בעטיפת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‏XML‏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מעל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‏HTTP‏.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063240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10863072" y="3163824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0863072" y="3182112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0114" y="3126838"/>
            <a:ext cx="4632958" cy="531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‏SOAP 1.1‏</a:t>
            </a:r>
            <a:endParaRPr lang="he-IL" sz="95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‏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Microsoft, IBM‏ ו-‏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UserLand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מגישים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ל-‏W3C‏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פרוטוקול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הודעות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מלא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מעטפת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כותרת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וגוף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עידן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ה-‏RPC‏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הכבד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מתחיל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744468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Rounded Rectangle 26"/>
          <p:cNvSpPr/>
          <p:nvPr/>
        </p:nvSpPr>
        <p:spPr>
          <a:xfrm>
            <a:off x="10863072" y="3845052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10863072" y="3863339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6327" y="3732653"/>
            <a:ext cx="4546745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200" b="1" dirty="0">
                <a:solidFill>
                  <a:srgbClr val="0D4A5C"/>
                </a:solidFill>
                <a:latin typeface="Segoe UI"/>
              </a:rPr>
              <a:t>‏Roy Fielding‏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מגדיר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את ‏REST‏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בעבודת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הדוקטור</a:t>
            </a:r>
            <a:r>
              <a:rPr lang="he-IL" sz="1200" b="0" i="0" noProof="0" dirty="0">
                <a:solidFill>
                  <a:srgbClr val="5A6B75"/>
                </a:solidFill>
                <a:latin typeface="Segoe UI"/>
              </a:rPr>
              <a:t>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שלו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מנסח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סגנון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הארכיטקטורה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שעליו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בנוי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ה-‏Web‏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עצמו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משאבים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, ‏URI‏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ופעולות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אחידות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4425696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Rounded Rectangle 31"/>
          <p:cNvSpPr/>
          <p:nvPr/>
        </p:nvSpPr>
        <p:spPr>
          <a:xfrm>
            <a:off x="10863072" y="4526280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10863072" y="4544568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423329"/>
            <a:ext cx="4626864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WSDL 1.1‏ ו-‏UDDI‏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החוזה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הפורמלי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נולד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מסמך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‏XML‏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שמתאר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בדיוק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אילו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פעולות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קיימות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ולצידו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מדריך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שירותים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ארגוני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6208" y="5106924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Rounded Rectangle 36"/>
          <p:cNvSpPr/>
          <p:nvPr/>
        </p:nvSpPr>
        <p:spPr>
          <a:xfrm>
            <a:off x="10863072" y="5207508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10863072" y="5225796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5110282"/>
            <a:ext cx="4626864" cy="371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SOAP 1.2‏ —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המלצת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‏W3C‏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הפרוטוקול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מתייצב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כתקן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רשמי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ומתחיל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להיות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מיושם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בכל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שרת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יישומים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ארגוני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1700784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2" name="Rounded Rectangle 41"/>
          <p:cNvSpPr/>
          <p:nvPr/>
        </p:nvSpPr>
        <p:spPr>
          <a:xfrm>
            <a:off x="5193792" y="1801368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5193792" y="1819656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832" y="1819656"/>
            <a:ext cx="4632960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עידן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ה-‏WS-*‎‏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‏WS-Security‏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‏OASIS‏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מוסיף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חתימה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והצפנה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ברמת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ההודעה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;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אחריו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‏WS-Transaction‏ ו-‏WS-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ReliableMessaging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2382012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7" name="Rounded Rectangle 46"/>
          <p:cNvSpPr/>
          <p:nvPr/>
        </p:nvSpPr>
        <p:spPr>
          <a:xfrm>
            <a:off x="5193792" y="2482596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5193792" y="2500884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397204"/>
            <a:ext cx="4626864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JAX-WS 2.0‏ ו-‏JSON‏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‏JSR 224‏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מכניס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שירותי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‏SOAP‏ ל-‏Java EE 5‏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באמצעות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אנוטציות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במקביל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‏JSON‏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מתוקנן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ב-‏RFC 4627‏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ותופס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תאוצה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‏Ajax‏.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3063240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2" name="Rounded Rectangle 51"/>
          <p:cNvSpPr/>
          <p:nvPr/>
        </p:nvSpPr>
        <p:spPr>
          <a:xfrm>
            <a:off x="5193792" y="3163824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3" name="TextBox 52"/>
          <p:cNvSpPr txBox="1"/>
          <p:nvPr/>
        </p:nvSpPr>
        <p:spPr>
          <a:xfrm>
            <a:off x="5193792" y="3182112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832" y="3076925"/>
            <a:ext cx="4632960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WSDL 2.0‏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המלצת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‏W3C‏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חדשה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: ‏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portType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הופך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ל-‏interface‏.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בפועל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רוב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התעשייה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נשארת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גרסה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1.1</a:t>
            </a:r>
            <a:r>
              <a:rPr lang="he-IL" sz="1200" b="0" i="0" noProof="0" dirty="0">
                <a:solidFill>
                  <a:srgbClr val="5A6B75"/>
                </a:solidFill>
                <a:latin typeface="Segoe UI"/>
              </a:rPr>
              <a:t>.</a:t>
            </a:r>
            <a:endParaRPr lang="en-US" sz="12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66928" y="3744468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7" name="Rounded Rectangle 56"/>
          <p:cNvSpPr/>
          <p:nvPr/>
        </p:nvSpPr>
        <p:spPr>
          <a:xfrm>
            <a:off x="5193792" y="3845052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8" name="TextBox 57"/>
          <p:cNvSpPr txBox="1"/>
          <p:nvPr/>
        </p:nvSpPr>
        <p:spPr>
          <a:xfrm>
            <a:off x="5193792" y="3863339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6987" y="3723488"/>
            <a:ext cx="4586805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JAX-RS 1.0 (JSR 311)‎‏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‏Java‏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מקבלת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‏API‏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רשמי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ל-‏REST‏,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‏Jersey‏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כמימוש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הייחוס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הכתיבה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מתקצרת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לכמה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אנוטציות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425696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2" name="Rounded Rectangle 61"/>
          <p:cNvSpPr/>
          <p:nvPr/>
        </p:nvSpPr>
        <p:spPr>
          <a:xfrm>
            <a:off x="5193792" y="4526280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3" name="TextBox 62"/>
          <p:cNvSpPr txBox="1"/>
          <p:nvPr/>
        </p:nvSpPr>
        <p:spPr>
          <a:xfrm>
            <a:off x="5193792" y="4544568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416970"/>
            <a:ext cx="4626864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JAX-RS 2.0 (JSR 339)‎‏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מתווסף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‏Client API‏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סטנדרטי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מסננים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ותמיכה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אסינכרונית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— ‏REST‏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הופך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לאזרח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מן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השורה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ב-‏Java EE‏.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5106924"/>
            <a:ext cx="5394960" cy="6080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7" name="Rounded Rectangle 66"/>
          <p:cNvSpPr/>
          <p:nvPr/>
        </p:nvSpPr>
        <p:spPr>
          <a:xfrm>
            <a:off x="5193792" y="5207508"/>
            <a:ext cx="694944" cy="24688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8" name="TextBox 67"/>
          <p:cNvSpPr txBox="1"/>
          <p:nvPr/>
        </p:nvSpPr>
        <p:spPr>
          <a:xfrm>
            <a:off x="5193792" y="5225796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050" b="1" i="0" noProof="0" dirty="0">
                <a:solidFill>
                  <a:srgbClr val="FFFFFF"/>
                </a:solidFill>
                <a:latin typeface="Consolas"/>
              </a:rPr>
              <a:t>2015+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0832" y="5078421"/>
            <a:ext cx="4632960" cy="56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4000"/>
              </a:lnSpc>
            </a:pPr>
            <a:r>
              <a:rPr lang="en-US" sz="1000" b="1" dirty="0">
                <a:solidFill>
                  <a:srgbClr val="0D4A5C"/>
                </a:solidFill>
                <a:latin typeface="Segoe UI"/>
              </a:rPr>
              <a:t>‏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REST‏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מנצח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את ה-‏API‏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הציבורי</a:t>
            </a:r>
            <a:endParaRPr lang="he-IL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4000"/>
              </a:lnSpc>
            </a:pP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כמעט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‏API‏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חדש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נולד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‏RESTful‏.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לצידו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צומחים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‏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GraphQL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 ו-‏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gRPC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‏, ו-‏Java‏ </a:t>
            </a:r>
            <a:r>
              <a:rPr lang="en-US" sz="1200" b="0" i="0" noProof="0" dirty="0" err="1">
                <a:solidFill>
                  <a:srgbClr val="5A6B75"/>
                </a:solidFill>
                <a:latin typeface="Segoe UI"/>
              </a:rPr>
              <a:t>עוברת</a:t>
            </a:r>
            <a:r>
              <a:rPr lang="en-US" sz="1200" b="0" i="0" noProof="0" dirty="0">
                <a:solidFill>
                  <a:srgbClr val="5A6B75"/>
                </a:solidFill>
                <a:latin typeface="Segoe UI"/>
              </a:rPr>
              <a:t> ל-‏Jakarta EE‏.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6928" y="5824728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/>
          <p:cNvSpPr/>
          <p:nvPr/>
        </p:nvSpPr>
        <p:spPr>
          <a:xfrm>
            <a:off x="11576304" y="5824728"/>
            <a:ext cx="54864" cy="51206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3" name="TextBox 72"/>
          <p:cNvSpPr txBox="1"/>
          <p:nvPr/>
        </p:nvSpPr>
        <p:spPr>
          <a:xfrm>
            <a:off x="768096" y="5907024"/>
            <a:ext cx="10607040" cy="44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הקו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המנחה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של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הסיפור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המסע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מ-‏RPC‏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כבד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מבוסס-חוזה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ועטוף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ב-‏XML‏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משאבים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קלים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‏HTTP‏.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בגלל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שהתקן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היה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גרוע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אלא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הדפדפן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והטלפון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הנייד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דרשו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משהו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זול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מהיר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ופשוט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יותר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75" name="Rectangle 5">
            <a:extLst>
              <a:ext uri="{FF2B5EF4-FFF2-40B4-BE49-F238E27FC236}">
                <a16:creationId xmlns:a16="http://schemas.microsoft.com/office/drawing/2014/main" id="{FD4F6FC9-B907-9B04-EB78-0978335250E9}"/>
              </a:ext>
            </a:extLst>
          </p:cNvPr>
          <p:cNvSpPr/>
          <p:nvPr/>
        </p:nvSpPr>
        <p:spPr>
          <a:xfrm>
            <a:off x="10795247" y="500634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he-IL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‏SOAP‏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והמבנה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ההודעה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‏</a:t>
            </a:r>
            <a:r>
              <a:rPr lang="he-IL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Simple Object Access Protocol‏ —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בקשה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וכל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תשובה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ארוזות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5A6B75"/>
                </a:solidFill>
                <a:latin typeface="Segoe UI"/>
              </a:rPr>
              <a:t>במעטפת</a:t>
            </a:r>
            <a:r>
              <a:rPr lang="en-US" sz="1400" b="0" i="0" noProof="0" dirty="0">
                <a:solidFill>
                  <a:srgbClr val="5A6B75"/>
                </a:solidFill>
                <a:latin typeface="Segoe UI"/>
              </a:rPr>
              <a:t> ‏XML‏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‏SOAP‏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700784"/>
            <a:ext cx="6007608" cy="2158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פרוטוקול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לא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ספרייה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תקן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בלתי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תלוי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בפלטפורמה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שמשתמש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ב-‏XML‏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כדי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לתקשר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בדרך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מעל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‏HTTP‏.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כל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הודעה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היא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‏XML‏ 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ולכן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קריאה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למחשב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קריאה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לאדם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ובלתי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תלויה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במערכת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ההפעלה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בשפת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התכנות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חומות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אש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נוסעת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מעל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ולכן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עוברת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חומות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כמו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תעבורת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‏web‏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רגילה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סגנון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הכריכה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הסטנדרט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כיום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‏document/literal‏: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היא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מסמך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שנבדק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סכימה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 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2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קורה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בקריאה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והפרמטרים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נארזים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במעטפת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ונשלחים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;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מנתח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ה-‏XML‏,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מזהה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איזו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להפעיל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ומחזיר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התוצאה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בהודעת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‏SOAP‏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נוספת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4370832"/>
            <a:ext cx="6007608" cy="1865376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5623560" y="4370832"/>
            <a:ext cx="600760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5623560" y="4535424"/>
            <a:ext cx="600760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769864" y="4421124"/>
            <a:ext cx="5276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SOAP Fault —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תשובת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שגיאה</a:t>
            </a:r>
            <a:endParaRPr lang="en-US" sz="950" b="1" i="0" noProof="0" dirty="0">
              <a:solidFill>
                <a:srgbClr val="6FA8B8"/>
              </a:solidFill>
              <a:latin typeface="Consola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1228832" y="4475988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769864" y="4764024"/>
            <a:ext cx="571500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F0A06A"/>
                </a:solidFill>
                <a:latin typeface="Consolas"/>
              </a:rPr>
              <a:t>xmlns:soap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"http://.../envelope/"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soap:Fault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faultcode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soap:Client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faultcode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faultstring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Invalid card number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faultstring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soap:Fault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0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58384"/>
            <a:ext cx="4800600" cy="886968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/>
          <p:cNvSpPr/>
          <p:nvPr/>
        </p:nvSpPr>
        <p:spPr>
          <a:xfrm>
            <a:off x="5312664" y="5358384"/>
            <a:ext cx="54864" cy="88696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768096" y="5477256"/>
            <a:ext cx="43982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5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‏MTOM/XOP‏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מצרף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קבצים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בינריים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לצד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המעטפת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במקום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לנפח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אותה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בקידוד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‏Base64‏.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879592"/>
            <a:ext cx="439826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5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המעטפת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היא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המחיר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והיתרון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בה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נכנסים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אבטחה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טרנזקציות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ואמינות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לגעת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0F1B24"/>
                </a:solidFill>
                <a:latin typeface="Segoe UI"/>
              </a:rPr>
              <a:t>בלוגיקה</a:t>
            </a:r>
            <a:r>
              <a:rPr lang="en-US" sz="10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431FDCFA-5076-4C51-AC62-470F1F97999D}"/>
              </a:ext>
            </a:extLst>
          </p:cNvPr>
          <p:cNvSpPr/>
          <p:nvPr/>
        </p:nvSpPr>
        <p:spPr>
          <a:xfrm>
            <a:off x="10810871" y="456604"/>
            <a:ext cx="835921" cy="87783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he-IL" noProof="0" dirty="0"/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45872A24-A993-8973-7155-538B5E9F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119535"/>
            <a:ext cx="5166360" cy="3607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‏SOAP‏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בעולם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האמיתי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ארכיאולוגיה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היכן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שהחוזה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האבטחה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והטרנזקציה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חשובים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— ‏SOAP‏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עדיין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שולט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‏SOAP‏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719072"/>
            <a:ext cx="352958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11580876" y="1847088"/>
            <a:ext cx="50292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84464" y="1883664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>
                <a:solidFill>
                  <a:srgbClr val="C4622D"/>
                </a:solidFill>
                <a:latin typeface="Consolas"/>
              </a:rPr>
              <a:t>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4" y="2036167"/>
            <a:ext cx="3473188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בנקאות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ופיננסים</a:t>
            </a:r>
            <a:endParaRPr lang="en-US" sz="1200" b="1" dirty="0">
              <a:solidFill>
                <a:srgbClr val="0D4A5C"/>
              </a:solidFill>
              <a:latin typeface="Segoe UI"/>
            </a:endParaRPr>
          </a:p>
          <a:p>
            <a:pPr algn="r" rtl="1"/>
            <a:r>
              <a:rPr lang="he-IL" sz="1100" dirty="0">
                <a:latin typeface="Segoe UI"/>
              </a:rPr>
              <a:t>מערכות ליבה, סליקה </a:t>
            </a:r>
            <a:r>
              <a:rPr lang="he-IL" sz="1100" dirty="0" err="1">
                <a:latin typeface="Segoe UI"/>
              </a:rPr>
              <a:t>בין־בנקאית</a:t>
            </a:r>
            <a:r>
              <a:rPr lang="he-IL" sz="1100" dirty="0">
                <a:latin typeface="Segoe UI"/>
              </a:rPr>
              <a:t> ותקני ‏</a:t>
            </a:r>
            <a:r>
              <a:rPr lang="en-US" sz="1100" dirty="0">
                <a:latin typeface="Segoe UI"/>
              </a:rPr>
              <a:t>SWIFT‏. </a:t>
            </a:r>
            <a:r>
              <a:rPr lang="he-IL" sz="1100" dirty="0">
                <a:latin typeface="Segoe UI"/>
              </a:rPr>
              <a:t>נדרשים חוזה מחייב, חתימה דיגיטלית ברמת ההודעה </a:t>
            </a:r>
            <a:r>
              <a:rPr lang="he-IL" sz="1100" dirty="0" err="1">
                <a:latin typeface="Segoe UI"/>
              </a:rPr>
              <a:t>וטרנזקציות</a:t>
            </a:r>
            <a:r>
              <a:rPr lang="he-IL" sz="1100" dirty="0">
                <a:latin typeface="Segoe UI"/>
              </a:rPr>
              <a:t> מבוזרות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719072"/>
            <a:ext cx="352958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7813548" y="1847088"/>
            <a:ext cx="50292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4517136" y="1883664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>
                <a:solidFill>
                  <a:srgbClr val="C4622D"/>
                </a:solidFill>
                <a:latin typeface="Consolas"/>
              </a:rPr>
              <a:t>travel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2046781"/>
            <a:ext cx="3145536" cy="74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תעופה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ותיירות</a:t>
            </a:r>
            <a:endParaRPr lang="en-US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9000"/>
              </a:lnSpc>
            </a:pPr>
            <a:r>
              <a:rPr lang="en-US" sz="1100" b="0" i="0" noProof="0" dirty="0" err="1">
                <a:latin typeface="Segoe UI"/>
              </a:rPr>
              <a:t>מערכות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ההזמנות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הגלובליות</a:t>
            </a:r>
            <a:r>
              <a:rPr lang="en-US" sz="1100" b="0" i="0" noProof="0" dirty="0">
                <a:latin typeface="Segoe UI"/>
              </a:rPr>
              <a:t> — ‏Amadeus‏ ו-‏Sabre‏ — </a:t>
            </a:r>
            <a:r>
              <a:rPr lang="en-US" sz="1100" b="0" i="0" noProof="0" dirty="0" err="1">
                <a:latin typeface="Segoe UI"/>
              </a:rPr>
              <a:t>חושפות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ממשקי</a:t>
            </a:r>
            <a:r>
              <a:rPr lang="en-US" sz="1100" b="0" i="0" noProof="0" dirty="0">
                <a:latin typeface="Segoe UI"/>
              </a:rPr>
              <a:t> ‏SOAP‏ </a:t>
            </a:r>
            <a:r>
              <a:rPr lang="en-US" sz="1100" b="0" i="0" noProof="0" dirty="0" err="1">
                <a:latin typeface="Segoe UI"/>
              </a:rPr>
              <a:t>לסוכנויות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הנסיעות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ולחברות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התעופה</a:t>
            </a:r>
            <a:r>
              <a:rPr lang="en-US" sz="1100" b="0" i="0" noProof="0" dirty="0"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719072"/>
            <a:ext cx="352958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/>
          <p:cNvSpPr/>
          <p:nvPr/>
        </p:nvSpPr>
        <p:spPr>
          <a:xfrm>
            <a:off x="4046220" y="1847088"/>
            <a:ext cx="50292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749808" y="1883664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>
                <a:solidFill>
                  <a:srgbClr val="C4622D"/>
                </a:solidFill>
                <a:latin typeface="Consolas"/>
              </a:rPr>
              <a:t>telecom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038072"/>
            <a:ext cx="3463290" cy="55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טלקום</a:t>
            </a:r>
            <a:endParaRPr lang="en-US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9000"/>
              </a:lnSpc>
            </a:pPr>
            <a:r>
              <a:rPr lang="en-US" sz="1100" b="0" i="0" noProof="0" dirty="0" err="1">
                <a:latin typeface="Segoe UI"/>
              </a:rPr>
              <a:t>ממשקי</a:t>
            </a:r>
            <a:r>
              <a:rPr lang="en-US" sz="1100" b="0" i="0" noProof="0" dirty="0">
                <a:latin typeface="Segoe UI"/>
              </a:rPr>
              <a:t> ‏TM Forum‏ </a:t>
            </a:r>
            <a:r>
              <a:rPr lang="en-US" sz="1100" b="0" i="0" noProof="0" dirty="0" err="1">
                <a:latin typeface="Segoe UI"/>
              </a:rPr>
              <a:t>להפעלת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שירותים</a:t>
            </a:r>
            <a:r>
              <a:rPr lang="en-US" sz="1100" b="0" i="0" noProof="0" dirty="0">
                <a:latin typeface="Segoe UI"/>
              </a:rPr>
              <a:t>, </a:t>
            </a:r>
            <a:r>
              <a:rPr lang="en-US" sz="1100" b="0" i="0" noProof="0" dirty="0" err="1">
                <a:latin typeface="Segoe UI"/>
              </a:rPr>
              <a:t>ניוד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מספרים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וחיוב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הדדי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בין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ספקיות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תקשורת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בעולם</a:t>
            </a:r>
            <a:r>
              <a:rPr lang="en-US" sz="1100" b="0" i="0" noProof="0" dirty="0"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3200400"/>
            <a:ext cx="352958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26"/>
          <p:cNvSpPr/>
          <p:nvPr/>
        </p:nvSpPr>
        <p:spPr>
          <a:xfrm>
            <a:off x="11580876" y="3328416"/>
            <a:ext cx="50292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8284464" y="3364992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>
                <a:solidFill>
                  <a:srgbClr val="C4622D"/>
                </a:solidFill>
                <a:latin typeface="Consolas"/>
              </a:rPr>
              <a:t>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3534118"/>
            <a:ext cx="3473188" cy="740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מערכות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בריאות</a:t>
            </a:r>
            <a:endParaRPr lang="en-US" sz="1200" b="0" i="0" noProof="0" dirty="0">
              <a:latin typeface="Segoe UI"/>
            </a:endParaRPr>
          </a:p>
          <a:p>
            <a:pPr algn="r" rtl="1">
              <a:lnSpc>
                <a:spcPct val="109000"/>
              </a:lnSpc>
            </a:pPr>
            <a:r>
              <a:rPr lang="en-US" sz="1100" b="0" i="0" noProof="0" dirty="0">
                <a:latin typeface="Segoe UI"/>
              </a:rPr>
              <a:t>‏HL7 v3‏ </a:t>
            </a:r>
            <a:r>
              <a:rPr lang="en-US" sz="1100" b="0" i="0" noProof="0" dirty="0" err="1">
                <a:latin typeface="Segoe UI"/>
              </a:rPr>
              <a:t>והחלפת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רשומות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רפואיות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בין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מוסדות</a:t>
            </a:r>
            <a:r>
              <a:rPr lang="en-US" sz="1100" b="0" i="0" noProof="0" dirty="0">
                <a:latin typeface="Segoe UI"/>
              </a:rPr>
              <a:t> — </a:t>
            </a:r>
            <a:r>
              <a:rPr lang="en-US" sz="1100" b="0" i="0" noProof="0" dirty="0" err="1">
                <a:latin typeface="Segoe UI"/>
              </a:rPr>
              <a:t>תחום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מוסדר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שבו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תאימות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לתקן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חשובה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יותר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מנוחות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המפתח</a:t>
            </a:r>
            <a:r>
              <a:rPr lang="en-US" sz="1100" b="0" i="0" noProof="0" dirty="0">
                <a:latin typeface="Segoe UI"/>
              </a:rPr>
              <a:t>.</a:t>
            </a:r>
          </a:p>
          <a:p>
            <a:pPr algn="r" rtl="1">
              <a:lnSpc>
                <a:spcPct val="109000"/>
              </a:lnSpc>
            </a:pPr>
            <a:endParaRPr lang="en-US" sz="1100" b="0" i="0" noProof="0" dirty="0">
              <a:latin typeface="Segoe U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34256" y="3200400"/>
            <a:ext cx="352958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 31"/>
          <p:cNvSpPr/>
          <p:nvPr/>
        </p:nvSpPr>
        <p:spPr>
          <a:xfrm>
            <a:off x="7813548" y="3328416"/>
            <a:ext cx="50292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4517136" y="3364992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 err="1">
                <a:solidFill>
                  <a:srgbClr val="C4622D"/>
                </a:solidFill>
                <a:latin typeface="Consolas"/>
              </a:rPr>
              <a:t>erp</a:t>
            </a:r>
            <a:r>
              <a:rPr lang="en-US" sz="1000" b="1" i="0" noProof="0" dirty="0">
                <a:solidFill>
                  <a:srgbClr val="C4622D"/>
                </a:solidFill>
                <a:latin typeface="Consolas"/>
              </a:rPr>
              <a:t>/</a:t>
            </a:r>
            <a:r>
              <a:rPr lang="en-US" sz="1000" b="1" i="0" noProof="0" dirty="0" err="1">
                <a:solidFill>
                  <a:srgbClr val="C4622D"/>
                </a:solidFill>
                <a:latin typeface="Consolas"/>
              </a:rPr>
              <a:t>crm</a:t>
            </a:r>
            <a:endParaRPr lang="en-US" sz="1000" b="1" i="0" noProof="0" dirty="0">
              <a:solidFill>
                <a:srgbClr val="C4622D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28152" y="3584448"/>
            <a:ext cx="3453392" cy="55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מערכות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ארגוניות</a:t>
            </a:r>
            <a:endParaRPr lang="en-US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9000"/>
              </a:lnSpc>
            </a:pP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‏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SAP‏ ו-‏Salesforce‏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חושפות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ממשקי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‏SOAP‏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לצד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‏REST‏;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אינטגרציות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‏B2B‏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ותיקות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רבות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נשענות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עליהם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עד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היום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200400"/>
            <a:ext cx="352958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 36"/>
          <p:cNvSpPr/>
          <p:nvPr/>
        </p:nvSpPr>
        <p:spPr>
          <a:xfrm>
            <a:off x="4046220" y="3328416"/>
            <a:ext cx="50292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749808" y="3364992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>
                <a:solidFill>
                  <a:srgbClr val="C4622D"/>
                </a:solidFill>
                <a:latin typeface="Consolas"/>
              </a:rPr>
              <a:t>logistics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682" y="3549462"/>
            <a:ext cx="3145536" cy="55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לוגיסטיקה</a:t>
            </a:r>
            <a:r>
              <a:rPr lang="en-US" sz="12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dirty="0" err="1">
                <a:solidFill>
                  <a:srgbClr val="0D4A5C"/>
                </a:solidFill>
                <a:latin typeface="Segoe UI"/>
              </a:rPr>
              <a:t>ומשלוחים</a:t>
            </a:r>
            <a:endParaRPr lang="en-US" sz="1200" b="0" i="0" noProof="0" dirty="0">
              <a:solidFill>
                <a:srgbClr val="5A6B75"/>
              </a:solidFill>
              <a:latin typeface="Segoe UI"/>
            </a:endParaRPr>
          </a:p>
          <a:p>
            <a:pPr algn="r" rtl="1">
              <a:lnSpc>
                <a:spcPct val="109000"/>
              </a:lnSpc>
            </a:pP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‏FedEx‏ ו-‏UPS‏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סיפקו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שנים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ארוכות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ממשקי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‏SOAP‏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לתמחור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להדפסת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תוויות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ולמעקב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אחר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חבילות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0532" y="4736592"/>
            <a:ext cx="11064240" cy="1490472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tangle 41"/>
          <p:cNvSpPr/>
          <p:nvPr/>
        </p:nvSpPr>
        <p:spPr>
          <a:xfrm>
            <a:off x="11576303" y="4754880"/>
            <a:ext cx="54864" cy="149047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509001" y="4742036"/>
            <a:ext cx="10988926" cy="150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בעצם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מחזיק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את ‏SOAP‏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בחיים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?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ארבעה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דברים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ש-‏REST‏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אינו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נותן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בחינם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:</a:t>
            </a:r>
          </a:p>
          <a:p>
            <a:pPr algn="r" rtl="1"/>
            <a:endParaRPr lang="en-US" sz="1250" b="1" dirty="0">
              <a:solidFill>
                <a:srgbClr val="0D4A5C"/>
              </a:solidFill>
              <a:latin typeface="Segoe UI"/>
            </a:endParaRPr>
          </a:p>
          <a:p>
            <a:pPr algn="r" rtl="1">
              <a:lnSpc>
                <a:spcPct val="150000"/>
              </a:lnSpc>
            </a:pP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▪  תקן ‏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WS-Security‏ </a:t>
            </a: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לחתימה ולהצפנה של ההודעה עצמה — לא רק של הצינור שבו היא נוסעת.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  <a:p>
            <a:pPr algn="r" rtl="1">
              <a:lnSpc>
                <a:spcPct val="150000"/>
              </a:lnSpc>
            </a:pP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▪  תקן ‏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WS-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AtomicTransaction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‏ </a:t>
            </a:r>
            <a:r>
              <a:rPr lang="he-IL" sz="1250" b="1" i="0" noProof="0" dirty="0" err="1">
                <a:solidFill>
                  <a:srgbClr val="0D4A5C"/>
                </a:solidFill>
                <a:latin typeface="Segoe UI"/>
              </a:rPr>
              <a:t>לטרנזקציה</a:t>
            </a: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 מבוזרת שחייבת להצליח או להיכשל בשלמותה.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  <a:p>
            <a:pPr algn="r" rtl="1">
              <a:lnSpc>
                <a:spcPct val="150000"/>
              </a:lnSpc>
            </a:pP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▪  תקן ‏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WS-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ReliableMessaging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‏ </a:t>
            </a: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להבטחת הגעה של ההודעה בדיוק פעם אחת, גם ברשת לא אמינה.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  <a:p>
            <a:pPr algn="r" rtl="1">
              <a:lnSpc>
                <a:spcPct val="150000"/>
              </a:lnSpc>
            </a:pP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▪  חוזה ‏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WSDL‏ </a:t>
            </a:r>
            <a:r>
              <a:rPr lang="he-IL" sz="1250" b="1" i="0" noProof="0" dirty="0">
                <a:solidFill>
                  <a:srgbClr val="0D4A5C"/>
                </a:solidFill>
                <a:latin typeface="Segoe UI"/>
              </a:rPr>
              <a:t>שאפשר לצרף כנספח להסכם מסחרי, ושממנו כל צד מייצר קוד אוטומטית — בדיוק מה שנדרש כששני ארגונים חייבים להסכים מראש על כל שדה.</a:t>
            </a: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CFA60DC-A663-DA45-FE74-E4B0C1662CF0}"/>
              </a:ext>
            </a:extLst>
          </p:cNvPr>
          <p:cNvSpPr/>
          <p:nvPr/>
        </p:nvSpPr>
        <p:spPr>
          <a:xfrm flipV="1">
            <a:off x="10795247" y="500634"/>
            <a:ext cx="835921" cy="4571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he-I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‏WSDL‏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החוזה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השירות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‏Web Service Description Language‏: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מסמך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‏XML‏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שמתאר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אילו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פעולות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קיימות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ואיך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קוראים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להן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81678" y="493776"/>
            <a:ext cx="649490" cy="4687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‏WSDL‏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700784"/>
            <a:ext cx="5870448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הבעיה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שהוא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פותר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כדי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לצרוך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חייב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לדעת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לעשות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ואיך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פונים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אליו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לשם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‏SOAP‏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מספק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תיאור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זה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מסמך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התואם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לאוצר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המילים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‏WSDL‏,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המגדיר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המתודות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שהשירות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מעמיד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לרשות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הלקוחות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אופן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האינטראקציה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איתן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ואת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הפורמטים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הנדרשים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לבקשות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ולתשובות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אינכם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צריכים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לקרוא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אותו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שרת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היישומים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מייצר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ה-‏WSDL‏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באופן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דינמי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וכלי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מנתחים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כדי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לייצר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עבורכם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מחלקת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ה-‏proxy‏.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תמיד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עדכני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מכיוון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שהייצור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דינמי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לקוחות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מקבלים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תמיד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התיאור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המעודכן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ביותר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50" b="0" i="0" noProof="0" dirty="0" err="1">
                <a:solidFill>
                  <a:srgbClr val="0F1B24"/>
                </a:solidFill>
                <a:latin typeface="Segoe UI"/>
              </a:rPr>
              <a:t>הפרוס</a:t>
            </a:r>
            <a:r>
              <a:rPr lang="en-US" sz="12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096512"/>
            <a:ext cx="5870448" cy="603504"/>
          </a:xfrm>
          <a:prstGeom prst="roundRect">
            <a:avLst>
              <a:gd name="adj" fmla="val 4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925312" y="4169663"/>
            <a:ext cx="55412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כתובת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החוזה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— </a:t>
            </a:r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פשוט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6FA8B8"/>
                </a:solidFill>
                <a:latin typeface="Segoe UI"/>
              </a:rPr>
              <a:t>מוסיפים</a:t>
            </a:r>
            <a:r>
              <a:rPr lang="en-US" sz="1100" b="1" i="0" noProof="0" dirty="0">
                <a:solidFill>
                  <a:srgbClr val="6FA8B8"/>
                </a:solidFill>
                <a:latin typeface="Segoe UI"/>
              </a:rPr>
              <a:t> ‏‎?WSDL‏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4389120"/>
            <a:ext cx="5541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00" b="0" i="0" noProof="0" dirty="0">
                <a:solidFill>
                  <a:srgbClr val="9FD1A0"/>
                </a:solidFill>
                <a:latin typeface="Consolas"/>
              </a:rPr>
              <a:t>http://localhost:8080/WelcomeSOAP/WelcomeSOAPService?WSDL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736592"/>
            <a:ext cx="5870448" cy="1508760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11576303" y="4736592"/>
            <a:ext cx="54864" cy="150876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961888" y="4855464"/>
            <a:ext cx="5431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שחשוב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לדעת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על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החוזה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בפועל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61887" y="5148072"/>
            <a:ext cx="54681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גרסה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1.1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משנת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2001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היא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זו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שמיושמת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בפועל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;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גרסה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2.0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משנת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2007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שינתה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שמות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‏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portType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 ל-‏interface‏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ומעולם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נקלטה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7" y="5550408"/>
            <a:ext cx="54681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‏contract-first‏: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כותבים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תחילה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ה-‏WSDL‏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ומייצרים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ממנו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זו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הגישה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המקובלת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באינטגרציה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ארגונים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החוזה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מוסכם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מראש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ויציב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7" y="5952744"/>
            <a:ext cx="54681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‏code-first‏: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מייצרים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ה-‏WSDL‏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מהקוד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מהיר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יותר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לפיתוח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אבל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‏refactor‏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עלול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לשנות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החוזה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ולשבור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לקוחות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קיימים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700784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חמשת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חלקי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המסמך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—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מהנתונים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אל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הכתובת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204825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/>
          <p:cNvSpPr/>
          <p:nvPr/>
        </p:nvSpPr>
        <p:spPr>
          <a:xfrm>
            <a:off x="5500116" y="2139696"/>
            <a:ext cx="50292" cy="56692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749808" y="215798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0D4A5C"/>
                </a:solidFill>
                <a:latin typeface="Consolas"/>
              </a:rPr>
              <a:t>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39572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טיפוסי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הנתונים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8" y="260604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סכימת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‏XSD‏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המגדירה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מבנה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פרמטר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וכל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ערך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מוחזר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287121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/>
          <p:cNvSpPr/>
          <p:nvPr/>
        </p:nvSpPr>
        <p:spPr>
          <a:xfrm>
            <a:off x="5500116" y="2962656"/>
            <a:ext cx="50292" cy="56692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749808" y="298094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0D4A5C"/>
                </a:solidFill>
                <a:latin typeface="Consolas"/>
              </a:rPr>
              <a:t>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21868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ההודעות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9808" y="342900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אילו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נתונים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נשלחים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בבקשה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ואילו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חוזרים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בתשובה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66928" y="369417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/>
          <p:cNvSpPr/>
          <p:nvPr/>
        </p:nvSpPr>
        <p:spPr>
          <a:xfrm>
            <a:off x="5500116" y="3785615"/>
            <a:ext cx="50292" cy="56692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749808" y="38039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 err="1">
                <a:solidFill>
                  <a:srgbClr val="C4622D"/>
                </a:solidFill>
                <a:latin typeface="Consolas"/>
              </a:rPr>
              <a:t>portType</a:t>
            </a:r>
            <a:endParaRPr lang="en-US" sz="1150" b="1" i="0" noProof="0" dirty="0">
              <a:solidFill>
                <a:srgbClr val="C4622D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9808" y="404164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הממשק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המופשט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808" y="425196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אוסף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הפעולות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שהשירות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מציע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הלב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החוזה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66928" y="451713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5500116" y="4608576"/>
            <a:ext cx="50292" cy="56692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49808" y="46268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0D4A5C"/>
                </a:solidFill>
                <a:latin typeface="Consolas"/>
              </a:rPr>
              <a:t>binding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6460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הקישור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הקונקרטי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9808" y="507492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באיזה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פרוטוקול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ובאיזה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סגנון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ההודעות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עוברות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66928" y="5340096"/>
            <a:ext cx="498348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Rectangle 42"/>
          <p:cNvSpPr/>
          <p:nvPr/>
        </p:nvSpPr>
        <p:spPr>
          <a:xfrm>
            <a:off x="5500116" y="5431536"/>
            <a:ext cx="50292" cy="56692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749808" y="544982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150" b="1" i="0" noProof="0" dirty="0">
                <a:solidFill>
                  <a:srgbClr val="C4622D"/>
                </a:solidFill>
                <a:latin typeface="Consolas"/>
              </a:rPr>
              <a:t>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68756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נקודת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הקצה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9808" y="58978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הכתובת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בפועל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שאליה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הלקוח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שולח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ההודעה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‏WSDL‏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דוגמה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אמיתית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החוזה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שנוצר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אוטומטית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עבור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שירות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WelcomeSOAP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מהספר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‏Deitel‏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90555" y="484632"/>
            <a:ext cx="640613" cy="63941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‏WSDL‏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6089904" cy="477520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6089904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6089904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5358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WelcomeSOAPService.wsdl</a:t>
            </a:r>
            <a:endParaRPr lang="en-US" sz="950" b="1" i="0" noProof="0" dirty="0">
              <a:solidFill>
                <a:srgbClr val="6FA8B8"/>
              </a:solidFill>
              <a:latin typeface="Consola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54496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13232" y="2093976"/>
            <a:ext cx="5797296" cy="4263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040"/>
              </a:lnSpc>
            </a:pP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&lt;definitions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WelcomeSOAPService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</a:t>
            </a:r>
            <a:r>
              <a:rPr lang="en-US" sz="1200" b="0" noProof="0" dirty="0" err="1">
                <a:solidFill>
                  <a:srgbClr val="F0A06A"/>
                </a:solidFill>
                <a:latin typeface="Consolas"/>
              </a:rPr>
              <a:t>targetNamespace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"http://welcomesoap.deitel.com/"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&lt;types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xsd:schema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xsd:element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"welcome"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      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tns:welcome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/&gt;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xsd:element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welcomeResponse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      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tns:welcomeResponse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/&gt;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xsd:schema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&lt;/types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&lt;message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"welcome"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&lt;part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"parameters"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element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tns:welcome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/&gt;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&lt;/message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&lt;!-- </a:t>
            </a:r>
            <a:r>
              <a:rPr lang="en-US" sz="1200" b="0" noProof="0" dirty="0" err="1">
                <a:solidFill>
                  <a:srgbClr val="6F8894"/>
                </a:solidFill>
                <a:latin typeface="Consolas"/>
              </a:rPr>
              <a:t>וכך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6F8894"/>
                </a:solidFill>
                <a:latin typeface="Consolas"/>
              </a:rPr>
              <a:t>גם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6F8894"/>
                </a:solidFill>
                <a:latin typeface="Consolas"/>
              </a:rPr>
              <a:t>עבור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6F8894"/>
                </a:solidFill>
                <a:latin typeface="Consolas"/>
              </a:rPr>
              <a:t>welcomeResponse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 --&gt;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portType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WelcomeSOAP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&lt;operation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"welcome"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&lt;input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message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tns:welcome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/&gt;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&lt;output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message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tns:welcomeResponse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/&gt;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&lt;/operation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portType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&lt;binding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WelcomeSOAPPortBinding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tns:WelcomeSOAP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soap:binding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style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"document"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transport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"http://schemas.xmlsoap.org/soap/http"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/&gt;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&lt;/binding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&lt;service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WelcomeSOAPService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&lt;port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name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WelcomeSOAPPort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binding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 err="1">
                <a:solidFill>
                  <a:srgbClr val="9FD1A0"/>
                </a:solidFill>
                <a:latin typeface="Consolas"/>
              </a:rPr>
              <a:t>tns:WelcomeSOAPPortBinding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1200" b="1" noProof="0" dirty="0" err="1">
                <a:solidFill>
                  <a:srgbClr val="7FC7DE"/>
                </a:solidFill>
                <a:latin typeface="Consolas"/>
              </a:rPr>
              <a:t>soap:address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location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"http://localhost:8080/..."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/&gt;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&lt;/port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&lt;/service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040"/>
              </a:lnSpc>
            </a:pP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&lt;/definitions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00784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איך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קוראים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זה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0" y="2011680"/>
            <a:ext cx="4773168" cy="4937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11585447" y="2075688"/>
            <a:ext cx="45720" cy="36576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004304" y="2057400"/>
            <a:ext cx="4462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 err="1">
                <a:solidFill>
                  <a:srgbClr val="C4622D"/>
                </a:solidFill>
                <a:latin typeface="Consolas"/>
              </a:rPr>
              <a:t>portType</a:t>
            </a:r>
            <a:endParaRPr lang="en-US" sz="1000" b="1" i="0" noProof="0" dirty="0">
              <a:solidFill>
                <a:srgbClr val="C4622D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04304" y="2258568"/>
            <a:ext cx="44622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הלב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החוזה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אוסף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הפעולות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שהשירות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מציע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0" y="2560320"/>
            <a:ext cx="4773168" cy="4937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/>
          <p:cNvSpPr/>
          <p:nvPr/>
        </p:nvSpPr>
        <p:spPr>
          <a:xfrm>
            <a:off x="11585447" y="2624328"/>
            <a:ext cx="45720" cy="36576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7004304" y="2606040"/>
            <a:ext cx="4462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>
                <a:solidFill>
                  <a:srgbClr val="C4622D"/>
                </a:solidFill>
                <a:latin typeface="Consolas"/>
              </a:rPr>
              <a:t>style=document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2807208"/>
            <a:ext cx="44622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נשלחת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כמסמך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שלם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כרשימת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פרמטרים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58000" y="3108960"/>
            <a:ext cx="4773168" cy="493776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26"/>
          <p:cNvSpPr/>
          <p:nvPr/>
        </p:nvSpPr>
        <p:spPr>
          <a:xfrm>
            <a:off x="11585447" y="3172968"/>
            <a:ext cx="45720" cy="36576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004304" y="3154680"/>
            <a:ext cx="4462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000" b="1" i="0" noProof="0" dirty="0" err="1">
                <a:solidFill>
                  <a:srgbClr val="C4622D"/>
                </a:solidFill>
                <a:latin typeface="Consolas"/>
              </a:rPr>
              <a:t>soap:address</a:t>
            </a:r>
            <a:endParaRPr lang="en-US" sz="1000" b="1" i="0" noProof="0" dirty="0">
              <a:solidFill>
                <a:srgbClr val="C4622D"/>
              </a:solidFill>
              <a:latin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04304" y="3355848"/>
            <a:ext cx="44622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ה-‏URL‏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בפועל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שאליו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שולח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בקשת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ה-‏POST‏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730752"/>
            <a:ext cx="477316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האשף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מקבל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כתובת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ה-‏WSDL‏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ומייצר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ממנה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מחלקות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ה-‏proxy‏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1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5A6B75"/>
                </a:solidFill>
                <a:latin typeface="Segoe UI"/>
              </a:rPr>
              <a:t>הלקוח</a:t>
            </a:r>
            <a:endParaRPr lang="en-US" sz="1100" b="0" i="0" noProof="0" dirty="0">
              <a:solidFill>
                <a:srgbClr val="5A6B75"/>
              </a:solidFill>
              <a:latin typeface="Segoe UI"/>
            </a:endParaRPr>
          </a:p>
        </p:txBody>
      </p:sp>
      <p:pic>
        <p:nvPicPr>
          <p:cNvPr id="31" name="Picture 30" descr="img_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005072"/>
            <a:ext cx="3753394" cy="221437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598664" y="3982211"/>
            <a:ext cx="3291839" cy="2260090"/>
          </a:xfrm>
          <a:prstGeom prst="rect">
            <a:avLst/>
          </a:prstGeom>
          <a:noFill/>
          <a:ln w="1587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32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‏JAX-WS‏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צד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השרת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04887" y="1097280"/>
            <a:ext cx="4526281" cy="1115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dirty="0">
                <a:latin typeface="Segoe UI"/>
              </a:rPr>
              <a:t>JAX-WS (</a:t>
            </a:r>
            <a:r>
              <a:rPr lang="en-US" sz="1450" b="0" i="0" noProof="0" dirty="0">
                <a:latin typeface="Segoe UI"/>
              </a:rPr>
              <a:t>Java API for XML Web Service)</a:t>
            </a:r>
            <a:endParaRPr lang="he-IL" sz="1450" dirty="0">
              <a:latin typeface="Segoe UI"/>
            </a:endParaRPr>
          </a:p>
          <a:p>
            <a:pPr algn="r" rtl="1"/>
            <a:r>
              <a:rPr lang="en-US" sz="1450" b="0" i="0" noProof="0" dirty="0">
                <a:latin typeface="Segoe UI"/>
              </a:rPr>
              <a:t>‎ ‏</a:t>
            </a:r>
            <a:r>
              <a:rPr lang="he-IL" sz="1450" b="0" i="0" noProof="0" dirty="0">
                <a:latin typeface="Segoe UI"/>
              </a:rPr>
              <a:t>מחלקת שירות ב-‏</a:t>
            </a:r>
            <a:r>
              <a:rPr lang="en-US" sz="1450" b="0" i="0" noProof="0" dirty="0">
                <a:latin typeface="Segoe UI"/>
              </a:rPr>
              <a:t>JAX-WS‏ </a:t>
            </a:r>
            <a:r>
              <a:rPr lang="he-IL" sz="1450" b="0" i="0" noProof="0" dirty="0">
                <a:latin typeface="Segoe UI"/>
              </a:rPr>
              <a:t>היא אובייקט ‏</a:t>
            </a:r>
            <a:r>
              <a:rPr lang="en-US" sz="1450" b="0" i="0" noProof="0" dirty="0">
                <a:latin typeface="Segoe UI"/>
              </a:rPr>
              <a:t>Java‏ </a:t>
            </a:r>
            <a:r>
              <a:rPr lang="he-IL" sz="1450" b="0" i="0" noProof="0" dirty="0">
                <a:latin typeface="Segoe UI"/>
              </a:rPr>
              <a:t>רגיל </a:t>
            </a:r>
            <a:r>
              <a:rPr lang="en-US" sz="1450" b="0" i="0" noProof="0" dirty="0">
                <a:latin typeface="Segoe UI"/>
              </a:rPr>
              <a:t>POJO</a:t>
            </a:r>
            <a:endParaRPr lang="he-IL" sz="1450" noProof="0" dirty="0">
              <a:latin typeface="Segoe UI"/>
            </a:endParaRPr>
          </a:p>
          <a:p>
            <a:pPr algn="r" rtl="1"/>
            <a:r>
              <a:rPr lang="he-IL" sz="1450" b="0" i="0" noProof="0" dirty="0">
                <a:latin typeface="Segoe UI"/>
              </a:rPr>
              <a:t>אין צורך לרשת ממחלקה או לממש ממשק כלשהו.</a:t>
            </a:r>
          </a:p>
          <a:p>
            <a:pPr algn="r" rtl="1"/>
            <a:r>
              <a:rPr lang="en-US" sz="1450" b="0" i="0" noProof="0" dirty="0">
                <a:latin typeface="Segoe UI"/>
              </a:rPr>
              <a:t>JAX-WS </a:t>
            </a:r>
            <a:r>
              <a:rPr lang="he-IL" sz="1450" b="0" i="0" noProof="0" dirty="0">
                <a:latin typeface="Segoe UI"/>
              </a:rPr>
              <a:t> מאפשר להפוך מחלקת </a:t>
            </a:r>
            <a:r>
              <a:rPr lang="en-US" sz="1450" b="0" i="0" noProof="0" dirty="0">
                <a:latin typeface="Segoe UI"/>
              </a:rPr>
              <a:t>Java </a:t>
            </a:r>
            <a:r>
              <a:rPr lang="he-IL" sz="1450" b="0" i="0" noProof="0" dirty="0">
                <a:latin typeface="Segoe UI"/>
              </a:rPr>
              <a:t>רגילה לשירות </a:t>
            </a:r>
            <a:r>
              <a:rPr lang="en-US" sz="1450" b="0" i="0" noProof="0" dirty="0">
                <a:latin typeface="Segoe UI"/>
              </a:rPr>
              <a:t>SOAP </a:t>
            </a:r>
            <a:r>
              <a:rPr lang="he-IL" sz="1450" b="0" i="0" noProof="0" dirty="0">
                <a:latin typeface="Segoe UI"/>
              </a:rPr>
              <a:t>באמצעות אנוצטיות – </a:t>
            </a:r>
            <a:r>
              <a:rPr lang="en-US" sz="1450" b="0" i="0" noProof="0" dirty="0">
                <a:latin typeface="Segoe UI"/>
              </a:rPr>
              <a:t>annotations</a:t>
            </a:r>
            <a:r>
              <a:rPr lang="he-IL" sz="1450" b="0" i="0" noProof="0" dirty="0">
                <a:latin typeface="Segoe UI"/>
              </a:rPr>
              <a:t> </a:t>
            </a:r>
            <a:r>
              <a:rPr lang="he-IL" sz="1450" dirty="0">
                <a:latin typeface="Segoe UI"/>
              </a:rPr>
              <a:t>:</a:t>
            </a:r>
            <a:endParaRPr lang="he-IL" sz="1450" b="0" i="0" noProof="0" dirty="0"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26066" y="464516"/>
            <a:ext cx="605102" cy="75827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6355080" cy="4123944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635508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635508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562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WelcomeSOAP.java  —  Deitel, Fig. 32.1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60831" y="2093976"/>
            <a:ext cx="6355079" cy="368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package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com.deitel.welcomesoap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655"/>
              </a:lnSpc>
            </a:pPr>
            <a:r>
              <a:rPr lang="en-US" sz="1150" noProof="0" dirty="0">
                <a:latin typeface="Consolas"/>
              </a:rPr>
              <a:t> 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javax.jws.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WebService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   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מסמן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מחלקה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כשירות</a:t>
            </a:r>
            <a:endParaRPr lang="en-US" sz="11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javax.jws.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WebMethod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    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מסמן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מתודה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חשופה</a:t>
            </a:r>
            <a:endParaRPr lang="en-US" sz="11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DCE8ED"/>
                </a:solidFill>
                <a:latin typeface="Consolas"/>
              </a:rPr>
              <a:t>javax.jws.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WebParam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     </a:t>
            </a:r>
            <a:r>
              <a:rPr lang="en-US" sz="1150" b="0" noProof="0" dirty="0">
                <a:solidFill>
                  <a:srgbClr val="6F8894"/>
                </a:solidFill>
                <a:latin typeface="Consolas"/>
              </a:rPr>
              <a:t>// שם הפרמטר </a:t>
            </a:r>
            <a:r>
              <a:rPr lang="en-US" sz="1150" b="0" noProof="0" dirty="0" err="1">
                <a:solidFill>
                  <a:srgbClr val="6F8894"/>
                </a:solidFill>
                <a:latin typeface="Consolas"/>
              </a:rPr>
              <a:t>בחוזה</a:t>
            </a:r>
            <a:endParaRPr lang="en-US" sz="11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noProof="0" dirty="0">
                <a:latin typeface="Consolas"/>
              </a:rPr>
              <a:t> </a:t>
            </a:r>
          </a:p>
          <a:p>
            <a:pPr algn="l" rtl="0">
              <a:lnSpc>
                <a:spcPts val="1655"/>
              </a:lnSpc>
            </a:pPr>
            <a:r>
              <a:rPr lang="en-US" sz="1150" b="1" noProof="0" dirty="0">
                <a:solidFill>
                  <a:srgbClr val="F0A06A"/>
                </a:solidFill>
                <a:latin typeface="Consolas"/>
              </a:rPr>
              <a:t>@WebService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()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 err="1">
                <a:solidFill>
                  <a:srgbClr val="C9B6E8"/>
                </a:solidFill>
                <a:latin typeface="Consolas"/>
              </a:rPr>
              <a:t>WelcomeSOAP</a:t>
            </a:r>
            <a:endParaRPr lang="en-US" sz="1150" b="0" noProof="0" dirty="0">
              <a:solidFill>
                <a:srgbClr val="C9B6E8"/>
              </a:solidFill>
              <a:latin typeface="Consolas"/>
            </a:endParaRP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{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150" b="1" noProof="0" dirty="0">
                <a:solidFill>
                  <a:srgbClr val="F0A06A"/>
                </a:solidFill>
                <a:latin typeface="Consolas"/>
              </a:rPr>
              <a:t>@WebMethod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(operationName =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"welcome"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welcome(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      </a:t>
            </a:r>
            <a:r>
              <a:rPr lang="en-US" sz="1150" b="1" noProof="0" dirty="0">
                <a:solidFill>
                  <a:srgbClr val="F0A06A"/>
                </a:solidFill>
                <a:latin typeface="Consolas"/>
              </a:rPr>
              <a:t>@WebParam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(name =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"name"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1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name)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{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15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"Welcome to JAX-WS web services"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        +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 with SOAP, 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+ name + </a:t>
            </a:r>
            <a:r>
              <a:rPr lang="en-US" sz="1150" b="0" noProof="0" dirty="0">
                <a:solidFill>
                  <a:srgbClr val="9FD1A0"/>
                </a:solidFill>
                <a:latin typeface="Consolas"/>
              </a:rPr>
              <a:t>"!"</a:t>
            </a: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655"/>
              </a:lnSpc>
            </a:pPr>
            <a:r>
              <a:rPr lang="en-US" sz="115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681" y="2222619"/>
            <a:ext cx="4498848" cy="234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C4622D"/>
                </a:solidFill>
                <a:latin typeface="Segoe UI"/>
              </a:rPr>
              <a:t>■</a:t>
            </a:r>
            <a:r>
              <a:rPr lang="he-IL" sz="1400" b="1" dirty="0">
                <a:solidFill>
                  <a:srgbClr val="C4622D"/>
                </a:solidFill>
                <a:latin typeface="Segoe UI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@WebService</a:t>
            </a:r>
            <a:r>
              <a:rPr lang="en-US" sz="1400" b="1" dirty="0"/>
              <a:t> </a:t>
            </a:r>
            <a:r>
              <a:rPr lang="he-IL" sz="1400" b="1" dirty="0"/>
              <a:t> </a:t>
            </a:r>
            <a:r>
              <a:rPr lang="en-US" sz="1400" dirty="0" err="1"/>
              <a:t>מסמנת</a:t>
            </a:r>
            <a:r>
              <a:rPr lang="en-US" sz="1400" dirty="0"/>
              <a:t> את </a:t>
            </a:r>
            <a:r>
              <a:rPr lang="en-US" sz="1400" dirty="0" err="1"/>
              <a:t>המחלקה</a:t>
            </a:r>
            <a:r>
              <a:rPr lang="en-US" sz="1400" dirty="0"/>
              <a:t> </a:t>
            </a:r>
            <a:r>
              <a:rPr lang="en-US" sz="1400" dirty="0" err="1"/>
              <a:t>כשירות</a:t>
            </a:r>
            <a:r>
              <a:rPr lang="en-US" sz="1400" dirty="0"/>
              <a:t> SOAP</a:t>
            </a:r>
            <a:r>
              <a:rPr lang="he-IL" sz="1400" dirty="0"/>
              <a:t>.</a:t>
            </a:r>
            <a:endParaRPr lang="he-IL" sz="1400" b="1" dirty="0">
              <a:solidFill>
                <a:srgbClr val="C4622D"/>
              </a:solidFill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‏‎</a:t>
            </a:r>
            <a:r>
              <a:rPr lang="he-IL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@WebMethod‏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מסמנת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כניתנת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לקריאה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מרחוק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המאפיין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operationName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קובע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שייחשף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ללקוח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4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i="0" noProof="0" dirty="0">
                <a:solidFill>
                  <a:srgbClr val="C4622D"/>
                </a:solidFill>
                <a:latin typeface="Segoe UI"/>
              </a:rPr>
              <a:t>■</a:t>
            </a:r>
            <a:r>
              <a:rPr lang="he-IL" sz="1400" b="1" i="0" noProof="0" dirty="0">
                <a:solidFill>
                  <a:srgbClr val="C4622D"/>
                </a:solidFill>
                <a:latin typeface="Segoe UI"/>
              </a:rPr>
              <a:t> 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‏‎@WebParam‏ 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קובעת את שם הפרמטר כפי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שיופיע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בחוזה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בלעדיה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הפרמטר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ייקרא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‏arg0‏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ומי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שיצרוך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יבין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לשלוח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4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1400" b="1" dirty="0" err="1">
                <a:solidFill>
                  <a:srgbClr val="0D4A5C"/>
                </a:solidFill>
                <a:latin typeface="Segoe UI"/>
              </a:rPr>
              <a:t>הפריסה</a:t>
            </a:r>
            <a:r>
              <a:rPr lang="en-US" sz="14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0D4A5C"/>
                </a:solidFill>
                <a:latin typeface="Segoe UI"/>
              </a:rPr>
              <a:t>עושה</a:t>
            </a:r>
            <a:r>
              <a:rPr lang="en-US" sz="1400" b="1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400" b="1" dirty="0" err="1">
                <a:solidFill>
                  <a:srgbClr val="0D4A5C"/>
                </a:solidFill>
                <a:latin typeface="Segoe UI"/>
              </a:rPr>
              <a:t>השאר</a:t>
            </a:r>
            <a:r>
              <a:rPr lang="en-US" sz="1400" b="1" dirty="0">
                <a:solidFill>
                  <a:srgbClr val="0D4A5C"/>
                </a:solidFill>
                <a:latin typeface="Segoe UI"/>
              </a:rPr>
              <a:t>:</a:t>
            </a:r>
            <a:r>
              <a:rPr lang="he-IL" sz="1400" b="1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כששרת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היישומים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מזהה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את ‏‎@WebService‏,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בונה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תשתית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0F1B24"/>
                </a:solidFill>
                <a:latin typeface="Segoe UI"/>
              </a:rPr>
              <a:t>ומייצר</a:t>
            </a:r>
            <a:r>
              <a:rPr lang="en-US" sz="1400" dirty="0">
                <a:solidFill>
                  <a:srgbClr val="0F1B24"/>
                </a:solidFill>
                <a:latin typeface="Segoe UI"/>
              </a:rPr>
              <a:t> את ה-‏WSDL‏.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81088" y="4807382"/>
            <a:ext cx="4498848" cy="1746504"/>
          </a:xfrm>
          <a:prstGeom prst="roundRect">
            <a:avLst>
              <a:gd name="adj" fmla="val 5000"/>
            </a:avLst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11659936" y="4840047"/>
            <a:ext cx="54864" cy="171383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254241" y="4895355"/>
            <a:ext cx="4370831" cy="1570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200" b="1" dirty="0">
                <a:solidFill>
                  <a:srgbClr val="C4622D"/>
                </a:solidFill>
                <a:latin typeface="Segoe UI"/>
              </a:rPr>
              <a:t>דגשים </a:t>
            </a:r>
            <a:r>
              <a:rPr lang="en-US" sz="1200" b="1" dirty="0" err="1">
                <a:solidFill>
                  <a:srgbClr val="C4622D"/>
                </a:solidFill>
                <a:latin typeface="Segoe UI"/>
              </a:rPr>
              <a:t>שחוסכים</a:t>
            </a:r>
            <a:r>
              <a:rPr lang="en-US" sz="1200" b="1" dirty="0">
                <a:solidFill>
                  <a:srgbClr val="C4622D"/>
                </a:solidFill>
                <a:latin typeface="Segoe UI"/>
              </a:rPr>
              <a:t> </a:t>
            </a:r>
            <a:r>
              <a:rPr lang="en-US" sz="1200" b="1" dirty="0" err="1">
                <a:solidFill>
                  <a:srgbClr val="C4622D"/>
                </a:solidFill>
                <a:latin typeface="Segoe UI"/>
              </a:rPr>
              <a:t>באגים</a:t>
            </a:r>
            <a:endParaRPr lang="he-IL" sz="1100" b="1" i="0" noProof="0" dirty="0">
              <a:solidFill>
                <a:srgbClr val="C4622D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‏‎@WebMethod‏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נגישה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ללקוחות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החריג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אם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אף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במחלקה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מסומנת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המתודות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הציבוריות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ייחשפו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1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endParaRPr lang="he-IL" sz="110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00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‏‎@WebMethod‏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יכולה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להיות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‏static‏ —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נדרש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אובייקט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מחלקת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050" dirty="0">
                <a:solidFill>
                  <a:srgbClr val="0F1B24"/>
                </a:solidFill>
                <a:latin typeface="Segoe UI"/>
              </a:rPr>
              <a:t>.</a:t>
            </a:r>
            <a:endParaRPr lang="he-IL" sz="105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endParaRPr lang="he-IL" sz="110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00" b="1" dirty="0">
                <a:solidFill>
                  <a:srgbClr val="C4622D"/>
                </a:solidFill>
                <a:latin typeface="Segoe UI"/>
              </a:rPr>
              <a:t>▪ 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‏‎@SOAPBinding(style = DOCUMENT)‎‏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ברירת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המחדל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וגם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הבחירה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הנכונה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קובע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מבנה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00" dirty="0" err="1">
                <a:solidFill>
                  <a:srgbClr val="0F1B24"/>
                </a:solidFill>
                <a:latin typeface="Segoe UI"/>
              </a:rPr>
              <a:t>בחוזה</a:t>
            </a:r>
            <a:r>
              <a:rPr lang="en-US" sz="100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‏JAX-WS‏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צד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ובדיקה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-‏WSDL‏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מחלקת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‏proxy‏: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מרוחקת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שנראית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כמו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מקומית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55045" y="493776"/>
            <a:ext cx="676833" cy="4571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035040" y="1700784"/>
            <a:ext cx="5596128" cy="64008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11137392" y="18562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1137392" y="187452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1783080"/>
            <a:ext cx="48828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מפנים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הכלי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אל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ה-‏WSDL‏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1" y="2029968"/>
            <a:ext cx="48828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latin typeface="Segoe UI"/>
              </a:rPr>
              <a:t>בסביבת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הפיתוח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בוחרים</a:t>
            </a:r>
            <a:r>
              <a:rPr lang="en-US" sz="1100" b="0" i="0" noProof="0" dirty="0">
                <a:latin typeface="Segoe UI"/>
              </a:rPr>
              <a:t> ‏New Web Service Client‏ </a:t>
            </a:r>
            <a:r>
              <a:rPr lang="en-US" sz="1100" b="0" i="0" noProof="0" dirty="0" err="1">
                <a:latin typeface="Segoe UI"/>
              </a:rPr>
              <a:t>ומספקים</a:t>
            </a:r>
            <a:r>
              <a:rPr lang="en-US" sz="1100" b="0" i="0" noProof="0" dirty="0">
                <a:latin typeface="Segoe UI"/>
              </a:rPr>
              <a:t> את </a:t>
            </a:r>
            <a:r>
              <a:rPr lang="en-US" sz="1100" b="0" i="0" noProof="0" dirty="0" err="1">
                <a:latin typeface="Segoe UI"/>
              </a:rPr>
              <a:t>כתובת</a:t>
            </a:r>
            <a:r>
              <a:rPr lang="en-US" sz="1100" b="0" i="0" noProof="0" dirty="0">
                <a:latin typeface="Segoe UI"/>
              </a:rPr>
              <a:t> ה-‏‎?WSDL‏.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432304"/>
            <a:ext cx="5596128" cy="64008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11137392" y="25877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1137392" y="26060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2514600"/>
            <a:ext cx="48828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הכלי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מייצר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מחלקות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99631" y="2761488"/>
            <a:ext cx="48828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latin typeface="Segoe UI"/>
              </a:rPr>
              <a:t>נוצרים</a:t>
            </a:r>
            <a:r>
              <a:rPr lang="en-US" sz="1100" b="0" i="0" noProof="0" dirty="0">
                <a:latin typeface="Segoe UI"/>
              </a:rPr>
              <a:t> ‏service endpoint interface‏ — </a:t>
            </a:r>
            <a:r>
              <a:rPr lang="en-US" sz="1100" b="0" i="0" noProof="0" dirty="0" err="1">
                <a:latin typeface="Segoe UI"/>
              </a:rPr>
              <a:t>מחלקת</a:t>
            </a:r>
            <a:r>
              <a:rPr lang="en-US" sz="1100" b="0" i="0" noProof="0" dirty="0">
                <a:latin typeface="Segoe UI"/>
              </a:rPr>
              <a:t> ‏proxy‏ — </a:t>
            </a:r>
            <a:r>
              <a:rPr lang="en-US" sz="1100" b="0" i="0" noProof="0" dirty="0" err="1">
                <a:latin typeface="Segoe UI"/>
              </a:rPr>
              <a:t>ומחלקת</a:t>
            </a:r>
            <a:r>
              <a:rPr lang="en-US" sz="1100" b="0" i="0" noProof="0" dirty="0">
                <a:latin typeface="Segoe UI"/>
              </a:rPr>
              <a:t> ‏Service‏.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163824"/>
            <a:ext cx="5596128" cy="64008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11137392" y="33192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1137392" y="333756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3246120"/>
            <a:ext cx="48828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קוראים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כמו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למתודה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מקומית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99631" y="3493008"/>
            <a:ext cx="48828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latin typeface="Segoe UI"/>
              </a:rPr>
              <a:t>מפעילים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מתודה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על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אובייקט</a:t>
            </a:r>
            <a:r>
              <a:rPr lang="en-US" sz="1100" b="0" i="0" noProof="0" dirty="0">
                <a:latin typeface="Segoe UI"/>
              </a:rPr>
              <a:t> ה-‏proxy‏; ה-‏SOAP‏ </a:t>
            </a:r>
            <a:r>
              <a:rPr lang="en-US" sz="1100" b="0" i="0" noProof="0" dirty="0" err="1">
                <a:latin typeface="Segoe UI"/>
              </a:rPr>
              <a:t>נבנה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ומפוענח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מאחורי</a:t>
            </a:r>
            <a:r>
              <a:rPr lang="en-US" sz="1100" b="0" i="0" noProof="0" dirty="0">
                <a:latin typeface="Segoe UI"/>
              </a:rPr>
              <a:t> </a:t>
            </a:r>
            <a:r>
              <a:rPr lang="en-US" sz="1100" b="0" i="0" noProof="0" dirty="0" err="1">
                <a:latin typeface="Segoe UI"/>
              </a:rPr>
              <a:t>הקלעים</a:t>
            </a:r>
            <a:r>
              <a:rPr lang="en-US" sz="1100" b="0" i="0" noProof="0" dirty="0"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913632"/>
            <a:ext cx="5596128" cy="877824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Rounded Rectangle 26"/>
          <p:cNvSpPr/>
          <p:nvPr/>
        </p:nvSpPr>
        <p:spPr>
          <a:xfrm>
            <a:off x="6035040" y="3913632"/>
            <a:ext cx="559612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/>
          <p:cNvSpPr/>
          <p:nvPr/>
        </p:nvSpPr>
        <p:spPr>
          <a:xfrm>
            <a:off x="6035040" y="4078224"/>
            <a:ext cx="559612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181344" y="3963924"/>
            <a:ext cx="4864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שורת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הפקודה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—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אם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לא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עובדים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מתוך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8832" y="4018788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181344" y="4306824"/>
            <a:ext cx="530352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wsimport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-keep -p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com.example.client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\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http://localhost:8080/WelcomeSOAP/WelcomeSOAPService?WSDL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809744"/>
            <a:ext cx="5596128" cy="137160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Rounded Rectangle 32"/>
          <p:cNvSpPr/>
          <p:nvPr/>
        </p:nvSpPr>
        <p:spPr>
          <a:xfrm>
            <a:off x="6035040" y="4809744"/>
            <a:ext cx="559612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6035040" y="4974336"/>
            <a:ext cx="559612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6181344" y="4860036"/>
            <a:ext cx="4864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Client.java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8832" y="491490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181344" y="5202936"/>
            <a:ext cx="530352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WelcomeSOAPService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service =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WelcomeSOAPService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WelcomeSOAP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proxy =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service.getWelcomeSOAPPort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296"/>
              </a:lnSpc>
            </a:pPr>
            <a:r>
              <a:rPr lang="en-US" sz="900" noProof="0" dirty="0">
                <a:latin typeface="Consolas"/>
              </a:rPr>
              <a:t> 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result =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proxy.welcome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"Paul"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Welcome to JAX-WS web services with SOAP, Paul!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7576" y="1222792"/>
            <a:ext cx="223461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בודקים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בלי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לכתוב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לקוח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בכלל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pic>
        <p:nvPicPr>
          <p:cNvPr id="39" name="Picture 38" descr="img_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2007046"/>
            <a:ext cx="4297680" cy="173285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44068" y="1970532"/>
            <a:ext cx="4343400" cy="1778570"/>
          </a:xfrm>
          <a:prstGeom prst="rect">
            <a:avLst/>
          </a:prstGeom>
          <a:noFill/>
          <a:ln w="1587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94488" y="3765826"/>
            <a:ext cx="523036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שרת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GlassFish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מייצר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דף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‏Tester‏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לכל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שירות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מוסיפים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‏‎?Tester‏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לכתובת</a:t>
            </a:r>
            <a:endParaRPr lang="en-US" sz="1050" b="0" i="0" noProof="0" dirty="0">
              <a:solidFill>
                <a:srgbClr val="5A6B75"/>
              </a:solidFill>
              <a:latin typeface="Segoe UI"/>
            </a:endParaRPr>
          </a:p>
        </p:txBody>
      </p:sp>
      <p:pic>
        <p:nvPicPr>
          <p:cNvPr id="42" name="Picture 41" descr="img_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4151437"/>
            <a:ext cx="3351276" cy="207921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44068" y="4105718"/>
            <a:ext cx="3291839" cy="2124933"/>
          </a:xfrm>
          <a:prstGeom prst="rect">
            <a:avLst/>
          </a:prstGeom>
          <a:noFill/>
          <a:ln w="1587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3968496" y="4402898"/>
            <a:ext cx="1828799" cy="510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התוצאה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: הפרמטר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שנשלח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והערך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שהוחזר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מהמתודה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הכול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בדפדפן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בלי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לכתוב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שורת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קוד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‏REST‏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הסגנון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הארכיטקטוני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‏Representational State Transfer‏: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תקן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ספרייה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שישה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אילוצים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העיצוב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26066" y="482346"/>
            <a:ext cx="605102" cy="5029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‏REST‏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00784"/>
            <a:ext cx="5367528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סגנון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לא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תקן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‏REST‏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מתאר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סגנון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ארכיטקטוני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למימוש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‏Web‏.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כזה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נקרא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‏RESTful. REST‏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עצמו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תקן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ממומש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בעזרת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תקני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ה-‏Web‏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הקיימים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כל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פעולה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היא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כתובת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‏RESTful‏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מזוהה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ידי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‏URL‏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ייחודי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כשהשרת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מקבל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מייד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איזו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לבצע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גם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מהדפדפן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אפשר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להפעיל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כזה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מתוך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תוכנית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פשוט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להקליד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הכתובת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בדפדפן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ולראות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התוצאה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מטמון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בחינם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תוצאת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שהופעלה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בבקשת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‏GET‏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יכולה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להישמר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במטמון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המקומי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ובקשות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חוזרות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ייענו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מיידית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800"/>
              </a:spcAft>
            </a:pPr>
            <a:r>
              <a:rPr lang="en-US" sz="960" b="1" i="0" noProof="0" dirty="0">
                <a:solidFill>
                  <a:srgbClr val="C4622D"/>
                </a:solidFill>
                <a:latin typeface="Segoe UI"/>
              </a:rPr>
              <a:t>■ 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בלי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מעטפת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.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בשונה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מ-‏SOAP‏,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והתשובה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אינן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עטופות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 ‏REST‏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גם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מוגבל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ל-‏XML: JSON, XML‏,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טקסט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ואפילו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קובצי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מדיה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הכול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לגיטימי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864608"/>
            <a:ext cx="5367528" cy="896112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446520" y="4946904"/>
            <a:ext cx="5001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איך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מעצבים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‏URI‏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נכון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52560" y="520293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/movies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202936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אוסף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— שם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עצם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ברבים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בלי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פעלים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0" y="538581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/movies/42/copies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85816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היררכיה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עותקים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סרט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מסוים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556869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/</a:t>
            </a:r>
            <a:r>
              <a:rPr lang="en-US" sz="950" b="1" i="0" noProof="0" dirty="0" err="1">
                <a:solidFill>
                  <a:srgbClr val="C4622D"/>
                </a:solidFill>
                <a:latin typeface="Consolas"/>
              </a:rPr>
              <a:t>movies?genre</a:t>
            </a:r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=</a:t>
            </a:r>
            <a:r>
              <a:rPr lang="en-US" sz="950" b="1" i="0" noProof="0" dirty="0" err="1">
                <a:solidFill>
                  <a:srgbClr val="C4622D"/>
                </a:solidFill>
                <a:latin typeface="Consolas"/>
              </a:rPr>
              <a:t>drama&amp;page</a:t>
            </a:r>
            <a:r>
              <a:rPr lang="en-US" sz="950" b="1" i="0" noProof="0" dirty="0">
                <a:solidFill>
                  <a:srgbClr val="C4622D"/>
                </a:solidFill>
                <a:latin typeface="Consolas"/>
              </a:rPr>
              <a:t>=2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568696"/>
            <a:ext cx="25420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סינון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ועימוד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בפרמטרי</a:t>
            </a:r>
            <a:r>
              <a:rPr lang="en-US" sz="100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00" b="0" i="0" noProof="0" dirty="0" err="1">
                <a:solidFill>
                  <a:srgbClr val="5A6B75"/>
                </a:solidFill>
                <a:latin typeface="Segoe UI"/>
              </a:rPr>
              <a:t>שאילתה</a:t>
            </a:r>
            <a:endParaRPr lang="en-US" sz="100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5833872"/>
            <a:ext cx="5367528" cy="411480"/>
          </a:xfrm>
          <a:prstGeom prst="roundRect">
            <a:avLst>
              <a:gd name="adj" fmla="val 4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6428232" y="5897880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950" b="1" i="0" noProof="0" dirty="0" err="1">
                <a:solidFill>
                  <a:srgbClr val="E0935E"/>
                </a:solidFill>
                <a:latin typeface="Segoe UI"/>
              </a:rPr>
              <a:t>מודל</a:t>
            </a:r>
            <a:r>
              <a:rPr lang="en-US" sz="950" b="1" i="0" noProof="0" dirty="0">
                <a:solidFill>
                  <a:srgbClr val="E0935E"/>
                </a:solidFill>
                <a:latin typeface="Segoe UI"/>
              </a:rPr>
              <a:t> </a:t>
            </a:r>
            <a:r>
              <a:rPr lang="en-US" sz="950" b="1" i="0" noProof="0" dirty="0" err="1">
                <a:solidFill>
                  <a:srgbClr val="E0935E"/>
                </a:solidFill>
                <a:latin typeface="Segoe UI"/>
              </a:rPr>
              <a:t>הבשלות</a:t>
            </a:r>
            <a:r>
              <a:rPr lang="en-US" sz="950" b="1" i="0" noProof="0" dirty="0">
                <a:solidFill>
                  <a:srgbClr val="E0935E"/>
                </a:solidFill>
                <a:latin typeface="Segoe UI"/>
              </a:rPr>
              <a:t> </a:t>
            </a:r>
            <a:r>
              <a:rPr lang="en-US" sz="950" b="1" i="0" noProof="0" dirty="0" err="1">
                <a:solidFill>
                  <a:srgbClr val="E0935E"/>
                </a:solidFill>
                <a:latin typeface="Segoe UI"/>
              </a:rPr>
              <a:t>של</a:t>
            </a:r>
            <a:r>
              <a:rPr lang="en-US" sz="950" b="1" i="0" noProof="0" dirty="0">
                <a:solidFill>
                  <a:srgbClr val="E0935E"/>
                </a:solidFill>
                <a:latin typeface="Segoe UI"/>
              </a:rPr>
              <a:t> ‏Richardson‏: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רמה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0 — ‏HTTP‏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כצינור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בלבד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·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רמה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1 —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משאבים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נפרדים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·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רמה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2 —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פעלים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וקודי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סטטוס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· </a:t>
            </a:r>
            <a:r>
              <a:rPr lang="en-US" sz="950" b="0" i="0" noProof="0" dirty="0" err="1">
                <a:solidFill>
                  <a:srgbClr val="B9D2DB"/>
                </a:solidFill>
                <a:latin typeface="Segoe UI"/>
              </a:rPr>
              <a:t>רמה</a:t>
            </a:r>
            <a:r>
              <a:rPr lang="en-US" sz="950" b="0" i="0" noProof="0" dirty="0">
                <a:solidFill>
                  <a:srgbClr val="B9D2DB"/>
                </a:solidFill>
                <a:latin typeface="Segoe UI"/>
              </a:rPr>
              <a:t> 3 — ‏HATEOAS‏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700784"/>
            <a:ext cx="5468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ששת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האילוצים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של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‏Fielding‏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029968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4553712" y="2139696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client–server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130552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359152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הפרדת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אחריות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ממשק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המשתמש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בצד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אחד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אחסון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בצד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השני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צד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מתפתח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בנפרד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720340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Rounded Rectangle 28"/>
          <p:cNvSpPr/>
          <p:nvPr/>
        </p:nvSpPr>
        <p:spPr>
          <a:xfrm>
            <a:off x="4553712" y="2830068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4553712" y="2848356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stateless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820924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049524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שומר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הקשר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כוללת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המידע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הדרוש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להבנתה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410712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ounded Rectangle 33"/>
          <p:cNvSpPr/>
          <p:nvPr/>
        </p:nvSpPr>
        <p:spPr>
          <a:xfrm>
            <a:off x="4553712" y="3520440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4553712" y="3538728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cacheable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511296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739896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תשובה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מסומנת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כניתנת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כבלתי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ניתנת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לשמירה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במטמון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שהופך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ה-‏Web‏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למהיר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101084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Rounded Rectangle 38"/>
          <p:cNvSpPr/>
          <p:nvPr/>
        </p:nvSpPr>
        <p:spPr>
          <a:xfrm>
            <a:off x="4553712" y="4210812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4553712" y="422910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uniform 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201668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430268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האילוץ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המרכזי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משאבים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מזוהים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ב-‏URI‏,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מיוצגים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בפורמט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מוסכם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ומופעלים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בפעולות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סטנדרטיות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91456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Rounded Rectangle 43"/>
          <p:cNvSpPr/>
          <p:nvPr/>
        </p:nvSpPr>
        <p:spPr>
          <a:xfrm>
            <a:off x="4553712" y="4901184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4553712" y="4919472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layered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892040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120640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יכולים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לשבת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‏proxy, gateway‏ ו-‏CDN‏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והלקוח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צריך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לדעת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481828"/>
            <a:ext cx="5468112" cy="626364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 w="1016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9" name="Rounded Rectangle 48"/>
          <p:cNvSpPr/>
          <p:nvPr/>
        </p:nvSpPr>
        <p:spPr>
          <a:xfrm>
            <a:off x="4553712" y="5591556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0" name="TextBox 49"/>
          <p:cNvSpPr txBox="1"/>
          <p:nvPr/>
        </p:nvSpPr>
        <p:spPr>
          <a:xfrm>
            <a:off x="4553712" y="5609844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900" b="1" i="0" noProof="0" dirty="0">
                <a:solidFill>
                  <a:srgbClr val="FFFFFF"/>
                </a:solidFill>
                <a:latin typeface="Consolas"/>
              </a:rPr>
              <a:t>code on demand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82412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00" b="1" i="0" noProof="0" dirty="0" err="1">
                <a:solidFill>
                  <a:srgbClr val="C4622D"/>
                </a:solidFill>
                <a:latin typeface="Segoe UI"/>
              </a:rPr>
              <a:t>אילוץ</a:t>
            </a: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 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811012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אופציונלי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רשאי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לשלוח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להרצה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אצל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למשל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‏JavaScript‏.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‏CRUD‏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ארבע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הפעולות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על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משאב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הפועל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‏HTTP‏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הפעולה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והנתיב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המשאב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הממשק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27664" y="378191"/>
            <a:ext cx="613980" cy="8025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‏CRUD‏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11064240" cy="384048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0136581" y="1746504"/>
            <a:ext cx="138485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פעולה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74836" y="1746504"/>
            <a:ext cx="94228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פועל</a:t>
            </a:r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 ‏HTTP‏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739" y="1746504"/>
            <a:ext cx="238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נתיב</a:t>
            </a:r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לדוגמה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49140" y="1746504"/>
            <a:ext cx="160614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‏SQL‏ </a:t>
            </a:r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מקביל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23540" y="1746504"/>
            <a:ext cx="160614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הצלחה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83080" y="1746504"/>
            <a:ext cx="7210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בטוח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656" y="1746504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אידמפוטנטי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2084832"/>
            <a:ext cx="1106424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/>
          <p:cNvSpPr/>
          <p:nvPr/>
        </p:nvSpPr>
        <p:spPr>
          <a:xfrm>
            <a:off x="566928" y="20848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136581" y="21031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יצירה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74836" y="21031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21031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9140" y="21031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INSERT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3540" y="21031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201 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21031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6656" y="21031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66928" y="2427732"/>
            <a:ext cx="11064240" cy="342900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/>
          <p:cNvSpPr/>
          <p:nvPr/>
        </p:nvSpPr>
        <p:spPr>
          <a:xfrm>
            <a:off x="566928" y="24277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10136581" y="24460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קריאת</a:t>
            </a:r>
            <a:r>
              <a:rPr lang="en-US" sz="110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אוסף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74836" y="24460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4739" y="24460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</a:t>
            </a:r>
            <a:r>
              <a:rPr lang="en-US" sz="1100" b="0" i="0" noProof="0" dirty="0" err="1">
                <a:solidFill>
                  <a:srgbClr val="0F1B24"/>
                </a:solidFill>
                <a:latin typeface="Consolas"/>
              </a:rPr>
              <a:t>movies?genre</a:t>
            </a:r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=drama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9140" y="24460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SELECT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3540" y="24460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200 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24460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656" y="24460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2770632"/>
            <a:ext cx="1106424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566928" y="27706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10136581" y="27889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קריאת</a:t>
            </a:r>
            <a:r>
              <a:rPr lang="en-US" sz="110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פריט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74836" y="27889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4739" y="27889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/movies/42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9140" y="27889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SELECT ... WHERE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3540" y="27889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200 / 404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27889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6656" y="27889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6928" y="3113532"/>
            <a:ext cx="11064240" cy="342900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7" name="Rectangle 46"/>
          <p:cNvSpPr/>
          <p:nvPr/>
        </p:nvSpPr>
        <p:spPr>
          <a:xfrm>
            <a:off x="566928" y="31135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10136581" y="31318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עדכון</a:t>
            </a:r>
            <a:r>
              <a:rPr lang="en-US" sz="110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מלא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974836" y="31318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4739" y="31318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/movies/42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9140" y="31318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UPDATE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23540" y="31318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200 / 204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3080" y="31318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6656" y="31318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66928" y="3456432"/>
            <a:ext cx="1106424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 55"/>
          <p:cNvSpPr/>
          <p:nvPr/>
        </p:nvSpPr>
        <p:spPr>
          <a:xfrm>
            <a:off x="566928" y="34564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10136581" y="34747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עדכון</a:t>
            </a:r>
            <a:r>
              <a:rPr lang="en-US" sz="110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חלקי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974836" y="34747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PATCH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4739" y="34747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/movies/42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9140" y="34747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UPDATE (</a:t>
            </a:r>
            <a:r>
              <a:rPr lang="en-US" sz="1100" b="0" i="0" noProof="0" dirty="0" err="1">
                <a:solidFill>
                  <a:srgbClr val="0F1B24"/>
                </a:solidFill>
                <a:latin typeface="Consolas"/>
              </a:rPr>
              <a:t>שדה</a:t>
            </a:r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23540" y="34747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200 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34747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6656" y="34747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66928" y="3799332"/>
            <a:ext cx="11064240" cy="342900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5" name="Rectangle 64"/>
          <p:cNvSpPr/>
          <p:nvPr/>
        </p:nvSpPr>
        <p:spPr>
          <a:xfrm>
            <a:off x="566928" y="379933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10136581" y="3817620"/>
            <a:ext cx="138485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00" b="1" i="0" noProof="0" dirty="0" err="1">
                <a:solidFill>
                  <a:srgbClr val="0F1B24"/>
                </a:solidFill>
                <a:latin typeface="Segoe UI"/>
              </a:rPr>
              <a:t>מחיקה</a:t>
            </a:r>
            <a:endParaRPr lang="en-US" sz="110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974836" y="3817620"/>
            <a:ext cx="942289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DELETE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74739" y="3817620"/>
            <a:ext cx="2380640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/movies/42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9140" y="38176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DELETE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3540" y="3817620"/>
            <a:ext cx="1606143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100" b="0" i="0" noProof="0" dirty="0">
                <a:solidFill>
                  <a:srgbClr val="0F1B24"/>
                </a:solidFill>
                <a:latin typeface="Consolas"/>
              </a:rPr>
              <a:t>204 No Content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3817620"/>
            <a:ext cx="721004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6656" y="3817620"/>
            <a:ext cx="886968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0"/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כן</a:t>
            </a:r>
            <a:endParaRPr lang="en-US" sz="110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66928" y="1700784"/>
            <a:ext cx="11064240" cy="2441448"/>
          </a:xfrm>
          <a:prstGeom prst="rect">
            <a:avLst/>
          </a:prstGeom>
          <a:noFill/>
          <a:ln w="952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4" name="Rounded Rectangle 73"/>
          <p:cNvSpPr/>
          <p:nvPr/>
        </p:nvSpPr>
        <p:spPr>
          <a:xfrm>
            <a:off x="8089392" y="4224528"/>
            <a:ext cx="3541775" cy="10607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5" name="Rectangle 74"/>
          <p:cNvSpPr/>
          <p:nvPr/>
        </p:nvSpPr>
        <p:spPr>
          <a:xfrm>
            <a:off x="11576304" y="4224528"/>
            <a:ext cx="54864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6" name="TextBox 75"/>
          <p:cNvSpPr txBox="1"/>
          <p:nvPr/>
        </p:nvSpPr>
        <p:spPr>
          <a:xfrm>
            <a:off x="8290560" y="4343400"/>
            <a:ext cx="3102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בטוח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אידמפוטנטי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290560" y="4617720"/>
            <a:ext cx="310286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בטוחה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‏‎(safe)‎‏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משנה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מצב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אידמפוטנטית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מותר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לחזור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התוצאה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זהה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לכן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דפדפן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חוזר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‏GET‏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בשקט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אך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מזהיר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לפני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שליחה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חוזרת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טופס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‏POST‏.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28160" y="4224528"/>
            <a:ext cx="3541775" cy="10607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9" name="Rectangle 78"/>
          <p:cNvSpPr/>
          <p:nvPr/>
        </p:nvSpPr>
        <p:spPr>
          <a:xfrm>
            <a:off x="7815072" y="4224528"/>
            <a:ext cx="54864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0" name="TextBox 79"/>
          <p:cNvSpPr txBox="1"/>
          <p:nvPr/>
        </p:nvSpPr>
        <p:spPr>
          <a:xfrm>
            <a:off x="4529328" y="4343400"/>
            <a:ext cx="3102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‏PUT‏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‏POST‏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9328" y="4617720"/>
            <a:ext cx="310286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בקשת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‏POST‏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אומרת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קח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וצור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משהו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חדש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קובע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המזהה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בקשת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‏PUT‏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אומרת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בכתובת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הזו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יישב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מעתה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התוכן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הזה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קובע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ושליחה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כפולה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תיצור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כפילות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6928" y="4224528"/>
            <a:ext cx="3541775" cy="10607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3" name="Rectangle 82"/>
          <p:cNvSpPr/>
          <p:nvPr/>
        </p:nvSpPr>
        <p:spPr>
          <a:xfrm>
            <a:off x="4053840" y="4224528"/>
            <a:ext cx="54864" cy="10607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4" name="TextBox 83"/>
          <p:cNvSpPr txBox="1"/>
          <p:nvPr/>
        </p:nvSpPr>
        <p:spPr>
          <a:xfrm>
            <a:off x="768096" y="4343400"/>
            <a:ext cx="3102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מקביליות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אופטימית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68096" y="4617720"/>
            <a:ext cx="310286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מחזיר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‏ETag‏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לכל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משאב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והלקוח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מצרפו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לעדכון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בכותרת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‏If-Match‏.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המשאב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השתנה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בינתיים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מוחזר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412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וכך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שני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עורכים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אינם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דורסים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זה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זה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01584" y="5358384"/>
            <a:ext cx="352958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7" name="Rectangle 86"/>
          <p:cNvSpPr/>
          <p:nvPr/>
        </p:nvSpPr>
        <p:spPr>
          <a:xfrm>
            <a:off x="11580876" y="5449824"/>
            <a:ext cx="50292" cy="73152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8" name="TextBox 87"/>
          <p:cNvSpPr txBox="1"/>
          <p:nvPr/>
        </p:nvSpPr>
        <p:spPr>
          <a:xfrm>
            <a:off x="8266176" y="5458968"/>
            <a:ext cx="3145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300" b="1" i="0" noProof="0" dirty="0">
                <a:solidFill>
                  <a:srgbClr val="0D4A5C"/>
                </a:solidFill>
                <a:latin typeface="Consolas"/>
              </a:rPr>
              <a:t>2xx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66176" y="5705856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הצליח</a:t>
            </a:r>
            <a:endParaRPr lang="en-US" sz="11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266176" y="5943600"/>
            <a:ext cx="3145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900" b="0" i="0" noProof="0" dirty="0">
                <a:solidFill>
                  <a:srgbClr val="5A6B75"/>
                </a:solidFill>
                <a:latin typeface="Consolas"/>
              </a:rPr>
              <a:t>200 OK · 201 Created · 204 No Content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34256" y="5358384"/>
            <a:ext cx="352958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2" name="Rectangle 91"/>
          <p:cNvSpPr/>
          <p:nvPr/>
        </p:nvSpPr>
        <p:spPr>
          <a:xfrm>
            <a:off x="7813548" y="5449824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3" name="TextBox 92"/>
          <p:cNvSpPr txBox="1"/>
          <p:nvPr/>
        </p:nvSpPr>
        <p:spPr>
          <a:xfrm>
            <a:off x="4498848" y="5458968"/>
            <a:ext cx="3145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300" b="1" i="0" noProof="0" dirty="0">
                <a:solidFill>
                  <a:srgbClr val="C4622D"/>
                </a:solidFill>
                <a:latin typeface="Consolas"/>
              </a:rPr>
              <a:t>4xx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98848" y="5705856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r>
              <a:rPr lang="en-US" sz="11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טעה</a:t>
            </a:r>
            <a:endParaRPr lang="en-US" sz="11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498848" y="5943600"/>
            <a:ext cx="3145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900" b="0" i="0" noProof="0" dirty="0">
                <a:solidFill>
                  <a:srgbClr val="5A6B75"/>
                </a:solidFill>
                <a:latin typeface="Consolas"/>
              </a:rPr>
              <a:t>400 Bad Request · 401 · 403 · 404 · 409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6928" y="5358384"/>
            <a:ext cx="3529584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7" name="Rectangle 96"/>
          <p:cNvSpPr/>
          <p:nvPr/>
        </p:nvSpPr>
        <p:spPr>
          <a:xfrm>
            <a:off x="4046220" y="5449824"/>
            <a:ext cx="50292" cy="731520"/>
          </a:xfrm>
          <a:prstGeom prst="rect">
            <a:avLst/>
          </a:prstGeom>
          <a:solidFill>
            <a:srgbClr val="A8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8" name="TextBox 97"/>
          <p:cNvSpPr txBox="1"/>
          <p:nvPr/>
        </p:nvSpPr>
        <p:spPr>
          <a:xfrm>
            <a:off x="731520" y="5458968"/>
            <a:ext cx="3145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1300" b="1" i="0" noProof="0" dirty="0">
                <a:solidFill>
                  <a:srgbClr val="A83A32"/>
                </a:solidFill>
                <a:latin typeface="Consolas"/>
              </a:rPr>
              <a:t>5xx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5705856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השרת</a:t>
            </a:r>
            <a:r>
              <a:rPr lang="en-US" sz="11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D4A5C"/>
                </a:solidFill>
                <a:latin typeface="Segoe UI"/>
              </a:rPr>
              <a:t>נכשל</a:t>
            </a:r>
            <a:endParaRPr lang="en-US" sz="11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31520" y="5943600"/>
            <a:ext cx="3145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0"/>
            <a:r>
              <a:rPr lang="en-US" sz="900" b="0" i="0" noProof="0" dirty="0">
                <a:solidFill>
                  <a:srgbClr val="5A6B75"/>
                </a:solidFill>
                <a:latin typeface="Consolas"/>
              </a:rPr>
              <a:t>500 Internal Server Error · 503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‏REST‏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בעולם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האמיתי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כמעט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‏API‏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ציבורי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שתפגשו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היום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מדבר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בשפה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הזו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47120" y="640080"/>
            <a:ext cx="384048" cy="5029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‏REST‏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719072"/>
            <a:ext cx="3529584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11580876" y="1847088"/>
            <a:ext cx="50292" cy="109728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84464" y="1847088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‏GitHub‏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2139696"/>
            <a:ext cx="3127248" cy="274320"/>
          </a:xfrm>
          <a:prstGeom prst="roundRect">
            <a:avLst>
              <a:gd name="adj" fmla="val 8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75904" y="2185415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GET /repos/{owner}/{repo}/issues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468879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הפעולות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על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מאגרים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בקשות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משיכה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ותקלות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מוחזרות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כ-‏JSON‏,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מוגבלות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בקצב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בקשות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ומאובטחות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בטוקן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719072"/>
            <a:ext cx="3529584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/>
          <p:cNvSpPr/>
          <p:nvPr/>
        </p:nvSpPr>
        <p:spPr>
          <a:xfrm>
            <a:off x="7813548" y="1847088"/>
            <a:ext cx="50292" cy="109728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517136" y="1847088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‏Stripe‏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2139696"/>
            <a:ext cx="3127248" cy="274320"/>
          </a:xfrm>
          <a:prstGeom prst="roundRect">
            <a:avLst>
              <a:gd name="adj" fmla="val 8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608576" y="2185415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POST /v1/charges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468879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חיוב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כרטיס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אשראי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בבקשת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‏POST‏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אחת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אחד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הממשקים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המצוטטים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ביותר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כדוגמה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לעיצוב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‏REST‏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נקי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1719072"/>
            <a:ext cx="3529584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/>
          <p:cNvSpPr/>
          <p:nvPr/>
        </p:nvSpPr>
        <p:spPr>
          <a:xfrm>
            <a:off x="4046220" y="1847088"/>
            <a:ext cx="50292" cy="109728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749808" y="1847088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‏Amazon AWS‏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2139696"/>
            <a:ext cx="3127248" cy="274320"/>
          </a:xfrm>
          <a:prstGeom prst="roundRect">
            <a:avLst>
              <a:gd name="adj" fmla="val 8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841248" y="2185415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PUT /{bucket}/{key}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468879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העלאת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אובייקט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ל-‏S3‏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היא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בדיוק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‏PUT‏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על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משאב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הספר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מציין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ששירותי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‏Amazon‏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‏RESTful‏.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4" y="3236976"/>
            <a:ext cx="3529584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1580876" y="3364992"/>
            <a:ext cx="50292" cy="109728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8284464" y="3364992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‏Spotify‏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84464" y="3657600"/>
            <a:ext cx="3127248" cy="274320"/>
          </a:xfrm>
          <a:prstGeom prst="roundRect">
            <a:avLst>
              <a:gd name="adj" fmla="val 8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8375904" y="3703320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GET /v1/artists/{id}/top-tracks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3986784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היררכיית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משאבים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קלאסית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אמן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ואז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הלהיטים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שלו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פרמטרי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שאילתה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לשוק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ולשפה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4256" y="3236976"/>
            <a:ext cx="3529584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6" name="Rectangle 35"/>
          <p:cNvSpPr/>
          <p:nvPr/>
        </p:nvSpPr>
        <p:spPr>
          <a:xfrm>
            <a:off x="7813548" y="3364992"/>
            <a:ext cx="50292" cy="109728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4517136" y="3364992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‏Google Maps‏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17136" y="3657600"/>
            <a:ext cx="3127248" cy="274320"/>
          </a:xfrm>
          <a:prstGeom prst="roundRect">
            <a:avLst>
              <a:gd name="adj" fmla="val 8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4608576" y="3703320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GET /maps/</a:t>
            </a:r>
            <a:r>
              <a:rPr lang="en-US" sz="900" b="0" i="0" noProof="0" dirty="0" err="1">
                <a:solidFill>
                  <a:srgbClr val="9FD1A0"/>
                </a:solidFill>
                <a:latin typeface="Consolas"/>
              </a:rPr>
              <a:t>api</a:t>
            </a:r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/geocode/</a:t>
            </a:r>
            <a:r>
              <a:rPr lang="en-US" sz="900" b="0" i="0" noProof="0" dirty="0" err="1">
                <a:solidFill>
                  <a:srgbClr val="9FD1A0"/>
                </a:solidFill>
                <a:latin typeface="Consolas"/>
              </a:rPr>
              <a:t>json?address</a:t>
            </a:r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=...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136" y="3986784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המרת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כתובת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לקואורדינטות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שימו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ל-‏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json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בנתיב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ולפרמטרים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בשאילתה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236976"/>
            <a:ext cx="3529584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tangle 41"/>
          <p:cNvSpPr/>
          <p:nvPr/>
        </p:nvSpPr>
        <p:spPr>
          <a:xfrm>
            <a:off x="4046220" y="3364992"/>
            <a:ext cx="50292" cy="109728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749808" y="3364992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‏X (Twitter)‎‏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3657600"/>
            <a:ext cx="3127248" cy="274320"/>
          </a:xfrm>
          <a:prstGeom prst="roundRect">
            <a:avLst>
              <a:gd name="adj" fmla="val 8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841248" y="3703320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00" b="0" i="0" noProof="0" dirty="0">
                <a:solidFill>
                  <a:srgbClr val="9FD1A0"/>
                </a:solidFill>
                <a:latin typeface="Consolas"/>
              </a:rPr>
              <a:t>GET /2/tweets/{id}?expansions=</a:t>
            </a:r>
            <a:r>
              <a:rPr lang="en-US" sz="900" b="0" i="0" noProof="0" dirty="0" err="1">
                <a:solidFill>
                  <a:srgbClr val="9FD1A0"/>
                </a:solidFill>
                <a:latin typeface="Consolas"/>
              </a:rPr>
              <a:t>author_id</a:t>
            </a:r>
            <a:endParaRPr lang="en-US" sz="900" b="0" i="0" noProof="0" dirty="0">
              <a:solidFill>
                <a:srgbClr val="9FD1A0"/>
              </a:solidFill>
              <a:latin typeface="Consola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9808" y="3986784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משאב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יחיד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הרחבות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אופציונליות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דרך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נפוצה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לצמצם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מספר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הקריאות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773168"/>
            <a:ext cx="11064240" cy="147218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8" name="Rectangle 47"/>
          <p:cNvSpPr/>
          <p:nvPr/>
        </p:nvSpPr>
        <p:spPr>
          <a:xfrm>
            <a:off x="11576303" y="4773168"/>
            <a:ext cx="54864" cy="147218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9" name="TextBox 48"/>
          <p:cNvSpPr txBox="1"/>
          <p:nvPr/>
        </p:nvSpPr>
        <p:spPr>
          <a:xfrm>
            <a:off x="768096" y="4892040"/>
            <a:ext cx="106253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למה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דווקא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‏REST‏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כבש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את ה-‏API‏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הציבורי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7063" y="5184648"/>
            <a:ext cx="5202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דפדפן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טלפון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כבר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יודעים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‏HTTP‏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צורך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בספרייה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מיוחדת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7063" y="5513832"/>
            <a:ext cx="5202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‏JSON‏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נטען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ישירות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לאובייקט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ב-‏JavaScript‏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ובכל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שפה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מודרנית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27063" y="5843016"/>
            <a:ext cx="5202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תשתיות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המטמון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האינטרנט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עובדות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בשבילכם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בחינם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בקשת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‏GET‏.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5" y="5184648"/>
            <a:ext cx="5202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עקומת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למידה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מפתח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חדש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מבין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‏endpoint‏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אחד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בתוך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דקה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;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קריאת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‏WSDL‏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היא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פרויקט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5" y="5513832"/>
            <a:ext cx="5202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בדיקה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ואיתור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תקלות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‏curl‏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שורת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הכתובת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ייעודיים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5" y="5843016"/>
            <a:ext cx="5202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92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רוחב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פס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קריטי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כשמיליוני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מכשירים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ניידים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ניגשים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לשירות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ברשת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סלולרית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‏JAX-RS‏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בניית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שירות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‏RESTful‏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‏Java API for RESTful Web Services (JSR 311 / JSR 339)‎‏,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‏Jersey‏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כמימוש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הייחוס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55895" y="482803"/>
            <a:ext cx="578646" cy="65836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6263640" cy="3675887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626364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626364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WelcomeRESTJSONResource.java — Deitel, Fig. 32.20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8231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13232" y="2093976"/>
            <a:ext cx="5971031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GET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Path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PathParam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import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javax.ws.rs.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Produces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;</a:t>
            </a:r>
          </a:p>
          <a:p>
            <a:pPr algn="l" rtl="0">
              <a:lnSpc>
                <a:spcPts val="1296"/>
              </a:lnSpc>
            </a:pPr>
            <a:r>
              <a:rPr lang="en-US" sz="900" noProof="0" dirty="0">
                <a:latin typeface="Consolas"/>
              </a:rPr>
              <a:t> </a:t>
            </a:r>
          </a:p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"welcome"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              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הנתיב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אל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המשאב</a:t>
            </a:r>
            <a:endParaRPr lang="en-US" sz="90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WelcomeRESTJSONResource</a:t>
            </a:r>
            <a:endParaRPr lang="en-US" sz="900" b="0" noProof="0" dirty="0">
              <a:solidFill>
                <a:srgbClr val="C9B6E8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{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@GET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                   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מטפל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בבקשות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GET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"{name}"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             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פרמטר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בתוך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הנתיב</a:t>
            </a:r>
            <a:endParaRPr lang="en-US" sz="90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@Produces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"application/json"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 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מה</a:t>
            </a:r>
            <a:r>
              <a:rPr lang="en-US" sz="90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6F8894"/>
                </a:solidFill>
                <a:latin typeface="Consolas"/>
              </a:rPr>
              <a:t>מוחזר</a:t>
            </a:r>
            <a:endParaRPr lang="en-US" sz="90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getJson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   </a:t>
            </a: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@PathParam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"name"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9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name)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{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TextMessage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message =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TextMessage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message.setMessage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900" b="0" noProof="0" dirty="0">
                <a:solidFill>
                  <a:srgbClr val="9FD1A0"/>
                </a:solidFill>
                <a:latin typeface="Consolas"/>
              </a:rPr>
              <a:t>"Welcome to JAX-RS, "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+ name);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C9B6E8"/>
                </a:solidFill>
                <a:latin typeface="Consolas"/>
              </a:rPr>
              <a:t>Gson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().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toJson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(message);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49824"/>
            <a:ext cx="6263640" cy="566928"/>
          </a:xfrm>
          <a:prstGeom prst="roundRect">
            <a:avLst>
              <a:gd name="adj" fmla="val 40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5513832"/>
            <a:ext cx="5934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950" b="1" i="0" noProof="0" dirty="0" err="1">
                <a:solidFill>
                  <a:srgbClr val="6FA8B8"/>
                </a:solidFill>
                <a:latin typeface="Segoe UI"/>
              </a:rPr>
              <a:t>והכתובת</a:t>
            </a:r>
            <a:r>
              <a:rPr lang="en-US" sz="95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Segoe UI"/>
              </a:rPr>
              <a:t>שנוצרת</a:t>
            </a:r>
            <a:r>
              <a:rPr lang="en-US" sz="950" b="1" i="0" noProof="0" dirty="0">
                <a:solidFill>
                  <a:srgbClr val="6FA8B8"/>
                </a:solidFill>
                <a:latin typeface="Segoe UI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Segoe UI"/>
              </a:rPr>
              <a:t>בפועל</a:t>
            </a:r>
            <a:r>
              <a:rPr lang="en-US" sz="950" b="1" i="0" noProof="0" dirty="0">
                <a:solidFill>
                  <a:srgbClr val="6FA8B8"/>
                </a:solidFill>
                <a:latin typeface="Segoe UI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59344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00" b="0" i="0" noProof="0" dirty="0">
                <a:solidFill>
                  <a:srgbClr val="9FD1A0"/>
                </a:solidFill>
                <a:latin typeface="Consolas"/>
              </a:rPr>
              <a:t>http://localhost:8080/WelcomeRESTJSON/webresources/welcome/John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71616"/>
            <a:ext cx="62636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עם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‏‎@Produces("application/xml")‎‏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ועם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‏JAXB‏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אותו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קוד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5A6B75"/>
                </a:solidFill>
                <a:latin typeface="Segoe UI"/>
              </a:rPr>
              <a:t>מחזיר</a:t>
            </a:r>
            <a:r>
              <a:rPr lang="en-US" sz="950" b="0" i="0" noProof="0" dirty="0">
                <a:solidFill>
                  <a:srgbClr val="5A6B75"/>
                </a:solidFill>
                <a:latin typeface="Segoe UI"/>
              </a:rPr>
              <a:t> ‏XML‏.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70078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האנוטציות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המרכזיות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59168" y="2011680"/>
            <a:ext cx="4572000" cy="347472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0003536" y="205740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אנוטציה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68896" y="2057400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תפקיד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59168" y="2359152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7059168" y="2359152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0003536" y="2377440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2377440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הנתיב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שבו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נגיש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המשאב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המתודה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59168" y="2674620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7059168" y="2674620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10003536" y="2692908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@GET @POST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2692908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לאיזה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פועל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המתודה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עונה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59168" y="2990087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7059168" y="2990087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10003536" y="3008375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@PUT @DELETE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3008375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עדכון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ומחיקה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המשאב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59168" y="3305555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7059168" y="3305555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10003536" y="3323843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@Produces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8896" y="3323843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סוג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התוכן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שהמתודה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מחזירה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059168" y="3621023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tangle 41"/>
          <p:cNvSpPr/>
          <p:nvPr/>
        </p:nvSpPr>
        <p:spPr>
          <a:xfrm>
            <a:off x="7059168" y="3621023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10003536" y="3639311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@Consumes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68896" y="3639311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סוג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התוכן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שהמתודה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מוכנה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לקבל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059168" y="3936491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 45"/>
          <p:cNvSpPr/>
          <p:nvPr/>
        </p:nvSpPr>
        <p:spPr>
          <a:xfrm>
            <a:off x="7059168" y="3936491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10003536" y="3954779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@PathParam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8896" y="3954779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קושר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רכיב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מהנתיב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לפרמטר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במתודה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059168" y="4251959"/>
            <a:ext cx="45720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0" name="Rectangle 49"/>
          <p:cNvSpPr/>
          <p:nvPr/>
        </p:nvSpPr>
        <p:spPr>
          <a:xfrm>
            <a:off x="7059168" y="4251959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10003536" y="4270247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@QueryParam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4270247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קושר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פרמטר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שאילתה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לפרמטר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במתודה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059168" y="4567427"/>
            <a:ext cx="4572000" cy="315468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4" name="Rectangle 53"/>
          <p:cNvSpPr/>
          <p:nvPr/>
        </p:nvSpPr>
        <p:spPr>
          <a:xfrm>
            <a:off x="7059168" y="4567427"/>
            <a:ext cx="457200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10003536" y="4585715"/>
            <a:ext cx="151790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0F1B24"/>
                </a:solidFill>
                <a:latin typeface="Consolas"/>
              </a:rPr>
              <a:t>@ApplicationPath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68896" y="4585715"/>
            <a:ext cx="2615184" cy="2788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הקידומת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ה-‏API‏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ביישום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059168" y="2011680"/>
            <a:ext cx="4572000" cy="2871215"/>
          </a:xfrm>
          <a:prstGeom prst="rect">
            <a:avLst/>
          </a:prstGeom>
          <a:noFill/>
          <a:ln w="952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8" name="Rounded Rectangle 57"/>
          <p:cNvSpPr/>
          <p:nvPr/>
        </p:nvSpPr>
        <p:spPr>
          <a:xfrm>
            <a:off x="7059168" y="4956048"/>
            <a:ext cx="4572000" cy="1289304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9" name="Rectangle 58"/>
          <p:cNvSpPr/>
          <p:nvPr/>
        </p:nvSpPr>
        <p:spPr>
          <a:xfrm>
            <a:off x="11576303" y="4956048"/>
            <a:ext cx="54864" cy="12893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7260336" y="5074920"/>
            <a:ext cx="41330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פרטים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ששווה</a:t>
            </a:r>
            <a:r>
              <a:rPr lang="en-US" sz="12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50" b="1" i="0" noProof="0" dirty="0" err="1">
                <a:solidFill>
                  <a:srgbClr val="0D4A5C"/>
                </a:solidFill>
                <a:latin typeface="Segoe UI"/>
              </a:rPr>
              <a:t>לדעת</a:t>
            </a:r>
            <a:endParaRPr lang="en-US" sz="12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60335" y="5367528"/>
            <a:ext cx="4169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07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אפשר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שתי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מתודות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לאותו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נתיב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ואותו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פועל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‏‎@Produces‏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שונה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המסגרת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תבחר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לפי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שהלקוח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ביקש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בכותרת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‏Accept‏.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5" y="5678424"/>
            <a:ext cx="4169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07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‏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ExceptionMapper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ממפה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חריגה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לתשובת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אחידה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ומסנני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ContainerRequestFilter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מטפלים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באימות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ברישום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וב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-‏CORS‏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לגעת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במשאב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0335" y="5989320"/>
            <a:ext cx="41696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807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מ-‏Jakarta EE 9‏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מרחב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השמות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‏jakarta.ws.rs‏ </a:t>
            </a:r>
            <a:r>
              <a:rPr lang="en-US" sz="950" b="0" i="0" noProof="0" dirty="0" err="1">
                <a:solidFill>
                  <a:srgbClr val="0F1B24"/>
                </a:solidFill>
                <a:latin typeface="Segoe UI"/>
              </a:rPr>
              <a:t>במקום</a:t>
            </a:r>
            <a:r>
              <a:rPr lang="en-US" sz="950" b="0" i="0" noProof="0" dirty="0">
                <a:solidFill>
                  <a:srgbClr val="0F1B24"/>
                </a:solidFill>
                <a:latin typeface="Segoe UI"/>
              </a:rPr>
              <a:t> ‏javax.ws.rs‏.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‏JAX-RS‏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משאב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‏CRUD‏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מלא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ולקוח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נראה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בפועל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משאב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שמממש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את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ארבע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הפעולות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45952" y="475487"/>
            <a:ext cx="609127" cy="6400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6400800" cy="458724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64008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64008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MovieResource.java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13232" y="2093976"/>
            <a:ext cx="6108192" cy="422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060"/>
              </a:lnSpc>
            </a:pP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"movies"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060"/>
              </a:lnSpc>
            </a:pP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@Produces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MediaType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APPLICATION_JSON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060"/>
              </a:lnSpc>
            </a:pP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@Consumes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MediaType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APPLICATION_JSON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MovieResource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{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@GET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    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/</a:t>
            </a:r>
            <a:r>
              <a:rPr lang="en-US" sz="1200" b="0" noProof="0" dirty="0" err="1">
                <a:solidFill>
                  <a:srgbClr val="6F8894"/>
                </a:solidFill>
                <a:latin typeface="Consolas"/>
              </a:rPr>
              <a:t>movies?genre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=drama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List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&lt;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&gt; list(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@QueryParam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"genre"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g)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dao.findAll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(g);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@GET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"{id}"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  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/movies/42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find(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@PathParam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"id"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int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id)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m =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dao.find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(id);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if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(m ==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null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throw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new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NotFoundException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();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404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m;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@POST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   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201 + Location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create(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m)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dao.insert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(m);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.created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     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URI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.create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"movies/"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+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m.getId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())).build();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@DELETE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"{id}"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                   </a:t>
            </a:r>
            <a:r>
              <a:rPr lang="en-US" sz="1200" b="0" noProof="0" dirty="0">
                <a:solidFill>
                  <a:srgbClr val="6F8894"/>
                </a:solidFill>
                <a:latin typeface="Consolas"/>
              </a:rPr>
              <a:t>// 204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delete(</a:t>
            </a:r>
            <a:r>
              <a:rPr lang="en-US" sz="1200" b="1" noProof="0" dirty="0">
                <a:solidFill>
                  <a:srgbClr val="F0A06A"/>
                </a:solidFill>
                <a:latin typeface="Consolas"/>
              </a:rPr>
              <a:t>@PathParam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"id"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)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int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id) {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dao.delete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(id);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 err="1">
                <a:solidFill>
                  <a:srgbClr val="C9B6E8"/>
                </a:solidFill>
                <a:latin typeface="Consolas"/>
              </a:rPr>
              <a:t>Response</a:t>
            </a:r>
            <a:r>
              <a:rPr lang="en-US" sz="1200" b="0" noProof="0" dirty="0" err="1">
                <a:solidFill>
                  <a:srgbClr val="DCE8ED"/>
                </a:solidFill>
                <a:latin typeface="Consolas"/>
              </a:rPr>
              <a:t>.noContent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().build();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}</a:t>
            </a:r>
          </a:p>
          <a:p>
            <a:pPr algn="l" rtl="0">
              <a:lnSpc>
                <a:spcPts val="106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00784"/>
            <a:ext cx="4407408" cy="896112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7223760" y="1700784"/>
            <a:ext cx="440740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7223760" y="1865376"/>
            <a:ext cx="440740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370064" y="1751076"/>
            <a:ext cx="367588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rtl="1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                      </a:t>
            </a:r>
            <a:r>
              <a:rPr lang="he-IL" sz="950" b="1" dirty="0">
                <a:solidFill>
                  <a:srgbClr val="6FA8B8"/>
                </a:solidFill>
                <a:latin typeface="Consolas"/>
              </a:rPr>
              <a:t>הפעלת </a:t>
            </a:r>
            <a:r>
              <a:rPr lang="en-US" sz="950" b="1" dirty="0">
                <a:solidFill>
                  <a:srgbClr val="6FA8B8"/>
                </a:solidFill>
                <a:latin typeface="Consolas"/>
              </a:rPr>
              <a:t>JAX-RS</a:t>
            </a:r>
            <a:endParaRPr lang="he-IL" sz="950" b="1" i="0" noProof="0" dirty="0">
              <a:solidFill>
                <a:srgbClr val="6FA8B8"/>
              </a:solidFill>
              <a:latin typeface="Consola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122883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315200" y="2086251"/>
            <a:ext cx="4114800" cy="347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368"/>
              </a:lnSpc>
            </a:pPr>
            <a:r>
              <a:rPr lang="en-US" sz="1100" b="1" noProof="0" dirty="0">
                <a:solidFill>
                  <a:srgbClr val="F0A06A"/>
                </a:solidFill>
                <a:latin typeface="Consolas"/>
              </a:rPr>
              <a:t>@ApplicationPath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"api"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RestConfig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>
                <a:solidFill>
                  <a:srgbClr val="7FC7DE"/>
                </a:solidFill>
                <a:latin typeface="Consolas"/>
              </a:rPr>
              <a:t>extends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>
                <a:solidFill>
                  <a:srgbClr val="C9B6E8"/>
                </a:solidFill>
                <a:latin typeface="Consolas"/>
              </a:rPr>
              <a:t>Application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{ 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578608"/>
            <a:ext cx="4407408" cy="1764792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7223760" y="2578608"/>
            <a:ext cx="4407408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/>
          <p:cNvSpPr/>
          <p:nvPr/>
        </p:nvSpPr>
        <p:spPr>
          <a:xfrm>
            <a:off x="7223760" y="2743199"/>
            <a:ext cx="4407408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7370064" y="2628900"/>
            <a:ext cx="3675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Client API — JAX-RS 2.0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28832" y="2683764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370064" y="2971799"/>
            <a:ext cx="4114800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C9B6E8"/>
                </a:solidFill>
                <a:latin typeface="Consolas"/>
              </a:rPr>
              <a:t>Client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client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= 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ClientBuilder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.newClient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();</a:t>
            </a:r>
          </a:p>
          <a:p>
            <a:pPr algn="l" rtl="0">
              <a:lnSpc>
                <a:spcPts val="1368"/>
              </a:lnSpc>
            </a:pPr>
            <a:r>
              <a:rPr lang="en-US" sz="1100" noProof="0" dirty="0">
                <a:latin typeface="Consolas"/>
              </a:rPr>
              <a:t> 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m = client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.target(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"http://localhost:8080/</a:t>
            </a:r>
            <a:r>
              <a:rPr lang="en-US" sz="1100" b="0" noProof="0" dirty="0" err="1">
                <a:solidFill>
                  <a:srgbClr val="9FD1A0"/>
                </a:solidFill>
                <a:latin typeface="Consolas"/>
              </a:rPr>
              <a:t>api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.path(</a:t>
            </a:r>
            <a:r>
              <a:rPr lang="en-US" sz="1100" b="0" noProof="0" dirty="0">
                <a:solidFill>
                  <a:srgbClr val="9FD1A0"/>
                </a:solidFill>
                <a:latin typeface="Consolas"/>
              </a:rPr>
              <a:t>"movies/42"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.request(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MediaType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APPLICATION_JSON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368"/>
              </a:lnSpc>
            </a:pP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      .get(</a:t>
            </a:r>
            <a:r>
              <a:rPr lang="en-US" sz="1100" b="0" noProof="0" dirty="0" err="1">
                <a:solidFill>
                  <a:srgbClr val="C9B6E8"/>
                </a:solidFill>
                <a:latin typeface="Consolas"/>
              </a:rPr>
              <a:t>Movie</a:t>
            </a:r>
            <a:r>
              <a:rPr lang="en-US" sz="1100" b="0" noProof="0" dirty="0" err="1">
                <a:solidFill>
                  <a:srgbClr val="DCE8ED"/>
                </a:solidFill>
                <a:latin typeface="Consolas"/>
              </a:rPr>
              <a:t>.</a:t>
            </a:r>
            <a:r>
              <a:rPr lang="en-US" sz="1100" b="0" noProof="0" dirty="0" err="1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1100" b="0" noProof="0" dirty="0">
                <a:solidFill>
                  <a:srgbClr val="DCE8ED"/>
                </a:solidFill>
                <a:latin typeface="Consolas"/>
              </a:rPr>
              <a:t>);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4352544"/>
            <a:ext cx="4407408" cy="1892807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1576304" y="4352544"/>
            <a:ext cx="54864" cy="1892807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7424928" y="4471416"/>
            <a:ext cx="39684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כללי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אצבע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שמפרידים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‏API‏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טוב</a:t>
            </a:r>
            <a:r>
              <a:rPr lang="en-US" sz="1200" b="1" i="0" noProof="0" dirty="0">
                <a:solidFill>
                  <a:srgbClr val="0D4A5C"/>
                </a:solidFill>
                <a:latin typeface="Segoe UI"/>
              </a:rPr>
              <a:t> מ-‏API‏ </a:t>
            </a:r>
            <a:r>
              <a:rPr lang="en-US" sz="1200" b="1" i="0" noProof="0" dirty="0" err="1">
                <a:solidFill>
                  <a:srgbClr val="0D4A5C"/>
                </a:solidFill>
                <a:latin typeface="Segoe UI"/>
              </a:rPr>
              <a:t>מרושל</a:t>
            </a:r>
            <a:endParaRPr lang="en-US" sz="12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24928" y="4764024"/>
            <a:ext cx="4005072" cy="1422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החזירו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‏201 Created‏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כותרת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‏Location‏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אחרי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יצירה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, ו-‏204 No Content‏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אחרי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מחיקה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200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גוף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b="0" i="0" noProof="0" dirty="0" err="1">
                <a:solidFill>
                  <a:srgbClr val="0F1B24"/>
                </a:solidFill>
                <a:latin typeface="Segoe UI"/>
              </a:rPr>
              <a:t>ריק</a:t>
            </a:r>
            <a:r>
              <a:rPr lang="en-US" sz="1100" b="0" i="0" noProof="0" dirty="0">
                <a:solidFill>
                  <a:srgbClr val="0F1B24"/>
                </a:solidFill>
                <a:latin typeface="Segoe UI"/>
              </a:rPr>
              <a:t>.</a:t>
            </a:r>
            <a:endParaRPr lang="he-IL" sz="1100" b="0" i="0" noProof="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50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החזירו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404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כשמשאב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קיים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; ‏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NotFoundException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עושה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זאת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עבורכם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.</a:t>
            </a:r>
            <a:endParaRPr lang="he-IL" sz="110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50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עמדו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עימוד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: ‎‏‎?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page&amp;size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‏‎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סך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הרשומות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בכותרת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הטבלה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בבת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אחת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.</a:t>
            </a:r>
            <a:endParaRPr lang="he-IL" sz="110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1050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אל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תשימו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פעלים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בנתיב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‏‎/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getMovie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‏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אלא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‏GET /movies/42‏.</a:t>
            </a:r>
            <a:endParaRPr lang="he-IL" sz="1100" dirty="0">
              <a:solidFill>
                <a:srgbClr val="0F1B24"/>
              </a:solidFill>
              <a:latin typeface="Segoe UI"/>
            </a:endParaRPr>
          </a:p>
          <a:p>
            <a:pPr algn="r" rtl="1">
              <a:lnSpc>
                <a:spcPct val="106000"/>
              </a:lnSpc>
            </a:pPr>
            <a:r>
              <a:rPr lang="en-US" sz="807" b="1" dirty="0">
                <a:solidFill>
                  <a:srgbClr val="C4622D"/>
                </a:solidFill>
                <a:latin typeface="Segoe UI"/>
              </a:rPr>
              <a:t>▪ 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החזירו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ייצוג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בכל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הפעולות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עקביות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חשובה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יותר</a:t>
            </a:r>
            <a:r>
              <a:rPr lang="en-US" sz="110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0F1B24"/>
                </a:solidFill>
                <a:latin typeface="Segoe UI"/>
              </a:rPr>
              <a:t>משלמות</a:t>
            </a:r>
            <a:r>
              <a:rPr lang="en-US" sz="95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‏XML‏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‏JSON‏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אותם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נתונים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בדיוק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שתי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דרכים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לייצג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אותם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החוט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37289" y="491491"/>
            <a:ext cx="693879" cy="4571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5440680" cy="228092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566928" y="1700784"/>
            <a:ext cx="544068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66928" y="1865376"/>
            <a:ext cx="544068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2" y="1751076"/>
            <a:ext cx="4709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1" i="0" noProof="0" dirty="0">
                <a:solidFill>
                  <a:srgbClr val="6FA8B8"/>
                </a:solidFill>
                <a:latin typeface="Consolas"/>
              </a:rPr>
              <a:t>XML  —  208 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527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13232" y="2093976"/>
            <a:ext cx="5148072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40"/>
              </a:lnSpc>
            </a:pP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&lt;movies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id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"42"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&lt;title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Inception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&lt;/title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&lt;year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2010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&lt;/year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&lt;available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true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&lt;/available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&lt;/movie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&lt;movie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1200" b="0" noProof="0" dirty="0">
                <a:solidFill>
                  <a:srgbClr val="F0A06A"/>
                </a:solidFill>
                <a:latin typeface="Consolas"/>
              </a:rPr>
              <a:t>id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"43"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&lt;title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Arrival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&lt;/title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&lt;year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2016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&lt;/year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&lt;/movie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240"/>
              </a:lnSpc>
            </a:pPr>
            <a:r>
              <a:rPr lang="en-US" sz="1200" b="1" noProof="0" dirty="0">
                <a:solidFill>
                  <a:srgbClr val="7FC7DE"/>
                </a:solidFill>
                <a:latin typeface="Consolas"/>
              </a:rPr>
              <a:t>&lt;/movies</a:t>
            </a:r>
            <a:r>
              <a:rPr lang="en-US" sz="120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700784"/>
            <a:ext cx="5440680" cy="228092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6190488" y="1700784"/>
            <a:ext cx="544068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6190488" y="1865376"/>
            <a:ext cx="544068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336792" y="1751076"/>
            <a:ext cx="4709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1" i="0" noProof="0" dirty="0">
                <a:solidFill>
                  <a:srgbClr val="6FA8B8"/>
                </a:solidFill>
                <a:latin typeface="Consolas"/>
              </a:rPr>
              <a:t>JSON  —  173 bytes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228832" y="180594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330696" y="2053133"/>
            <a:ext cx="5148072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{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"movies"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[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{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"id"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1200" b="0" noProof="0" dirty="0">
                <a:solidFill>
                  <a:srgbClr val="E8B87C"/>
                </a:solidFill>
                <a:latin typeface="Consolas"/>
              </a:rPr>
              <a:t>42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,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"title"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"Inception"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,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"year"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1200" b="0" noProof="0" dirty="0">
                <a:solidFill>
                  <a:srgbClr val="E8B87C"/>
                </a:solidFill>
                <a:latin typeface="Consolas"/>
              </a:rPr>
              <a:t>2010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,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"available"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true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},</a:t>
            </a:r>
          </a:p>
          <a:p>
            <a:pPr algn="l" rtl="0">
              <a:lnSpc>
                <a:spcPts val="1240"/>
              </a:lnSpc>
            </a:pPr>
            <a:r>
              <a:rPr lang="en-US" sz="1200" noProof="0" dirty="0">
                <a:latin typeface="Consolas"/>
              </a:rPr>
              <a:t> 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{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"id"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1200" b="0" noProof="0" dirty="0">
                <a:solidFill>
                  <a:srgbClr val="E8B87C"/>
                </a:solidFill>
                <a:latin typeface="Consolas"/>
              </a:rPr>
              <a:t>43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,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"title"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1200" b="0" noProof="0" dirty="0">
                <a:solidFill>
                  <a:srgbClr val="9FD1A0"/>
                </a:solidFill>
                <a:latin typeface="Consolas"/>
              </a:rPr>
              <a:t>"Arrival"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,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1200" b="0" noProof="0" dirty="0">
                <a:solidFill>
                  <a:srgbClr val="7FC7DE"/>
                </a:solidFill>
                <a:latin typeface="Consolas"/>
              </a:rPr>
              <a:t>"year"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1200" b="0" noProof="0" dirty="0">
                <a:solidFill>
                  <a:srgbClr val="E8B87C"/>
                </a:solidFill>
                <a:latin typeface="Consolas"/>
              </a:rPr>
              <a:t>2016</a:t>
            </a: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}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  ]</a:t>
            </a:r>
          </a:p>
          <a:p>
            <a:pPr algn="l" rtl="0">
              <a:lnSpc>
                <a:spcPts val="1240"/>
              </a:lnSpc>
            </a:pPr>
            <a:r>
              <a:rPr lang="en-US" sz="120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069080"/>
            <a:ext cx="11064240" cy="329184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9970617" y="4114800"/>
            <a:ext cx="1550822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קריטריון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23636" y="4114800"/>
            <a:ext cx="4427524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‏XML‏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114800"/>
            <a:ext cx="4427524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‏JSON‏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398264"/>
            <a:ext cx="11064240" cy="260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/>
          <p:cNvSpPr/>
          <p:nvPr/>
        </p:nvSpPr>
        <p:spPr>
          <a:xfrm>
            <a:off x="566928" y="439826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9970617" y="4416552"/>
            <a:ext cx="1550822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מבנה</a:t>
            </a:r>
            <a:endParaRPr lang="en-US" sz="10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23636" y="4416552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אלמנטים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מאפיינים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ומרחבי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שמות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656" y="4416552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זוגות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שם/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ערך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בסוגריים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מסולסלים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6928" y="4658868"/>
            <a:ext cx="11064240" cy="260603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/>
          <p:cNvSpPr/>
          <p:nvPr/>
        </p:nvSpPr>
        <p:spPr>
          <a:xfrm>
            <a:off x="566928" y="465886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9970617" y="4677156"/>
            <a:ext cx="1550822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נפח</a:t>
            </a:r>
            <a:endParaRPr lang="en-US" sz="10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23636" y="4677156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מלל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רב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שדה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עטוף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בתג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פותח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ובתג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סוגר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656" y="4677156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תמציתי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;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חוסך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תעבורה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ברשת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4919472"/>
            <a:ext cx="11064240" cy="260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566928" y="491947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9970617" y="4937760"/>
            <a:ext cx="1550822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טיפוסים</a:t>
            </a:r>
            <a:endParaRPr lang="en-US" sz="10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23636" y="4937760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הכול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טקסט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אלא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קיימת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סכימה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6656" y="4937760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מספר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מחרוזת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בוליאני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מערך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‏null‏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180076"/>
            <a:ext cx="11064240" cy="260603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3" name="Rectangle 42"/>
          <p:cNvSpPr/>
          <p:nvPr/>
        </p:nvSpPr>
        <p:spPr>
          <a:xfrm>
            <a:off x="566928" y="5180076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4" name="TextBox 43"/>
          <p:cNvSpPr txBox="1"/>
          <p:nvPr/>
        </p:nvSpPr>
        <p:spPr>
          <a:xfrm>
            <a:off x="9970617" y="5198364"/>
            <a:ext cx="1550822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ולידציה</a:t>
            </a:r>
            <a:endParaRPr lang="en-US" sz="10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23636" y="5198364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‏XSD‏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תקן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בשל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ועשיר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מאוד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6656" y="5198364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‏JSON Schema‏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צעיר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ופחות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נפוץ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66928" y="5440680"/>
            <a:ext cx="11064240" cy="260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8" name="Rectangle 47"/>
          <p:cNvSpPr/>
          <p:nvPr/>
        </p:nvSpPr>
        <p:spPr>
          <a:xfrm>
            <a:off x="566928" y="5440680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9" name="TextBox 48"/>
          <p:cNvSpPr txBox="1"/>
          <p:nvPr/>
        </p:nvSpPr>
        <p:spPr>
          <a:xfrm>
            <a:off x="9970617" y="5458968"/>
            <a:ext cx="1550822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ניתוח</a:t>
            </a:r>
            <a:r>
              <a:rPr lang="en-US" sz="10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בקוד</a:t>
            </a:r>
            <a:endParaRPr lang="en-US" sz="10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23636" y="5458968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‏DOM/SAX/JAXB‏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יקר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יחסית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76656" y="5458968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מיפוי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ישיר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לאובייקט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; ‏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Gson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Jackson‏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701284"/>
            <a:ext cx="11064240" cy="260603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3" name="Rectangle 52"/>
          <p:cNvSpPr/>
          <p:nvPr/>
        </p:nvSpPr>
        <p:spPr>
          <a:xfrm>
            <a:off x="566928" y="570128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9970617" y="5719572"/>
            <a:ext cx="1550822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בעולם</a:t>
            </a:r>
            <a:r>
              <a:rPr lang="en-US" sz="1050" b="1" i="0" noProof="0" dirty="0">
                <a:solidFill>
                  <a:srgbClr val="0F1B24"/>
                </a:solidFill>
                <a:latin typeface="Segoe UI"/>
              </a:rPr>
              <a:t> ‏Java‏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3636" y="5719572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‏JAXB‏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מיפוי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דו-כיווני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‏XSD‏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5719572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‏JSON-B‏ ו-‏Jackson‏; ‏JSON-P‏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לעץ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66928" y="5961888"/>
            <a:ext cx="11064240" cy="2606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8" name="Rectangle 57"/>
          <p:cNvSpPr/>
          <p:nvPr/>
        </p:nvSpPr>
        <p:spPr>
          <a:xfrm>
            <a:off x="566928" y="596188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9970617" y="5980176"/>
            <a:ext cx="1550822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שימוש</a:t>
            </a:r>
            <a:r>
              <a:rPr lang="en-US" sz="10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1" i="0" noProof="0" dirty="0" err="1">
                <a:solidFill>
                  <a:srgbClr val="0F1B24"/>
                </a:solidFill>
                <a:latin typeface="Segoe UI"/>
              </a:rPr>
              <a:t>טיפוסי</a:t>
            </a:r>
            <a:endParaRPr lang="en-US" sz="10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23636" y="5980176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‏SOAP‏,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מסמכים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קובצי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הגדרות</a:t>
            </a:r>
            <a:endParaRPr lang="en-US" sz="10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76656" y="5980176"/>
            <a:ext cx="4427524" cy="224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‏API‏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ציבורי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מובייל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‏Ajax‏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069080"/>
            <a:ext cx="11064240" cy="2153412"/>
          </a:xfrm>
          <a:prstGeom prst="rect">
            <a:avLst/>
          </a:prstGeom>
          <a:noFill/>
          <a:ln w="952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איך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זה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נראה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he-IL" sz="2800" b="1" i="0" noProof="0" dirty="0">
                <a:solidFill>
                  <a:srgbClr val="0D4A5C"/>
                </a:solidFill>
                <a:latin typeface="Segoe UI"/>
              </a:rPr>
              <a:t>בקוד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אותה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בקשה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בדיוק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פעם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כקריאת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‏REST‏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ופעם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כהודעת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‏SOAP‏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4214" y="512064"/>
            <a:ext cx="630270" cy="62876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144768" y="16824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‏REST‏ —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משאב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פועל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‏HTTP‏,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גוף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קצר</a:t>
            </a:r>
            <a:endParaRPr lang="en-US" sz="13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44768" y="1975104"/>
            <a:ext cx="5486400" cy="2642616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6144768" y="1975104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6144768" y="2139696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291072" y="202539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REST over HTTP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28832" y="208026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291072" y="2368296"/>
            <a:ext cx="5193792" cy="1956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512"/>
              </a:lnSpc>
            </a:pPr>
            <a:r>
              <a:rPr lang="en-US" sz="1050" b="1" noProof="0" dirty="0">
                <a:solidFill>
                  <a:srgbClr val="F0A06A"/>
                </a:solidFill>
                <a:latin typeface="Consolas"/>
              </a:rPr>
              <a:t>GET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/</a:t>
            </a:r>
            <a:r>
              <a:rPr lang="en-US" sz="1050" b="0" noProof="0" dirty="0" err="1">
                <a:solidFill>
                  <a:srgbClr val="DCE8ED"/>
                </a:solidFill>
                <a:latin typeface="Consolas"/>
              </a:rPr>
              <a:t>api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/movies/42 HTTP/1.1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Host: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api.example.com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Accept: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application/</a:t>
            </a:r>
            <a:r>
              <a:rPr lang="en-US" sz="1050" b="0" noProof="0" dirty="0" err="1">
                <a:solidFill>
                  <a:srgbClr val="DCE8ED"/>
                </a:solidFill>
                <a:latin typeface="Consolas"/>
              </a:rPr>
              <a:t>json</a:t>
            </a:r>
            <a:endParaRPr lang="en-US" sz="1050" b="0" noProof="0" dirty="0">
              <a:solidFill>
                <a:srgbClr val="DCE8ED"/>
              </a:solidFill>
              <a:latin typeface="Consolas"/>
            </a:endParaRPr>
          </a:p>
          <a:p>
            <a:pPr algn="l" rtl="0">
              <a:lnSpc>
                <a:spcPts val="1512"/>
              </a:lnSpc>
            </a:pPr>
            <a:r>
              <a:rPr lang="en-US" sz="1050" noProof="0" dirty="0">
                <a:latin typeface="Consolas"/>
              </a:rPr>
              <a:t> </a:t>
            </a:r>
          </a:p>
          <a:p>
            <a:pPr algn="l" rtl="0">
              <a:lnSpc>
                <a:spcPts val="1512"/>
              </a:lnSpc>
            </a:pPr>
            <a:r>
              <a:rPr lang="en-US" sz="1050" b="1" noProof="0" dirty="0">
                <a:solidFill>
                  <a:srgbClr val="7FC7DE"/>
                </a:solidFill>
                <a:latin typeface="Consolas"/>
              </a:rPr>
              <a:t>HTTP/1.1 200 OK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Content-Type: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application/</a:t>
            </a:r>
            <a:r>
              <a:rPr lang="en-US" sz="1050" b="0" noProof="0" dirty="0" err="1">
                <a:solidFill>
                  <a:srgbClr val="DCE8ED"/>
                </a:solidFill>
                <a:latin typeface="Consolas"/>
              </a:rPr>
              <a:t>json</a:t>
            </a:r>
            <a:endParaRPr lang="en-US" sz="1050" b="0" noProof="0" dirty="0">
              <a:solidFill>
                <a:srgbClr val="DCE8ED"/>
              </a:solidFill>
              <a:latin typeface="Consolas"/>
            </a:endParaRP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7FC7DE"/>
                </a:solidFill>
                <a:latin typeface="Consolas"/>
              </a:rPr>
              <a:t>Content-Length:</a:t>
            </a: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84</a:t>
            </a:r>
          </a:p>
          <a:p>
            <a:pPr algn="l" rtl="0">
              <a:lnSpc>
                <a:spcPts val="1512"/>
              </a:lnSpc>
            </a:pPr>
            <a:r>
              <a:rPr lang="en-US" sz="1050" noProof="0" dirty="0">
                <a:latin typeface="Consolas"/>
              </a:rPr>
              <a:t> 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{ "id": 42, "title": "Inception",</a:t>
            </a:r>
          </a:p>
          <a:p>
            <a:pPr algn="l" rtl="0">
              <a:lnSpc>
                <a:spcPts val="1512"/>
              </a:lnSpc>
            </a:pPr>
            <a:r>
              <a:rPr lang="en-US" sz="1050" b="0" noProof="0" dirty="0">
                <a:solidFill>
                  <a:srgbClr val="DCE8ED"/>
                </a:solidFill>
                <a:latin typeface="Consolas"/>
              </a:rPr>
              <a:t>  "year": 2010, "available": true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824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‏SOAP‏ —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מעטפת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‏XML‏,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הפעולה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בתוך</a:t>
            </a:r>
            <a:r>
              <a:rPr lang="en-US" sz="13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50" b="1" i="0" noProof="0" dirty="0" err="1">
                <a:solidFill>
                  <a:srgbClr val="0D4A5C"/>
                </a:solidFill>
                <a:latin typeface="Segoe UI"/>
              </a:rPr>
              <a:t>הגוף</a:t>
            </a:r>
            <a:endParaRPr lang="en-US" sz="135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1975104"/>
            <a:ext cx="5486400" cy="2633471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566928" y="1975104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/>
          <p:cNvSpPr/>
          <p:nvPr/>
        </p:nvSpPr>
        <p:spPr>
          <a:xfrm>
            <a:off x="566928" y="2139696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13232" y="202539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SOAP over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50992" y="2080260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713232" y="2368296"/>
            <a:ext cx="5193792" cy="2121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POST /</a:t>
            </a:r>
            <a:r>
              <a:rPr lang="en-US" sz="950" b="0" noProof="0" dirty="0" err="1">
                <a:solidFill>
                  <a:srgbClr val="DCE8ED"/>
                </a:solidFill>
                <a:latin typeface="Consolas"/>
              </a:rPr>
              <a:t>WelcomeSOAP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/</a:t>
            </a:r>
            <a:r>
              <a:rPr lang="en-US" sz="950" b="0" noProof="0" dirty="0" err="1">
                <a:solidFill>
                  <a:srgbClr val="DCE8ED"/>
                </a:solidFill>
                <a:latin typeface="Consolas"/>
              </a:rPr>
              <a:t>WelcomeSOAPService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HTTP/1.1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Content-Type: text/xml; </a:t>
            </a:r>
            <a:r>
              <a:rPr lang="en-US" sz="950" b="0" noProof="0" dirty="0">
                <a:solidFill>
                  <a:srgbClr val="F0A06A"/>
                </a:solidFill>
                <a:latin typeface="Consolas"/>
              </a:rPr>
              <a:t>charset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=utf-8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 err="1">
                <a:solidFill>
                  <a:srgbClr val="DCE8ED"/>
                </a:solidFill>
                <a:latin typeface="Consolas"/>
              </a:rPr>
              <a:t>SOAPAction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: </a:t>
            </a:r>
            <a:r>
              <a:rPr lang="en-US" sz="950" b="0" noProof="0" dirty="0">
                <a:solidFill>
                  <a:srgbClr val="9FD1A0"/>
                </a:solidFill>
                <a:latin typeface="Consolas"/>
              </a:rPr>
              <a:t>""</a:t>
            </a:r>
          </a:p>
          <a:p>
            <a:pPr algn="l" rtl="0">
              <a:lnSpc>
                <a:spcPts val="1368"/>
              </a:lnSpc>
            </a:pPr>
            <a:r>
              <a:rPr lang="en-US" sz="950" noProof="0" dirty="0">
                <a:latin typeface="Consolas"/>
              </a:rPr>
              <a:t> </a:t>
            </a:r>
          </a:p>
          <a:p>
            <a:pPr algn="l" rtl="0">
              <a:lnSpc>
                <a:spcPts val="1368"/>
              </a:lnSpc>
            </a:pP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50" b="0" noProof="0" dirty="0" err="1">
                <a:solidFill>
                  <a:srgbClr val="F0A06A"/>
                </a:solidFill>
                <a:latin typeface="Consolas"/>
              </a:rPr>
              <a:t>xmlns:soap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=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50" b="0" noProof="0" dirty="0">
                <a:solidFill>
                  <a:srgbClr val="9FD1A0"/>
                </a:solidFill>
                <a:latin typeface="Consolas"/>
              </a:rPr>
              <a:t>"http://schemas.xmlsoap.org/soap/envelope/"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ns:welcome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50" b="0" noProof="0" dirty="0" err="1">
                <a:solidFill>
                  <a:srgbClr val="F0A06A"/>
                </a:solidFill>
                <a:latin typeface="Consolas"/>
              </a:rPr>
              <a:t>xmlns:ns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=</a:t>
            </a:r>
            <a:r>
              <a:rPr lang="en-US" sz="950" b="0" noProof="0" dirty="0">
                <a:solidFill>
                  <a:srgbClr val="9FD1A0"/>
                </a:solidFill>
                <a:latin typeface="Consolas"/>
              </a:rPr>
              <a:t>"http://welcomesoap/"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&lt;name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Paul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&lt;/name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ns:welcome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0" noProof="0" dirty="0">
                <a:solidFill>
                  <a:srgbClr val="DCE8ED"/>
                </a:solidFill>
                <a:latin typeface="Consolas"/>
              </a:rPr>
              <a:t>  </a:t>
            </a: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soap:Body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  <a:p>
            <a:pPr algn="l" rtl="0">
              <a:lnSpc>
                <a:spcPts val="1368"/>
              </a:lnSpc>
            </a:pPr>
            <a:r>
              <a:rPr lang="en-US" sz="950" b="1" noProof="0" dirty="0">
                <a:solidFill>
                  <a:srgbClr val="7FC7DE"/>
                </a:solidFill>
                <a:latin typeface="Consolas"/>
              </a:rPr>
              <a:t>&lt;/</a:t>
            </a:r>
            <a:r>
              <a:rPr lang="en-US" sz="950" b="1" noProof="0" dirty="0" err="1">
                <a:solidFill>
                  <a:srgbClr val="7FC7DE"/>
                </a:solidFill>
                <a:latin typeface="Consolas"/>
              </a:rPr>
              <a:t>soap:Envelope</a:t>
            </a:r>
            <a:r>
              <a:rPr lang="en-US" sz="950" b="0" noProof="0" dirty="0">
                <a:solidFill>
                  <a:srgbClr val="8AA4B0"/>
                </a:solidFill>
                <a:latin typeface="Consola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3776" y="4773168"/>
            <a:ext cx="3517391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11580876" y="4901183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8296656" y="4937759"/>
            <a:ext cx="31333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אותו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שלד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96656" y="5221731"/>
            <a:ext cx="3133343" cy="41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בשתי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הגישות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המודל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זהה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הלקוח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שולח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בקשה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השרת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מעבד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ומחזיר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תשובה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הכול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מעל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‏HTTP‏.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0352" y="4773168"/>
            <a:ext cx="3517391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7807452" y="4901183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4523232" y="4937759"/>
            <a:ext cx="31333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ההבדל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האמיתי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3232" y="5221731"/>
            <a:ext cx="3133343" cy="41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היכן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נמצא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שם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הפעולה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 ב-‏REST‏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מקודד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בפועל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ובנתיב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; ב-‏SOAP‏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אלמנט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‏XML‏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בתוך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הגוף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773168"/>
            <a:ext cx="3517391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4034028" y="4901183"/>
            <a:ext cx="50292" cy="7315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749808" y="4937759"/>
            <a:ext cx="31333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מחיר</a:t>
            </a:r>
            <a:r>
              <a:rPr lang="en-US" sz="13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300" b="1" i="0" noProof="0" dirty="0" err="1">
                <a:solidFill>
                  <a:srgbClr val="0D4A5C"/>
                </a:solidFill>
                <a:latin typeface="Segoe UI"/>
              </a:rPr>
              <a:t>המעטפת</a:t>
            </a:r>
            <a:endParaRPr lang="en-US" sz="13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808" y="5221731"/>
            <a:ext cx="3133343" cy="41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9000"/>
              </a:lnSpc>
            </a:pP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בקשת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‏REST‏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כאן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היא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כמאה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בתים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;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הודעת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‏SOAP‏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מקבילה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חוצה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בקלות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500 —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לפני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שנגענו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5A6B75"/>
                </a:solidFill>
                <a:latin typeface="Segoe UI"/>
              </a:rPr>
              <a:t>בנתונים</a:t>
            </a:r>
            <a:r>
              <a:rPr lang="en-US" sz="1050" b="0" i="0" noProof="0" dirty="0">
                <a:solidFill>
                  <a:srgbClr val="5A6B75"/>
                </a:solidFill>
                <a:latin typeface="Segoe UI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76072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/>
          <p:cNvSpPr/>
          <p:nvPr/>
        </p:nvSpPr>
        <p:spPr>
          <a:xfrm>
            <a:off x="11576303" y="5760720"/>
            <a:ext cx="54864" cy="5029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68096" y="5879592"/>
            <a:ext cx="10625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שימו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לשורה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הראשונה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ב-‏REST‏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הפועל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‏GET‏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והנתיב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‏‎/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api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/movies/42‏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מספרים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הסיפור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ב-‏SOAP‏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השורה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הראשונה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תמיד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‏POST‏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ולכן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שום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ביניים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לנחש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הבקשה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מבקשת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ולא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לשמור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אותה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במטמון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‏SOAP‏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‏REST‏ —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מבט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כללי</a:t>
            </a:r>
            <a:endParaRPr lang="en-US" sz="28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שתי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גישות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שונות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לאותה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בעיה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: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איך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שתי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מערכות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זרות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יסכימו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על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שיחה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98197" y="319603"/>
            <a:ext cx="705538" cy="63675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64240" cy="10972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070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0" i="0" noProof="0" dirty="0" err="1">
                <a:solidFill>
                  <a:srgbClr val="8D9EA8"/>
                </a:solidFill>
                <a:latin typeface="Segoe UI"/>
              </a:rPr>
              <a:t>השוואה</a:t>
            </a:r>
            <a:endParaRPr lang="en-US" sz="1050" b="0" i="0" noProof="0" dirty="0">
              <a:solidFill>
                <a:srgbClr val="8D9EA8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1050" b="0" i="0" noProof="0" dirty="0">
                <a:solidFill>
                  <a:srgbClr val="8D9EA8"/>
                </a:solidFill>
                <a:latin typeface="Segoe U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11064240" cy="36576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528048" y="1746504"/>
            <a:ext cx="19933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FFFFFF"/>
                </a:solidFill>
                <a:latin typeface="Segoe UI"/>
              </a:rPr>
              <a:t>קריטריון</a:t>
            </a:r>
            <a:endParaRPr lang="en-US" sz="115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02352" y="174650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‏SOAP‏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74650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FFFFFF"/>
                </a:solidFill>
                <a:latin typeface="Segoe UI"/>
              </a:rPr>
              <a:t>‏REST‏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066544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566928" y="206654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528048" y="2084832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מהות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02352" y="208483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פרוטוקול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תקני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‏W3C‏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08483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סגנון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ארכיטקטוני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‏‎(Fielding, 2000)‎‏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72868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/>
          <p:cNvSpPr/>
          <p:nvPr/>
        </p:nvSpPr>
        <p:spPr>
          <a:xfrm>
            <a:off x="566928" y="237286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9528048" y="2391156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יחידת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העבודה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2352" y="239115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פעולה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/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מתודה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מרוחקת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6656" y="239115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משאב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המזוהה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ידי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‏URI‏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79192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566928" y="267919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9528048" y="2697480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פורמט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02352" y="269748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‏XML‏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בלבד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בתוך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‏SOAP Envelope‏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269748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‏JSON, XML‏,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טקסט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‏HTML‏,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מדיה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2985516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/>
          <p:cNvSpPr/>
          <p:nvPr/>
        </p:nvSpPr>
        <p:spPr>
          <a:xfrm>
            <a:off x="566928" y="2985516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9528048" y="3003804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החוזה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02352" y="300380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‏WSDL‏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פורמלי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מחייב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ונוצר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אוטומטית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6656" y="300380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OpenAPI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/ WADL‏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מומלץ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אינו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חובה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928" y="3291840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6" name="Rectangle 35"/>
          <p:cNvSpPr/>
          <p:nvPr/>
        </p:nvSpPr>
        <p:spPr>
          <a:xfrm>
            <a:off x="566928" y="3291840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9528048" y="3310128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תחבורה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02352" y="331012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‏HTTP, SMTP, JMS, TCP‏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331012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‏HTTP‏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בלבד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66928" y="3598164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1" name="Rectangle 40"/>
          <p:cNvSpPr/>
          <p:nvPr/>
        </p:nvSpPr>
        <p:spPr>
          <a:xfrm>
            <a:off x="566928" y="359816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9528048" y="3616452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זיהוי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הפעולה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02352" y="361645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שם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המתודה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בתוך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גוף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6656" y="361645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פועל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‏HTTP‏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נתיב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ה-‏URI‏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904488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 45"/>
          <p:cNvSpPr/>
          <p:nvPr/>
        </p:nvSpPr>
        <p:spPr>
          <a:xfrm>
            <a:off x="566928" y="390448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9528048" y="3922776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ניהול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מצב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02352" y="392277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לשמור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‏session‏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בצד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6656" y="392277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חסר-מצב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לפי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אילוץ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ארכיטקטוני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66928" y="4210812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1" name="Rectangle 50"/>
          <p:cNvSpPr/>
          <p:nvPr/>
        </p:nvSpPr>
        <p:spPr>
          <a:xfrm>
            <a:off x="566928" y="4210812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9528048" y="4229100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מטמון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02352" y="422910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כמעט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בלתי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אפשרי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הכול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‏POST‏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" y="4229100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מובנה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ב-‏HTTP‏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עבור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‏GET‏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517136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 55"/>
          <p:cNvSpPr/>
          <p:nvPr/>
        </p:nvSpPr>
        <p:spPr>
          <a:xfrm>
            <a:off x="566928" y="4517136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9528048" y="4535424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אבטחה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02352" y="453542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‏WS-Security‏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ברמת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‏TLS‏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" y="4535424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‏HTTPS/TLS, OAuth 2.0‏,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מפתחות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‏API‏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823460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1" name="Rectangle 60"/>
          <p:cNvSpPr/>
          <p:nvPr/>
        </p:nvSpPr>
        <p:spPr>
          <a:xfrm>
            <a:off x="566928" y="4823460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9528048" y="4841748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טיפול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בשגיאות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02352" y="484174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‏SOAP Fault‏ —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מבנה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אחיד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ומוגדר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76656" y="4841748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קודי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הסטטוס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‏HTTP‏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129784"/>
            <a:ext cx="110642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6" name="Rectangle 65"/>
          <p:cNvSpPr/>
          <p:nvPr/>
        </p:nvSpPr>
        <p:spPr>
          <a:xfrm>
            <a:off x="566928" y="5129784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9528048" y="5148072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נפח</a:t>
            </a:r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1" i="0" noProof="0" dirty="0" err="1">
                <a:solidFill>
                  <a:srgbClr val="0F1B24"/>
                </a:solidFill>
                <a:latin typeface="Segoe UI"/>
              </a:rPr>
              <a:t>ומהירות</a:t>
            </a:r>
            <a:endParaRPr lang="en-US" sz="1150" b="1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102352" y="514807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מלל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רב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מעטפת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כבדה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ניתוח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‏XML‏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יקר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76656" y="5148072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תמציתי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קל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לניתוח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מהיר</a:t>
            </a:r>
            <a:endParaRPr lang="en-US" sz="1150" b="0" i="0" noProof="0" dirty="0">
              <a:solidFill>
                <a:srgbClr val="0F1B24"/>
              </a:solidFill>
              <a:latin typeface="Segoe U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66928" y="5436108"/>
            <a:ext cx="11064240" cy="306324"/>
          </a:xfrm>
          <a:prstGeom prst="rect">
            <a:avLst/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/>
          <p:cNvSpPr/>
          <p:nvPr/>
        </p:nvSpPr>
        <p:spPr>
          <a:xfrm>
            <a:off x="566928" y="5436108"/>
            <a:ext cx="11064240" cy="7315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2" name="TextBox 71"/>
          <p:cNvSpPr txBox="1"/>
          <p:nvPr/>
        </p:nvSpPr>
        <p:spPr>
          <a:xfrm>
            <a:off x="9528048" y="5454396"/>
            <a:ext cx="1993391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1" i="0" noProof="0" dirty="0">
                <a:solidFill>
                  <a:srgbClr val="0F1B24"/>
                </a:solidFill>
                <a:latin typeface="Segoe UI"/>
              </a:rPr>
              <a:t>ב-‏Java‏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2352" y="545439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‏JAX-WS‏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wsimport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5454396"/>
            <a:ext cx="4206240" cy="269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‏JAX-RS‏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יחד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1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150" b="0" i="0" noProof="0" dirty="0">
                <a:solidFill>
                  <a:srgbClr val="0F1B24"/>
                </a:solidFill>
                <a:latin typeface="Segoe UI"/>
              </a:rPr>
              <a:t> ‏Jersey‏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1700784"/>
            <a:ext cx="11064240" cy="4041648"/>
          </a:xfrm>
          <a:prstGeom prst="rect">
            <a:avLst/>
          </a:prstGeom>
          <a:noFill/>
          <a:ln w="9525">
            <a:solidFill>
              <a:srgbClr val="E3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6" name="Rounded Rectangle 75"/>
          <p:cNvSpPr/>
          <p:nvPr/>
        </p:nvSpPr>
        <p:spPr>
          <a:xfrm>
            <a:off x="566928" y="5815584"/>
            <a:ext cx="11064240" cy="429768"/>
          </a:xfrm>
          <a:prstGeom prst="roundRect">
            <a:avLst>
              <a:gd name="adj" fmla="val 5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7" name="Rectangle 76"/>
          <p:cNvSpPr/>
          <p:nvPr/>
        </p:nvSpPr>
        <p:spPr>
          <a:xfrm>
            <a:off x="11576303" y="5815584"/>
            <a:ext cx="54864" cy="42976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78" name="TextBox 77"/>
          <p:cNvSpPr txBox="1"/>
          <p:nvPr/>
        </p:nvSpPr>
        <p:spPr>
          <a:xfrm>
            <a:off x="768096" y="5934456"/>
            <a:ext cx="10625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8000"/>
              </a:lnSpc>
            </a:pP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אין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כאן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מנצח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מוחלט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: ‏SOAP‏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מעטפת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תקנית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עם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כללים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נוקשים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, ‏REST‏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שימוש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ממושמע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במה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ש-‏HTTP‏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ממילא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יודע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לעשות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.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הבחירה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נגזרת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מהדרישות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ולזה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נחזור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050" b="0" i="0" noProof="0" dirty="0" err="1">
                <a:solidFill>
                  <a:srgbClr val="0F1B24"/>
                </a:solidFill>
                <a:latin typeface="Segoe UI"/>
              </a:rPr>
              <a:t>בשקף</a:t>
            </a:r>
            <a:r>
              <a:rPr lang="en-US" sz="1050" b="0" i="0" noProof="0" dirty="0">
                <a:solidFill>
                  <a:srgbClr val="0F1B24"/>
                </a:solidFill>
                <a:latin typeface="Segoe UI"/>
              </a:rPr>
              <a:t> 19.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ניהול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מצב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— ‏SOAP‏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מול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‏REST‏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האם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השרת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זוכר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אתה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בין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לקריאה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?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כאן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עובר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קו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השבר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האמיתי</a:t>
            </a:r>
            <a:endParaRPr lang="en-US" sz="1450" b="0" i="0" noProof="0" dirty="0">
              <a:solidFill>
                <a:srgbClr val="5A6B7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10656" y="475488"/>
            <a:ext cx="720512" cy="64008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144768" y="1700784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327648" y="177393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‏REST‏ —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חסר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מצב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לפי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הגדרה</a:t>
            </a:r>
            <a:endParaRPr lang="en-US" sz="140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90488" y="2231136"/>
            <a:ext cx="5440680" cy="146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אילוץ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ה-‏statelessness‏: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נושאת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בתוכה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המידע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הדרוש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לטיפול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הדיוק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החשוב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האילוץ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נוגע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למצב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השיחה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למצב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המשאב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הנתונים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נשמרים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במסד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כרגיל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מצב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השיחה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אצל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בטוקן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חתום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‏‎(JWT)‎‏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במאגר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משותף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בזיכרון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יחיד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לענות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התרחבות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אופקית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טריוויאלית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‏sticky sessions‏.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המחיר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בקשה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חוזרת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ושולחת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אימות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והקשר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יותר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תעבורה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החוט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059936"/>
            <a:ext cx="5486400" cy="1371600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6144768" y="4059936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6144768" y="4224528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291072" y="411022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כל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בקשה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עומדת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בפני</a:t>
            </a:r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 </a:t>
            </a:r>
            <a:r>
              <a:rPr lang="en-US" sz="950" b="1" i="0" noProof="0" dirty="0" err="1">
                <a:solidFill>
                  <a:srgbClr val="6FA8B8"/>
                </a:solidFill>
                <a:latin typeface="Consolas"/>
              </a:rPr>
              <a:t>עצמה</a:t>
            </a:r>
            <a:endParaRPr lang="en-US" sz="950" b="1" i="0" noProof="0" dirty="0">
              <a:solidFill>
                <a:srgbClr val="6FA8B8"/>
              </a:solidFill>
              <a:latin typeface="Consola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228832" y="4165092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291072" y="4453128"/>
            <a:ext cx="5193792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96"/>
              </a:lnSpc>
            </a:pPr>
            <a:r>
              <a:rPr lang="en-US" sz="900" b="1" noProof="0" dirty="0">
                <a:solidFill>
                  <a:srgbClr val="F0A06A"/>
                </a:solidFill>
                <a:latin typeface="Consolas"/>
              </a:rPr>
              <a:t>GET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/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api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/games/8fa3/hand HTTP/1.1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7FC7DE"/>
                </a:solidFill>
                <a:latin typeface="Consolas"/>
              </a:rPr>
              <a:t>Authorization: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Bearer eyJhbGciOiJIUzI1NiIs...</a:t>
            </a:r>
          </a:p>
          <a:p>
            <a:pPr algn="l" rtl="0">
              <a:lnSpc>
                <a:spcPts val="1296"/>
              </a:lnSpc>
            </a:pPr>
            <a:r>
              <a:rPr lang="en-US" sz="900" noProof="0" dirty="0">
                <a:latin typeface="Consolas"/>
              </a:rPr>
              <a:t> </a:t>
            </a: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#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מזהה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המשחק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בנתיב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,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זהות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המשתמש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בכותרת</a:t>
            </a:r>
            <a:endParaRPr lang="en-US" sz="900" b="0" noProof="0" dirty="0">
              <a:solidFill>
                <a:srgbClr val="DCE8ED"/>
              </a:solidFill>
              <a:latin typeface="Consolas"/>
            </a:endParaRPr>
          </a:p>
          <a:p>
            <a:pPr algn="l" rtl="0">
              <a:lnSpc>
                <a:spcPts val="1296"/>
              </a:lnSpc>
            </a:pP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#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השרת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לא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זקוק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לשום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זיכרון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מהבקשה</a:t>
            </a:r>
            <a:r>
              <a:rPr lang="en-US" sz="90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900" b="0" noProof="0" dirty="0" err="1">
                <a:solidFill>
                  <a:srgbClr val="DCE8ED"/>
                </a:solidFill>
                <a:latin typeface="Consolas"/>
              </a:rPr>
              <a:t>הקודמת</a:t>
            </a:r>
            <a:endParaRPr lang="en-US" sz="900" b="0" noProof="0" dirty="0">
              <a:solidFill>
                <a:srgbClr val="DCE8ED"/>
              </a:solidFill>
              <a:latin typeface="Consola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1700784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49808" y="177393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‏SOAP‏ —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יכול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לזכור</a:t>
            </a:r>
            <a:r>
              <a:rPr lang="en-US" sz="14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FFFFFF"/>
                </a:solidFill>
                <a:latin typeface="Segoe UI"/>
              </a:rPr>
              <a:t>אותך</a:t>
            </a:r>
            <a:endParaRPr lang="en-US" sz="1400" b="1" i="0" noProof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648" y="2231136"/>
            <a:ext cx="5394960" cy="1265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כשלקוח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קורא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לכמה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מתודות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כדאי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שהשירות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ישמור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מידע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ביניהן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כך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נמנעת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שליחה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חוזרת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אותו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מידע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יכול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להבחין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לקוחות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שונים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בדוגמת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ה-‏Blackjack‏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מהספר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השירות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מחזיק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חפיסת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קלפים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נפרדת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‏session‏.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הלקוח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מצידו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חייב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לבקש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במפורש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לשמר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את ה-‏session‏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הקריאות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lang="en-US" sz="1000" b="1" i="0" noProof="0" dirty="0">
                <a:solidFill>
                  <a:srgbClr val="C4622D"/>
                </a:solidFill>
                <a:latin typeface="Segoe UI"/>
              </a:rPr>
              <a:t>● 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המחיר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השרת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מחזיק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זיכרון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לכל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לקוח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וההתרחבות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נעשית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0F1B24"/>
                </a:solidFill>
                <a:latin typeface="Segoe UI"/>
              </a:rPr>
              <a:t>מסובכת</a:t>
            </a:r>
            <a:r>
              <a:rPr lang="en-US" sz="12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59936"/>
            <a:ext cx="5486400" cy="1636776"/>
          </a:xfrm>
          <a:prstGeom prst="roundRect">
            <a:avLst>
              <a:gd name="adj" fmla="val 3500"/>
            </a:avLst>
          </a:prstGeom>
          <a:solidFill>
            <a:srgbClr val="0B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566928" y="4059936"/>
            <a:ext cx="5486400" cy="274320"/>
          </a:xfrm>
          <a:prstGeom prst="roundRect">
            <a:avLst>
              <a:gd name="adj" fmla="val 9000"/>
            </a:avLst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/>
          <p:cNvSpPr/>
          <p:nvPr/>
        </p:nvSpPr>
        <p:spPr>
          <a:xfrm>
            <a:off x="566928" y="4224528"/>
            <a:ext cx="5486400" cy="109728"/>
          </a:xfrm>
          <a:prstGeom prst="rect">
            <a:avLst/>
          </a:prstGeom>
          <a:solidFill>
            <a:srgbClr val="11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713232" y="411022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950" b="1" i="0" noProof="0" dirty="0">
                <a:solidFill>
                  <a:srgbClr val="6FA8B8"/>
                </a:solidFill>
                <a:latin typeface="Consolas"/>
              </a:rPr>
              <a:t>Blackjack.java — Deitel, Fig. 32.17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50992" y="4165092"/>
            <a:ext cx="256032" cy="6858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13232" y="4453128"/>
            <a:ext cx="5193792" cy="112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ts val="1224"/>
              </a:lnSpc>
            </a:pPr>
            <a:r>
              <a:rPr lang="en-US" sz="850" b="1" noProof="0" dirty="0">
                <a:solidFill>
                  <a:srgbClr val="F0A06A"/>
                </a:solidFill>
                <a:latin typeface="Consolas"/>
              </a:rPr>
              <a:t>@HttpSessionScope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שומר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מצב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לכל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לקוח</a:t>
            </a:r>
            <a:endParaRPr lang="en-US" sz="850" b="0" noProof="0" dirty="0">
              <a:solidFill>
                <a:srgbClr val="6F8894"/>
              </a:solidFill>
              <a:latin typeface="Consolas"/>
            </a:endParaRPr>
          </a:p>
          <a:p>
            <a:pPr algn="l" rtl="0">
              <a:lnSpc>
                <a:spcPts val="1224"/>
              </a:lnSpc>
            </a:pPr>
            <a:r>
              <a:rPr lang="en-US" sz="850" b="1" noProof="0" dirty="0">
                <a:solidFill>
                  <a:srgbClr val="F0A06A"/>
                </a:solidFill>
                <a:latin typeface="Consolas"/>
              </a:rPr>
              <a:t>@WebService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()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class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>
                <a:solidFill>
                  <a:srgbClr val="C9B6E8"/>
                </a:solidFill>
                <a:latin typeface="Consolas"/>
              </a:rPr>
              <a:t>Blackjack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{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private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C9B6E8"/>
                </a:solidFill>
                <a:latin typeface="Consolas"/>
              </a:rPr>
              <a:t>ArrayList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&lt;</a:t>
            </a:r>
            <a:r>
              <a:rPr lang="en-US" sz="8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&gt; deck;  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//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חפיסה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6F8894"/>
                </a:solidFill>
                <a:latin typeface="Consolas"/>
              </a:rPr>
              <a:t>לכל</a:t>
            </a:r>
            <a:r>
              <a:rPr lang="en-US" sz="850" b="0" noProof="0" dirty="0">
                <a:solidFill>
                  <a:srgbClr val="6F8894"/>
                </a:solidFill>
                <a:latin typeface="Consolas"/>
              </a:rPr>
              <a:t> session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1" noProof="0" dirty="0">
                <a:solidFill>
                  <a:srgbClr val="F0A06A"/>
                </a:solidFill>
                <a:latin typeface="Consolas"/>
              </a:rPr>
              <a:t>@WebMethod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(operationName = </a:t>
            </a:r>
            <a:r>
              <a:rPr lang="en-US" sz="85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850" b="0" noProof="0" dirty="0" err="1">
                <a:solidFill>
                  <a:srgbClr val="9FD1A0"/>
                </a:solidFill>
                <a:latin typeface="Consolas"/>
              </a:rPr>
              <a:t>dealCard</a:t>
            </a:r>
            <a:r>
              <a:rPr lang="en-US" sz="850" b="0" noProof="0" dirty="0">
                <a:solidFill>
                  <a:srgbClr val="9FD1A0"/>
                </a:solidFill>
                <a:latin typeface="Consolas"/>
              </a:rPr>
              <a:t>"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)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 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public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>
                <a:solidFill>
                  <a:srgbClr val="C9B6E8"/>
                </a:solidFill>
                <a:latin typeface="Consolas"/>
              </a:rPr>
              <a:t>String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DCE8ED"/>
                </a:solidFill>
                <a:latin typeface="Consolas"/>
              </a:rPr>
              <a:t>dealCard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() { </a:t>
            </a:r>
            <a:r>
              <a:rPr lang="en-US" sz="850" b="0" noProof="0" dirty="0">
                <a:solidFill>
                  <a:srgbClr val="7FC7DE"/>
                </a:solidFill>
                <a:latin typeface="Consolas"/>
              </a:rPr>
              <a:t>return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DCE8ED"/>
                </a:solidFill>
                <a:latin typeface="Consolas"/>
              </a:rPr>
              <a:t>deck.remove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(</a:t>
            </a:r>
            <a:r>
              <a:rPr lang="en-US" sz="850" b="0" noProof="0" dirty="0">
                <a:solidFill>
                  <a:srgbClr val="E8B87C"/>
                </a:solidFill>
                <a:latin typeface="Consolas"/>
              </a:rPr>
              <a:t>0</a:t>
            </a: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); }</a:t>
            </a:r>
          </a:p>
          <a:p>
            <a:pPr algn="l" rtl="0">
              <a:lnSpc>
                <a:spcPts val="1224"/>
              </a:lnSpc>
            </a:pPr>
            <a:r>
              <a:rPr lang="en-US" sz="850" b="0" noProof="0" dirty="0">
                <a:solidFill>
                  <a:srgbClr val="DCE8ED"/>
                </a:solidFill>
                <a:latin typeface="Consolas"/>
              </a:rPr>
              <a:t>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71500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1576304" y="5715000"/>
            <a:ext cx="54864" cy="50292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949440" y="5843016"/>
            <a:ext cx="4526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ובצד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הלקוח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ב-‏JAX-WS‏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מפעילים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את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השמירה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050" b="1" i="0" noProof="0" dirty="0" err="1">
                <a:solidFill>
                  <a:srgbClr val="0D4A5C"/>
                </a:solidFill>
                <a:latin typeface="Segoe UI"/>
              </a:rPr>
              <a:t>במפורש</a:t>
            </a:r>
            <a:r>
              <a:rPr lang="en-US" sz="1050" b="1" i="0" noProof="0" dirty="0">
                <a:solidFill>
                  <a:srgbClr val="0D4A5C"/>
                </a:solidFill>
                <a:latin typeface="Segoe UI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8064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/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((</a:t>
            </a:r>
            <a:r>
              <a:rPr lang="en-US" sz="850" b="0" i="0" noProof="0" dirty="0" err="1">
                <a:solidFill>
                  <a:srgbClr val="0D4A5C"/>
                </a:solidFill>
                <a:latin typeface="Consolas"/>
              </a:rPr>
              <a:t>BindingProvider</a:t>
            </a:r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) proxy).</a:t>
            </a:r>
            <a:r>
              <a:rPr lang="en-US" sz="850" b="0" i="0" noProof="0" dirty="0" err="1">
                <a:solidFill>
                  <a:srgbClr val="0D4A5C"/>
                </a:solidFill>
                <a:latin typeface="Consolas"/>
              </a:rPr>
              <a:t>getRequestContext</a:t>
            </a:r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()
    .put(</a:t>
            </a:r>
            <a:r>
              <a:rPr lang="en-US" sz="850" b="0" i="0" noProof="0" dirty="0" err="1">
                <a:solidFill>
                  <a:srgbClr val="0D4A5C"/>
                </a:solidFill>
                <a:latin typeface="Consolas"/>
              </a:rPr>
              <a:t>BindingProvider.SESSION_MAINTAIN_PROPERTY</a:t>
            </a:r>
            <a:r>
              <a:rPr lang="en-US" sz="850" b="0" i="0" noProof="0" dirty="0">
                <a:solidFill>
                  <a:srgbClr val="0D4A5C"/>
                </a:solidFill>
                <a:latin typeface="Consolas"/>
              </a:rPr>
              <a:t>, true);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07" y="-20447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אז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מי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0D4A5C"/>
                </a:solidFill>
                <a:latin typeface="Segoe UI"/>
              </a:rPr>
              <a:t>עדיף</a:t>
            </a:r>
            <a:r>
              <a:rPr lang="en-US" sz="28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השאלה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הנכונה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אינה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"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טוב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יותר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"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אלא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"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מתאים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לדרישה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5A6B75"/>
                </a:solidFill>
                <a:latin typeface="Segoe UI"/>
              </a:rPr>
              <a:t>שלי</a:t>
            </a:r>
            <a:r>
              <a:rPr lang="en-US" sz="1450" b="0" i="0" noProof="0" dirty="0">
                <a:solidFill>
                  <a:srgbClr val="5A6B75"/>
                </a:solidFill>
                <a:latin typeface="Segoe UI"/>
              </a:rPr>
              <a:t>"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01779" y="498348"/>
            <a:ext cx="720245" cy="50292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40080" y="1394460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39805" y="1508760"/>
            <a:ext cx="50840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בחרו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 ‏SOAP‏ </a:t>
            </a:r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כאשר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88235"/>
            <a:ext cx="5547344" cy="2577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נדרש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חוזה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פורמלי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ומחייב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בין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ארגונים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שאפשר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לאמת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מולו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אוטומטית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האבטחה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חייבת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לחול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עצמה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חתימה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והצפנה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שנשמרות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גם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מעבר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לצינור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יש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טרנזקציה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מבוזרת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שחייבת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להצליח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להיכשל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בשלמותה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פני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כמה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שירותים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נדרשת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אמינות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מובטחת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ההודעה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תגיע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בדיוק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פעם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אחת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גם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נופלת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ההעברה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אינה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‏HTTP‏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למשל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תור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הודעות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‏JMS‏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דואר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‏SMTP‏.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משתלבים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במערכת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ארגונית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קיימת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שכבר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חושפת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ממשקי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‏SOAP‏.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התחום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מוסדר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ברגולציה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שדורשת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תקן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מוכר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ותיעוד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מלא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9448" y="1408176"/>
            <a:ext cx="5486400" cy="475488"/>
          </a:xfrm>
          <a:prstGeom prst="roundRect">
            <a:avLst>
              <a:gd name="adj" fmla="val 4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604437" y="1508760"/>
            <a:ext cx="50840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בחר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 ‏REST‏ </a:t>
            </a:r>
            <a:r>
              <a:rPr lang="en-US" sz="1600" b="1" i="0" noProof="0" dirty="0" err="1">
                <a:solidFill>
                  <a:srgbClr val="FFFFFF"/>
                </a:solidFill>
                <a:latin typeface="Segoe UI"/>
              </a:rPr>
              <a:t>כאשר</a:t>
            </a:r>
            <a:r>
              <a:rPr lang="en-US" sz="1600" b="1" i="0" noProof="0" dirty="0">
                <a:solidFill>
                  <a:srgbClr val="FFFFFF"/>
                </a:solidFill>
                <a:latin typeface="Segoe UI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752" y="1922145"/>
            <a:ext cx="5340096" cy="2153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92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בונים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‏API‏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ציבורי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שמפתחים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חיצוניים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אמורים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לאמץ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במהירות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הצרכן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דפדפן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יישום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מובייל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או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‏SPA‏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שכתוב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ב-‏JavaScript‏.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נדרשת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מדרגיות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גבוהה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מיליוני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בקשות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שרתים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חסרי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מצב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ומטמון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רוחב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הפס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יקר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רשת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סלולרית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מכשירי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‏IoT‏,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קצוות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איטיים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הפעולות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במהותן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‏CRUD‏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משאבים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ברורים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רוצים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לפתח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ולבדוק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מהר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בלי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כלים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ייעודיים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ובלי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ייצור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קוד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  <a:p>
            <a:pPr algn="r" rtl="1">
              <a:lnSpc>
                <a:spcPct val="106000"/>
              </a:lnSpc>
              <a:spcAft>
                <a:spcPts val="700"/>
              </a:spcAft>
            </a:pPr>
            <a:r>
              <a:rPr lang="en-US" sz="1050" b="1" i="0" noProof="0" dirty="0">
                <a:solidFill>
                  <a:srgbClr val="C4622D"/>
                </a:solidFill>
                <a:latin typeface="Segoe UI"/>
              </a:rPr>
              <a:t>◆ 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הצוות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קטן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והזמן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קצר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עקומת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הלמידה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של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‏REST‏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נמוכה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0F1B24"/>
                </a:solidFill>
                <a:latin typeface="Segoe UI"/>
              </a:rPr>
              <a:t>בהרבה</a:t>
            </a:r>
            <a:r>
              <a:rPr lang="en-US" sz="1400" b="0" i="0" noProof="0" dirty="0">
                <a:solidFill>
                  <a:srgbClr val="0F1B2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26864"/>
            <a:ext cx="11064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עץ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החלטה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מהיר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—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שלוש</a:t>
            </a:r>
            <a:r>
              <a:rPr lang="en-US" sz="14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400" b="1" i="0" noProof="0" dirty="0" err="1">
                <a:solidFill>
                  <a:srgbClr val="0D4A5C"/>
                </a:solidFill>
                <a:latin typeface="Segoe UI"/>
              </a:rPr>
              <a:t>שאלות</a:t>
            </a:r>
            <a:endParaRPr lang="en-US" sz="1400" b="1" i="0" noProof="0" dirty="0">
              <a:solidFill>
                <a:srgbClr val="0D4A5C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89392" y="4919472"/>
            <a:ext cx="3541775" cy="7315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11192256" y="50109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1192256" y="5029199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00" b="1" i="0" noProof="0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696" y="4992624"/>
            <a:ext cx="2883408" cy="34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האם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ההודעה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עצמה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חייבת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להיות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מוצפנת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או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חתומה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696" y="5385816"/>
            <a:ext cx="32674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כן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‏SOAP‏ ·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המשיכו</a:t>
            </a:r>
            <a:endParaRPr lang="en-US" sz="1100" b="0" i="0" noProof="0" dirty="0">
              <a:solidFill>
                <a:srgbClr val="C4622D"/>
              </a:solidFill>
              <a:latin typeface="Segoe U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28160" y="4919472"/>
            <a:ext cx="3541775" cy="7315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7431024" y="50109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7431024" y="5029199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00" b="1" i="0" noProof="0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4464" y="4992624"/>
            <a:ext cx="2883408" cy="16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האם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נדרשת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טרנזקציה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מבוזרת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או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הבטחת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הגעה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464" y="5385816"/>
            <a:ext cx="32674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כן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‏SOAP‏ ·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המשיכו</a:t>
            </a:r>
            <a:endParaRPr lang="en-US" sz="1100" b="0" i="0" noProof="0" dirty="0">
              <a:solidFill>
                <a:srgbClr val="C4622D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6928" y="4919472"/>
            <a:ext cx="3541775" cy="73152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Rounded Rectangle 28"/>
          <p:cNvSpPr/>
          <p:nvPr/>
        </p:nvSpPr>
        <p:spPr>
          <a:xfrm>
            <a:off x="3669792" y="50109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669792" y="5029199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100" b="1" i="0" noProof="0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992624"/>
            <a:ext cx="2883408" cy="16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האם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הצרכן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הוא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דפדפן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,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מובייל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או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מפתח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 </a:t>
            </a:r>
            <a:r>
              <a:rPr lang="en-US" sz="1100" b="1" i="0" noProof="0" dirty="0" err="1">
                <a:solidFill>
                  <a:srgbClr val="0D4A5C"/>
                </a:solidFill>
                <a:latin typeface="Segoe UI"/>
              </a:rPr>
              <a:t>חיצוני</a:t>
            </a:r>
            <a:r>
              <a:rPr lang="en-US" sz="1100" b="1" i="0" noProof="0" dirty="0">
                <a:solidFill>
                  <a:srgbClr val="0D4A5C"/>
                </a:solidFill>
                <a:latin typeface="Segoe UI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385816"/>
            <a:ext cx="32674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כן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‏REST‏ ·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לא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: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שקלו</a:t>
            </a:r>
            <a:r>
              <a:rPr lang="en-US" sz="1100" b="0" i="0" noProof="0" dirty="0">
                <a:solidFill>
                  <a:srgbClr val="C4622D"/>
                </a:solidFill>
                <a:latin typeface="Segoe UI"/>
              </a:rPr>
              <a:t> את </a:t>
            </a:r>
            <a:r>
              <a:rPr lang="en-US" sz="1100" b="0" i="0" noProof="0" dirty="0" err="1">
                <a:solidFill>
                  <a:srgbClr val="C4622D"/>
                </a:solidFill>
                <a:latin typeface="Segoe UI"/>
              </a:rPr>
              <a:t>שניהם</a:t>
            </a:r>
            <a:endParaRPr lang="en-US" sz="1100" b="0" i="0" noProof="0" dirty="0">
              <a:solidFill>
                <a:srgbClr val="C4622D"/>
              </a:solidFill>
              <a:latin typeface="Segoe U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66928" y="5705856"/>
            <a:ext cx="11064240" cy="557784"/>
          </a:xfrm>
          <a:prstGeom prst="roundRect">
            <a:avLst>
              <a:gd name="adj" fmla="val 3000"/>
            </a:avLst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tangle 33"/>
          <p:cNvSpPr/>
          <p:nvPr/>
        </p:nvSpPr>
        <p:spPr>
          <a:xfrm>
            <a:off x="11576304" y="5797296"/>
            <a:ext cx="54864" cy="374904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923544" y="5752427"/>
            <a:ext cx="10561320" cy="39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200" b="1" i="0" noProof="0" dirty="0" err="1">
                <a:solidFill>
                  <a:srgbClr val="E0935E"/>
                </a:solidFill>
                <a:latin typeface="Segoe UI"/>
              </a:rPr>
              <a:t>התשובה</a:t>
            </a:r>
            <a:r>
              <a:rPr lang="en-US" sz="1200" b="1" i="0" noProof="0" dirty="0">
                <a:solidFill>
                  <a:srgbClr val="E0935E"/>
                </a:solidFill>
                <a:latin typeface="Segoe UI"/>
              </a:rPr>
              <a:t> </a:t>
            </a:r>
            <a:r>
              <a:rPr lang="en-US" sz="1200" b="1" i="0" noProof="0" dirty="0" err="1">
                <a:solidFill>
                  <a:srgbClr val="E0935E"/>
                </a:solidFill>
                <a:latin typeface="Segoe UI"/>
              </a:rPr>
              <a:t>הכנה</a:t>
            </a:r>
            <a:r>
              <a:rPr lang="en-US" sz="1200" b="1" i="0" noProof="0" dirty="0">
                <a:solidFill>
                  <a:srgbClr val="E0935E"/>
                </a:solidFill>
                <a:latin typeface="Segoe UI"/>
              </a:rPr>
              <a:t>: 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‏REST‏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ברירת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המחדל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רוב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הממשקים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הנבנים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היום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ובצדק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: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זול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מהיר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וקל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לאימוץ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. ‏SOAP‏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חי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במקומות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שבהם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חוזה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אבטחה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וטרנזקציה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שווים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יותר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מקלילות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—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ולצד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שניהם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‏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GraphQL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‏ ו-‏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gRPC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‏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כבר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מציעים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תשובות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אחרות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לאותה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200" b="0" i="0" noProof="0" dirty="0" err="1">
                <a:solidFill>
                  <a:srgbClr val="B9D2DB"/>
                </a:solidFill>
                <a:latin typeface="Segoe UI"/>
              </a:rPr>
              <a:t>שאלה</a:t>
            </a:r>
            <a:r>
              <a:rPr lang="en-US" sz="12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E0935E"/>
                </a:solidFill>
                <a:latin typeface="Segoe UI"/>
              </a:rPr>
              <a:t>סיכום</a:t>
            </a:r>
            <a:endParaRPr lang="en-US" sz="2800" b="1" i="0" noProof="0" dirty="0">
              <a:solidFill>
                <a:srgbClr val="E0935E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32104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800" b="1" i="0" noProof="0" dirty="0" err="1">
                <a:solidFill>
                  <a:srgbClr val="FFFFFF"/>
                </a:solidFill>
                <a:latin typeface="Segoe UI"/>
              </a:rPr>
              <a:t>מה</a:t>
            </a:r>
            <a:r>
              <a:rPr lang="en-US" sz="28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FFFFFF"/>
                </a:solidFill>
                <a:latin typeface="Segoe UI"/>
              </a:rPr>
              <a:t>לוקחים</a:t>
            </a:r>
            <a:r>
              <a:rPr lang="en-US" sz="2800" b="1" i="0" noProof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2800" b="1" i="0" noProof="0" dirty="0" err="1">
                <a:solidFill>
                  <a:srgbClr val="FFFFFF"/>
                </a:solidFill>
                <a:latin typeface="Segoe UI"/>
              </a:rPr>
              <a:t>מכאן</a:t>
            </a:r>
            <a:r>
              <a:rPr lang="en-US" sz="2800" b="1" i="0" noProof="0" dirty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7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שמונה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משפטים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שמכסים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את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מה</a:t>
            </a:r>
            <a:r>
              <a:rPr lang="en-US" sz="145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50" b="0" i="0" noProof="0" dirty="0" err="1">
                <a:solidFill>
                  <a:srgbClr val="B9D2DB"/>
                </a:solidFill>
                <a:latin typeface="Segoe UI"/>
              </a:rPr>
              <a:t>שנאמר</a:t>
            </a:r>
            <a:endParaRPr lang="en-US" sz="1450" b="0" i="0" noProof="0" dirty="0">
              <a:solidFill>
                <a:srgbClr val="B9D2DB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4124" y="723495"/>
            <a:ext cx="827043" cy="62889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11137392" y="18653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1137392" y="188366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56231"/>
            <a:ext cx="4553712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שירות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רשת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רכיב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תוכנה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מחשב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אחד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שיישום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מחשב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אחר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קורא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לו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דרך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הרשת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בעזרת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תקנים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פתוחים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‏HTTP, XML‏ ו-‏JSON‏.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633472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11137392" y="2761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11137392" y="2779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52344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‏SOAP‏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פרוטוקול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הודעה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עטופה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במעטפת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‏XML‏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‏Header‏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אופציונלי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, ‏Body‏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חובה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ו-‏Fault‏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אחיד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לשגיאות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529584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11137392" y="36576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1137392" y="3675887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648456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‏WSDL‏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החוזה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מסמך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‏XML‏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שנוצר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אוטומטית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ומתאר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פעולה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ממנו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הכלים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מייצרים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ללקוח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מחלקת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‏proxy‏.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425696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11137392" y="4553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1137392" y="4571999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544568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‏JAX-WS‏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הופך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מחלקת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‏POJO‏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לשירות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‏SOAP‏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בעזרת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שלוש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אנוטציות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‏‎@WebService, @WebMethod‏ ו-‏‎@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WebParam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737360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5468112" y="18653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5468112" y="188366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1856231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‏REST‏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אינו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תקן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אלא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סגנון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ארכיטקטוני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: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משאב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מזוהה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ב-‏URI‏,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והפועל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‏HTTP‏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הפעולה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2633472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2" name="Rounded Rectangle 31"/>
          <p:cNvSpPr/>
          <p:nvPr/>
        </p:nvSpPr>
        <p:spPr>
          <a:xfrm>
            <a:off x="5468112" y="2761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5468112" y="2779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2752344"/>
            <a:ext cx="4553712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חוסר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המצב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אילוץ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מגבלה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—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הוא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שמאפשר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להוסיף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שרתים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גבול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 ‏SOAP‏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יכול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לשמור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‏session‏,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ומשלם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כך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במדרגיות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529584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6" name="Rounded Rectangle 35"/>
          <p:cNvSpPr/>
          <p:nvPr/>
        </p:nvSpPr>
        <p:spPr>
          <a:xfrm>
            <a:off x="5468112" y="36576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5468112" y="3675887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648456"/>
            <a:ext cx="4553712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פעולות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‏CRUD‏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ממופות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ישירות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ל-‏POST, GET, PUT‏ ו-‏DELETE‏,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וקודי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הסטטוס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של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‏HTTP‏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הם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שפת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השגיאות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425696"/>
            <a:ext cx="5394959" cy="804672"/>
          </a:xfrm>
          <a:prstGeom prst="roundRect">
            <a:avLst>
              <a:gd name="adj" fmla="val 4000"/>
            </a:avLst>
          </a:prstGeom>
          <a:solidFill>
            <a:srgbClr val="14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0" name="Rounded Rectangle 39"/>
          <p:cNvSpPr/>
          <p:nvPr/>
        </p:nvSpPr>
        <p:spPr>
          <a:xfrm>
            <a:off x="5468112" y="4553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5468112" y="4571999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en-US" sz="1200" b="1" i="0" noProof="0" dirty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0833" y="4544568"/>
            <a:ext cx="4742687" cy="455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‏JAX-RS‏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נותן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את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אותה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עוצמה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בכמה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אנוטציות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— ‏‎@Path, @GET, @Produces‏ —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ובלי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מעטפת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ובלי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ייצור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 </a:t>
            </a:r>
            <a:r>
              <a:rPr lang="en-US" sz="1400" b="0" i="0" noProof="0" dirty="0" err="1">
                <a:solidFill>
                  <a:srgbClr val="B9D2DB"/>
                </a:solidFill>
                <a:latin typeface="Segoe UI"/>
              </a:rPr>
              <a:t>קוד</a:t>
            </a:r>
            <a:r>
              <a:rPr lang="en-US" sz="1400" b="0" i="0" noProof="0" dirty="0">
                <a:solidFill>
                  <a:srgbClr val="B9D2D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D53EEB7-01FD-E890-C0AC-F7E96E3520B6}"/>
              </a:ext>
            </a:extLst>
          </p:cNvPr>
          <p:cNvSpPr/>
          <p:nvPr/>
        </p:nvSpPr>
        <p:spPr>
          <a:xfrm>
            <a:off x="31" y="0"/>
            <a:ext cx="12191969" cy="6858000"/>
          </a:xfrm>
          <a:prstGeom prst="rect">
            <a:avLst/>
          </a:prstGeom>
          <a:solidFill>
            <a:srgbClr val="07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 rtl="1"/>
            <a:endParaRPr lang="en-US" b="1" noProof="0" dirty="0">
              <a:solidFill>
                <a:srgbClr val="E0935E"/>
              </a:solidFill>
              <a:latin typeface="Segoe UI"/>
            </a:endParaRPr>
          </a:p>
        </p:txBody>
      </p:sp>
      <p:sp>
        <p:nvSpPr>
          <p:cNvPr id="7" name="Rounded Rectangle 42">
            <a:extLst>
              <a:ext uri="{FF2B5EF4-FFF2-40B4-BE49-F238E27FC236}">
                <a16:creationId xmlns:a16="http://schemas.microsoft.com/office/drawing/2014/main" id="{16405F79-EDAB-9C63-F102-B8657FD88ED2}"/>
              </a:ext>
            </a:extLst>
          </p:cNvPr>
          <p:cNvSpPr/>
          <p:nvPr/>
        </p:nvSpPr>
        <p:spPr>
          <a:xfrm>
            <a:off x="419928" y="3428999"/>
            <a:ext cx="11352143" cy="3264763"/>
          </a:xfrm>
          <a:prstGeom prst="roundRect">
            <a:avLst>
              <a:gd name="adj" fmla="val 3000"/>
            </a:avLst>
          </a:prstGeom>
          <a:solidFill>
            <a:srgbClr val="072C3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he-IL" sz="7200" noProof="0" dirty="0"/>
              <a:t>תודה — שאלות?</a:t>
            </a:r>
          </a:p>
        </p:txBody>
      </p:sp>
      <p:sp>
        <p:nvSpPr>
          <p:cNvPr id="9" name="Rounded Rectangle 42">
            <a:extLst>
              <a:ext uri="{FF2B5EF4-FFF2-40B4-BE49-F238E27FC236}">
                <a16:creationId xmlns:a16="http://schemas.microsoft.com/office/drawing/2014/main" id="{0CF229EC-E419-EA37-126A-4E2F4A040FCE}"/>
              </a:ext>
            </a:extLst>
          </p:cNvPr>
          <p:cNvSpPr/>
          <p:nvPr/>
        </p:nvSpPr>
        <p:spPr>
          <a:xfrm>
            <a:off x="160376" y="1066060"/>
            <a:ext cx="7785139" cy="1437443"/>
          </a:xfrm>
          <a:prstGeom prst="roundRect">
            <a:avLst>
              <a:gd name="adj" fmla="val 3000"/>
            </a:avLst>
          </a:prstGeom>
          <a:solidFill>
            <a:srgbClr val="072C3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1"/>
            <a:r>
              <a:rPr lang="en-US" noProof="0" dirty="0"/>
              <a:t>Deitel &amp; Deitel, Java How to Program — ch.32 : REST Web Services</a:t>
            </a:r>
          </a:p>
          <a:p>
            <a:pPr lvl="1"/>
            <a:r>
              <a:rPr lang="en-US" noProof="0" dirty="0"/>
              <a:t>The Java EE Tutorial — Web Services · JAX-WS (JSR  224).  JAX-RS (JSR 311/339)</a:t>
            </a:r>
          </a:p>
          <a:p>
            <a:pPr lvl="1"/>
            <a:r>
              <a:rPr lang="en-US" noProof="0" dirty="0"/>
              <a:t>W3C: SOAP 1.2(2003) WSDL 1.1 (2001). R. T. Fielding, Architectural Styles (2000)</a:t>
            </a:r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0B01BCCA-DEB7-0E31-7929-21F7EE5179F0}"/>
              </a:ext>
            </a:extLst>
          </p:cNvPr>
          <p:cNvSpPr/>
          <p:nvPr/>
        </p:nvSpPr>
        <p:spPr>
          <a:xfrm>
            <a:off x="2036567" y="612233"/>
            <a:ext cx="3873564" cy="435657"/>
          </a:xfrm>
          <a:prstGeom prst="roundRect">
            <a:avLst>
              <a:gd name="adj" fmla="val 3000"/>
            </a:avLst>
          </a:prstGeom>
          <a:solidFill>
            <a:srgbClr val="072C3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noProof="0" dirty="0" err="1">
                <a:solidFill>
                  <a:srgbClr val="E0935E"/>
                </a:solidFill>
                <a:latin typeface="Segoe UI"/>
              </a:rPr>
              <a:t>מקורות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876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6122</Words>
  <Application>Microsoft Office PowerPoint</Application>
  <PresentationFormat>מסך רחב</PresentationFormat>
  <Paragraphs>691</Paragraphs>
  <Slides>22</Slides>
  <Notes>20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Consolas</vt:lpstr>
      <vt:lpstr>Segoe UI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Ahmad Abd Al Haleem</dc:creator>
  <cp:keywords/>
  <dc:description>generated using python-pptx</dc:description>
  <cp:lastModifiedBy>Ahmad Abd Alhalem</cp:lastModifiedBy>
  <cp:revision>5</cp:revision>
  <dcterms:created xsi:type="dcterms:W3CDTF">2013-01-27T09:14:16Z</dcterms:created>
  <dcterms:modified xsi:type="dcterms:W3CDTF">2026-08-22T21:12:15Z</dcterms:modified>
  <cp:category/>
</cp:coreProperties>
</file>