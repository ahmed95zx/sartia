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31" autoAdjust="0"/>
    <p:restoredTop sz="94660"/>
  </p:normalViewPr>
  <p:slideViewPr>
    <p:cSldViewPr snapToGrid="0" snapToObjects="1">
      <p:cViewPr>
        <p:scale>
          <a:sx n="120" d="100"/>
          <a:sy n="120" d="100"/>
        </p:scale>
        <p:origin x="-60" y="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562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74519"/>
            <a:ext cx="9994392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</a:pPr>
            <a:r>
              <a:rPr sz="44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שירותי רשת</a:t>
            </a:r>
            <a:r>
              <a:rPr lang="he-IL" sz="44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— </a:t>
            </a:r>
            <a:r>
              <a:rPr sz="44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Web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7448" y="3341331"/>
            <a:ext cx="27432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99943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קורס: סדנה בתכנות מתקדם בשפת Java</a:t>
            </a:r>
          </a:p>
          <a:p>
            <a:pPr algn="ctr" rtl="1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מציג: אחמד עבד אל-חלים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מה נעשה היום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8" y="944396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953700"/>
            <a:ext cx="1143000" cy="2011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38560" y="1810512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19656"/>
            <a:ext cx="48737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מהו שירות רשת ולמה בכלל צריכים אותו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38560" y="2249424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58568"/>
            <a:ext cx="48737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SOAP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מבנה ההודעה, התשובה וה-Fault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60" y="2688336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97479"/>
            <a:ext cx="48737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WSDL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החוזה של השירות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0" y="3127248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36391"/>
            <a:ext cx="48737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JAX-WS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צד השרת: ממחלקה רגילה לשירות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38560" y="3566160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75303"/>
            <a:ext cx="48737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JAX-WS 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—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צד הלקוח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: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wsimport ומחלקת proxy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0" y="4005072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14215"/>
            <a:ext cx="48737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ניהול מצב ב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- 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SOAP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 —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session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בין קריאות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4999" y="1810512"/>
            <a:ext cx="365760" cy="38404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819656"/>
            <a:ext cx="51023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REST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הסגנון הארכיטקטוני והאילוצים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4999" y="2249424"/>
            <a:ext cx="365760" cy="38404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258568"/>
            <a:ext cx="51023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משאבים, 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פעלי HTTP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וקודי סטטוס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4999" y="2688336"/>
            <a:ext cx="365760" cy="38404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697479"/>
            <a:ext cx="51023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JAX-R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צד השרת: קוד מהפרויקט שלי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4999" y="3127248"/>
            <a:ext cx="365760" cy="38404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136391"/>
            <a:ext cx="51023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JAX-RS 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—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צד הלקוח: 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דפדפן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,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curl ו-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Client API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endParaRPr sz="1300" b="1" dirty="0">
              <a:solidFill>
                <a:srgbClr val="16324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714999" y="3566160"/>
            <a:ext cx="365760" cy="38404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575303"/>
            <a:ext cx="5102352" cy="1955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ניהול מצב ב-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REST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למה השרת לא זוכר א</a:t>
            </a:r>
            <a:r>
              <a:rPr lang="he-IL"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ותנו</a:t>
            </a:r>
            <a:endParaRPr sz="1300" b="1" dirty="0">
              <a:solidFill>
                <a:srgbClr val="16324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714999" y="4005072"/>
            <a:ext cx="365760" cy="38404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14215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בעולם האמיתי, וסיכום משווה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מהו שירות רשת?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נתחיל מההגדרה הבסיסית — </a:t>
            </a:r>
            <a:r>
              <a:rPr lang="ar-SA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לפני שאנחנו נוגעים בפרוטוקול כלשהו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26464"/>
            <a:ext cx="5349240" cy="2867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</a:t>
            </a:r>
            <a:r>
              <a:rPr sz="1350" b="0" dirty="0">
                <a:latin typeface="Arial"/>
                <a:ea typeface="Arial"/>
                <a:cs typeface="Arial"/>
              </a:rPr>
              <a:t>ההגדר</a:t>
            </a:r>
            <a:r>
              <a:rPr lang="he-IL" sz="1350" b="0" dirty="0">
                <a:latin typeface="Arial"/>
                <a:ea typeface="Arial"/>
                <a:cs typeface="Arial"/>
              </a:rPr>
              <a:t>ה</a:t>
            </a:r>
            <a:r>
              <a:rPr lang="he-IL" sz="1350" dirty="0">
                <a:latin typeface="Arial"/>
                <a:ea typeface="Arial"/>
                <a:cs typeface="Arial"/>
              </a:rPr>
              <a:t>:</a:t>
            </a:r>
            <a:r>
              <a:rPr lang="he-IL" sz="1350" b="0" dirty="0"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latin typeface="Arial"/>
                <a:ea typeface="Arial"/>
                <a:cs typeface="Arial"/>
              </a:rPr>
              <a:t>שירות רשת הוא רכיב תוכנה השוכן על מחשב אחד</a:t>
            </a:r>
            <a:r>
              <a:rPr lang="he-IL" sz="1350" dirty="0">
                <a:latin typeface="Arial"/>
                <a:ea typeface="Arial"/>
                <a:cs typeface="Arial"/>
              </a:rPr>
              <a:t>,</a:t>
            </a:r>
            <a:r>
              <a:rPr lang="he-IL" sz="1350" b="0" dirty="0"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latin typeface="Arial"/>
                <a:ea typeface="Arial"/>
                <a:cs typeface="Arial"/>
              </a:rPr>
              <a:t>שיישום הרץ על מחשב אחר מפעיל אותו דרך הרשת — </a:t>
            </a:r>
            <a:r>
              <a:rPr lang="he-IL" sz="1350" b="0" dirty="0"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latin typeface="Arial"/>
                <a:ea typeface="Arial"/>
                <a:cs typeface="Arial"/>
              </a:rPr>
              <a:t>בדרך כלל מעל HTTP</a:t>
            </a:r>
            <a:r>
              <a:rPr lang="he-IL" sz="1350" b="0" dirty="0">
                <a:latin typeface="Arial"/>
                <a:ea typeface="Arial"/>
                <a:cs typeface="Arial"/>
              </a:rPr>
              <a:t>. </a:t>
            </a:r>
          </a:p>
          <a:p>
            <a:pPr marL="165100" indent="-165100" algn="r" rtl="1">
              <a:spcAft>
                <a:spcPts val="1000"/>
              </a:spcAft>
            </a:pPr>
            <a:r>
              <a:rPr sz="1400" b="0" dirty="0">
                <a:latin typeface="Arial"/>
                <a:ea typeface="Arial"/>
                <a:cs typeface="Arial"/>
              </a:rPr>
              <a:t> </a:t>
            </a:r>
            <a:r>
              <a:rPr lang="he-IL" sz="1400" b="0" dirty="0">
                <a:latin typeface="Arial"/>
                <a:ea typeface="Arial"/>
                <a:cs typeface="Arial"/>
              </a:rPr>
              <a:t>  </a:t>
            </a:r>
            <a:r>
              <a:rPr sz="1400" b="0" dirty="0">
                <a:latin typeface="Arial"/>
                <a:ea typeface="Arial"/>
                <a:cs typeface="Arial"/>
              </a:rPr>
              <a:t>הלקוח שולח בקשה</a:t>
            </a:r>
            <a:r>
              <a:rPr lang="he-IL" sz="1400" dirty="0">
                <a:latin typeface="Arial"/>
                <a:ea typeface="Arial"/>
                <a:cs typeface="Arial"/>
              </a:rPr>
              <a:t>,</a:t>
            </a:r>
            <a:r>
              <a:rPr sz="1400" b="0" dirty="0">
                <a:latin typeface="Arial"/>
                <a:ea typeface="Arial"/>
                <a:cs typeface="Arial"/>
              </a:rPr>
              <a:t> השרת מעבד אותה ומחזיר תשובה בפורמט מוסכ</a:t>
            </a:r>
            <a:r>
              <a:rPr lang="he-IL" sz="1400" b="0" dirty="0">
                <a:latin typeface="Arial"/>
                <a:ea typeface="Arial"/>
                <a:cs typeface="Arial"/>
              </a:rPr>
              <a:t>ם</a:t>
            </a:r>
            <a:r>
              <a:rPr lang="he-IL" sz="1400" dirty="0">
                <a:latin typeface="Arial"/>
                <a:ea typeface="Arial"/>
                <a:cs typeface="Arial"/>
              </a:rPr>
              <a:t>:</a:t>
            </a:r>
            <a:r>
              <a:rPr sz="1400" b="0" dirty="0">
                <a:latin typeface="Arial"/>
                <a:ea typeface="Arial"/>
                <a:cs typeface="Arial"/>
              </a:rPr>
              <a:t> XML או JSON</a:t>
            </a:r>
            <a:r>
              <a:rPr lang="he-IL" sz="1400" dirty="0">
                <a:latin typeface="Arial"/>
                <a:ea typeface="Arial"/>
                <a:cs typeface="Arial"/>
              </a:rPr>
              <a:t>.</a:t>
            </a:r>
            <a:endParaRPr lang="ar-SA" sz="1400" dirty="0">
              <a:latin typeface="Arial"/>
              <a:ea typeface="Arial"/>
              <a:cs typeface="Arial"/>
            </a:endParaRPr>
          </a:p>
          <a:p>
            <a:pPr marL="165100" indent="-165100" algn="r" rtl="1">
              <a:spcAft>
                <a:spcPts val="1000"/>
              </a:spcAft>
            </a:pPr>
            <a:r>
              <a:rPr lang="he-IL" sz="1400" dirty="0">
                <a:latin typeface="Arial"/>
                <a:ea typeface="Arial"/>
                <a:cs typeface="Arial"/>
              </a:rPr>
              <a:t>דוגמה יומיומית</a:t>
            </a:r>
            <a:r>
              <a:rPr lang="en-US" sz="1400" dirty="0">
                <a:latin typeface="Arial"/>
                <a:ea typeface="Arial"/>
                <a:cs typeface="Arial"/>
              </a:rPr>
              <a:t>:</a:t>
            </a:r>
            <a:r>
              <a:rPr lang="ar-SA" sz="1400" dirty="0">
                <a:latin typeface="Arial"/>
                <a:ea typeface="Arial"/>
                <a:cs typeface="Arial"/>
              </a:rPr>
              <a:t> </a:t>
            </a:r>
            <a:r>
              <a:rPr lang="he-IL" sz="1400" dirty="0">
                <a:latin typeface="Arial"/>
                <a:ea typeface="Arial"/>
                <a:cs typeface="Arial"/>
              </a:rPr>
              <a:t>אתר שמציג תחזית מזג אוויר אינו מודד את הטמפרטורה </a:t>
            </a:r>
            <a:r>
              <a:rPr lang="ar-SA" sz="1400" dirty="0">
                <a:latin typeface="Arial"/>
                <a:ea typeface="Arial"/>
                <a:cs typeface="Arial"/>
              </a:rPr>
              <a:t>   </a:t>
            </a:r>
            <a:r>
              <a:rPr lang="he-IL" sz="1400" dirty="0">
                <a:latin typeface="Arial"/>
                <a:ea typeface="Arial"/>
                <a:cs typeface="Arial"/>
              </a:rPr>
              <a:t>בעצמו — הוא קורא לשירות של גוף אחר ומציג את התשובה.</a:t>
            </a:r>
            <a:endParaRPr lang="he-IL" sz="135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marL="165100" indent="-165100" algn="r" rtl="1">
              <a:spcAft>
                <a:spcPts val="1000"/>
              </a:spcAft>
            </a:pPr>
            <a:r>
              <a:rPr lang="he-IL" sz="1400" dirty="0">
                <a:latin typeface="Arial"/>
                <a:ea typeface="Arial"/>
                <a:cs typeface="Arial"/>
              </a:rPr>
              <a:t>•  אי-תלות בשפה ובפלטפורמה.  לקוח שנכתב ב- </a:t>
            </a:r>
            <a:r>
              <a:rPr lang="en-US" sz="1400" dirty="0">
                <a:latin typeface="Arial"/>
                <a:ea typeface="Arial"/>
                <a:cs typeface="Arial"/>
              </a:rPr>
              <a:t>Python</a:t>
            </a:r>
            <a:r>
              <a:rPr lang="he-IL" sz="1400" dirty="0">
                <a:latin typeface="Arial"/>
                <a:ea typeface="Arial"/>
                <a:cs typeface="Arial"/>
              </a:rPr>
              <a:t> </a:t>
            </a:r>
            <a:r>
              <a:rPr lang="en-US" sz="1400" dirty="0">
                <a:latin typeface="Arial"/>
                <a:ea typeface="Arial"/>
                <a:cs typeface="Arial"/>
              </a:rPr>
              <a:t>, </a:t>
            </a:r>
            <a:r>
              <a:rPr lang="he-IL" sz="1400" dirty="0">
                <a:latin typeface="Arial"/>
                <a:ea typeface="Arial"/>
                <a:cs typeface="Arial"/>
              </a:rPr>
              <a:t>  ב- </a:t>
            </a:r>
            <a:r>
              <a:rPr lang="en-US" sz="1400" dirty="0">
                <a:latin typeface="Arial"/>
                <a:ea typeface="Arial"/>
                <a:cs typeface="Arial"/>
              </a:rPr>
              <a:t>C# </a:t>
            </a:r>
            <a:r>
              <a:rPr lang="he-IL" sz="1400" dirty="0">
                <a:latin typeface="Arial"/>
                <a:ea typeface="Arial"/>
                <a:cs typeface="Arial"/>
              </a:rPr>
              <a:t> או ב- </a:t>
            </a:r>
            <a:r>
              <a:rPr lang="en-US" sz="1400" dirty="0">
                <a:latin typeface="Arial"/>
                <a:ea typeface="Arial"/>
                <a:cs typeface="Arial"/>
              </a:rPr>
              <a:t>JavaScript</a:t>
            </a:r>
            <a:r>
              <a:rPr lang="he-IL" sz="1400" dirty="0">
                <a:latin typeface="Arial"/>
                <a:ea typeface="Arial"/>
                <a:cs typeface="Arial"/>
              </a:rPr>
              <a:t> </a:t>
            </a:r>
            <a:r>
              <a:rPr lang="en-US" sz="1400" dirty="0">
                <a:latin typeface="Arial"/>
                <a:ea typeface="Arial"/>
                <a:cs typeface="Arial"/>
              </a:rPr>
              <a:t>  </a:t>
            </a:r>
            <a:r>
              <a:rPr lang="he-IL" sz="1400" dirty="0">
                <a:latin typeface="Arial"/>
                <a:ea typeface="Arial"/>
                <a:cs typeface="Arial"/>
              </a:rPr>
              <a:t>יכול לצרוך שירות שנכתב ב-</a:t>
            </a:r>
            <a:r>
              <a:rPr lang="en-US" sz="1400" dirty="0">
                <a:latin typeface="Arial"/>
                <a:ea typeface="Arial"/>
                <a:cs typeface="Arial"/>
              </a:rPr>
              <a:t>Java </a:t>
            </a:r>
            <a:r>
              <a:rPr lang="he-IL" sz="1400" dirty="0">
                <a:latin typeface="Arial"/>
                <a:ea typeface="Arial"/>
                <a:cs typeface="Arial"/>
              </a:rPr>
              <a:t> </a:t>
            </a:r>
            <a:r>
              <a:rPr lang="en-US" sz="1400" dirty="0">
                <a:latin typeface="Arial"/>
                <a:ea typeface="Arial"/>
                <a:cs typeface="Arial"/>
              </a:rPr>
              <a:t>,</a:t>
            </a:r>
            <a:r>
              <a:rPr lang="he-IL" sz="1400" dirty="0">
                <a:latin typeface="Arial"/>
                <a:ea typeface="Arial"/>
                <a:cs typeface="Arial"/>
              </a:rPr>
              <a:t> מפני שההסכמה היא על פורמט ההודעה —  לא על השפה.</a:t>
            </a:r>
          </a:p>
          <a:p>
            <a:pPr marL="165100" indent="-165100" algn="r" rtl="1">
              <a:spcAft>
                <a:spcPts val="1000"/>
              </a:spcAft>
            </a:pPr>
            <a:r>
              <a:rPr lang="he-IL" sz="1400" dirty="0">
                <a:latin typeface="Arial"/>
                <a:ea typeface="Arial"/>
                <a:cs typeface="Arial"/>
              </a:rPr>
              <a:t>•  שירותי רשת משתמשים בתקנים פתוחים: </a:t>
            </a:r>
            <a:r>
              <a:rPr lang="en-US" sz="1400" dirty="0">
                <a:latin typeface="Arial"/>
                <a:ea typeface="Arial"/>
                <a:cs typeface="Arial"/>
              </a:rPr>
              <a:t>HTTP </a:t>
            </a:r>
            <a:r>
              <a:rPr lang="ar-SA" sz="1400" dirty="0">
                <a:latin typeface="Arial"/>
                <a:ea typeface="Arial"/>
                <a:cs typeface="Arial"/>
              </a:rPr>
              <a:t> </a:t>
            </a:r>
            <a:r>
              <a:rPr lang="he-IL" sz="1400" dirty="0">
                <a:latin typeface="Arial"/>
                <a:ea typeface="Arial"/>
                <a:cs typeface="Arial"/>
              </a:rPr>
              <a:t>להעברה, </a:t>
            </a:r>
            <a:r>
              <a:rPr lang="en-US" sz="1400" dirty="0">
                <a:latin typeface="Arial"/>
                <a:ea typeface="Arial"/>
                <a:cs typeface="Arial"/>
              </a:rPr>
              <a:t>XML </a:t>
            </a:r>
            <a:r>
              <a:rPr lang="he-IL" sz="1400" dirty="0">
                <a:latin typeface="Arial"/>
                <a:ea typeface="Arial"/>
                <a:cs typeface="Arial"/>
              </a:rPr>
              <a:t>או </a:t>
            </a:r>
            <a:r>
              <a:rPr lang="en-US" sz="1400" dirty="0">
                <a:latin typeface="Arial"/>
                <a:ea typeface="Arial"/>
                <a:cs typeface="Arial"/>
              </a:rPr>
              <a:t>JSON </a:t>
            </a:r>
            <a:r>
              <a:rPr lang="he-IL" sz="1400" dirty="0">
                <a:latin typeface="Arial"/>
                <a:ea typeface="Arial"/>
                <a:cs typeface="Arial"/>
              </a:rPr>
              <a:t>לייצוג הנתונים  —  כולם פורמטי טקסט שקריאים למחשב וגם לאדם.</a:t>
            </a:r>
            <a:endParaRPr sz="1400" b="0" dirty="0">
              <a:latin typeface="Arial"/>
              <a:ea typeface="Arial"/>
              <a:cs typeface="Arial"/>
            </a:endParaRPr>
          </a:p>
        </p:txBody>
      </p:sp>
      <p:pic>
        <p:nvPicPr>
          <p:cNvPr id="14" name="תמונה 7">
            <a:extLst>
              <a:ext uri="{FF2B5EF4-FFF2-40B4-BE49-F238E27FC236}">
                <a16:creationId xmlns:a16="http://schemas.microsoft.com/office/drawing/2014/main" id="{D3D7ED12-0A60-4C61-4779-B2CECDE5E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58" y="1356465"/>
            <a:ext cx="5349240" cy="3171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מה קורה בקריאה אחת?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חמישה שלבים שחוזרים על עצמם בכל שירות רשת 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38560" y="1426464"/>
            <a:ext cx="365760" cy="56692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35608"/>
            <a:ext cx="4873752" cy="4205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הלקוח מפעיל מתודה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על אובייקט מקומי</a:t>
            </a:r>
            <a:r>
              <a:rPr lang="he-IL" sz="11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בדיוק כמו כל קריאה רגילה ב</a:t>
            </a:r>
            <a:r>
              <a:rPr lang="he-IL"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</a:t>
            </a: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Java</a:t>
            </a:r>
            <a:r>
              <a:rPr lang="he-IL" sz="11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endParaRPr sz="115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338560" y="2075688"/>
            <a:ext cx="365760" cy="56692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84831"/>
            <a:ext cx="4873752" cy="4205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התשתית אורזת את הבקשה  (marshalling)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שם הפעולה והפרמטרים הופכים לטקסט</a:t>
            </a:r>
            <a:r>
              <a:rPr lang="he-IL"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—</a:t>
            </a: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XML או JSON</a:t>
            </a:r>
            <a:r>
              <a:rPr lang="he-IL"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endParaRPr sz="115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38560" y="2724912"/>
            <a:ext cx="365760" cy="56692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34056"/>
            <a:ext cx="4873752" cy="4205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ההודעה נשלחת מעל HTTP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ולכן היא עוברת חומות אש כמו כל תעבורת web</a:t>
            </a:r>
            <a:r>
              <a:rPr lang="he-IL"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רגילה.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38560" y="3374136"/>
            <a:ext cx="365760" cy="56692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383279"/>
            <a:ext cx="4873752" cy="4205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השרת מפענח ומפעיל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התשתית מזהה איזו מתודה התבקשה</a:t>
            </a:r>
            <a:r>
              <a:rPr lang="he-IL" sz="11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וקוראת לה עם הפרמטרים.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38560" y="4023360"/>
            <a:ext cx="365760" cy="56692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32504"/>
            <a:ext cx="4873752" cy="4205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התשובה חוזרת באותה דרך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ערך ההחזרה נארז</a:t>
            </a:r>
            <a:r>
              <a:rPr lang="he-IL"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נשלח בתשובת HTTP</a:t>
            </a:r>
            <a:r>
              <a:rPr lang="he-IL"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ומפוענח אצל הלקוח לאובייקט.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SOAP </a:t>
            </a:r>
            <a:r>
              <a:rPr lang="he-IL"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— </a:t>
            </a:r>
            <a:r>
              <a:rPr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מה זה בעצם?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Simple Object Access Protocol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—</a:t>
            </a:r>
            <a:r>
              <a:rPr lang="he-IL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תקן של W3C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להעברת הודעות בין יישומים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26464"/>
            <a:ext cx="5349240" cy="3530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פרוטוקול, לא ספרייה ולא מוצר.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זהו תקן שמגדיר איך ההודעה נראית.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כל שפה וכל פלטפורמה שמממשים אותו יכולים לדבר זה עם זה.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כל הודעה היא XML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לכן היא קריאה למחשב, קריאה גם לאדם, ובלתי תלויה במערכת ההפעלה ובשפת התכנות.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בדרך כלל מעל HTTP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אך לא רק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התקן מפריד בין ההודעה לבין אמצעי ההעברה, ולכן אותה הודעה יכולה לנסוע גם מעל SMTP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או JMS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endParaRPr sz="135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מה קורה בקריאה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שם הפעולה והפרמטרים נארזים במעטפ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ת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ונשלחים לשרת; השירות מנתח את ה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XML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מזהה איזו מתודה להפעיל, ומחזיר את התוצאה בהודעת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SOAP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נוספת.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טיפוסי נתונים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הטיפוסים הפרימיטיביים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int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double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boolea</a:t>
            </a:r>
            <a:r>
              <a:rPr lang="en-US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מחרוזות, תאריכים ומערכים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)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— וגם אובייקטים שלמים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שמומרים ל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XML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בעזרת JAXB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endParaRPr sz="135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680" y="1426464"/>
            <a:ext cx="559308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SOAP over HTTP — the first lines of a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82496"/>
            <a:ext cx="5577840" cy="1274673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POST /WelcomeSOAP/WelcomeSOAPService HTTP/1.1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Host: localhost:8080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Content-Type: text/xml; charset=utf-8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SOAPAction</a:t>
            </a: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: ""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... the SOAP envelope follows here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722606"/>
            <a:ext cx="5577840" cy="1234440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lang="he-IL"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נ</a:t>
            </a: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שי</a:t>
            </a:r>
            <a:r>
              <a:rPr lang="he-IL"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ם</a:t>
            </a: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 לב: הפועל הוא תמיד POST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גם כשהפעולה רק קוראת נתונים.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הכתובת מצביעה על השירות ולא על הפעולה —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שם הפעולה מוסתר בתוך גוף ה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XML</a:t>
            </a:r>
            <a:r>
              <a:rPr lang="he-IL" sz="12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מבנה הודעת SOAP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כל הודעה 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בקשה או תשובה </a:t>
            </a:r>
            <a:r>
              <a:rPr lang="he-IL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בנויה מאותם שלושה חלקים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426464"/>
            <a:ext cx="534924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074920" cy="199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rtl="0">
              <a:lnSpc>
                <a:spcPct val="122000"/>
              </a:lnSpc>
              <a:spcAft>
                <a:spcPts val="0"/>
              </a:spcAft>
            </a:pPr>
            <a:r>
              <a:rPr sz="1150" b="1" dirty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soap:</a:t>
            </a:r>
            <a:r>
              <a:rPr lang="he-IL" sz="1150" b="1" dirty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 dirty="0">
                <a:solidFill>
                  <a:srgbClr val="2E75B6"/>
                </a:solidFill>
                <a:latin typeface="Consolas"/>
                <a:ea typeface="Consolas"/>
                <a:cs typeface="Consolas"/>
              </a:rPr>
              <a:t>Envelope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6248" y="1810512"/>
            <a:ext cx="4946903" cy="658368"/>
          </a:xfrm>
          <a:prstGeom prst="rect">
            <a:avLst/>
          </a:prstGeom>
          <a:solidFill>
            <a:srgbClr val="F4F8FC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 rtl="0">
              <a:lnSpc>
                <a:spcPct val="122000"/>
              </a:lnSpc>
              <a:spcAft>
                <a:spcPts val="200"/>
              </a:spcAft>
            </a:pPr>
            <a:r>
              <a:rPr sz="1100" b="1" dirty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soap: Header</a:t>
            </a:r>
          </a:p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אופציונלי —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מידע שאינו הנתונים עצמם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6248" y="2560320"/>
            <a:ext cx="4946903" cy="713232"/>
          </a:xfrm>
          <a:prstGeom prst="rect">
            <a:avLst/>
          </a:prstGeom>
          <a:solidFill>
            <a:srgbClr val="F4F8FC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 rtl="0">
              <a:lnSpc>
                <a:spcPct val="122000"/>
              </a:lnSpc>
              <a:spcAft>
                <a:spcPts val="200"/>
              </a:spcAft>
            </a:pPr>
            <a:r>
              <a:rPr sz="1100" b="1" dirty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soap: Body</a:t>
            </a:r>
          </a:p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חובה —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שם הפעולה והפרמטרים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(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ובשגיאה</a:t>
            </a:r>
            <a:r>
              <a:rPr lang="he-IL" sz="11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soap: Fault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)</a:t>
            </a:r>
            <a:endParaRPr sz="11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3575304"/>
            <a:ext cx="5349240" cy="1672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Envelope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העטיפה החיצונית.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מסמנת שמדובר בהודעת SOAP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ומגדירה את מרחב השמות של התקן.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Heade</a:t>
            </a:r>
            <a:r>
              <a:rPr lang="en-US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אופציונלי.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כאן נכנס מידע שאינו הנתונים עצמם: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אסימון אבטחה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(WS-Security)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מזהה טרנזקציה או נתוני ניתוב.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Body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חובה.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כאן יושב שם הפעולה והפרמטרים שלה,</a:t>
            </a:r>
            <a:r>
              <a:rPr lang="he-IL" sz="13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ובתשובה 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הערך המוחז</a:t>
            </a:r>
            <a:r>
              <a:rPr lang="he-IL" sz="13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ר או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Fault </a:t>
            </a:r>
            <a:r>
              <a:rPr lang="he-IL" sz="13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רק כשמשהו נכשל.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endParaRPr sz="13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1426464"/>
            <a:ext cx="55778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SOAP request  —  proxy.welcome("Paul")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82496"/>
            <a:ext cx="5577840" cy="2311603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&lt;?xml version="1.0" encoding="UTF-8"?&gt;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&lt;soap:Envelope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xmlns:soap="http://schemas.xmlsoap.org/soap/envelope/"&gt;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&lt;soap:Body&gt;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&lt;ns2:welcome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xmlns:ns2="http://welcomesoap.deitel.com/"&gt;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&lt;name&gt;Paul&lt;/name&gt;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&lt;/ns2:welcome&gt;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&lt;/soap:Body&gt;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&lt;/soap:Envelope&gt;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80" y="4202878"/>
            <a:ext cx="5577840" cy="1403354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איך קוראים את זה?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האלמנט &lt;ns2:welcome&gt;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הוא שם המתודה שאנחנו מפעילים,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ו-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&lt;name&gt;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הוא הפרמטר שלה.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את שני השמות האלה לא המצאנו בעצמנו —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הם נקבעו באנוטציות של מחלקת השירות,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ונרשמו בחוזה ה-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WSDL</a:t>
            </a:r>
            <a:r>
              <a:rPr lang="he-IL" sz="12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לכן הלקוח יודע בדיוק מה לשלוח.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8269"/>
            <a:ext cx="1118311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התשובה — </a:t>
            </a:r>
            <a:r>
              <a:rPr lang="he-IL"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מה קורה כשיש שגיאה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1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SOAP Fault</a:t>
            </a:r>
            <a:r>
              <a:rPr lang="he-IL"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: </a:t>
            </a:r>
            <a:r>
              <a:rPr lang="he-IL"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מבנה שגיאה אחיד שכל לקוח בעולם יודע לפענח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83652" y="1244238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0" y="1417411"/>
            <a:ext cx="55778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SOAP response  — OK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0572" y="1665686"/>
            <a:ext cx="5577840" cy="2484424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HTTP/1.1 200 OK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Content-Type: text/xml; charset=utf-8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&lt;soap:Envelope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xmlns:soap="http://schemas.xmlsoap.org/soap/envelope/"&gt;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&lt;soap:Body&gt;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&lt;ns2:welcomeResponse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xmlns:ns2="http://welcomesoap.deitel.com/"&gt;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&lt;return&gt;Welcome to JAX-WS web services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with SOAP, Paul!&lt;/return&gt;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&lt;/ns2:welcomeResponse&gt;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&lt;/soap:Body&gt;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&lt;/soap:Envelope&gt;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4288" y="4338651"/>
            <a:ext cx="5577840" cy="665516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שם האלמנט בתשובה הוא תמיד שם הפעולה בתוספת Response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והערך המוחזר יושב בתוך &lt;return&gt;</a:t>
            </a:r>
            <a:r>
              <a:rPr lang="he-IL" sz="12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700" y="1427118"/>
            <a:ext cx="53492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SOAP Fault  —  the error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700" y="1683150"/>
            <a:ext cx="5349240" cy="2542032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&lt;soap:Envelope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xmlns:soap="http://schemas.xmlsoap.org/soap/envelope/"&gt;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&lt;soap:Body&gt;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&lt;soap:Fault&gt;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&lt;faultcode&gt;soap:Client&lt;/faultcode&gt;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&lt;faultstring&gt;Unknown card number&lt;/faultstring&gt;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&lt;detail&gt;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&lt;ns2:CardFault xmlns:ns2="http://bank.example/"&gt;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&lt;errorCode&gt;E-104&lt;/errorCode&gt;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&lt;/ns2:CardFault&gt;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&lt;/detail&gt;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&lt;/soap:Fault&gt;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&lt;/soap:Body&gt;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&lt;/soap:Envelope&gt;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700" y="4247335"/>
            <a:ext cx="5349240" cy="18257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faultcode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—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מי אשם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הערך soap: Client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אומר שהלקוח שלח נתונים שגויים — אין טעם לנסות שוב</a:t>
            </a:r>
            <a:r>
              <a:rPr lang="he-IL" sz="12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soap: Server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אומר שהתקלה היא בצד השרת, וניסיון חוזר עשוי להצליח.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faultstring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הסבר קריא לאדם</a:t>
            </a:r>
            <a:r>
              <a:rPr lang="he-IL" sz="12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detail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מידע נוסף שהשירות מוסיף,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למשל קוד שגיאה פנימי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ב-</a:t>
            </a: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Java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זה מגיע אלינו כחריגה: ה-</a:t>
            </a: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proxy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זורק </a:t>
            </a: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SOAPFaultException</a:t>
            </a:r>
            <a:r>
              <a:rPr lang="he-IL" sz="12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וממנה אפשר לשלוף את </a:t>
            </a: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getFault()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getFaultString()</a:t>
            </a:r>
            <a:r>
              <a:rPr lang="he-IL" sz="12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endParaRPr lang="en-US" sz="125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WSDL </a:t>
            </a:r>
            <a:r>
              <a:rPr lang="he-IL"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החוזה של השירות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1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Web Service Description Language </a:t>
            </a:r>
            <a:r>
              <a:rPr lang="he-IL"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מסמך XML</a:t>
            </a:r>
            <a:r>
              <a:rPr lang="he-IL"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שמתאר אילו פעולות קיימות ואיך קוראים להן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1916" y="1426464"/>
            <a:ext cx="5222404" cy="3405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spcAft>
                <a:spcPts val="1000"/>
              </a:spcAft>
            </a:pP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•  מה זה:  מסמך</a:t>
            </a: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XML 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שמגדיר באופן פורמלי את כל מה שהשירות מעמיד לרשות הלקוחות.</a:t>
            </a:r>
            <a:endParaRPr lang="he-IL" sz="14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marL="165100" indent="-165100" algn="r" rtl="1">
              <a:spcAft>
                <a:spcPts val="10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הבעיה שהוא פותר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כדי לצרוך שירות,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הלקוח חייב לדעת שלושה דברים: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אילו פעולות קיימות,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אילו פרמטרים כל פעולה מקבלת,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ולאיזו כתובת לשלוח את ההודעה.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א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נחנו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לא כותבים אותו ולא קוראים אותו.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שרת היישומים מייצר את ה-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WSDL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באופן דינאמי מתוך האנוטציות של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נו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וכלי הלקוח מנתחים אותו ומייצרים ממנו מחלקות Java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 תמיד מעודכן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שיני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נו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חתימה של מתודה? ה-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WSDL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הבא שיימשך כבר יכיל את השינוי.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המחיר: הלקוח חייב לייצר מחדש את הקוד של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זה מה שהופך את SOAP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לחוזה מחיי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ב.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שני ארגונים יכולים לסכם על קובץ WSDL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והכלים של כל צד יוודאו שההודעות תואמות לו.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2350807"/>
            <a:ext cx="55778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 contract lives one query-string away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80" y="2614954"/>
            <a:ext cx="5577840" cy="394106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http://localhost:8080/WelcomeSOAP/WelcomeSOAPService?WSDL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" y="3429000"/>
            <a:ext cx="5577840" cy="629117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מוסיפים ?WSDL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לכתובת השירות — ומקבלים את כל החוזה בדפדפן. זו הדרך לבדוק שהשירות עלה כמו שצריך, וזו הכתובת שנמסור לכלי שמייצר את הלקוח.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איך נראה WSDL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בפועל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חמישה חלקים — מהנתונים המופשטים ועד הכתובת הקונקרטית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rtl="0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55778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WelcomeSOAPService?WSDL  —  trimmed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82496"/>
            <a:ext cx="5577840" cy="4977993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&lt;definitions name="WelcomeSOAPService"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targetNamespace="http://welcomesoap.deitel.com/"&gt;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&lt;types&gt;                                   &lt;!-- 1 --&gt;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&lt;xsd:element name="welcome" type="tns:welcome"/&gt;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&lt;/types&gt;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&lt;message name="welcome"&gt;                  &lt;!-- 2 --&gt;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&lt;part name="parameters" element="tns:welcome"/&gt;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&lt;/message&gt;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&lt;portType name="WelcomeSOAP"&gt;             &lt;!-- 3 --&gt;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&lt;operation name="welcome"&gt;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&lt;input  message="tns:welcome"/&gt;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&lt;output message="tns:welcomeResponse"/&gt;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&lt;/operation&gt;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&lt;/portType&gt;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&lt;binding name="WelcomeSOAPPortBinding"    &lt;!-- 4 --&gt;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type="tns:WelcomeSOAP"&gt;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&lt;soap:binding style="document"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transport=".../soap/http"/&gt;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&lt;/binding&gt;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&lt;service name="WelcomeSOAPService"&gt;       &lt;!-- 5 --&gt;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&lt;port name="WelcomeSOAPPort"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binding="tns:WelcomeSOAPPortBinding"&gt;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&lt;soap:address location="http://localhost:8080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/WelcomeSOAP/WelcomeSOAPService"/&gt;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&lt;/port&gt;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&lt;/service&gt;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&lt;/definitions&gt;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461243"/>
              </p:ext>
            </p:extLst>
          </p:nvPr>
        </p:nvGraphicFramePr>
        <p:xfrm>
          <a:off x="6355080" y="1815084"/>
          <a:ext cx="5349240" cy="2432304"/>
        </p:xfrm>
        <a:graphic>
          <a:graphicData uri="http://schemas.openxmlformats.org/drawingml/2006/table">
            <a:tbl>
              <a:tblPr rtl="1" firstRow="1"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החלק</a:t>
                      </a:r>
                    </a:p>
                  </a:txBody>
                  <a:tcPr marL="73152" marR="73152" marT="18288" marB="18288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הוא מגדיר</a:t>
                      </a:r>
                    </a:p>
                  </a:txBody>
                  <a:tcPr marL="73152" marR="73152" marT="18288" marB="18288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1  types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סכימת XSD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שמגדירה את מבנה כל פרמטר וכל ערך מוחזר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2  message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אילו נתונים נשלחים בבקשה ואילו חוזרים בתשובה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3  portType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הממשק המופשט: אוסף הפעולות — הלב של החוזה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4  binding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באיזה פרוטוקול ובאיזה סגנון ההודעות עוברות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5  service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הכתובת בפועל — נקודת הקצה שאליה שולחים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JAX-WS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צד השרת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Java API for XML Web Services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—</a:t>
            </a:r>
            <a:r>
              <a:rPr lang="he-IL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ספרייה ש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הופ</a:t>
            </a:r>
            <a:r>
              <a:rPr lang="he-IL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כת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מחלקת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Java</a:t>
            </a:r>
            <a:r>
              <a:rPr lang="he-IL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רגילה לשירות SOAP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בעזרת אנוטציות בלבד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55778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WelcomeSOAP.java  —  Deitel, Fig. 32.1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82496"/>
            <a:ext cx="5577840" cy="2895904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package com.deitel.welcomesoap;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import javax.jws.WebService;   // marks the class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import javax.jws.WebMethod;    // marks an exposed method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import javax.jws.WebParam;     // names the parameter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@WebService(serviceName = "WelcomeSOAPService")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public class WelcomeSOAP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@WebMethod(operationName = "welcome")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public String welcome(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@WebParam(name = "name") String name)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"Welcome to JAX-WS web services"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+ " with SOAP, " + name + "!";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}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26464"/>
            <a:ext cx="5349240" cy="25196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@WebService</a:t>
            </a:r>
            <a:r>
              <a:rPr lang="he-IL" sz="13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—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מסמנת את המחלקה כשירות SOAP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זו האנוטציה ששרת</a:t>
            </a:r>
            <a:r>
              <a:rPr lang="he-IL" sz="13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היישומים מחפש בזמן הפריסה.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@WebMethod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מסמנת מתודה כניתנת לקריאה מרחוק.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המאפיין operationName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קובע את השם שיופיע בחוזה 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ובדיוק אותו ראינו קודם כשם האלמנט ב-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Body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@WebParam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קובעת את שם הפרמטר בחוזה.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בלעדיה הפרמטר ייקרא</a:t>
            </a:r>
            <a:r>
              <a:rPr lang="he-IL" sz="13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"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arg</a:t>
            </a:r>
            <a:r>
              <a:rPr lang="en-US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0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"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ומי שיצרוך את השירות לא יבין מה לשלוח.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הפריסה עושה את כל השאר.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כשהשרת מזהה @WebService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הוא בונה את תשתית השרת,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פותח נקודת קצה,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ומייצר את ה-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WSDL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844844"/>
            <a:ext cx="5349240" cy="1098755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שני דגשים שחוסכים באגים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מתודה בלי @WebMethod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אינה נגישה ללקוחות —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אלא אם אף מתודה במחלקה אינה מסומנת,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ואז כל המתודות הציבוריות נחשפות. </a:t>
            </a:r>
            <a:endParaRPr lang="he-IL" sz="110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מתודת שירות אינה יכולה להיות static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השרת חייב אובייקט של המחלקה כדי להפעיל אותה.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פרסום השירות ובדיקה שלו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publishing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מרגע שהשירות פרוס, אפשר לבדוק אותו בלי לכתוב לקוח בכלל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8" name="Picture 7" descr="fig-32-05-soap-te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17" y="1891528"/>
            <a:ext cx="4937760" cy="1990934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5217" y="3932475"/>
            <a:ext cx="4937760" cy="166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דף ה-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Tester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—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השרת בנה טופס לכל פעולה, 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וגם קישור ל-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WSDL</a:t>
            </a:r>
          </a:p>
        </p:txBody>
      </p:sp>
      <p:pic>
        <p:nvPicPr>
          <p:cNvPr id="10" name="Picture 9" descr="fig-32-06-soap-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739" y="4281641"/>
            <a:ext cx="3738716" cy="1874221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6184602"/>
            <a:ext cx="5577840" cy="166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התוצאה: הפרמטר שנשלח והערך שהוחזר — 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הכול בדפדפן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1426464"/>
            <a:ext cx="5608320" cy="7617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00000"/>
              </a:lnSpc>
              <a:spcAft>
                <a:spcPts val="9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פ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רסום </a:t>
            </a:r>
            <a:r>
              <a:rPr lang="en-US" sz="1400" dirty="0"/>
              <a:t>את הפרויקט על שרת יישומים</a:t>
            </a:r>
            <a:r>
              <a:rPr lang="he-IL" sz="1400" dirty="0"/>
              <a:t> כמו </a:t>
            </a:r>
            <a:r>
              <a:rPr lang="en-US" sz="1400" dirty="0"/>
              <a:t>GlassFish</a:t>
            </a:r>
            <a:r>
              <a:rPr lang="he-IL" sz="1400" dirty="0"/>
              <a:t> </a:t>
            </a:r>
            <a:r>
              <a:rPr lang="en-US" sz="1400" dirty="0"/>
              <a:t>,‏</a:t>
            </a:r>
            <a:r>
              <a:rPr lang="he-IL" sz="1400" dirty="0"/>
              <a:t> </a:t>
            </a:r>
            <a:r>
              <a:rPr lang="en-US" sz="1400" dirty="0"/>
              <a:t> Payara או WildFly</a:t>
            </a:r>
            <a:r>
              <a:rPr lang="he-IL" sz="1400" dirty="0"/>
              <a:t>.</a:t>
            </a:r>
          </a:p>
          <a:p>
            <a:pPr marL="165100" indent="-165100" algn="r" rtl="1">
              <a:lnSpc>
                <a:spcPct val="100000"/>
              </a:lnSpc>
              <a:spcAft>
                <a:spcPts val="900"/>
              </a:spcAft>
            </a:pPr>
            <a:r>
              <a:rPr lang="en-US" sz="1400" dirty="0"/>
              <a:t> </a:t>
            </a:r>
            <a:r>
              <a:rPr lang="he-IL" sz="1400" dirty="0"/>
              <a:t>  </a:t>
            </a:r>
            <a:r>
              <a:rPr lang="en-US" sz="1400" dirty="0"/>
              <a:t>השרת סורק את המחלקות, מזהה את האנוטציה @WebService </a:t>
            </a:r>
            <a:r>
              <a:rPr lang="he-IL" sz="1400" dirty="0"/>
              <a:t> </a:t>
            </a:r>
            <a:r>
              <a:rPr lang="en-US" sz="1400" dirty="0"/>
              <a:t>ומפרסם את</a:t>
            </a:r>
            <a:r>
              <a:rPr lang="he-IL" sz="1400" dirty="0"/>
              <a:t> </a:t>
            </a:r>
            <a:r>
              <a:rPr lang="en-US" sz="1400" dirty="0"/>
              <a:t>השירות באופן אוטומטי בנקודת קצה.</a:t>
            </a:r>
            <a:endParaRPr sz="14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6699" y="2642616"/>
            <a:ext cx="53492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Java SE  —  publishing without any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6699" y="2898648"/>
            <a:ext cx="5349240" cy="1645005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import javax.xml.ws.Endpoint;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public class Publisher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public static void main(String[] args)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Endpoint.publish(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"http://localhost:8080/WelcomeSOAP/WelcomeSOAPService",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new WelcomeSOAP());       // the service is now live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}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6699" y="4700016"/>
            <a:ext cx="5349240" cy="914400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שורה אחת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—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Endpoint.publish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מרימה שרת HTTP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פנימי ומפרסמת את השירות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נוח מאוד לבדיקות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endParaRPr sz="12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508A3827-0052-10EC-243E-C2D07FEA834F}"/>
              </a:ext>
            </a:extLst>
          </p:cNvPr>
          <p:cNvSpPr txBox="1"/>
          <p:nvPr/>
        </p:nvSpPr>
        <p:spPr>
          <a:xfrm>
            <a:off x="207460" y="1487801"/>
            <a:ext cx="5367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הוספת </a:t>
            </a: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Tester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?</a:t>
            </a: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 –(</a:t>
            </a: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GlassFish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מחזירה דף בדיקה אוטומטי.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JAX-WS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צד הלקוח: הקוד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שלוש שורות, ואחת מהן היא קריאה למתודה שנראית מקומית לחלוטין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5452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08539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55778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WelcomeSOAPClient.java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82496"/>
            <a:ext cx="5577840" cy="2895904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public class WelcomeSOAPClient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public static void main(String[] args)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// 1. the generated Service class - knows the address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WelcomeSOAPService service =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new WelcomeSOAPService();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// 2. the proxy (SEI) - looks like a local object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WelcomeSOAP proxy = service.getWelcomeSOAPPort();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// 3. an ordinary call - SOAP happens underneath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String result = proxy.welcome("Paul");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System.out.println(result);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// Welcome to JAX-WS web services with SOAP, Paul!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}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09160"/>
            <a:ext cx="55778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and this is how a SOAP Fault reaches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965192"/>
            <a:ext cx="5577840" cy="1019556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try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proxy.welcome(null);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 catch (SOAPFaultException e)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System.out.println(e.getFault().getFaultString());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426464"/>
            <a:ext cx="5349240" cy="21601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מה קורה בשורה 3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באמת.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ה-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proxy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אורז את השם Paul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להודעת SOAP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שולח אותה ב-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POST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לכתובת השירות,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ממתין לתשובה,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מפענח את ה-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XML ומחזיר String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כל זה מוסתר מאיתנו לגמרי.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מחיר ההסתר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</a:t>
            </a:r>
            <a:r>
              <a:rPr lang="he-IL" sz="13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הקריאה נראית מקומית —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אבל היא נוסעת ברשת. היא איטית פי אלפים מקריאה רגילה,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והיא יכולה להיכשל בגלל תקלת רשת ולא בגלל באג בלוגיקה.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ולכן בקוד אמיתי.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מגדירים timeout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מטפלים בחריגות רשת, ולא קוראים לשירות בתוך לולאה צפופה.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5152444"/>
            <a:ext cx="5349240" cy="791155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סיכום ביניים— </a:t>
            </a:r>
            <a:r>
              <a:rPr lang="he-IL"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הצד של SOAP </a:t>
            </a:r>
            <a:r>
              <a:rPr lang="he-IL"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כמעט הושלם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ראינו מעטפ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ת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(SOAP)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חוזה (WSDL)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שרת (@WebService)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ולקוח.</a:t>
            </a:r>
            <a:endParaRPr lang="he-IL" sz="12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נשאר נושא אחד: מה קורה כשהשירות צריך לזכור את הלקוח בין קריאה לקריאה.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ניהול מצב ב-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SOAP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כשלקוח מפעיל כמה מתודות של אות</a:t>
            </a:r>
            <a:r>
              <a:rPr lang="he-IL" sz="135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ה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שירות 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כדאי שהשירות יזכור מה קרה קודם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26464"/>
            <a:ext cx="5349240" cy="1253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הבעי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</a:t>
            </a:r>
            <a:r>
              <a:rPr lang="he-IL" sz="12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בדוגמת ה-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Blackjack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מהספר, השרת מחלק קלפים. אם כל קריאה ל-</a:t>
            </a:r>
            <a:r>
              <a:rPr sz="1250" b="0" dirty="0" err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dealCard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מקבלת שירות חדש עם חפיסה חדשה — אפשר לקבל את אותו קלף פעמיים.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הפתרון ב-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JAX-WS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מסמנים את מחלקת השירות ב-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@HttpSessionScope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השרת מחזיק אובייקט שירות נפרד לכל session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והשדות שלו שורדים בין הקריאות.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926080"/>
            <a:ext cx="53492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Blackjack.java  —  server side, Deitel Fig. 32.17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182112"/>
            <a:ext cx="5349240" cy="1957730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@WebService(serviceName = "Blackjack")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@HttpSessionScope          // one instance per client session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public class Blackjack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private ArrayList&lt;String&gt; deck = new ArrayList&lt;&gt;();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@WebMethod(operationName = "dealCard")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public String dealCard()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deck.remove(0);   // survives between calls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}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5074920"/>
            <a:ext cx="5349240" cy="2560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client side  —  you must opt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5330952"/>
            <a:ext cx="5349240" cy="550468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((BindingProvider) proxy).getRequestContext().put(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BindingProvider.SESSION_MAINTAIN_PROPERTY, true);</a:t>
            </a:r>
          </a:p>
        </p:txBody>
      </p:sp>
      <p:pic>
        <p:nvPicPr>
          <p:cNvPr id="13" name="Picture 12" descr="fig-32-18-blackj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26464"/>
            <a:ext cx="3108960" cy="2551597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69258" y="4051213"/>
            <a:ext cx="4406818" cy="166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הלקוח מפעיל dealCard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שוב ושוב — 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והחפיסה בשרת חייבת לזכור מה כבר חולק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10626"/>
            <a:ext cx="5577840" cy="1040652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המחיר של הזיכרון הזה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השרת מחזיק אובייקט בזיכרון לכל לקוח פעיל, ולכן בקשה חייבת לחזור תמיד לאותו שרת (sticky session)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ברגע שרוצים להוסיף שרת שני מאחורי מאזן עומסים —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כאן מתחיל הכאב. זו בדיוק הנקודה שבה REST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בוחר אחרת.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REST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הסגנון הארכיטקטוני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Representational State Transfer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לא תקן ולא ספרייה, אלא אוסף אילוצים על העיצוב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26464"/>
            <a:ext cx="5349240" cy="3530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סגנון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ארכיט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קטוני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לא תקן.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Roy Fielding תיאר ב-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2000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את הסגנון שעליו בנוי ה-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Web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עצמו.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שירות שמקיים את האילוצים נקרא RESTful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אין מסמך תקן שמחייב, ואין מעטפ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ת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המשאב הוא הגיבור. כל דבר שאפשר לתת לו שם —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סרט,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קטגוריה,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השאלה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הוא משאב, ולכל משאב יש כתובת URI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ייחודית.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הפעולה נמצאת בפועל של HTTP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אין שם מתודה בגוף ההודעה —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הפועל והנתיב מספרים את כל הסיפור.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בלי מעטפ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ת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ובלי הגבלת פורמט JSON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XML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טקסט,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תמונה —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מה שמתאים.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בפועל JSON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כבש את השטח מפני שהוא קצר, וכל דפדפן מנתח אותו בשורה אחת.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endParaRPr sz="135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אפשר לבדוק מהדפדפן. הדבק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נו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כתובת בשורת הכתובת?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ביצע</a:t>
            </a:r>
            <a:r>
              <a:rPr lang="he-IL" sz="13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נו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קריאת GET לשירות. אין מקבילה כזו ב-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SOAP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26464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1350" b="1" dirty="0">
                <a:solidFill>
                  <a:srgbClr val="1F7A5A"/>
                </a:solidFill>
                <a:latin typeface="Arial"/>
                <a:ea typeface="Arial"/>
                <a:cs typeface="Arial"/>
              </a:rPr>
              <a:t>ששת האילוצים של Fielding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4999" y="1792224"/>
            <a:ext cx="365760" cy="5669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01368"/>
            <a:ext cx="5102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client–server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הפרדת אחריות: ממשק בצד אחד, נתונים בצד השני.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4999" y="2414015"/>
            <a:ext cx="365760" cy="5669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59"/>
            <a:ext cx="5102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stateless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השרת אינו שומר הקשר בין בקשות — נחזור לזה בהרחבה.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4999" y="3035807"/>
            <a:ext cx="365760" cy="5669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44951"/>
            <a:ext cx="5102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cacheable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כל תשובה מסומנת כניתנת או לא ניתנת לשמירה במטמון.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4999" y="3657599"/>
            <a:ext cx="365760" cy="5669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66743"/>
            <a:ext cx="5102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uniform interface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האילוץ המרכזי: URI למשאב, פעלים סטנדרטיים, ייצוג מוסכם.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4999" y="4279391"/>
            <a:ext cx="365760" cy="5669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88535"/>
            <a:ext cx="5102352" cy="404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layered system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בדרך יכולים לשבת proxy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gateway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ו-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CDN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הלקוח לא יודע.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4999" y="4901183"/>
            <a:ext cx="365760" cy="566928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10327"/>
            <a:ext cx="51023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code on demand</a:t>
            </a:r>
          </a:p>
          <a:p>
            <a:pPr algn="r" rtl="1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אופציונלי: השרת רשאי לשלוח קוד להרצה, למשל JavaScript.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משאבים, פעלים וקודי סטטוס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הפועל של HTTP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הוא הפעולה, הנתיב הוא המשאב 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וזה כל הממשק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67501"/>
              </p:ext>
            </p:extLst>
          </p:nvPr>
        </p:nvGraphicFramePr>
        <p:xfrm>
          <a:off x="2897423" y="1426464"/>
          <a:ext cx="8138160" cy="1975104"/>
        </p:xfrm>
        <a:graphic>
          <a:graphicData uri="http://schemas.openxmlformats.org/drawingml/2006/table">
            <a:tbl>
              <a:tblPr rtl="1" first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הפעולה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הפועל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נתיב לדוגמה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תשובת הצלחה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יצירה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POST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/api/movies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201 Created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קריאת אוסף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GET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/api/movies?q=matrix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200 OK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קריאת פריט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GET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/api/movies/42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200 OK / 404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עדכון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PUT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/api/movies/42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200 / 204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מחיקה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DELETE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/api/movies/42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204 No Content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57743" y="372864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1350" b="1" dirty="0">
                <a:solidFill>
                  <a:srgbClr val="1F7A5A"/>
                </a:solidFill>
                <a:latin typeface="Arial"/>
                <a:ea typeface="Arial"/>
                <a:cs typeface="Arial"/>
              </a:rPr>
              <a:t>קודי הסטטוס — שפת השגיאות של 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69823" y="4193955"/>
            <a:ext cx="365760" cy="54864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6291" y="4193955"/>
            <a:ext cx="5102352" cy="404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2xx — </a:t>
            </a:r>
            <a:r>
              <a:rPr lang="he-IL"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הצליח</a:t>
            </a:r>
          </a:p>
          <a:p>
            <a:pPr algn="r" rtl="0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200 OK · 201 Created · 204 No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69823" y="4910045"/>
            <a:ext cx="365760" cy="54864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6291" y="4910611"/>
            <a:ext cx="5102352" cy="404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4xx — </a:t>
            </a:r>
            <a:r>
              <a:rPr lang="he-IL"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הלקוח טעה</a:t>
            </a:r>
          </a:p>
          <a:p>
            <a:pPr algn="r" rtl="0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400 Bad Request · 401 · 403 · 404 Not Found · 409 Conflict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9823" y="5614416"/>
            <a:ext cx="365760" cy="548640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0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8011" y="5664000"/>
            <a:ext cx="5102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5xx — השרת נכשל</a:t>
            </a:r>
          </a:p>
          <a:p>
            <a:pPr algn="r" rtl="0">
              <a:lnSpc>
                <a:spcPct val="114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500 Internal Server Error · 503 Service Unavailable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3964" y="285742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JAX-RS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צד השרת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Java API for RESTful Web Services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שוב אנוטציות בלבד, והפעם בלי ייצור קוד ובלי חוזה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7680" y="2882528"/>
            <a:ext cx="5577840" cy="256032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CategoryResource.java  —  from my own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3138560"/>
            <a:ext cx="5577840" cy="2871216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@Path("/categories")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@Produces(MediaType.APPLICATION_JSON)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public class CategoryResource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@Inject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private CatalogService catalogService;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/** Every category with the number of titles. */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@GET                     // GET /sartia/api/categories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public List&lt;CategoryDto&gt; all() {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return catalogService.categoriesWithCounts()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   .stream()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   .map(CategoryDto::from)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   .toList();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}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3964" y="1597352"/>
            <a:ext cx="5577840" cy="256032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RestApplication.java  —  roots the whole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964" y="1853384"/>
            <a:ext cx="557784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@ApplicationPath("/api")   // prefix for every resource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10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public class RestApplication extends Application {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426464"/>
            <a:ext cx="5349240" cy="811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מחלקה רגילה,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בדיוק כמו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-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JAX-WS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ההבדל: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כאן אין WSDL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ואין ייצור קוד —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הכתובת עצמה היא הממשק.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המימוש שנמצא בשימוש נקרא Jersey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והוא מגיע מובנה בשרתי היישומים.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55080" y="2788920"/>
          <a:ext cx="5349240" cy="2423160"/>
        </p:xfrm>
        <a:graphic>
          <a:graphicData uri="http://schemas.openxmlformats.org/drawingml/2006/table">
            <a:tbl>
              <a:tblPr rtl="1" firstRow="1">
                <a:tableStyleId>{5940675A-B579-460E-94D1-54222C63F5DA}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האנוטציה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התפקיד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@Path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הנתיב שבו נגיש המשאב או המתודה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@GET @POST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לאיזה פועל HTTP המתודה עונה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@PUT @DELETE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עדכון ומחיקה של המשאב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@Produces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סוג התוכן שהמתודה מחזירה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@Consumes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סוג התוכן שהמתודה מוכנה לקבל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@PathParam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קושר רכיב מהנתיב לפרמטר במתודה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@QueryParam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קושר פרמטר שאילתה לפרמטר במתודה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355080" y="5394960"/>
            <a:ext cx="5349240" cy="548640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הכתובת המלאה שנוצרת: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/sartia  +  /api  +  /categories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endParaRPr sz="12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JAX-RS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צד הלקוח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אותו שירות, שלושה לקוחות שונים 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ובכולם אין ייצור קוד ואין proxy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426464"/>
            <a:ext cx="5349240" cy="256032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1. the browser / curl  -  no code at 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682496"/>
            <a:ext cx="5349240" cy="534009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curl "http://localhost:8080/sartia/api/movies?available=true&amp;size=5"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curl "http://localhost:8080/sartia/api/movies/1"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286000"/>
            <a:ext cx="5349240" cy="256032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2. Java  -  the JAX-RS Client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542032"/>
            <a:ext cx="5349240" cy="1645005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Client client = ClientBuilder.newClient();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MovieDto movie = client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.target("http://localhost:8080/sartia/api")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.path("movies/42")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.request(MediaType.APPLICATION_JSON)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.get(MovieDto.class);      // JSON -&gt; object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client.close();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206240"/>
            <a:ext cx="5349240" cy="256032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3. JavaScript in the 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462272"/>
            <a:ext cx="5349240" cy="550468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const res  = await fetch("/sartia/api/movies?q=matrix");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const page = await res.json();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5120640"/>
            <a:ext cx="5349240" cy="822960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אותו שירות בדיוק משרת את שלושתם —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כי ההסכמה היא על הכתובת ועל JSON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ולא על מחלקות Java.</a:t>
            </a:r>
          </a:p>
        </p:txBody>
      </p:sp>
      <p:pic>
        <p:nvPicPr>
          <p:cNvPr id="15" name="Picture 14" descr="fig-32-13-rest-test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26464"/>
            <a:ext cx="4937759" cy="1774623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22960" y="3274239"/>
            <a:ext cx="4937759" cy="166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בדיקה של שירות RESTful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:</a:t>
            </a:r>
            <a:r>
              <a:rPr lang="he-IL"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מדביקים את הכתובת בדפדפן ורואים את התשובה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5577840" cy="1851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אין wsimport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ואין מחלקות שנוצרות. הלקוח בונה כתובת ושולח בקשת HTTP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—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זה הכול. מצד שני, אין גם חוזה שיתפוס טעות בזמן קומפילציה.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כאן נמצא ההבדל הגדול בין שתי הגישות: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ב-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SOAP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הקומפיילר שומר עלי</a:t>
            </a:r>
            <a:r>
              <a:rPr lang="he-IL" sz="125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נו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ב-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REST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הבדיקה קורית רק בזמן ריצה — 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ולכן תיעוד OpenAPI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ובדיקות אוטומטיות הופכים לחשובים.</a:t>
            </a:r>
          </a:p>
          <a:p>
            <a:pPr marL="165100" indent="-165100" algn="r" rtl="1">
              <a:lnSpc>
                <a:spcPct val="122000"/>
              </a:lnSpc>
              <a:spcAft>
                <a:spcPts val="900"/>
              </a:spcAft>
            </a:pP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בפרויקט שלי ה-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API</a:t>
            </a:r>
            <a:r>
              <a:rPr lang="he-IL"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הזה משרת גם את חיפוש הקטלוג בדף וגם לקוח חיצוני שירצה להיבנות מעליו.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ניהול מצב ב-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האילוץ שנשמע כמו מגבלה —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והוא בעצם מקור העוצמה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3032" y="1243584"/>
            <a:ext cx="1143000" cy="20116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26464"/>
            <a:ext cx="53492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האילוץ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כל בקשה נושאת בתוכה את כל המידע הדרוש לטיפול בה.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השרת אינו זוכר דבר מהבקשה הקודמת.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הדיוק שחשוב להגיד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האילוץ נוגע למצב השיחה, לא למצב המשאב. הנתונים עצמם כמובן נשמרים במסד הנתונים — מה שלא נשמר הוא ההקשר של הלקוח.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איפה יושב המצב במקום זאת. אצל הלקוח: מזהה המשאב בנתיב, זהות המשתמש באסימון (token)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שנשלח בכותרת, ומצב עסקי ארוך-טווח — במסד.</a:t>
            </a:r>
          </a:p>
          <a:p>
            <a:pPr marL="165100" indent="-165100" algn="r" rtl="1">
              <a:lnSpc>
                <a:spcPct val="122000"/>
              </a:lnSpc>
              <a:spcAft>
                <a:spcPts val="1000"/>
              </a:spcAft>
            </a:pP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ומה הרווחנו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כל שרת יכול לענות לכל בקשה, ולכן אפשר להוסיף שרתים בלי גבול, בלי sticky sessions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ובלי לאבד מידע כששרת נופל. זו הסיבה שכל API </a:t>
            </a:r>
            <a:r>
              <a:rPr lang="he-IL"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בקנה מידה גדול בנוי כך.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4526280"/>
            <a:ext cx="5349240" cy="256032"/>
          </a:xfrm>
          <a:prstGeom prst="rect">
            <a:avLst/>
          </a:prstGeom>
          <a:solidFill>
            <a:srgbClr val="1F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 rtl="0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every request stands on its 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4782312"/>
            <a:ext cx="5349240" cy="706831"/>
          </a:xfrm>
          <a:prstGeom prst="rect">
            <a:avLst/>
          </a:prstGeom>
          <a:solidFill>
            <a:srgbClr val="F4F5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64008" rtlCol="0" anchor="ctr"/>
          <a:lstStyle/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GET /sartia/api/</a:t>
            </a:r>
            <a:r>
              <a:rPr sz="950" b="0" dirty="0" err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movies?page</a:t>
            </a: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=2 HTTP/1.1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Authorization: Bearer eyJhbGciOiJIUzI1NiIs...</a:t>
            </a:r>
          </a:p>
          <a:p>
            <a:pPr algn="l" rtl="0">
              <a:lnSpc>
                <a:spcPct val="108000"/>
              </a:lnSpc>
              <a:spcAft>
                <a:spcPts val="0"/>
              </a:spcAft>
            </a:pPr>
            <a:r>
              <a:rPr sz="950" b="0" dirty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# the page is in the URL, the identity is in the 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26464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1350" b="1" dirty="0">
                <a:solidFill>
                  <a:srgbClr val="1F7A5A"/>
                </a:solidFill>
                <a:latin typeface="Arial"/>
                <a:ea typeface="Arial"/>
                <a:cs typeface="Arial"/>
              </a:rPr>
              <a:t>שתי הגישות זו מול זו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792224"/>
          <a:ext cx="5577840" cy="2231136"/>
        </p:xfrm>
        <a:graphic>
          <a:graphicData uri="http://schemas.openxmlformats.org/drawingml/2006/table">
            <a:tbl>
              <a:tblPr rtl="1" firstRow="1"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השאלה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SOAP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REST</a:t>
                      </a:r>
                    </a:p>
                  </a:txBody>
                  <a:tcPr marL="73152" marR="73152" marT="18288" marB="18288" anchor="ctr">
                    <a:solidFill>
                      <a:srgbClr val="1F7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האם השרת זוכר?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יכול — session בשרת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לא, לפי אילוץ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איפה המצב יושב?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בזיכרון השרת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אצל הלקוח או במסד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מי מפעיל את זה?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אנוטציה + בקשת הלקוח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אין מה להפעיל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הוספת שרת שני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דורשת sticky session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טריוויאלית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נפילת שרת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ה-session אובד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בקשה עוברת לשרת אחר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4526280"/>
            <a:ext cx="5577840" cy="1417320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1F7A5A"/>
                </a:solidFill>
                <a:latin typeface="Arial"/>
                <a:ea typeface="Arial"/>
                <a:cs typeface="Arial"/>
              </a:rPr>
              <a:t>שאלה ששווה לשאול 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אם REST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הוא חסר-מצב — איך אתר זוכר שאני מחובר?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endParaRPr lang="he-IL" sz="12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התשובה: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הוא לא. הדפדפן שולח את האסימון בכל בקשה מחדש, והשרת מאמת אותו בכל פעם. </a:t>
            </a:r>
            <a:r>
              <a:rPr lang="he-IL"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הזיכרון נמצא אצל הלקוח, לא בשרת.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SOAP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ו-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REST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בעולם האמיתי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3112" cy="203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0"/>
              </a:spcAft>
            </a:pP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לא שאלה תיאורטית: </a:t>
            </a:r>
            <a:r>
              <a:rPr lang="he-IL"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>
                <a:solidFill>
                  <a:srgbClr val="5A5A5A"/>
                </a:solidFill>
                <a:latin typeface="Arial"/>
                <a:ea typeface="Arial"/>
                <a:cs typeface="Arial"/>
              </a:rPr>
              <a:t>איפה כל אחד מהם באמת רץ היום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" y="1146882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29316" y="1142984"/>
            <a:ext cx="1143000" cy="2011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26464"/>
            <a:ext cx="5349240" cy="2380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140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איפה SOAP </a:t>
            </a:r>
            <a:r>
              <a:rPr lang="he-IL" sz="140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עדיין חי — </a:t>
            </a:r>
            <a:r>
              <a:rPr lang="he-IL" sz="140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ולא הולך לשום מקום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7056" y="1762610"/>
            <a:ext cx="5349240" cy="2911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בנקאות, תשלומים וביטוח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העברות בין בנקים, מסלקות וחברות ביטוח — עולם שבו חוזה חתום, חתימה דיגיטלית על ההודעה ומסלול ביקורת שווים יותר מקלילות.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תעופה, טלקום וממשל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מערכות הזמנות של חברות תעופה, מערכות חיוב של חברות סלולר וממשקי מדינה — מערכות שנבנו בשנות ה-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2000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ועובדות מצוין.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מערכות ארגוניות גדולות SA</a:t>
            </a:r>
            <a:r>
              <a:rPr lang="en-US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Oracl</a:t>
            </a:r>
            <a:r>
              <a:rPr lang="en-US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ומערכות בריאות חושפות ממשקי SOAP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;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מפתח Java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שעובד באינטגרציה יפגוש אותם.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המכנה המשותף: שני ארגונים, חוזה מחייב, אבטחה ברמת ההודעה — ולא צורך במיליוני בקשות בשנייה.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5577840" cy="2380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1400" b="1" dirty="0">
                <a:solidFill>
                  <a:srgbClr val="1F7A5A"/>
                </a:solidFill>
                <a:latin typeface="Arial"/>
                <a:ea typeface="Arial"/>
                <a:cs typeface="Arial"/>
              </a:rPr>
              <a:t>איפה REST </a:t>
            </a:r>
            <a:r>
              <a:rPr lang="he-IL" sz="1400" b="1" dirty="0">
                <a:solidFill>
                  <a:srgbClr val="1F7A5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dirty="0">
                <a:solidFill>
                  <a:srgbClr val="1F7A5A"/>
                </a:solidFill>
                <a:latin typeface="Arial"/>
                <a:ea typeface="Arial"/>
                <a:cs typeface="Arial"/>
              </a:rPr>
              <a:t>שולט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5577840" cy="27510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כמעט כל API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ציבורי שנבנה בעשור האחרון:</a:t>
            </a:r>
            <a:endParaRPr lang="he-IL" sz="14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GitHub, Google, Stri</a:t>
            </a:r>
            <a:r>
              <a:rPr lang="en-US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שירותי מזג אוויר ומפות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כולם RESTful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מעל JSON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אפליקציות מובייל ו-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SPA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: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הצרכן הוא JavaScript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או Swift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,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רוחב הפס יקר,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והמעטפה של SOAP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פשוט מיותרת.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מיקרו-שירותים ו-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IoT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: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הרבה שירותים קטנים חסרי מצב, שמדברים ביניהם מעל HTTP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ומתרחבים אופקית.</a:t>
            </a:r>
          </a:p>
          <a:p>
            <a:pPr marL="165100" indent="-165100" algn="r" rtl="1">
              <a:lnSpc>
                <a:spcPct val="122000"/>
              </a:lnSpc>
              <a:spcAft>
                <a:spcPts val="800"/>
              </a:spcAft>
            </a:pP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  וגם הפרויקט שלי: 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ממשק ה-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REST</a:t>
            </a:r>
            <a:r>
              <a:rPr lang="he-IL"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של מערכת השאלת הסרטים מזין את הקטלוג ואת החיפוש.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סיכום משווה </a:t>
            </a:r>
            <a:r>
              <a:rPr lang="en-US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—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SOAP </a:t>
            </a:r>
            <a:r>
              <a:rPr lang="he-IL"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מול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4322" y="936527"/>
            <a:ext cx="11183112" cy="2011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682078"/>
              </p:ext>
            </p:extLst>
          </p:nvPr>
        </p:nvGraphicFramePr>
        <p:xfrm>
          <a:off x="3554848" y="1765829"/>
          <a:ext cx="6839712" cy="3630168"/>
        </p:xfrm>
        <a:graphic>
          <a:graphicData uri="http://schemas.openxmlformats.org/drawingml/2006/table">
            <a:tbl>
              <a:tblPr rtl="1" firstRow="1">
                <a:tableStyleId>{5940675A-B579-460E-94D1-54222C63F5DA}</a:tableStyleId>
              </a:tblPr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הקריטריון</a:t>
                      </a:r>
                    </a:p>
                  </a:txBody>
                  <a:tcPr marL="73152" marR="73152" marT="18288" marB="18288" anchor="ctr"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SOAP</a:t>
                      </a:r>
                    </a:p>
                  </a:txBody>
                  <a:tcPr marL="73152" marR="73152" marT="18288" marB="18288" anchor="ctr"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REST</a:t>
                      </a:r>
                    </a:p>
                  </a:txBody>
                  <a:tcPr marL="73152" marR="73152" marT="18288" marB="18288" anchor="ctr">
                    <a:solidFill>
                      <a:srgbClr val="6B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מהות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פרוטוקול תקני של W3C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סגנון ארכיטקטוני (Fielding)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יחידת העבודה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פעולה / מתודה מרוחקת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משאב המזוהה ב-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URI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איפה שם הפעולה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אלמנט XML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בתוך ה-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Body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פועל HTTP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יחד עם הנתיב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פורמט ההודעה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XML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בלבד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בתוך Envelope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XML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טקסט, כל פורמט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החוזה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WSDL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—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פורמלי ומחייב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OpenAPI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—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מומלץ, לא חובה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ניהול מצב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יכול לשמור session בשרת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חסר-מצב לפי אילוץ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טיפול בשגיאות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SOAP Fault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אחיד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קודי הסטטוס של HTTP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מטמון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כמעט בלתי אפשרי —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הכול POST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מובנה ב-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HTTP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עבור GET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אבטחה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WS-Security 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ברמת ההודעה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HTTPS/TLS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, OAuth 2.0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נפח ומהירות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מלל רב, ניתוח XML</a:t>
                      </a:r>
                      <a:r>
                        <a:rPr lang="he-IL"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יקר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תמציתי, קל ומהיר לניתוח</a:t>
                      </a:r>
                    </a:p>
                  </a:txBody>
                  <a:tcPr marL="73152" marR="73152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r" rtl="1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ב-</a:t>
                      </a:r>
                      <a:r>
                        <a:rPr lang="he-IL"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Java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JAX-WS  +  wsimport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</a:rPr>
                        <a:t>JAX-RS  +  Jersey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42377" y="2141770"/>
            <a:ext cx="9994392" cy="3046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1">
              <a:lnSpc>
                <a:spcPct val="100000"/>
              </a:lnSpc>
              <a:spcAft>
                <a:spcPts val="0"/>
              </a:spcAft>
            </a:pPr>
            <a:r>
              <a:rPr sz="66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תודה</a:t>
            </a:r>
            <a:endParaRPr lang="he-IL" sz="6600" b="1" dirty="0">
              <a:solidFill>
                <a:srgbClr val="16324F"/>
              </a:solidFill>
              <a:latin typeface="Arial"/>
              <a:ea typeface="Arial"/>
              <a:cs typeface="Arial"/>
            </a:endParaRPr>
          </a:p>
          <a:p>
            <a:pPr algn="ctr" rtl="1">
              <a:lnSpc>
                <a:spcPct val="100000"/>
              </a:lnSpc>
              <a:spcAft>
                <a:spcPts val="0"/>
              </a:spcAft>
            </a:pPr>
            <a:endParaRPr lang="he-IL" sz="6600" b="1" dirty="0">
              <a:solidFill>
                <a:srgbClr val="16324F"/>
              </a:solidFill>
              <a:latin typeface="Arial"/>
              <a:ea typeface="Arial"/>
              <a:cs typeface="Arial"/>
            </a:endParaRPr>
          </a:p>
          <a:p>
            <a:pPr algn="ctr" rtl="1">
              <a:lnSpc>
                <a:spcPct val="100000"/>
              </a:lnSpc>
              <a:spcAft>
                <a:spcPts val="0"/>
              </a:spcAft>
            </a:pPr>
            <a:r>
              <a:rPr sz="6600" b="1" dirty="0">
                <a:solidFill>
                  <a:srgbClr val="16324F"/>
                </a:solidFill>
                <a:latin typeface="Arial"/>
                <a:ea typeface="Arial"/>
                <a:cs typeface="Arial"/>
              </a:rPr>
              <a:t>שאלות?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5568319"/>
            <a:ext cx="7799831" cy="988872"/>
          </a:xfrm>
          <a:prstGeom prst="rect">
            <a:avLst/>
          </a:prstGeom>
          <a:solidFill>
            <a:srgbClr val="EFF4F9"/>
          </a:solidFill>
          <a:ln w="9525">
            <a:solidFill>
              <a:srgbClr val="C4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46304" bIns="73152" rtlCol="0" anchor="ctr"/>
          <a:lstStyle/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מקורות</a:t>
            </a:r>
            <a:r>
              <a:rPr lang="he-IL" sz="11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Deitel &amp; Deitel, Java How to Program —</a:t>
            </a:r>
            <a:r>
              <a:rPr lang="en-US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chap.32</a:t>
            </a:r>
            <a:r>
              <a:rPr lang="he-IL"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·  The Java EE Tutorial: JAX-WS (JSR 224), JAX-RS (JSR 311/339) </a:t>
            </a:r>
            <a:endParaRPr lang="he-IL" sz="11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·  W3C SOAP 1.2 (2003), WSDL 1.1 (2001)</a:t>
            </a:r>
            <a:endParaRPr lang="he-IL" sz="1100" b="0" dirty="0">
              <a:solidFill>
                <a:srgbClr val="262626"/>
              </a:solidFill>
              <a:latin typeface="Arial"/>
              <a:ea typeface="Arial"/>
              <a:cs typeface="Arial"/>
            </a:endParaRPr>
          </a:p>
          <a:p>
            <a:pPr algn="r" rtl="1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  ·  R. T. Fielding, Architectural Styles (2000)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4197</Words>
  <Application>Microsoft Office PowerPoint</Application>
  <PresentationFormat>מסך רחב</PresentationFormat>
  <Paragraphs>502</Paragraphs>
  <Slides>21</Slides>
  <Notes>21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 Abd Alhalem</cp:lastModifiedBy>
  <cp:revision>58</cp:revision>
  <dcterms:created xsi:type="dcterms:W3CDTF">2013-01-27T09:14:16Z</dcterms:created>
  <dcterms:modified xsi:type="dcterms:W3CDTF">2026-08-24T21:16:43Z</dcterms:modified>
  <cp:category/>
</cp:coreProperties>
</file>